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0"/>
    <p:restoredTop sz="73177"/>
  </p:normalViewPr>
  <p:slideViewPr>
    <p:cSldViewPr snapToGrid="0" snapToObjects="1">
      <p:cViewPr varScale="1">
        <p:scale>
          <a:sx n="91" d="100"/>
          <a:sy n="91" d="100"/>
        </p:scale>
        <p:origin x="1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6410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1 - Accueil 1 min
"Bonjour. Initiation a R et RStudio - cours de 3 heures, niveau ingenieur. On verra l'installation, le langage, les structures de donnees, la manipulation avec le tidyverse, la visualisation avec ggplot2, les analyses statistiques de base, et la reproductibilite avec R Markdown. Six exercices a faire ensemble. A la fin vous saurez ouvrir un fichier CSV, le nettoyer, le visualiser et produire un mini-rapport reproductible."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2 - Plan 2 min
"Six modules de 25-30 minutes :
1. Pourquoi R + RStudio + installation
2. Bases du langage (variables, vecteurs, fonctions)
3. Structures de donnees (data frames, listes, matrices)
4. Manipulation avec dplyr / tidyverse
5. Visualisation avec ggplot2
6. Statistiques de base + reproductibilite
Chaque module finit par un exercice. Pour suivre, ouvrez RStudio maintenant. Si vous n'avez pas R installe, on regarde ca dans 5 minutes."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3 - Sep Module 1 - 30s
"Module 1 : on commence par le pourquoi. Pourquoi choisir R quand on a deja Excel et Python ? Et comment s'installer un environnement de travail propre."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4 - Pourquoi R 4 min
"R est ne en 1993 a l'Universite d'Auckland (Nouvelle-Zelande). C'est l'implementation libre du langage S, conçu pour les statisticiens.
Trois forces :
- STATISTIQUES de pointe natives. Tous les modeles classiques (lm, glm, anova, mixed models) et avances (machine learning, bayesien) sont dans des packages.
- VISUALISATION exceptionnelle (ggplot2 reste la reference, copiee par seaborn en Python).
- COMMUNAUTE scientifique active : 20000+ packages sur CRAN, des conferences (useR!, posit::conf), des centaines de livres.
Une faiblesse historique : la performance brute. Mais data.table et duckdb la rendent competitive avec pandas pour des Go de donnees."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5 - R vs alternatives 4 min
"R vs Excel : Excel est limite a 1M lignes, n'a pas de tracabilite, casse les types. R lit 10M lignes, scriptable, reproductible. Pour les analyses recurrentes, R economise des heures par semaine.
R vs Python : Python domine pour le ML / web / production. R domine pour les stats classiques, la visualisation publication-quality, les rapports. Beaucoup d'equipes utilisent les deux.
R vs Matlab/SAS : R est gratuit. Matlab et SAS coutent ~2000-10000 USD par licence. Les fonctions statistiques de R sont equivalentes ou superieures."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6 - Ecosysteme + CRAN 3 min
"CRAN = Comprehensive R Archive Network. Le repository officiel des packages. Plus de 20000 packages valides, testes, versionnes.
Pour installer : install.packages('dplyr'). Pour charger : library(dplyr).
Bioconductor : repository specialise bioinformatique (3000 packages). Github : packages en developpement ou non publies.
Tidyverse : meta-package qui charge dplyr, ggplot2, tidyr, readr, purrr, stringr, forcats, tibble. Le 'kit de demarrage' moderne. Pose par Hadley Wickham."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7 - Installation 4 min
"Trois etapes :
1. Installer R depuis cran.r-project.org. Choisir son OS (Windows, Mac, Linux). Sous Windows : R-x.x.x-win.exe. Sous Mac : .pkg.
2. Installer RStudio depuis posit.co/download/rstudio-desktop. Version 'Desktop Free'. RStudio est l'IDE - il a besoin de R pour fonctionner.
3. Installer les packages courants. Dans la console R, taper :
install.packages(c('tidyverse','rmarkdown','knitr'))
Ca prend 5-10 minutes la premiere fois. C'est le seul moment ou on a besoin d'internet pour ce cours."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8 - Interface RStudio 5 min
"RStudio a 4 panneaux par defaut :
EN HAUT A GAUCHE : SCRIPT. C'est ou on ecrit le code qu'on veut sauvegarder. Ctrl+Enter execute la ligne courante.
EN BAS A GAUCHE : CONSOLE. Le coeur de R - on peut taper des commandes et voir le resultat immediatement. Pour des essais rapides.
EN HAUT A DROITE : ENVIRONMENT. La liste de toutes les variables creees dans la session. Tres utile pour voir ce qu'on manipule.
EN BAS A DROITE : multi-onglets : Files (explorateur), Plots (graphiques), Packages (gestion), Help (documentation), Viewer (HTML).
Astuce : Ctrl+1 pour aller au script, Ctrl+2 pour la console. Les raccourcis sont tres utiles."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9 - Projets RStudio 3 min
"Toujours travailler dans un PROJET RStudio.
Fichier &gt; Nouveau projet &gt; Nouveau dossier &gt; Empty Project. Ca cree un fichier .Rproj qui definit le repertoire de travail.
POURQUOI ? Le repertoire de travail est automatiquement ce dossier. Plus besoin de setwd() avec des chemins absolus. Le code est portable d'une machine a l'autre.
Convention de structure :
- mon_projet/
  - data/      (fichiers CSV, Excel, ...)
  - R/         (scripts .R)
  - figures/   (sorties graphiques)
  - mon_projet.Rproj"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10 - Hello world 3 min
"Le premier code R :
# Une assignation
x &lt;- 5
y &lt;- 10
# Une operation
x + y       # affiche 15
# Une fonction
print('Hello')
# Un graphique
plot(1:10, (1:10)^2)
L'operateur d'assignation en R est &lt;- (et non =). Bien que = marche aussi, la convention est &lt;-. Raccourci dans RStudio : Alt+- (Mac : Option+-)."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11 - R script vs Rmd 3 min
"Trois types de fichiers principaux :
.R (R script) : code pur, execute sequentiellement. Pour les pipelines, fonctions, scripts d'analyse.
.Rmd (R Markdown) : prose + chunks de code R. Genere des rapports HTML/PDF/Word. PARFAIT pour des analyses reproductibles a partager.
.qmd (Quarto) : la nouvelle generation, multi-langages (R, Python, Julia). Compatible et superieur a Rmd.
POUR DEBUTER : commencer avec des .R, passer aux .Rmd quand on veut documenter."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12 - Exercice 1 8 min
"EXERCICE 1 - 8 minutes - faire ensemble.
1. Ouvrir RStudio
2. Creer un projet : File &gt; New Project &gt; New Directory, nom 'cours_R'
3. Creer un nouveau script : File &gt; New File &gt; R Script (Ctrl+Shift+N)
4. Taper et executer :
# Mon premier script R
nom &lt;- 'Bourgeois'
age &lt;- 25
ville &lt;- 'Quebec'
sprintf('%s a %d ans et habite a %s', nom, age, ville)
# Generer 100 nombres normaux
x &lt;- rnorm(100, mean=10, sd=2)
mean(x)
hist(x)
5. Sauvegarder sous le nom 'exercice_01.R'
Si tout marche, vous etes pret pour le module 2."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13 - Sep Module 2 30s
"Module 2 - les bases du langage. Une heure pour devenir a l'aise avec les types, les vecteurs, les fonctions et les boucles."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14 - Variables et types 5 min
"5 TYPES DE BASE :
numeric : 3.14, 2e5 - nombres (reels par defaut)
integer : 5L (le L force en entier)
character : 'texte' ou "texte"
logical : TRUE, FALSE (ou T, F mais a eviter)
complex : 1+2i (rarement utilise en agronomie)
Pour CONNAITRE le type : class(x), typeof(x), is.numeric(x).
Pour CONVERTIR : as.numeric('3.14'), as.character(5), as.logical(0).
NA represente une valeur manquante (Not Available). NA n'est PAS 0. mean(c(1,2,NA)) renvoie NA, pas 1.5. Il faut mean(c(1,2,NA), na.rm=TRUE)."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15 - Vecteurs 5 min
"Le vecteur est la STRUCTURE FONDAMENTALE en R. Tout est vecteur.
Creation :
v &lt;- c(1, 2, 3, 4, 5)
v &lt;- 1:5
v &lt;- seq(0, 10, by=2)
v &lt;- rep(0, 100)
Operations VECTORIELLES (sans boucle !) :
v + 10        # ajoute 10 a chaque element
v * 2         # multiplie par 2
v + c(1,2,3,4,5)  # element par element
R RECYCLE les vecteurs courts. C'est puissant mais piege classique :
v + c(1, 2)   # recycle [1,2,1,2,1] silencieusement"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16 - Indexation 5 min
"Acceder aux elements d'un vecteur :
v &lt;- c(10, 20, 30, 40, 50)
POSITIVE : v[1] = 10. v[c(1,3)] = 10, 30.
NEGATIVE : v[-1] enleve le 1er element.
LOGIQUE : v[v &gt; 20] = 30, 40, 50.
NOMMEE : si v &lt;- c(a=1, b=2), alors v['a'] = 1.
R indice a partir de 1 (pas de 0 comme en Python !)
Modification :
v[2] &lt;- 999          # remplace l'element 2
v[v &gt; 30] &lt;- 0       # remplace tous les elements &gt; 30 par 0"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17 - Operateurs 4 min
"ARITHMETIQUES : + - * / ^ %% (modulo) %/% (division entiere)
COMPARAISON : == != &lt; &gt; &lt;= &gt;=
LOGIQUES : &amp; | !
ATTENTION : &amp; vs &amp;&amp; (et | vs ||)
- &amp; : element par element sur des vecteurs
- &amp;&amp; : court-circuite, sur des scalaires
10 == 10              # TRUE
c(T,T) &amp; c(F,T)       # FALSE TRUE
c(T,T) &amp;&amp; c(F,T)      # warning, prend que premier element
POUR TESTER L'EGALITE FLOTTANTE : ne JAMAIS utiliser ==.
Utiliser all.equal(0.1+0.2, 0.3) qui gere la precision."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18 - NA NULL NaN Inf 3 min
"Quatre valeurs speciales souvent confondues :
NA : valeur manquante. mean(c(1,2,NA)) = NA.
NULL : objet vide, longueur 0. length(NULL) = 0.
NaN : Not a Number. 0/0 = NaN.
Inf : infini. 1/0 = Inf.
Tests :
is.na(x)     # TRUE pour les NA
is.null(x)   # TRUE pour NULL
is.nan(x)    # TRUE pour NaN
is.finite(x) # FALSE pour Inf, NA, NaN
Argument na.rm = TRUE dans la plupart des fonctions stat (mean, sum, sd) pour ignorer les NA."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19 - Fonctions 5 min
"R a des MILLIERS de fonctions built-in. Quelques essentielles :
DESCRIPTIVES : length, sum, mean, median, sd, var, min, max, range, quantile, summary
TRANSFORMATION : sort, order, rev, unique, duplicated, round, floor, ceiling, abs
CHAINES : nchar, substr, toupper, paste, paste0, sprintf, gsub
POUR DECOUVRIR : ?mean ouvre la doc, ??regression cherche.
CREER SA FONCTION :
ma_fct &lt;- function(x, y=10) {
  resultat &lt;- x + y
  return(resultat)
}
ma_fct(5)         # 15 (utilise y=10 par defaut)
ma_fct(5, 20)     # 25"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20 - if/else et boucles 5 min
"STRUCTURES DE CONTROLE classiques :
if (condition) {
  # bloc si vrai
} else if (autre_condition) {
  # bloc alternatif
} else {
  # bloc par defaut
}
for (i in 1:10) {
  print(i^2)
}
while (x &lt; 100) {
  x &lt;- x * 2
}
MAIS : en R, les BOUCLES SONT LENTES. On les remplace presque toujours par :
- des operations vectorielles : v^2 au lieu de for(i in v) v[i]^2
- la famille apply : sapply, lapply, mapply"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21 - Famille apply 5 min
"L'idiome R 'fonctionnel' :
sapply(v, FUN)      # applique FUN a chaque element, retourne un vecteur
lapply(v, FUN)      # idem mais retourne une liste
mapply(FUN, v1, v2) # applique sur plusieurs vecteurs en parallele
apply(matrice, 1, FUN)  # applique sur les lignes (1) ou colonnes (2)
Exemple : carres des entiers de 1 a 10.
# Boucle for (lent, verbeux)
res &lt;- numeric(10)
for (i in 1:10) res[i] &lt;- i^2
# Vectoriel (idiomatique)
res &lt;- (1:10)^2
# sapply (intermediaire)
res &lt;- sapply(1:10, function(i) i^2)
EN R MODERNE : purrr::map remplace progressivement la famille apply."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22 - Exercice 2 10 min
"EXERCICE 2 - Calculs vectoriels - 10 minutes.
1. Creer un vecteur v de 1000 nombres normaux : v &lt;- rnorm(1000)
2. Calculer mean, median, sd, et les quantiles 5% et 95%
3. Combien d'elements &gt; 1.96 ? Combien &lt; -1.96 ? (proportions attendues = 2.5% chacune)
4. Trier v par ordre croissant et garder les 10 plus grands
5. Calculer un vecteur des differences successives : diff(v)
6. Verifier que sum(diff(v)) ~ tail(v,1) - head(v,1)
7. Tracer un histogramme avec hist(v, breaks=30)
SOLUTION dans les notes :
v &lt;- rnorm(1000)
mean(v); median(v); sd(v)
quantile(v, c(0.05, 0.95))
sum(v &gt; 1.96); sum(v &lt; -1.96)
sort(v, decreasing=TRUE)[1:10]
d &lt;- diff(v)
sum(d) - (tail(v,1) - head(v,1))   # ~ 0
hist(v, breaks=30)"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23 - Sep Module 3 30s
"Module 3 - les structures de donnees plus complexes : listes, matrices, et SURTOUT les data frames qui sont le coeur des analyses en R."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24 - Listes 4 min
"Un VECTEUR contient des elements de MEME type.
Une LISTE peut contenir N'IMPORTE QUOI : nombres, chaines, vecteurs, autres listes, modeles statistiques...
ma_liste &lt;- list(
  nom = 'Sentinel-2',
  bandes = c('B02','B03','B04','B08'),
  resolutions = c(10, 10, 10, 10),
  meta = list(annee = 2015, agence = 'ESA')
)
ACCES :
ma_liste$nom            # 'Sentinel-2'
ma_liste[['bandes']]    # le vecteur de bandes
ma_liste[[2]]           # 2eme element
Beaucoup de fonctions R retournent des LISTES :
fit &lt;- lm(y ~ x, data=df)
fit$coefficients
fit$residuals"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25 - Matrices 4 min
"Tableau 2D d'elements de meme type :
m &lt;- matrix(1:12, nrow=3, ncol=4)
dim(m)              # 3 4
m[1, 2]             # element ligne 1, colonne 2
m[1, ]              # toute la ligne 1
m[, 2]              # toute la colonne 2
OPERATIONS :
m + 10              # element par element
m %*% t(m)          # produit matriciel
t(m)                # transposition
solve(m)            # inverse
det(m)              # determinant
eigen(m)            # valeurs/vecteurs propres
Pour l'algebre lineaire scientifique. Pour les tableaux mixtes (numerique + texte), preferer un data frame."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26 - Data frames 5 min
"LE DATA FRAME = la structure la plus utilisee en R. Equivalent d'une feuille Excel ou d'un DataFrame pandas.
C'est techniquement une LISTE de vecteurs de meme longueur, ou chaque vecteur est une colonne.
df &lt;- data.frame(
  id   = 1:5,
  nom  = c('A','B','C','D','E'),
  age  = c(25, 32, 28, 45, 19),
  taille = c(170, 165, 180, 175, 168)
)
DATASETS BUILT-IN pour s'entrainer :
- iris : 150 fleurs, 4 mesures + espece
- mtcars : 32 voitures, performances
- airquality : qualite de l'air NYC
- chickwts : poids poussins
data(iris) puis on peut taper iris directement."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27 - Data frames - exploration 5 min
"FONCTIONS D'EXPLORATION ESSENTIELLES :
head(iris)              # 6 premieres lignes
tail(iris, 10)          # 10 dernieres
str(iris)               # structure (colonnes, types, exemples)
summary(iris)           # statistiques par colonne
dim(iris)               # 150 5
names(iris)             # noms des colonnes
nrow(iris); ncol(iris)
ACCES AUX COLONNES :
iris$Sepal.Length       # vecteur de la colonne
iris[, 'Sepal.Length']  # idem
iris[, c(1,3)]          # plusieurs colonnes
iris[1:5, ]             # 5 premieres lignes
FILTRAGE :
iris[iris$Species == 'setosa', ]
subset(iris, Species == 'setosa' &amp; Sepal.Length &gt; 5)"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28 - Facteurs 4 min
"Le FACTEUR represente une variable categorielle : un vecteur de chaines avec des NIVEAUX (levels) discrets.
esp &lt;- factor(c('A','B','A','C','B','A'))
levels(esp)             # 'A' 'B' 'C'
table(esp)              # comptage par niveau
POURQUOI : les modeles statistiques traitent differemment les facteurs (variables qualitatives) et les chaines libres. Un facteur peut etre :
- ordonne : factor(x, ordered=TRUE)
- avec niveaux explicites : factor(x, levels=c('faible','moyen','fort'))
PIEGE CLASSIQUE : data.frame() converti automatiquement les chaines en facteurs (jusqu'a R 4.0). Pour eviter : data.frame(..., stringsAsFactors=FALSE) ou utiliser tibble du tidyverse."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29 - Exercice 3 10 min
"EXERCICE 3 - Explorer iris - 10 minutes.
1. Charger : data(iris)
2. Combien de lignes ? Combien de colonnes ?
3. Quelles sont les especes presentes ? table(iris$Species)
4. Pour CHAQUE espece, calculer la moyenne de Sepal.Length :
   aggregate(Sepal.Length ~ Species, data=iris, FUN=mean)
5. Quelle espece a les plus grands petales en moyenne ?
6. Filtrer les fleurs ayant Petal.Length &gt; 5
7. Combien y en a-t-il ? Quelle est la repartition par espece ?
SOLUTION (notes) :
data(iris); nrow(iris); ncol(iris)
table(iris$Species)
aggregate(. ~ Species, data=iris, FUN=mean)
sub &lt;- subset(iris, Petal.Length &gt; 5)
nrow(sub); table(sub$Species)"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30 - Sep Module 4 30s
"Module 4 - le TIDYVERSE. Une boite a outils moderne pour la manipulation de donnees, beaucoup plus lisible que la base R."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31 - Tidy data 4 min
"Le TIDYVERSE repose sur la philosophie 'tidy data' (Hadley Wickham, 2014) :
1. Chaque VARIABLE = une colonne
2. Chaque OBSERVATION = une ligne
3. Chaque TYPE d'observation = une table
Exemple non-tidy : un tableau Excel avec une colonne par annee. Tidy : une colonne 'annee' + une colonne 'valeur'. Plus long mais analysable.
PACKAGES :
- dplyr : manipulation (filter, select, mutate, ...)
- tidyr : reshaping (pivot_longer, pivot_wider)
- ggplot2 : visualisation
- readr : lecture de fichiers
- stringr : chaines
- lubridate : dates
- forcats : facteurs
library(tidyverse) charge tout."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32 - Lire fichiers 4 min
"FORMATS COURANTS :
CSV : read.csv('data.csv') ou readr::read_csv() (plus rapide, retourne un tibble).
EXCEL : library(readxl); read_excel('data.xlsx', sheet='Feuil1').
TXT : read.table('data.txt', header=TRUE, sep='\t').
RDS (format R natif, rapide) : saveRDS(obj, 'data.rds'); readRDS('data.rds').
EN PLUS :
- haven : SAS, SPSS, Stata
- sf : geospatial (shapefile, geopackage)
- terra : raster
- DBI + RPostgres / RMySQL : bases de donnees
EXEMPLE :
library(readr)
df &lt;- read_csv('data/mesures.csv')
df    # tibble : print joli, ne convertit pas en facteurs"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33 - Pipe |&gt; 4 min
"L'OPERATEUR PIPE est le plus important du tidyverse moderne :
x |&gt; f()              # equivaut a f(x)
x |&gt; f() |&gt; g()       # equivaut a g(f(x))
LISIBILITE : on lit de gauche a droite, comme une recette.
Comparaison :
# Imbrique (illisible)
arrange(filter(select(iris, Species, Sepal.Length), Sepal.Length &gt; 5), Species)
# Avec pipe (lisible)
iris |&gt;
  select(Species, Sepal.Length) |&gt;
  filter(Sepal.Length &gt; 5) |&gt;
  arrange(Species)
NOTE : |&gt; est le pipe NATIF (R 4.1+). %&gt;% est l'ancien pipe de magrittr, equivalent. Les deux marchent."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34 - dplyr verbs 1 5 min
"5 verbes dplyr de base :
FILTER : selectionne des LIGNES selon condition
iris |&gt; filter(Species == 'setosa')
iris |&gt; filter(Sepal.Length &gt; 5 &amp; Petal.Width &lt; 1)
SELECT : selectionne des COLONNES
iris |&gt; select(Species, Sepal.Length)
iris |&gt; select(-Species)            # tout sauf Species
iris |&gt; select(starts_with('Petal'))
ARRANGE : trier les lignes
iris |&gt; arrange(Sepal.Length)
iris |&gt; arrange(desc(Sepal.Length))
DISTINCT : enlever doublons
iris |&gt; distinct(Species)
COUNT : comptage rapide
iris |&gt; count(Species)"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35 - dplyr verbs 2 5 min
"3 verbes pour TRANSFORMER :
MUTATE : creer / modifier des colonnes
iris |&gt;
  mutate(ratio = Sepal.Length / Sepal.Width,
         long = ifelse(Sepal.Length &gt; 5, 'oui', 'non'))
GROUP_BY + SUMMARIZE : aggregations
iris |&gt;
  group_by(Species) |&gt;
  summarize(
    n          = n(),
    mean_long  = mean(Sepal.Length),
    sd_long    = sd(Sepal.Length),
    max_petale = max(Petal.Length)
  )
ACROSS pour appliquer a plusieurs colonnes :
iris |&gt;
  group_by(Species) |&gt;
  summarize(across(where(is.numeric), mean))"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36 - Exemple complet 5 min
"Une CHAINE COMPLETE typique :
mtcars |&gt;
  rownames_to_column('voiture') |&gt;
  filter(cyl %in% c(4, 6)) |&gt;
  mutate(efficience = mpg / hp) |&gt;
  group_by(cyl) |&gt;
  summarize(
    n         = n(),
    eff_moy   = mean(efficience),
    eff_sd    = sd(efficience),
    .groups   = 'drop'
  ) |&gt;
  arrange(desc(eff_moy))
Resultat : tableau de 2 lignes (cyl=4, cyl=6) avec efficience moyenne et ecart-type. Trie par efficience.
POINTS CLES :
- on lit comme un workflow de pensee
- chaque verbe fait UNE chose
- pas d'objet temporaire
- facile a debugger : couper apres n'importe quel |&gt;"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37 - Exercice 4 12 min
"EXERCICE 4 - Manipulation dplyr - 12 minutes.
Avec mtcars :
1. Charger : library(tidyverse); data(mtcars)
2. Ajouter la colonne 'voiture' avec rownames_to_column
3. Calculer pour chaque nombre de cylindres (4, 6, 8) :
   - le nombre de voitures
   - la consommation moyenne (mpg)
   - le poids moyen (wt)
   - la voiture la plus rapide (en hp)
4. Trier par nombre de cylindres
5. Lister les 3 voitures les plus economes (mpg max) toutes categories
SOLUTION :
mtcars |&gt;
  rownames_to_column('voiture') |&gt;
  group_by(cyl) |&gt;
  summarize(
    n           = n(),
    mpg_moy     = mean(mpg),
    wt_moy      = mean(wt),
    plus_rapide = voiture[which.max(hp)]
  ) |&gt;
  arrange(cyl)
mtcars |&gt;
  rownames_to_column('voiture') |&gt;
  arrange(desc(mpg)) |&gt;
  head(3)"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38 - Sep Module 5 30s
"Module 5 - ggplot2. La visualisation de qualite publication en quelques lignes."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39 - Grammaire 5 min
"ggplot2 implemente la GRAMMAIRE DES GRAPHIQUES de Wilkinson (1999) :
Un graphique = DATA + AESTHETICS + GEOM(s) + (eventuellement scales, facets, themes).
ggplot(data = iris,                            # quelles donnees
       mapping = aes(x = Sepal.Length,         # quels axes/couleurs
                     y = Sepal.Width,
                     color = Species)) +
  geom_point() +                               # quel type de geom
  labs(title = 'Iris - dispersion',            # titres
       x = 'Longueur sepale (cm)',
       y = 'Largeur sepale (cm)') +
  theme_minimal()                              # apparence
Les + ajoutent des couches. C'est sale au debut mais TRES puissant : on peut tout personnaliser."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40 - Premier graphique 5 min
"4 etapes de tout graphique ggplot :
1. ggplot(data, aes(...))    # canevas vide
2. + geom_xxx()              # ajoute des points/lignes/barres
3. + facets, themes, labs    # personnalisation
4. + scales si necessaire    # axes log, couleurs, etc.
DEMO LIVE : commencer simple, ajouter des couches.
ggplot(iris, aes(Sepal.Length, Sepal.Width)) + geom_point()
# puis ajouter color = Species
# puis facet_wrap(~ Species)
# puis theme_classic()
# puis labs(title, x, y)
Chaque etape rend le graphique 'mieux'. C'est la beaute de ggplot."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41 - Geoms et aes 5 min
"GEOMS COURANTS :
geom_point : nuage de points
geom_line : ligne
geom_bar : barres (pour categories)
geom_col : barres avec valeurs (preferable a geom_bar)
geom_histogram : distribution univariee
geom_boxplot : boite a moustaches
geom_violin : violin plot (boxplot + densite)
geom_smooth : lissage (regression, loess)
geom_text : annotations texte
AESTHETICS communes :
x, y      : positions
color     : couleur du contour ou de la ligne
fill      : couleur de remplissage
size      : taille du point
shape     : forme du point
alpha     : transparence
linetype  : style de ligne (solid, dashed, dotted)
DANS aes() : si la valeur depend des donnees (color = Species).
HORS aes() : si la valeur est fixe (color = 'red')."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42 - Facets et themes 4 min
"FACETS - decomposer en sous-graphiques :
ggplot(iris, aes(Sepal.Length, Sepal.Width)) +
  geom_point() +
  facet_wrap(~ Species)             # 1 panneau par espece
ggplot(mtcars, aes(wt, mpg)) +
  geom_point() +
  facet_grid(rows=vars(cyl), cols=vars(am))   # 2D
THEMES :
theme_grey()      # defaut, gris
theme_minimal()   # epure, populaire
theme_classic()   # axes en L, publication
theme_bw()        # noir et blanc
theme_dark()      # fond sombre
Pour les details (taille de police, etc.) :
theme(legend.position = 'bottom',
      panel.grid.minor = element_blank(),
      axis.title = element_text(face='bold'))
ENREGISTRER :
ggsave('mon_graphe.png', width=8, height=5, dpi=300)"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43 - Exercice 5 12 min
"EXERCICE 5 - Visualisation ggplot - 12 minutes.
Avec iris :
1. Nuage de points Sepal.Length vs Sepal.Width, points colores par Species
2. Ajouter une regression lineaire avec geom_smooth(method='lm')
3. Decomposer en facets par espece
4. Boxplot de Petal.Length par espece
5. Histogramme de Petal.Width avec une fill par espece
6. Sauver le boxplot dans 'iris_boxplot.png'
SOLUTION :
ggplot(iris, aes(Sepal.Length, Sepal.Width, color=Species)) +
  geom_point() +
  geom_smooth(method='lm', se=FALSE) +
  facet_wrap(~Species) +
  theme_minimal()
ggplot(iris, aes(Species, Petal.Length, fill=Species)) +
  geom_boxplot() +
  labs(title='Distribution petales', x='', y='Longueur (cm)')
ggsave('iris_boxplot.png', width=7, height=5, dpi=300)"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44 - Sep Module 6 30s
"Module 6 - les statistiques de base et la reproductibilite. Apres ce module vous aurez tout pour produire un rapport autonome."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45 - Stats descriptives 4 min
"FONCTIONS UNIVARIEES :
mean, median, sd, var, min, max, range, quantile, summary
POUR LES NA : argument na.rm = TRUE.
FONCTIONS MULTIVARIEES :
cor(iris[1:4])             # matrice de correlations Pearson
cor(x, y, method='spearman')
cov(iris[1:4])
table(iris$Species)        # comptage
prop.table(table(...))     # proportions
UN COUP D'ŒIL RAPIDE :
summary(iris)              # stats par colonne, base R
skimr::skim(iris)          # version moderne (package skimr)
DataExplorer::create_report(iris)   # rapport complet"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46 - Tests d'hypotheses 5 min
"TESTS COURANTS :
# t-test : difference de moyennes
t.test(extra ~ group, data = sleep)
# t-test apparie
t.test(x, y, paired = TRUE)
# Test de correlation
cor.test(iris$Sepal.Length, iris$Petal.Length)
# Test du chi2 (independance)
chisq.test(table(survey$Sex, survey$Smoke))
# ANOVA
aov_res &lt;- aov(Sepal.Length ~ Species, data=iris)
summary(aov_res)
TukeyHSD(aov_res)         # comparaisons post-hoc
CONVENTION :
- p &lt; 0.05 : on rejette H0 (significatif)
- p &lt; 0.01 : tres significatif
- intervalle de confiance preferable a la p-value seule"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47 - Regression lineaire 5 min
"REGRESSION LINEAIRE - le couteau suisse statistique.
# Modele simple
fit &lt;- lm(Sepal.Length ~ Petal.Length, data = iris)
summary(fit)
# Donne : coefficients, R2, p-values, residus
# Modele multiple
fit &lt;- lm(Sepal.Length ~ Petal.Length + Petal.Width + Species,
          data = iris)
# Diagnostics
par(mfrow=c(2,2))
plot(fit)                  # 4 graphiques de diagnostic
# Coefficients
coef(fit)
confint(fit)               # intervalles de confiance
# Predictions
predict(fit, newdata = data.frame(...), interval = 'confidence')
PIEGES :
- toujours regarder les diagnostics (residus normaux ? homoscedasticite ?)
- attention aux variables correlees (multicollinearite)"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48 - Exercice 6 10 min
"EXERCICE 6 - Analyse stat sur iris - 10 minutes.
1. Tester si la longueur des sepales differe entre setosa et versicolor :
   t.test(Sepal.Length ~ Species, data=subset(iris, Species != 'virginica'))
2. ANOVA des 3 especes :
   aov_res &lt;- aov(Sepal.Length ~ Species, data=iris)
   summary(aov_res)
   TukeyHSD(aov_res)
3. Regression multiple Sepal.Length expliquee par Petal.Length + Petal.Width :
   fit &lt;- lm(Sepal.Length ~ Petal.Length + Petal.Width, data=iris)
   summary(fit)
   confint(fit)
4. Visualiser les diagnostics :
   par(mfrow=c(2,2)); plot(fit)
5. Quelle proportion de la variance est expliquee ? (R2 ajuste)"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49 - R Markdown 4 min
"R MARKDOWN = la cle de la REPRODUCTIBILITE.
Un fichier .Rmd combine :
- TEXTE en markdown (titres, paragraphes, listes)
- CHUNKS de code R executes a la compilation
- SORTIES (tables, graphiques) integrees automatiquement
Compilation : bouton 'Knit' ou rmarkdown::render('rapport.Rmd').
Sortie : HTML, PDF (avec LaTeX), ou Word.
EN-TETE YAML typique :
---
title: 'Mon analyse'
author: 'Silvio'
date: '2026-05-06'
output:
  html_document:
    toc: true
    theme: readable
---
CHUNK :
```{r mon-chunk, echo=TRUE, fig.width=6}
plot(iris$Sepal.Length, iris$Sepal.Width)
```
QUARTO (.qmd) est l'evolution moderne, multi-langages."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50 - Take-home + Merci 5 min
"5 MESSAGES POUR CONCLURE :
1. R EST UN LANGAGE VECTORIEL. Eviter les boucles for, vectoriser. v^2 vs for(i) v[i]^2.
2. TOUJOURS DANS UN PROJET RSTUDIO. Chemins relatifs, code portable.
3. TIDYVERSE POUR LE QUOTIDIEN. dplyr + ggplot2 = 80% des manipulations / visualisations.
4. RMARKDOWN POUR PARTAGER. Un Rmd &gt; 100 emails avec captures d'ecran.
5. LA DOC EST EXCELLENTE. ?fonction, vignettes, et la communaute Stack Overflow / RStudio Community.
POUR APPRENDRE PLUS :
- 'R for Data Science' (Hadley Wickham, gratuit en ligne) - LE livre
- 'Advanced R' (idem) - pour devenir expert
- swirl (package interactif) : library(swirl)
- RStudio Cheatsheets (rstudio.com/resources/cheatsheets)
Bonne pratique. Questions 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D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4754880"/>
            <a:ext cx="12161520" cy="73152"/>
          </a:xfrm>
          <a:prstGeom prst="rect">
            <a:avLst/>
          </a:prstGeom>
          <a:solidFill>
            <a:srgbClr val="F2C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640080" y="1371600"/>
            <a:ext cx="2011680" cy="2011680"/>
          </a:xfrm>
          <a:prstGeom prst="ellipse">
            <a:avLst/>
          </a:prstGeom>
          <a:solidFill>
            <a:srgbClr val="276D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0080" y="137160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3000" dirty="0"/>
          </a:p>
        </p:txBody>
      </p:sp>
      <p:sp>
        <p:nvSpPr>
          <p:cNvPr id="6" name="Text 3"/>
          <p:cNvSpPr/>
          <p:nvPr/>
        </p:nvSpPr>
        <p:spPr>
          <a:xfrm>
            <a:off x="2926080" y="146304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Initiation a R et RStudio</a:t>
            </a:r>
            <a:endParaRPr lang="en-US" sz="5000" dirty="0"/>
          </a:p>
        </p:txBody>
      </p:sp>
      <p:sp>
        <p:nvSpPr>
          <p:cNvPr id="7" name="Text 4"/>
          <p:cNvSpPr/>
          <p:nvPr/>
        </p:nvSpPr>
        <p:spPr>
          <a:xfrm>
            <a:off x="2926080" y="24688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2C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premier script au rapport reproductible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2926080" y="31089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 pratique - niveau ingenieur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0080" y="512064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Duree : 3 heures   |   6 modules   |   6 exercices pratiques
</a:t>
            </a:r>
            <a:r>
              <a:rPr lang="en-US" sz="1400" i="1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Silvio  -  mai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276D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F2C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7200" y="457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du cours - 3 heures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875520" y="6537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 -  1 / 50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280160"/>
            <a:ext cx="11064240" cy="868680"/>
          </a:xfrm>
          <a:prstGeom prst="rect">
            <a:avLst/>
          </a:prstGeom>
          <a:solidFill>
            <a:srgbClr val="FFFFFF"/>
          </a:solidFill>
          <a:ln w="5080">
            <a:solidFill>
              <a:srgbClr val="C9C9C9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48640" y="1280160"/>
            <a:ext cx="91440" cy="868680"/>
          </a:xfrm>
          <a:prstGeom prst="rect">
            <a:avLst/>
          </a:prstGeom>
          <a:solidFill>
            <a:srgbClr val="276D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77240" y="13258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76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1691640" y="1325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R + Installation RStudio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691640" y="17373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Ecosysteme, alternatives, tour de l'IDE, premier projet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601200" y="1463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76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48640" y="2194560"/>
            <a:ext cx="11064240" cy="868680"/>
          </a:xfrm>
          <a:prstGeom prst="rect">
            <a:avLst/>
          </a:prstGeom>
          <a:solidFill>
            <a:srgbClr val="FFFFFF"/>
          </a:solidFill>
          <a:ln w="5080">
            <a:solidFill>
              <a:srgbClr val="C9C9C9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48640" y="2194560"/>
            <a:ext cx="91440" cy="868680"/>
          </a:xfrm>
          <a:prstGeom prst="rect">
            <a:avLst/>
          </a:prstGeom>
          <a:solidFill>
            <a:srgbClr val="5A9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77240" y="22402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A9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1691640" y="22402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du langage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1691640" y="26517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vecteurs, indexation, fonctions, controle de flux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601200" y="23774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76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min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48640" y="3108960"/>
            <a:ext cx="11064240" cy="868680"/>
          </a:xfrm>
          <a:prstGeom prst="rect">
            <a:avLst/>
          </a:prstGeom>
          <a:solidFill>
            <a:srgbClr val="FFFFFF"/>
          </a:solidFill>
          <a:ln w="5080">
            <a:solidFill>
              <a:srgbClr val="C9C9C9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548640" y="3108960"/>
            <a:ext cx="91440" cy="868680"/>
          </a:xfrm>
          <a:prstGeom prst="rect">
            <a:avLst/>
          </a:prstGeom>
          <a:solidFill>
            <a:srgbClr val="F2C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777240" y="3154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C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22" name="Text 19"/>
          <p:cNvSpPr/>
          <p:nvPr/>
        </p:nvSpPr>
        <p:spPr>
          <a:xfrm>
            <a:off x="1691640" y="31546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Structures de donnees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1691640" y="35661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Listes, matrices, data frames, facteurs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601200" y="32918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76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548640" y="4023360"/>
            <a:ext cx="11064240" cy="868680"/>
          </a:xfrm>
          <a:prstGeom prst="rect">
            <a:avLst/>
          </a:prstGeom>
          <a:solidFill>
            <a:srgbClr val="FFFFFF"/>
          </a:solidFill>
          <a:ln w="5080">
            <a:solidFill>
              <a:srgbClr val="C9C9C9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548640" y="4023360"/>
            <a:ext cx="91440" cy="868680"/>
          </a:xfrm>
          <a:prstGeom prst="rect">
            <a:avLst/>
          </a:prstGeom>
          <a:solidFill>
            <a:srgbClr val="C73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777240" y="40690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73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sp>
        <p:nvSpPr>
          <p:cNvPr id="28" name="Text 25"/>
          <p:cNvSpPr/>
          <p:nvPr/>
        </p:nvSpPr>
        <p:spPr>
          <a:xfrm>
            <a:off x="1691640" y="40690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Manipulation - tidyverse</a:t>
            </a:r>
            <a:endParaRPr lang="en-US" sz="1700" dirty="0"/>
          </a:p>
        </p:txBody>
      </p:sp>
      <p:sp>
        <p:nvSpPr>
          <p:cNvPr id="29" name="Text 26"/>
          <p:cNvSpPr/>
          <p:nvPr/>
        </p:nvSpPr>
        <p:spPr>
          <a:xfrm>
            <a:off x="1691640" y="44805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dplyr (filter, select, mutate, summarize), pipe, lecture de fichiers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9601200" y="42062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76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548640" y="4937760"/>
            <a:ext cx="11064240" cy="868680"/>
          </a:xfrm>
          <a:prstGeom prst="rect">
            <a:avLst/>
          </a:prstGeom>
          <a:solidFill>
            <a:srgbClr val="FFFFFF"/>
          </a:solidFill>
          <a:ln w="5080">
            <a:solidFill>
              <a:srgbClr val="C9C9C9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548640" y="4937760"/>
            <a:ext cx="91440" cy="868680"/>
          </a:xfrm>
          <a:prstGeom prst="rect">
            <a:avLst/>
          </a:prstGeom>
          <a:solidFill>
            <a:srgbClr val="1F2D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777240" y="4983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000" dirty="0"/>
          </a:p>
        </p:txBody>
      </p:sp>
      <p:sp>
        <p:nvSpPr>
          <p:cNvPr id="34" name="Text 31"/>
          <p:cNvSpPr/>
          <p:nvPr/>
        </p:nvSpPr>
        <p:spPr>
          <a:xfrm>
            <a:off x="1691640" y="49834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 - ggplot2</a:t>
            </a:r>
            <a:endParaRPr lang="en-US" sz="1700" dirty="0"/>
          </a:p>
        </p:txBody>
      </p:sp>
      <p:sp>
        <p:nvSpPr>
          <p:cNvPr id="35" name="Text 32"/>
          <p:cNvSpPr/>
          <p:nvPr/>
        </p:nvSpPr>
        <p:spPr>
          <a:xfrm>
            <a:off x="1691640" y="53949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Grammaire des graphiques, geoms, facets, themes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9601200" y="51206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76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548640" y="5852160"/>
            <a:ext cx="11064240" cy="868680"/>
          </a:xfrm>
          <a:prstGeom prst="rect">
            <a:avLst/>
          </a:prstGeom>
          <a:solidFill>
            <a:srgbClr val="FFFFFF"/>
          </a:solidFill>
          <a:ln w="5080">
            <a:solidFill>
              <a:srgbClr val="C9C9C9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548640" y="5852160"/>
            <a:ext cx="91440" cy="868680"/>
          </a:xfrm>
          <a:prstGeom prst="rect">
            <a:avLst/>
          </a:prstGeom>
          <a:solidFill>
            <a:srgbClr val="276D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777240" y="58978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76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000" dirty="0"/>
          </a:p>
        </p:txBody>
      </p:sp>
      <p:sp>
        <p:nvSpPr>
          <p:cNvPr id="40" name="Text 37"/>
          <p:cNvSpPr/>
          <p:nvPr/>
        </p:nvSpPr>
        <p:spPr>
          <a:xfrm>
            <a:off x="1691640" y="5897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Statistiques + reproductibilite</a:t>
            </a:r>
            <a:endParaRPr lang="en-US" sz="1700" dirty="0"/>
          </a:p>
        </p:txBody>
      </p:sp>
      <p:sp>
        <p:nvSpPr>
          <p:cNvPr id="41" name="Text 38"/>
          <p:cNvSpPr/>
          <p:nvPr/>
        </p:nvSpPr>
        <p:spPr>
          <a:xfrm>
            <a:off x="1691640" y="63093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Tests, regression lineaire, R Markdown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9601200" y="6035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76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2D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2286000"/>
            <a:ext cx="2011680" cy="1371600"/>
          </a:xfrm>
          <a:prstGeom prst="rect">
            <a:avLst/>
          </a:prstGeom>
          <a:solidFill>
            <a:srgbClr val="F2C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48640" y="22860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2834640" y="2377440"/>
            <a:ext cx="8961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R + Installation RStudio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2834640" y="3657600"/>
            <a:ext cx="8961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F2C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Ecosysteme, IDE, premier projet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276D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F2C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7200" y="457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R ?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640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langage cree pour les statisticiens, devenu standard en science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875520" y="6537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  -  3 / 50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548640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C9C9C9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48640" y="1371600"/>
            <a:ext cx="5486400" cy="91440"/>
          </a:xfrm>
          <a:prstGeom prst="rect">
            <a:avLst/>
          </a:prstGeom>
          <a:solidFill>
            <a:srgbClr val="276D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22960" y="16459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76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Statistiques natives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22960" y="228600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modeles classiques + 20000 packages CRAN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309360" y="1371600"/>
            <a:ext cx="548640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C9C9C9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309360" y="1371600"/>
            <a:ext cx="5486400" cy="91440"/>
          </a:xfrm>
          <a:prstGeom prst="rect">
            <a:avLst/>
          </a:prstGeom>
          <a:solidFill>
            <a:srgbClr val="276D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583680" y="16459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76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 publication-quality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583680" y="228600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ggplot2 reste la reference internationale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3749040"/>
            <a:ext cx="548640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C9C9C9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548640" y="3749040"/>
            <a:ext cx="5486400" cy="91440"/>
          </a:xfrm>
          <a:prstGeom prst="rect">
            <a:avLst/>
          </a:prstGeom>
          <a:solidFill>
            <a:srgbClr val="276D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22960" y="40233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76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Communaute scientifique active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822960" y="466344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Conferences (useR!, posit::conf), 100+ livres, Stack Overflow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309360" y="3749040"/>
            <a:ext cx="548640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C9C9C9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6309360" y="3749040"/>
            <a:ext cx="5486400" cy="91440"/>
          </a:xfrm>
          <a:prstGeom prst="rect">
            <a:avLst/>
          </a:prstGeom>
          <a:solidFill>
            <a:srgbClr val="276D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583680" y="40233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76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et gratuit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6583680" y="466344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licence, pas de SaaS, deployable sur serveur ou cloud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276D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F2C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7200" y="457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face aux alternatives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640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outil a son terrain de predilection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875520" y="6537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  -  4 / 50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solidFill>
            <a:srgbClr val="1F2D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48640" y="13716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011680" y="13716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029200" y="1371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772400" y="13716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l'utiliser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48640" y="1874520"/>
            <a:ext cx="11064240" cy="914400"/>
          </a:xfrm>
          <a:prstGeom prst="rect">
            <a:avLst/>
          </a:prstGeom>
          <a:solidFill>
            <a:srgbClr val="F8F9FA"/>
          </a:solidFill>
          <a:ln w="381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48640" y="1874520"/>
            <a:ext cx="73152" cy="914400"/>
          </a:xfrm>
          <a:prstGeom prst="rect">
            <a:avLst/>
          </a:prstGeom>
          <a:solidFill>
            <a:srgbClr val="C9C9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48640" y="1874520"/>
            <a:ext cx="1463040" cy="914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011680" y="1874520"/>
            <a:ext cx="3017520" cy="914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Visuel, rapide a prototyper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029200" y="1874520"/>
            <a:ext cx="2743200" cy="914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 lignes max, non scriptable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772400" y="1874520"/>
            <a:ext cx="3840480" cy="914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Petites donnees, exploration rapide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48640" y="2788920"/>
            <a:ext cx="11064240" cy="914400"/>
          </a:xfrm>
          <a:prstGeom prst="rect">
            <a:avLst/>
          </a:prstGeom>
          <a:solidFill>
            <a:srgbClr val="FFFFFF"/>
          </a:solidFill>
          <a:ln w="381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548640" y="2788920"/>
            <a:ext cx="73152" cy="914400"/>
          </a:xfrm>
          <a:prstGeom prst="rect">
            <a:avLst/>
          </a:prstGeom>
          <a:solidFill>
            <a:srgbClr val="C9C9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48640" y="2788920"/>
            <a:ext cx="1463040" cy="914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2011680" y="2788920"/>
            <a:ext cx="3017520" cy="914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ML, web, prod, polyvalent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029200" y="2788920"/>
            <a:ext cx="2743200" cy="914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moins natives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772400" y="2788920"/>
            <a:ext cx="3840480" cy="914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Production, integration logicielle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48640" y="3703320"/>
            <a:ext cx="11064240" cy="914400"/>
          </a:xfrm>
          <a:prstGeom prst="rect">
            <a:avLst/>
          </a:prstGeom>
          <a:solidFill>
            <a:srgbClr val="F8F9FA"/>
          </a:solidFill>
          <a:ln w="381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548640" y="3703320"/>
            <a:ext cx="73152" cy="914400"/>
          </a:xfrm>
          <a:prstGeom prst="rect">
            <a:avLst/>
          </a:prstGeom>
          <a:solidFill>
            <a:srgbClr val="276D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548640" y="3703320"/>
            <a:ext cx="1463040" cy="914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76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2011680" y="3703320"/>
            <a:ext cx="3017520" cy="914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76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Stats, visualisation, rapports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029200" y="3703320"/>
            <a:ext cx="2743200" cy="914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76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brute (sauf data.table)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7772400" y="3703320"/>
            <a:ext cx="3840480" cy="914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76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Analyses, recherche, rapports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548640" y="4617720"/>
            <a:ext cx="11064240" cy="914400"/>
          </a:xfrm>
          <a:prstGeom prst="rect">
            <a:avLst/>
          </a:prstGeom>
          <a:solidFill>
            <a:srgbClr val="FFFFFF"/>
          </a:solidFill>
          <a:ln w="381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548640" y="4617720"/>
            <a:ext cx="73152" cy="914400"/>
          </a:xfrm>
          <a:prstGeom prst="rect">
            <a:avLst/>
          </a:prstGeom>
          <a:solidFill>
            <a:srgbClr val="C9C9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548640" y="4617720"/>
            <a:ext cx="1463040" cy="914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2011680" y="4617720"/>
            <a:ext cx="3017520" cy="914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Numerique, ingenierie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5029200" y="4617720"/>
            <a:ext cx="2743200" cy="914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 (~2000+ USD), proprietaire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7772400" y="4617720"/>
            <a:ext cx="3840480" cy="914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scientifique avance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548640" y="5532120"/>
            <a:ext cx="11064240" cy="914400"/>
          </a:xfrm>
          <a:prstGeom prst="rect">
            <a:avLst/>
          </a:prstGeom>
          <a:solidFill>
            <a:srgbClr val="F8F9FA"/>
          </a:solidFill>
          <a:ln w="381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548640" y="5532120"/>
            <a:ext cx="73152" cy="914400"/>
          </a:xfrm>
          <a:prstGeom prst="rect">
            <a:avLst/>
          </a:prstGeom>
          <a:solidFill>
            <a:srgbClr val="C9C9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548640" y="5532120"/>
            <a:ext cx="1463040" cy="914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2011680" y="5532120"/>
            <a:ext cx="3017520" cy="914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Industriel, valide pharma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5029200" y="5532120"/>
            <a:ext cx="2743200" cy="914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cher, syntaxe vieillissante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7772400" y="5532120"/>
            <a:ext cx="3840480" cy="914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Pharma, banques (legacy)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276D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F2C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7200" y="457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L'ecosysteme R - CRAN, packages, tidyverse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640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de 20000 packages disponibles en quelques commandes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875520" y="6537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  -  5 / 50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5120640" cy="1371600"/>
          </a:xfrm>
          <a:prstGeom prst="rect">
            <a:avLst/>
          </a:prstGeom>
          <a:solidFill>
            <a:srgbClr val="FFFFFF"/>
          </a:solidFill>
          <a:ln w="508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48640" y="1371600"/>
            <a:ext cx="109728" cy="1371600"/>
          </a:xfrm>
          <a:prstGeom prst="rect">
            <a:avLst/>
          </a:prstGeom>
          <a:solidFill>
            <a:srgbClr val="276D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137160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76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20 000+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2834640" y="137160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 CRAN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48640" y="2926080"/>
            <a:ext cx="5120640" cy="1371600"/>
          </a:xfrm>
          <a:prstGeom prst="rect">
            <a:avLst/>
          </a:prstGeom>
          <a:solidFill>
            <a:srgbClr val="FFFFFF"/>
          </a:solidFill>
          <a:ln w="508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48640" y="2926080"/>
            <a:ext cx="109728" cy="1371600"/>
          </a:xfrm>
          <a:prstGeom prst="rect">
            <a:avLst/>
          </a:prstGeom>
          <a:solidFill>
            <a:srgbClr val="5A9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77240" y="292608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5A9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3 000+</a:t>
            </a:r>
            <a:endParaRPr lang="en-US" sz="3600" dirty="0"/>
          </a:p>
        </p:txBody>
      </p:sp>
      <p:sp>
        <p:nvSpPr>
          <p:cNvPr id="15" name="Text 12"/>
          <p:cNvSpPr/>
          <p:nvPr/>
        </p:nvSpPr>
        <p:spPr>
          <a:xfrm>
            <a:off x="2834640" y="292608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 Bioconductor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48640" y="4480560"/>
            <a:ext cx="5120640" cy="1371600"/>
          </a:xfrm>
          <a:prstGeom prst="rect">
            <a:avLst/>
          </a:prstGeom>
          <a:solidFill>
            <a:srgbClr val="FFFFFF"/>
          </a:solidFill>
          <a:ln w="508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548640" y="4480560"/>
            <a:ext cx="109728" cy="1371600"/>
          </a:xfrm>
          <a:prstGeom prst="rect">
            <a:avLst/>
          </a:prstGeom>
          <a:solidFill>
            <a:srgbClr val="F2C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77240" y="448056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2C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+5/jour</a:t>
            </a:r>
            <a:endParaRPr lang="en-US" sz="3600" dirty="0"/>
          </a:p>
        </p:txBody>
      </p:sp>
      <p:sp>
        <p:nvSpPr>
          <p:cNvPr id="19" name="Text 16"/>
          <p:cNvSpPr/>
          <p:nvPr/>
        </p:nvSpPr>
        <p:spPr>
          <a:xfrm>
            <a:off x="2834640" y="448056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nouveaux packages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943600" y="1371600"/>
            <a:ext cx="5760720" cy="475488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126480" y="1508760"/>
            <a:ext cx="53949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Installer un package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install.packages('dplyr')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Charger pour utiliser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library(dplyr)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 tidyverse en bloc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install.packages('tidyverse')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library(tidyverse)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-&gt; charge dplyr, ggplot2,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tidyr, readr, purrr,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stringr, forcats, tibble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276D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F2C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7200" y="457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- 3 etapes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640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d'abord (le moteur), puis RStudio (l'IDE), puis les packages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875520" y="6537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  -  6 / 50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463040"/>
            <a:ext cx="3657600" cy="4937760"/>
          </a:xfrm>
          <a:prstGeom prst="rect">
            <a:avLst/>
          </a:prstGeom>
          <a:solidFill>
            <a:srgbClr val="FFFFFF"/>
          </a:solidFill>
          <a:ln w="6350">
            <a:solidFill>
              <a:srgbClr val="C9C9C9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645920" y="1828800"/>
            <a:ext cx="1463040" cy="1463040"/>
          </a:xfrm>
          <a:prstGeom prst="ellipse">
            <a:avLst/>
          </a:prstGeom>
          <a:solidFill>
            <a:srgbClr val="276D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645920" y="182880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0" dirty="0"/>
          </a:p>
        </p:txBody>
      </p:sp>
      <p:sp>
        <p:nvSpPr>
          <p:cNvPr id="11" name="Text 8"/>
          <p:cNvSpPr/>
          <p:nvPr/>
        </p:nvSpPr>
        <p:spPr>
          <a:xfrm>
            <a:off x="731520" y="35204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 R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31520" y="4114800"/>
            <a:ext cx="3291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cran.r-project.org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Choisir son OS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 &gt;= 4.0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434840" y="1463040"/>
            <a:ext cx="3657600" cy="4937760"/>
          </a:xfrm>
          <a:prstGeom prst="rect">
            <a:avLst/>
          </a:prstGeom>
          <a:solidFill>
            <a:srgbClr val="FFFFFF"/>
          </a:solidFill>
          <a:ln w="6350">
            <a:solidFill>
              <a:srgbClr val="C9C9C9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532120" y="1828800"/>
            <a:ext cx="1463040" cy="1463040"/>
          </a:xfrm>
          <a:prstGeom prst="ellipse">
            <a:avLst/>
          </a:prstGeom>
          <a:solidFill>
            <a:srgbClr val="5A9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532120" y="182880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0" dirty="0"/>
          </a:p>
        </p:txBody>
      </p:sp>
      <p:sp>
        <p:nvSpPr>
          <p:cNvPr id="16" name="Text 13"/>
          <p:cNvSpPr/>
          <p:nvPr/>
        </p:nvSpPr>
        <p:spPr>
          <a:xfrm>
            <a:off x="4617720" y="35204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 RStudio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4617720" y="4114800"/>
            <a:ext cx="3291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posit.co/download/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rstudio-desktop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 Desktop Free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321040" y="1463040"/>
            <a:ext cx="3657600" cy="4937760"/>
          </a:xfrm>
          <a:prstGeom prst="rect">
            <a:avLst/>
          </a:prstGeom>
          <a:solidFill>
            <a:srgbClr val="FFFFFF"/>
          </a:solidFill>
          <a:ln w="6350">
            <a:solidFill>
              <a:srgbClr val="C9C9C9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9418320" y="1828800"/>
            <a:ext cx="1463040" cy="1463040"/>
          </a:xfrm>
          <a:prstGeom prst="ellipse">
            <a:avLst/>
          </a:prstGeom>
          <a:solidFill>
            <a:srgbClr val="F2C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9418320" y="182880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0" dirty="0"/>
          </a:p>
        </p:txBody>
      </p:sp>
      <p:sp>
        <p:nvSpPr>
          <p:cNvPr id="21" name="Text 18"/>
          <p:cNvSpPr/>
          <p:nvPr/>
        </p:nvSpPr>
        <p:spPr>
          <a:xfrm>
            <a:off x="8503920" y="35204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 les packages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8503920" y="4114800"/>
            <a:ext cx="3291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install.packages(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c('tidyverse','rmarkdown',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'knitr'))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276D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F2C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7200" y="457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L'interface RStudio - 4 panneaux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640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Connaitre cette disposition est la premiere bataille gagnee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875520" y="6537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  -  7 / 50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463040"/>
            <a:ext cx="110642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94360" y="1508760"/>
            <a:ext cx="5440680" cy="2377440"/>
          </a:xfrm>
          <a:prstGeom prst="rect">
            <a:avLst/>
          </a:prstGeom>
          <a:solidFill>
            <a:srgbClr val="F8F9FA"/>
          </a:solidFill>
          <a:ln w="635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94360" y="1508760"/>
            <a:ext cx="5440680" cy="365760"/>
          </a:xfrm>
          <a:prstGeom prst="rect">
            <a:avLst/>
          </a:prstGeom>
          <a:solidFill>
            <a:srgbClr val="276D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94360" y="150876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 (Ctrl+1)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77240" y="1965960"/>
            <a:ext cx="5074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Ecrire le code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Ctrl+Enter pour executer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126480" y="1508760"/>
            <a:ext cx="5440680" cy="2377440"/>
          </a:xfrm>
          <a:prstGeom prst="rect">
            <a:avLst/>
          </a:prstGeom>
          <a:solidFill>
            <a:srgbClr val="F8F9FA"/>
          </a:solidFill>
          <a:ln w="635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126480" y="1508760"/>
            <a:ext cx="5440680" cy="365760"/>
          </a:xfrm>
          <a:prstGeom prst="rect">
            <a:avLst/>
          </a:prstGeom>
          <a:solidFill>
            <a:srgbClr val="5A9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126480" y="150876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309360" y="1965960"/>
            <a:ext cx="5074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history,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connections, build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94360" y="3931920"/>
            <a:ext cx="5440680" cy="2331720"/>
          </a:xfrm>
          <a:prstGeom prst="rect">
            <a:avLst/>
          </a:prstGeom>
          <a:solidFill>
            <a:srgbClr val="F8F9FA"/>
          </a:solidFill>
          <a:ln w="635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94360" y="3931920"/>
            <a:ext cx="5440680" cy="365760"/>
          </a:xfrm>
          <a:prstGeom prst="rect">
            <a:avLst/>
          </a:prstGeom>
          <a:solidFill>
            <a:srgbClr val="F2C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94360" y="393192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 (Ctrl+2)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77240" y="4389120"/>
            <a:ext cx="50749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Saisir des commandes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immediatement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126480" y="3931920"/>
            <a:ext cx="5440680" cy="2331720"/>
          </a:xfrm>
          <a:prstGeom prst="rect">
            <a:avLst/>
          </a:prstGeom>
          <a:solidFill>
            <a:srgbClr val="F8F9FA"/>
          </a:solidFill>
          <a:ln w="635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6126480" y="3931920"/>
            <a:ext cx="5440680" cy="365760"/>
          </a:xfrm>
          <a:prstGeom prst="rect">
            <a:avLst/>
          </a:prstGeom>
          <a:solidFill>
            <a:srgbClr val="C73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126480" y="393192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/ PLOTS / HELP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309360" y="4389120"/>
            <a:ext cx="50749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Explorateur, graphiques,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packages, doc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276D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F2C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7200" y="457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Toujours travailler dans un projet RStudio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640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Repertoire de travail automatique - code portable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875520" y="6537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  -  8 / 50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5303520" cy="5120640"/>
          </a:xfrm>
          <a:prstGeom prst="rect">
            <a:avLst/>
          </a:prstGeom>
          <a:solidFill>
            <a:srgbClr val="F8F9FA"/>
          </a:solidFill>
          <a:ln w="635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31520" y="15087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76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raisons d'utiliser un projet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77240" y="2148840"/>
            <a:ext cx="457200" cy="457200"/>
          </a:xfrm>
          <a:prstGeom prst="ellipse">
            <a:avLst/>
          </a:prstGeom>
          <a:solidFill>
            <a:srgbClr val="F2C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7724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417320" y="210312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Repertoire automatique - plus de setwd() avec chemin absolu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77240" y="3429000"/>
            <a:ext cx="457200" cy="457200"/>
          </a:xfrm>
          <a:prstGeom prst="ellipse">
            <a:avLst/>
          </a:prstGeom>
          <a:solidFill>
            <a:srgbClr val="F2C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7724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417320" y="338328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portable - se passe d'une machine a l'autre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77240" y="4709160"/>
            <a:ext cx="457200" cy="457200"/>
          </a:xfrm>
          <a:prstGeom prst="ellipse">
            <a:avLst/>
          </a:prstGeom>
          <a:solidFill>
            <a:srgbClr val="F2C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7724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417320" y="466344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de session, environnement isolable avec renv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126480" y="1371600"/>
            <a:ext cx="5577840" cy="512064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309360" y="1508760"/>
            <a:ext cx="52120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Structure type d'un projet R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mon_projet/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mon_projet.Rproj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data/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raw/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 processed/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R/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01_chargement.R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02_nettoyage.R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 03_analyse.R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rapports/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 rapport.Rmd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figures/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README.md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276D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F2C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7200" y="457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code - Hello world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640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operations, fonctions, graphique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875520" y="6537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  -  9 / 50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31520" y="1508760"/>
            <a:ext cx="106984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Mon premier script R - mes_premiers_pas.R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Assignation de variables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&lt;- 5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&lt;- 10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 &lt;- 'Sentinel'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Operations arithmetiques (R est une calculatrice)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+ y          # affiche 15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* y          # affiche 50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sqrt(x^2 + y^2)  # affiche 11.18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Fonctions courantes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print(nom)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sprintf('x = %d, y = %d, somme = %d', x, y, x+y)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Premier graphique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plot(1:20, (1:20)^2, type = 'b', col = 'steelblue',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main = 'Mon premier graphique', xlab = 'i', ylab = 'i^2')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276D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F2C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7200" y="457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son format - .R, .Rmd, .qmd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640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formats principaux selon l'usage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875520" y="6537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  -  10 / 50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3657600" cy="5029200"/>
          </a:xfrm>
          <a:prstGeom prst="rect">
            <a:avLst/>
          </a:prstGeom>
          <a:solidFill>
            <a:srgbClr val="FFFFFF"/>
          </a:solidFill>
          <a:ln w="635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48640" y="1371600"/>
            <a:ext cx="3657600" cy="914400"/>
          </a:xfrm>
          <a:prstGeom prst="rect">
            <a:avLst/>
          </a:prstGeom>
          <a:solidFill>
            <a:srgbClr val="276D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48640" y="13716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.R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548640" y="1828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script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22960" y="2468880"/>
            <a:ext cx="3200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pur execute en sequence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pipelines, scripts d'analyse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prose, juste des commentaires #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434840" y="1371600"/>
            <a:ext cx="3657600" cy="5029200"/>
          </a:xfrm>
          <a:prstGeom prst="rect">
            <a:avLst/>
          </a:prstGeom>
          <a:solidFill>
            <a:srgbClr val="FFFFFF"/>
          </a:solidFill>
          <a:ln w="635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434840" y="1371600"/>
            <a:ext cx="3657600" cy="914400"/>
          </a:xfrm>
          <a:prstGeom prst="rect">
            <a:avLst/>
          </a:prstGeom>
          <a:solidFill>
            <a:srgbClr val="5A9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434840" y="13716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.Rmd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434840" y="1828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Markdown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4709160" y="2468880"/>
            <a:ext cx="3200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 prose + chunks de code 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Genere HTML / PDF / Word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Reproductible, partageable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format incontournable pour rapports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321040" y="1371600"/>
            <a:ext cx="3657600" cy="5029200"/>
          </a:xfrm>
          <a:prstGeom prst="rect">
            <a:avLst/>
          </a:prstGeom>
          <a:solidFill>
            <a:srgbClr val="FFFFFF"/>
          </a:solidFill>
          <a:ln w="635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8321040" y="1371600"/>
            <a:ext cx="3657600" cy="914400"/>
          </a:xfrm>
          <a:prstGeom prst="rect">
            <a:avLst/>
          </a:prstGeom>
          <a:solidFill>
            <a:srgbClr val="F2C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321040" y="13716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.qmd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8321040" y="1828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Quarto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8595360" y="2468880"/>
            <a:ext cx="3200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Successeur multi-langages de Rmd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R, Python, Julia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publications, sites, livres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276D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F2C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7200" y="457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 1 - Premier script (8 min)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640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Creer un projet RStudio et executer un script complet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875520" y="6537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  -  11 / 50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5303520" cy="5029200"/>
          </a:xfrm>
          <a:prstGeom prst="rect">
            <a:avLst/>
          </a:prstGeom>
          <a:solidFill>
            <a:srgbClr val="F8F9FA"/>
          </a:solidFill>
          <a:ln w="635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31520" y="15087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76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faire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31520" y="201168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Ouvrir RStudio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File &gt; New Project &gt; New Directory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Nommer 'cours_R'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File &gt; New File &gt; R Script (Ctrl+Shift+N)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Taper le code de droite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Selectionner tout (Ctrl+A) et executer (Ctrl+Enter)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Sauvegarder sous 'exercice_01.R'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126480" y="1371600"/>
            <a:ext cx="5577840" cy="50292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309360" y="1508760"/>
            <a:ext cx="52120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Exercice 1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 &lt;- 'Bourgeois'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&lt;- 25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ville &lt;- 'Quebec'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msg &lt;- sprintf(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'%s a %d ans et habite a %s',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nom, age, ville)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print(msg)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Generer 100 normales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set.seed(42)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&lt;- rnorm(100, mean=10, sd=2)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mean(x)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sd(x)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hist(x, breaks=15,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col='steelblue',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main='100 valeurs normales')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2D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2286000"/>
            <a:ext cx="2011680" cy="1371600"/>
          </a:xfrm>
          <a:prstGeom prst="rect">
            <a:avLst/>
          </a:prstGeom>
          <a:solidFill>
            <a:srgbClr val="F2C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48640" y="22860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2834640" y="2377440"/>
            <a:ext cx="8961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du langage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2834640" y="3657600"/>
            <a:ext cx="8961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F2C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vecteurs, fonctions, structures de controle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276D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F2C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7200" y="457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et types de base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640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types fondamentaux + valeurs speciales NA, NULL, NaN, Inf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875520" y="6537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  -  13 / 50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5486400" cy="457200"/>
          </a:xfrm>
          <a:prstGeom prst="rect">
            <a:avLst/>
          </a:prstGeom>
          <a:solidFill>
            <a:srgbClr val="1F2D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48640" y="1371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828800" y="1371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114800" y="13716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1828800"/>
            <a:ext cx="5486400" cy="640080"/>
          </a:xfrm>
          <a:prstGeom prst="rect">
            <a:avLst/>
          </a:prstGeom>
          <a:solidFill>
            <a:srgbClr val="F8F9FA"/>
          </a:solidFill>
          <a:ln w="381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48640" y="1828800"/>
            <a:ext cx="1280160" cy="6400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828800" y="1828800"/>
            <a:ext cx="2286000" cy="6400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3.14, 2e5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114800" y="1828800"/>
            <a:ext cx="1920240" cy="6400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is.numeric()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" y="2468880"/>
            <a:ext cx="5486400" cy="640080"/>
          </a:xfrm>
          <a:prstGeom prst="rect">
            <a:avLst/>
          </a:prstGeom>
          <a:solidFill>
            <a:srgbClr val="FFFFFF"/>
          </a:solidFill>
          <a:ln w="381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48640" y="2468880"/>
            <a:ext cx="1280160" cy="6400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828800" y="2468880"/>
            <a:ext cx="2286000" cy="6400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5L, 100L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114800" y="2468880"/>
            <a:ext cx="1920240" cy="6400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is.integer()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48640" y="3108960"/>
            <a:ext cx="5486400" cy="640080"/>
          </a:xfrm>
          <a:prstGeom prst="rect">
            <a:avLst/>
          </a:prstGeom>
          <a:solidFill>
            <a:srgbClr val="F8F9FA"/>
          </a:solidFill>
          <a:ln w="381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48640" y="3108960"/>
            <a:ext cx="1280160" cy="6400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828800" y="3108960"/>
            <a:ext cx="2286000" cy="6400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'texte', "hi"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114800" y="3108960"/>
            <a:ext cx="1920240" cy="6400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is.character()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48640" y="3749040"/>
            <a:ext cx="5486400" cy="640080"/>
          </a:xfrm>
          <a:prstGeom prst="rect">
            <a:avLst/>
          </a:prstGeom>
          <a:solidFill>
            <a:srgbClr val="FFFFFF"/>
          </a:solidFill>
          <a:ln w="381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548640" y="3749040"/>
            <a:ext cx="1280160" cy="6400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828800" y="3749040"/>
            <a:ext cx="2286000" cy="6400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TRUE, FALSE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114800" y="3749040"/>
            <a:ext cx="1920240" cy="6400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is.logical()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548640" y="4389120"/>
            <a:ext cx="5486400" cy="640080"/>
          </a:xfrm>
          <a:prstGeom prst="rect">
            <a:avLst/>
          </a:prstGeom>
          <a:solidFill>
            <a:srgbClr val="F8F9FA"/>
          </a:solidFill>
          <a:ln w="381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548640" y="4389120"/>
            <a:ext cx="1280160" cy="6400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1828800" y="4389120"/>
            <a:ext cx="2286000" cy="6400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1+2i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4114800" y="4389120"/>
            <a:ext cx="1920240" cy="6400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is.complex()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6309360" y="1371600"/>
            <a:ext cx="5394960" cy="50292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6492240" y="1508760"/>
            <a:ext cx="50292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Assignation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&lt;- 3.14         # numeric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&lt;- 5L           # integer (note le L)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txt &lt;- 'hello'    # character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 &lt;- TRUE        # logical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Tester / convertir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class(x)          # 'numeric'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as.character(y)   # '5'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as.numeric('3.14')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Valeurs speciales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       # manquant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     # objet vide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NaN      # 0/0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      # 1/0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is.na(NA)         # TRUE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mean(c(1,2,NA))   # NA !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mean(c(1,2,NA), na.rm=TRUE)  # 1.5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276D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F2C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7200" y="457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Vecteurs - la structure fondamentale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640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est vecteur en R - les operations sont vectorisees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875520" y="6537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  -  14 / 50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31520" y="1508760"/>
            <a:ext cx="106984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 &lt;- c(1, 2, 3, 4, 5)        # avec c()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 &lt;- 1:10                    # entiers consecutifs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v3 &lt;- seq(0, 1, by=0.1)       # 0, 0.1, ..., 1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v4 &lt;- seq(0, 100, length.out=11)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v5 &lt;- rep(0, 100)             # 100 zeros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v6 &lt;- rnorm(50, mean=0, sd=1) # 50 valeurs N(0,1)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OPERATIONS VECTORIELLES (sans boucle !)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 + 10        # ajoute 10 a chaque element : 11 12 13 14 15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 * 2         # 2 4 6 8 10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v1^2           # 1 4 9 16 25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 + c(1,2,3,4,5)  # element par element : 2 4 6 8 10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Recyclage : R repete le vecteur le plus court (PIEGE !)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c(1,2,3,4) + c(10,20)    # = 11 22 13 24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276D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F2C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7200" y="457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Indexer les vecteurs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640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styles : positions, negatifs, logique, noms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875520" y="6537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  -  15 / 50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31520" y="1508760"/>
            <a:ext cx="106984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&lt;- c(10, 20, 30, 40, 50)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INDICES POSITIFS (R indexe a partir de 1, pas 0 !)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v[1]              # 10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v[c(1, 3)]        # 10 30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v[2:4]            # 20 30 40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INDICES NEGATIFS - exclure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v[-1]             # 20 30 40 50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v[-c(1, 5)]       # 20 30 40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INDEXATION LOGIQUE - tres puissante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v[v &gt; 20]         # 30 40 50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v[v &gt; 20 &amp; v &lt; 50]# 30 40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NOMMEE (si vecteur nomme)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&lt;- c(a=1, b=2, c=3)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v['b']            # 2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MODIFICATION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v[v &gt; 30] &lt;- 0    # remplace les &gt; 30 par 0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276D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F2C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7200" y="457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Operateurs - arithmetique, comparaison, logique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640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aux pieges (==, &amp;, &amp;&amp;)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875520" y="6537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  -  16 / 50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54864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48640" y="1371600"/>
            <a:ext cx="109728" cy="2286000"/>
          </a:xfrm>
          <a:prstGeom prst="rect">
            <a:avLst/>
          </a:prstGeom>
          <a:solidFill>
            <a:srgbClr val="276D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22960" y="15087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76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Arithmetique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22960" y="2011680"/>
            <a:ext cx="5120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- * /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^ (puissance)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%% (modulo)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%/% (division entiere)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309360" y="1371600"/>
            <a:ext cx="54864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309360" y="1371600"/>
            <a:ext cx="109728" cy="2286000"/>
          </a:xfrm>
          <a:prstGeom prst="rect">
            <a:avLst/>
          </a:prstGeom>
          <a:solidFill>
            <a:srgbClr val="5A9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583680" y="15087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A9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583680" y="2011680"/>
            <a:ext cx="5120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 egal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 different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&lt;= &gt; &gt;=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Renvoient TRUE / FALSE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3931920"/>
            <a:ext cx="54864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548640" y="3931920"/>
            <a:ext cx="109728" cy="2286000"/>
          </a:xfrm>
          <a:prstGeom prst="rect">
            <a:avLst/>
          </a:prstGeom>
          <a:solidFill>
            <a:srgbClr val="F2C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22960" y="40690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C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Logique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22960" y="4572000"/>
            <a:ext cx="5120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 NON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 ET vectoriel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OU vectoriel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&amp;&amp; || court-circuit (scalaires)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309360" y="3931920"/>
            <a:ext cx="54864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6309360" y="3931920"/>
            <a:ext cx="109728" cy="2286000"/>
          </a:xfrm>
          <a:prstGeom prst="rect">
            <a:avLst/>
          </a:prstGeom>
          <a:solidFill>
            <a:srgbClr val="C73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583680" y="40690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73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Pieges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6583680" y="4572000"/>
            <a:ext cx="5120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 sur flottants : utiliser all.equal()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 vs &amp;&amp; : &amp; sur vecteurs, &amp;&amp; sur scalaires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vs &lt;- : usage de &lt;- recommande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276D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F2C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7200" y="457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 - utiliser et creer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640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milliers de fonctions built-in + creation de ses propres fonctions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875520" y="6537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  -  17 / 50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5303520" cy="5029200"/>
          </a:xfrm>
          <a:prstGeom prst="rect">
            <a:avLst/>
          </a:prstGeom>
          <a:solidFill>
            <a:srgbClr val="F8F9FA"/>
          </a:solidFill>
          <a:ln w="635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31520" y="15087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6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 built-in courantes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31520" y="2011680"/>
            <a:ext cx="502920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Statistiques
</a:t>
            </a:r>
            <a:r>
              <a:rPr lang="en-US" sz="1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mean, median, sd, var, min, max, range, quantile, summary, sum, length, n
</a:t>
            </a: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
</a:t>
            </a:r>
            <a:r>
              <a:rPr lang="en-US" sz="1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sort, order, rev, unique, round, abs, sqrt, log, exp
</a:t>
            </a: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Chaines
</a:t>
            </a:r>
            <a:r>
              <a:rPr lang="en-US" sz="1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nchar, substr, paste, paste0, sprintf, gsub, toupper
</a:t>
            </a: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
</a:t>
            </a:r>
            <a:r>
              <a:rPr lang="en-US" sz="1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?mean (doc), ??regression (recherche)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26480" y="1371600"/>
            <a:ext cx="5577840" cy="50292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309360" y="1508760"/>
            <a:ext cx="52120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Creer une fonction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celsius_to_kelvin &lt;- function(c)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 + 273.15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celsius_to_kelvin(20)   # 293.15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Avec valeurs par defaut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ma_moyenne &lt;- function(x, na.rm=TRUE)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sum(x, na.rm=na.rm) / length(x)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Plusieurs valeurs de retour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stats &lt;- function(x)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list(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mean = mean(x),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sd   = sd(x),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    = length(x)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stats(rnorm(100))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276D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F2C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7200" y="457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flux - if, for, while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640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en R on prefere VECTORISER plutot que boucler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875520" y="6537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  -  18 / 50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31520" y="1508760"/>
            <a:ext cx="106984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IF / ELSE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&lt;- 10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(x &gt; 5)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print('grand')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if (x &gt; 0)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print('petit')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print('negatif')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IFELSE (vectorise) - PREFERE pour les vecteurs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&lt;- c(-2, 5, 10, -7)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ifelse(v &gt; 0, 'positif', 'negatif')   # vecteur de 4 chaines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 in 1:5) print(i^2)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WHILE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&lt;- 1; while (x &lt; 100) x &lt;- x * 2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REGLE D'OR : si vous ecrivez une boucle for sur un vecteur,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      c'est probablement remplaçable par une operation vectorielle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276D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F2C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7200" y="457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Famille apply et purrr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640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L'idiome fonctionnel pour eviter les boucles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875520" y="6537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  -  19 / 50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31520" y="1508760"/>
            <a:ext cx="106984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Famille apply (base R)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&lt;- 1:10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sapply - retourne un vecteur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sapply(v, function(i) i^2)        # 1 4 9 16 ... 100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lapply - retourne une liste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lapply(v, function(i) c(i, i^2))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apply sur matrice (1 = lignes, 2 = colonnes)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&lt;- matrix(1:12, 3, 4)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apply(m, 1, sum)    # somme par ligne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apply(m, 2, mean)   # moyenne par colonne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Equivalents tidyverse (purrr)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library(purrr)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map_dbl(v, ~ .x^2)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map_chr(v, ~ paste('val', .x))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MAIS pour beaucoup de cas, vectoriser est encore mieux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v^2     # plus rapide que sapply(v, function(i) i^2)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276D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F2C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7200" y="457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 2 - Calculs vectoriels (10 min)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640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Manipuler un vecteur de 1000 valeurs aleatoires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875520" y="6537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  -  20 / 50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5303520" cy="5029200"/>
          </a:xfrm>
          <a:prstGeom prst="rect">
            <a:avLst/>
          </a:prstGeom>
          <a:solidFill>
            <a:srgbClr val="F8F9FA"/>
          </a:solidFill>
          <a:ln w="635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31520" y="15087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76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31520" y="2011680"/>
            <a:ext cx="502920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Generer v &lt;- rnorm(1000)</a:t>
            </a: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Calculer mean, median, sd</a:t>
            </a: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Quantiles 5% et 95% (quantile)</a:t>
            </a: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Compter elements &gt; 1.96 et &lt; -1.96</a:t>
            </a: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Garder les 10 plus grands (sort)</a:t>
            </a: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Calculer le vecteur des differences (diff)</a:t>
            </a: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Verifier sum(diff(v)) ≈ tail(v,1) - head(v,1)</a:t>
            </a: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Tracer hist(v, breaks=30)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26480" y="1371600"/>
            <a:ext cx="5577840" cy="50292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309360" y="1508760"/>
            <a:ext cx="52120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Indices a utiliser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&lt;- rnorm(1000)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mean(v); median(v); sd(v)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quantile(v, c(0.05, 0.95))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sum(v &gt; 1.96)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sum(v &lt; -1.96)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sort(v, decreasing=TRUE)[1:10]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&lt;- diff(v)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sum(d) - (tail(v,1) - head(v,1))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hist(v, breaks=30, col='lightblue')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F2D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2286000"/>
            <a:ext cx="2011680" cy="1371600"/>
          </a:xfrm>
          <a:prstGeom prst="rect">
            <a:avLst/>
          </a:prstGeom>
          <a:solidFill>
            <a:srgbClr val="F2C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48640" y="22860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2834640" y="2377440"/>
            <a:ext cx="8961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Structures de donnees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2834640" y="3657600"/>
            <a:ext cx="8961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F2C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Listes, matrices, data frames - le coeur des analyses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276D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F2C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7200" y="457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Listes - structures heterogenes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640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liste peut contenir n'importe quel type d'objets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875520" y="6537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  -  22 / 50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31520" y="1508760"/>
            <a:ext cx="106984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Une liste melange tout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ma_liste &lt;- list(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nom         = 'Sentinel-2',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bandes      = c('B02','B03','B04','B08'),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resolutions = c(10, 10, 10, 10),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meta = list(annee = 2015, agence = 'ESA'),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modele      = lm(mpg ~ wt, data = mtcars)    # un objet stat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ACCEDER a un element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ma_liste$nom              # 'Sentinel-2'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ma_liste[['bandes']]      # vecteur des 4 bandes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ma_liste[[2]]             # 2eme element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names(ma_liste)           # tous les noms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Modifier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ma_liste$annee_lancement &lt;- 2015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Beaucoup de fonctions R retournent une liste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 &lt;- lm(mpg ~ wt, data=mtcars)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fit$coefficients          # acceder aux coefficients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276D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F2C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7200" y="457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Matrices - tableaux 2D homogenes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640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l'algebre lineaire et les operations matricielles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875520" y="6537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  -  23 / 50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31520" y="1508760"/>
            <a:ext cx="106984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&lt;- matrix(1:12, nrow = 3, ncol = 4)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dim(m)                # 3 4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[,1] [,2] [,3] [,4]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[1,]   1    4    7   10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[2,]   2    5    8   11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[3,]   3    6    9   12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INDEXATION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m[1, 2]               # element ligne 1 colonne 2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m[1, ]                # toute la ligne 1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m[, 2]                # toute la colonne 2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OPERATIONS MATRICIELLES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+ 10                # element par element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%*% t(m)            # produit matriciel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t(m)                  # transposition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solve(m %*% t(m))     # inverse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det(m %*% t(m))       # determinant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eigen(m %*% t(m))     # decomposition spectrale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276D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F2C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7200" y="457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frames - le coeur des analyses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640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d'une feuille Excel ou d'un DataFrame pandas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875520" y="6537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  -  24 / 50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31520" y="1508760"/>
            <a:ext cx="106984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&lt;- data.frame(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     = 1:5,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nom    = c('A','B','C','D','E'),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age    = c(25, 32, 28, 45, 19),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taille = c(170, 165, 180, 175, 168),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stringsAsFactors = FALSE       # eviter conversion en facteur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DATASETS BUILT-IN POUR S'ENTRAINER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data(iris)            # 150 fleurs, 4 mesures + espece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data(mtcars)          # 32 voitures, 11 caracteristiques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data(airquality)      # qualite de l'air NYC, 154 jours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EXPLORATION RAPIDE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head(iris)            # 6 premieres lignes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str(iris)             # structure (colonnes + types)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summary(iris)         # stats par colonne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dim(iris)             # 150 5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names(iris)           # noms des colonnes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276D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F2C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7200" y="457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Acceder et filtrer un data frame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640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methodes : $, [, ], et subset()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875520" y="6537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  -  25 / 50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31520" y="1508760"/>
            <a:ext cx="106984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COLONNES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iris$Sepal.Length              # vecteur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iris[['Sepal.Length']]         # idem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iris[, 'Sepal.Length']         # idem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iris[, c('Sepal.Length', 'Species')]   # plusieurs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iris[, 1:2]                    # colonnes 1 et 2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LIGNES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iris[1:5, ]                    # 5 premieres lignes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iris[iris$Species == 'setosa', ]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FILTRAGE COMBINE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iris[iris$Species == 'setosa' &amp; iris$Sepal.Length &gt; 5, ]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SUBSET (plus lisible)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subset(iris, Species == 'setosa' &amp; Sepal.Length &gt; 5)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AGREGATION (base R)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aggregate(Sepal.Length ~ Species, data=iris, FUN=mean)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BIENTOT : on verra dplyr qui est plus moderne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276D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F2C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7200" y="457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Facteurs - variables categorielles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640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efficace + signal au modele que c'est qualitatif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875520" y="6537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  -  26 / 50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31520" y="1508760"/>
            <a:ext cx="106984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esp &lt;- factor(c('A', 'B', 'A', 'C', 'B', 'A'))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esp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[1] A B A C B 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Levels: A B C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levels(esp)                    # 'A' 'B' 'C'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table(esp)                     # comptage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A B C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3 2 1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FACTEUR ORDONNE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intensite &lt;- factor(c('faible','fort','moyen','fort','faible'),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levels = c('faible','moyen','fort'),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ordered = TRUE)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intensite &lt; 'moyen'             # comparaisons valides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IMPORTANT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data.frame() convertit (jusqu'a R 4.0) les chaines en facteurs.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Mettre stringsAsFactors = FALSE, ou utiliser tibble du tidyverse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qui ne le fait jamais.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276D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F2C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7200" y="457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 3 - Explorer iris (10 min)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640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dataset le plus connu de la statistique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875520" y="6537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  -  27 / 50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5303520" cy="5029200"/>
          </a:xfrm>
          <a:prstGeom prst="rect">
            <a:avLst/>
          </a:prstGeom>
          <a:solidFill>
            <a:srgbClr val="F8F9FA"/>
          </a:solidFill>
          <a:ln w="635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31520" y="15087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76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31520" y="2011680"/>
            <a:ext cx="502920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Charger : data(iris)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Combien de lignes ? Combien de colonnes ?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Quelles especes ? table(iris$Species)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Moyennes par espece :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 aggregate(. ~ Species, data=iris, mean)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Quelle espece a les plus grands petales ?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Filtrer Petal.Length &gt; 5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Combien y en a-t-il ? Repartition par espece ?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26480" y="1371600"/>
            <a:ext cx="5577840" cy="50292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309360" y="1508760"/>
            <a:ext cx="52120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Pistes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data(iris)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head(iris); str(iris)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nrow(iris); ncol(iris)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table(iris$Species)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Moyennes par espece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aggregate(. ~ Species,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data = iris, FUN = mean)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Filtrage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 &lt;- subset(iris, Petal.Length &gt; 5)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nrow(sub)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table(sub$Species)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Bonus : boxplot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boxplot(Petal.Length ~ Species,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data = iris,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col = c('coral','steelblue','seagreen'))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F2D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2286000"/>
            <a:ext cx="2011680" cy="1371600"/>
          </a:xfrm>
          <a:prstGeom prst="rect">
            <a:avLst/>
          </a:prstGeom>
          <a:solidFill>
            <a:srgbClr val="F2C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48640" y="22860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2834640" y="2377440"/>
            <a:ext cx="8961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Manipulation - tidyverse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2834640" y="3657600"/>
            <a:ext cx="8961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F2C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dplyr + readr + le pipe |&gt; - le quotidien moderne en R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276D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F2C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7200" y="457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tidyverse et la philosophie tidy data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640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donnee 'tidy' = 1 variable par colonne, 1 observation par ligne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875520" y="6537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  -  29 / 50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5303520" cy="5029200"/>
          </a:xfrm>
          <a:prstGeom prst="rect">
            <a:avLst/>
          </a:prstGeom>
          <a:solidFill>
            <a:srgbClr val="F8F9FA"/>
          </a:solidFill>
          <a:ln w="635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31520" y="15087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76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Tidy data - 3 regles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77240" y="2194560"/>
            <a:ext cx="365760" cy="365760"/>
          </a:xfrm>
          <a:prstGeom prst="ellipse">
            <a:avLst/>
          </a:prstGeom>
          <a:solidFill>
            <a:srgbClr val="F2C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7724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80160" y="21031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VARIABLE = une colonne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77240" y="2834640"/>
            <a:ext cx="365760" cy="365760"/>
          </a:xfrm>
          <a:prstGeom prst="ellipse">
            <a:avLst/>
          </a:prstGeom>
          <a:solidFill>
            <a:srgbClr val="F2C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7724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280160" y="27432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OBSERVATION = une ligne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77240" y="3474720"/>
            <a:ext cx="365760" cy="365760"/>
          </a:xfrm>
          <a:prstGeom prst="ellipse">
            <a:avLst/>
          </a:prstGeom>
          <a:solidFill>
            <a:srgbClr val="F2C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77240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280160" y="33832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type d'observation = une table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31520" y="42062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 charges par library(tidyverse) :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31520" y="457200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dplyr - manipulation  |  ggplot2 - visualisation  |  tidyr - reshaping  |  readr - lecture fichiers  |  purrr - programmation fonctionnelle  |  stringr - chaines  |  forcats - facteurs  |  tibble - data frame moderne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126480" y="1371600"/>
            <a:ext cx="5577840" cy="50292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309360" y="1508760"/>
            <a:ext cx="52120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Charger le tidyverse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library(tidyverse)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Exemple de NON-tidy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2020   2021   2022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A    100    120    115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B    200    240    230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Version tidy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pays    annee   valeur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A       2020    100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A       2021    120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A       2022    115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B       2020    200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B       2021    240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B       2022    230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pivot_longer transforme l'un en l'autre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276D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F2C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7200" y="457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un fichier de donnees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640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CSV, Excel, RDS, bases de donnees - le tidyverse simplifie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875520" y="6537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  -  30 / 50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31520" y="1508760"/>
            <a:ext cx="106984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library(readr)         # tidyverse - rapide, retourne un tibble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library(readxl)        # Excel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CSV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&lt;- read_csv('data/mesures.csv')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&lt;- read_csv('data/mesures.csv', col_types = cols(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date = col_date(),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ce   = col_double(),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zone = col_character()))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EXCEL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&lt;- read_excel('data/mesures.xlsx', sheet = 'Feuil1')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RDS - format R natif, le plus rapide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saveRDS(df, 'donnees.rds')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&lt;- readRDS('donnees.rds')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AUTRES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haven : SAS / SPSS / Stata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DBI + RPostgres : bases de donnees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sf : shapefiles, geopackage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terra : raster (GeoTIFF)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276D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F2C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7200" y="457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L'operateur pipe |&gt;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640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un workflow de gauche a droite, comme une recette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875520" y="6537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  -  31 / 50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31520" y="1508760"/>
            <a:ext cx="106984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Sans pipe : illisible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arrange(filter(select(iris, Species, Sepal.Length),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Sepal.Length &gt; 5),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Species)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Avec pipe |&gt; : lisible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iris |&gt;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select(Species, Sepal.Length) |&gt;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filter(Sepal.Length &gt; 5) |&gt;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arrange(Species)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x |&gt; f()        equivaut a   f(x)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x |&gt; f(y)       equivaut a   f(x, y)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x |&gt; f() |&gt; g() equivaut a   g(f(x))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Notes 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|&gt;  : pipe natif R 4.1+ (recommande)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%&gt;% : pipe magrittr (ancien, marche encore)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Les deux sont quasiment equivalents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Raccourci RStudio : Ctrl + Maj + M (configurable)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276D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F2C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7200" y="457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dplyr - filter, select, arrange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640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Selectionner des lignes, des colonnes, et trier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875520" y="6537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  -  32 / 50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31520" y="1508760"/>
            <a:ext cx="106984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FILTER - selectionner des LIGNES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iris |&gt; filter(Species == 'setosa')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iris |&gt; filter(Sepal.Length &gt; 5 &amp; Petal.Width &lt; 1)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iris |&gt; filter(Species %in% c('setosa', 'versicolor'))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SELECT - selectionner des COLONNES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iris |&gt; select(Species, Sepal.Length)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iris |&gt; select(-Species)              # tout sauf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iris |&gt; select(starts_with('Petal'))  # par prefixe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iris |&gt; select(where(is.numeric))     # numeriques uniquement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ARRANGE - trier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iris |&gt; arrange(Sepal.Length)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iris |&gt; arrange(desc(Sepal.Length))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iris |&gt; arrange(Species, desc(Sepal.Length))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DISTINCT - enlever doublons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iris |&gt; distinct(Species)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COUNT - comptage rapide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iris |&gt; count(Species)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276D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F2C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7200" y="457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dplyr - mutate, group_by, summarize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640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et agreger - les verbes les plus puissants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875520" y="6537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  -  33 / 50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31520" y="1508760"/>
            <a:ext cx="106984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MUTATE - creer / modifier des colonnes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iris |&gt; mutate(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ratio = Sepal.Length / Sepal.Width,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long  = ifelse(Sepal.Length &gt; 5, 'oui', 'non'),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zsl   = scale(Sepal.Length)[, 1]   # standardisation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GROUP_BY + SUMMARIZE - agregation par groupe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iris |&gt;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group_by(Species) |&gt;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summarize(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         = n(),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mean_long = mean(Sepal.Length),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sd_long   = sd(Sepal.Length),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max_pet   = max(Petal.Length),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.groups   = 'drop'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ACROSS - appliquer a plusieurs colonnes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iris |&gt; group_by(Species) |&gt;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summarize(across(where(is.numeric), mean))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276D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F2C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7200" y="457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complet - chaine dplyr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640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analyse de mtcars en 7 etapes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875520" y="6537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  -  34 / 50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31520" y="1508760"/>
            <a:ext cx="106984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library(tidyverse)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data(mtcars)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Question : pour les voitures 4 ou 6 cylindres, quelle est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l'efficience moyenne par groupe et la voiture la plus efficace ?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resultat &lt;- mtcars |&gt;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rownames_to_column('voiture') |&gt;          # ajoute une colonne nom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filter(cyl %in% c(4, 6)) |&gt;               # garde 4 et 6 cyl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mutate(efficience = mpg / hp) |&gt;          # cree une colonne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group_by(cyl) |&gt;                          # groupe par cylindres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summarize(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            = n(),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eff_moy      = mean(efficience),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eff_sd       = sd(efficience),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plus_eff     = voiture[which.max(efficience)],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.groups      = 'drop') |&gt;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arrange(desc(eff_moy))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Affichage avec un kable joli 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knitr::kable(resultat, digits = 3)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276D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F2C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7200" y="457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 4 - Manipulation dplyr (12 min)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640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 mtcars de bout en bout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875520" y="6537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  -  35 / 50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5303520" cy="5029200"/>
          </a:xfrm>
          <a:prstGeom prst="rect">
            <a:avLst/>
          </a:prstGeom>
          <a:solidFill>
            <a:srgbClr val="F8F9FA"/>
          </a:solidFill>
          <a:ln w="635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31520" y="15087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76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faire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31520" y="2011680"/>
            <a:ext cx="502920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library(tidyverse); data(mtcars)</a:t>
            </a: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Ajouter colonne 'voiture' avec rownames_to_column</a:t>
            </a: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Pour chaque cyl (4,6,8) :</a:t>
            </a: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 - nombre de voitures</a:t>
            </a: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 - mpg moyen</a:t>
            </a: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 - poids moyen (wt)</a:t>
            </a: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 - voiture la plus rapide (max hp)</a:t>
            </a: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Trier par cyl</a:t>
            </a: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Lister les 3 plus economes (mpg max)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26480" y="1371600"/>
            <a:ext cx="5577840" cy="50292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309360" y="1508760"/>
            <a:ext cx="52120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library(tidyverse)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data(mtcars)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mtcars |&gt;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rownames_to_column('voiture') |&gt;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group_by(cyl) |&gt;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summarize(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           = n(),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mpg_moy     = mean(mpg),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wt_moy      = mean(wt),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plus_rapide =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voiture[which.max(hp)]) |&gt;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arrange(cyl)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mtcars |&gt;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rownames_to_column('voiture') |&gt;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arrange(desc(mpg)) |&gt;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head(3)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F2D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2286000"/>
            <a:ext cx="2011680" cy="1371600"/>
          </a:xfrm>
          <a:prstGeom prst="rect">
            <a:avLst/>
          </a:prstGeom>
          <a:solidFill>
            <a:srgbClr val="F2C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48640" y="22860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2834640" y="2377440"/>
            <a:ext cx="8961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 - ggplot2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2834640" y="3657600"/>
            <a:ext cx="8961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F2C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grammaire des graphiques - publication-quality</a:t>
            </a:r>
            <a:endParaRPr lang="en-US" sz="1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276D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F2C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7200" y="457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grammaire des graphiques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640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AESTHETICS + GEOM(s) + facets + themes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875520" y="6537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  -  37 / 50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5303520" cy="5029200"/>
          </a:xfrm>
          <a:prstGeom prst="rect">
            <a:avLst/>
          </a:prstGeom>
          <a:solidFill>
            <a:srgbClr val="F8F9FA"/>
          </a:solidFill>
          <a:ln w="635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31520" y="15087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6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graphique ggplot =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77240" y="2011680"/>
            <a:ext cx="457200" cy="548640"/>
          </a:xfrm>
          <a:prstGeom prst="rect">
            <a:avLst/>
          </a:prstGeom>
          <a:solidFill>
            <a:srgbClr val="276D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325880" y="20116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6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926080" y="20116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data frame source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77240" y="2697480"/>
            <a:ext cx="457200" cy="548640"/>
          </a:xfrm>
          <a:prstGeom prst="rect">
            <a:avLst/>
          </a:prstGeom>
          <a:solidFill>
            <a:srgbClr val="5A9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325880" y="26974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A9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AESTHETICS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926080" y="2697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x, y, color, size, shape, fill - mapping aux variables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77240" y="3383280"/>
            <a:ext cx="457200" cy="548640"/>
          </a:xfrm>
          <a:prstGeom prst="rect">
            <a:avLst/>
          </a:prstGeom>
          <a:solidFill>
            <a:srgbClr val="F2C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325880" y="33832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C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GEOM(s)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2926080" y="3383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type de geometrie : points, lignes, barres, ...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77240" y="4069080"/>
            <a:ext cx="457200" cy="548640"/>
          </a:xfrm>
          <a:prstGeom prst="rect">
            <a:avLst/>
          </a:prstGeom>
          <a:solidFill>
            <a:srgbClr val="C73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1325880" y="40690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73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FACETS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2926080" y="40690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Decomposer en sous-graphiques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77240" y="4754880"/>
            <a:ext cx="457200" cy="548640"/>
          </a:xfrm>
          <a:prstGeom prst="rect">
            <a:avLst/>
          </a:prstGeom>
          <a:solidFill>
            <a:srgbClr val="1F2D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1325880" y="47548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2926080" y="47548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Echelles : log, couleurs, transformations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777240" y="5440680"/>
            <a:ext cx="457200" cy="548640"/>
          </a:xfrm>
          <a:prstGeom prst="rect">
            <a:avLst/>
          </a:prstGeom>
          <a:solidFill>
            <a:srgbClr val="C9C9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1325880" y="54406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THEMES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2926080" y="54406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Apparence : police, couleurs, grilles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126480" y="1371600"/>
            <a:ext cx="5577840" cy="50292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6309360" y="1508760"/>
            <a:ext cx="52120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library(ggplot2)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ggplot(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 = iris,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mapping = aes(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= Sepal.Length,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 = Sepal.Width,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color = Species)) +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geom_point() +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facet_wrap(~ Species) +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labs(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title = 'Iris',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= 'Longueur sepale',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 = 'Largeur sepale') +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theme_minimal()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Les + ajoutent des couches</a:t>
            </a:r>
            <a:endParaRPr lang="en-US" sz="13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276D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F2C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7200" y="457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 un graphique pas a pas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640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Demarrer simple, ajouter des couches une par une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875520" y="6537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  -  38 / 50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31520" y="1508760"/>
            <a:ext cx="106984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library(ggplot2)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Etape 1 - canevas vide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ggplot(iris, aes(Sepal.Length, Sepal.Width))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Etape 2 - ajouter des points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ggplot(iris, aes(Sepal.Length, Sepal.Width)) +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geom_point()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Etape 3 - colorer par espece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ggplot(iris, aes(Sepal.Length, Sepal.Width, color = Species)) +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geom_point()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Etape 4 - decomposer en facets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ggplot(iris, aes(Sepal.Length, Sepal.Width, color = Species)) +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geom_point() +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facet_wrap(~ Species)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Etape 5 - finitions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theme_minimal() +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labs(title='Iris', x='Longueur sepale', y='Largeur sepale')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276D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F2C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7200" y="457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geoms - une fonction par type de graphique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640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le geom selon la nature des variables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875520" y="6537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  -  39 / 50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3657600" cy="1508760"/>
          </a:xfrm>
          <a:prstGeom prst="rect">
            <a:avLst/>
          </a:prstGeom>
          <a:solidFill>
            <a:srgbClr val="FFFFFF"/>
          </a:solidFill>
          <a:ln w="508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48640" y="1371600"/>
            <a:ext cx="91440" cy="1508760"/>
          </a:xfrm>
          <a:prstGeom prst="rect">
            <a:avLst/>
          </a:prstGeom>
          <a:solidFill>
            <a:srgbClr val="276D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15087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76D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geom_point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77240" y="20574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Nuage de points (x num, y num)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434840" y="1371600"/>
            <a:ext cx="3657600" cy="1508760"/>
          </a:xfrm>
          <a:prstGeom prst="rect">
            <a:avLst/>
          </a:prstGeom>
          <a:solidFill>
            <a:srgbClr val="FFFFFF"/>
          </a:solidFill>
          <a:ln w="508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434840" y="1371600"/>
            <a:ext cx="91440" cy="1508760"/>
          </a:xfrm>
          <a:prstGeom prst="rect">
            <a:avLst/>
          </a:prstGeom>
          <a:solidFill>
            <a:srgbClr val="5A9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663440" y="15087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A9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geom_line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663440" y="20574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 - series temporelles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321040" y="1371600"/>
            <a:ext cx="3657600" cy="1508760"/>
          </a:xfrm>
          <a:prstGeom prst="rect">
            <a:avLst/>
          </a:prstGeom>
          <a:solidFill>
            <a:srgbClr val="FFFFFF"/>
          </a:solidFill>
          <a:ln w="508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8321040" y="1371600"/>
            <a:ext cx="91440" cy="1508760"/>
          </a:xfrm>
          <a:prstGeom prst="rect">
            <a:avLst/>
          </a:prstGeom>
          <a:solidFill>
            <a:srgbClr val="F2C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549640" y="15087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C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geom_col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549640" y="20574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Barres - categorie x valeur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48640" y="3063240"/>
            <a:ext cx="3657600" cy="1508760"/>
          </a:xfrm>
          <a:prstGeom prst="rect">
            <a:avLst/>
          </a:prstGeom>
          <a:solidFill>
            <a:srgbClr val="FFFFFF"/>
          </a:solidFill>
          <a:ln w="508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548640" y="3063240"/>
            <a:ext cx="91440" cy="1508760"/>
          </a:xfrm>
          <a:prstGeom prst="rect">
            <a:avLst/>
          </a:prstGeom>
          <a:solidFill>
            <a:srgbClr val="C73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77240" y="32004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73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geom_histogram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777240" y="374904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univariee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434840" y="3063240"/>
            <a:ext cx="3657600" cy="1508760"/>
          </a:xfrm>
          <a:prstGeom prst="rect">
            <a:avLst/>
          </a:prstGeom>
          <a:solidFill>
            <a:srgbClr val="FFFFFF"/>
          </a:solidFill>
          <a:ln w="508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4434840" y="3063240"/>
            <a:ext cx="91440" cy="1508760"/>
          </a:xfrm>
          <a:prstGeom prst="rect">
            <a:avLst/>
          </a:prstGeom>
          <a:solidFill>
            <a:srgbClr val="1F2D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663440" y="32004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D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geom_density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4663440" y="374904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Densite lissee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8321040" y="3063240"/>
            <a:ext cx="3657600" cy="1508760"/>
          </a:xfrm>
          <a:prstGeom prst="rect">
            <a:avLst/>
          </a:prstGeom>
          <a:solidFill>
            <a:srgbClr val="FFFFFF"/>
          </a:solidFill>
          <a:ln w="508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8321040" y="3063240"/>
            <a:ext cx="91440" cy="1508760"/>
          </a:xfrm>
          <a:prstGeom prst="rect">
            <a:avLst/>
          </a:prstGeom>
          <a:solidFill>
            <a:srgbClr val="276D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8549640" y="32004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76D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geom_boxplot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8549640" y="374904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Boite a moustaches par groupe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548640" y="4754880"/>
            <a:ext cx="3657600" cy="1508760"/>
          </a:xfrm>
          <a:prstGeom prst="rect">
            <a:avLst/>
          </a:prstGeom>
          <a:solidFill>
            <a:srgbClr val="FFFFFF"/>
          </a:solidFill>
          <a:ln w="508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548640" y="4754880"/>
            <a:ext cx="91440" cy="1508760"/>
          </a:xfrm>
          <a:prstGeom prst="rect">
            <a:avLst/>
          </a:prstGeom>
          <a:solidFill>
            <a:srgbClr val="5A9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777240" y="48920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A9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geom_violin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777240" y="544068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Violin = boxplot + densite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4434840" y="4754880"/>
            <a:ext cx="3657600" cy="1508760"/>
          </a:xfrm>
          <a:prstGeom prst="rect">
            <a:avLst/>
          </a:prstGeom>
          <a:solidFill>
            <a:srgbClr val="FFFFFF"/>
          </a:solidFill>
          <a:ln w="508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4434840" y="4754880"/>
            <a:ext cx="91440" cy="1508760"/>
          </a:xfrm>
          <a:prstGeom prst="rect">
            <a:avLst/>
          </a:prstGeom>
          <a:solidFill>
            <a:srgbClr val="F2C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4663440" y="48920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C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geom_smooth</a:t>
            </a:r>
            <a:endParaRPr lang="en-US" sz="1800" dirty="0"/>
          </a:p>
        </p:txBody>
      </p:sp>
      <p:sp>
        <p:nvSpPr>
          <p:cNvPr id="39" name="Text 36"/>
          <p:cNvSpPr/>
          <p:nvPr/>
        </p:nvSpPr>
        <p:spPr>
          <a:xfrm>
            <a:off x="4663440" y="544068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Lissage : 'lm', 'loess', 'gam'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8321040" y="4754880"/>
            <a:ext cx="3657600" cy="1508760"/>
          </a:xfrm>
          <a:prstGeom prst="rect">
            <a:avLst/>
          </a:prstGeom>
          <a:solidFill>
            <a:srgbClr val="FFFFFF"/>
          </a:solidFill>
          <a:ln w="508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8321040" y="4754880"/>
            <a:ext cx="91440" cy="1508760"/>
          </a:xfrm>
          <a:prstGeom prst="rect">
            <a:avLst/>
          </a:prstGeom>
          <a:solidFill>
            <a:srgbClr val="C73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8549640" y="48920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73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geom_text</a:t>
            </a:r>
            <a:endParaRPr lang="en-US" sz="1800" dirty="0"/>
          </a:p>
        </p:txBody>
      </p:sp>
      <p:sp>
        <p:nvSpPr>
          <p:cNvPr id="43" name="Text 40"/>
          <p:cNvSpPr/>
          <p:nvPr/>
        </p:nvSpPr>
        <p:spPr>
          <a:xfrm>
            <a:off x="8549640" y="544068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Annotations texte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276D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F2C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7200" y="457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Facets et themes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640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Decomposer en sous-graphiques + apparence professionnelle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875520" y="6537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  -  40 / 50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31520" y="1508760"/>
            <a:ext cx="106984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FACETS - decomposer en sous-graphiques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ggplot(iris, aes(Sepal.Length, Sepal.Width)) +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geom_point() +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facet_wrap(~ Species, ncol = 3)        # 1 panneau par espece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ggplot(mtcars, aes(wt, mpg)) +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geom_point() +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facet_grid(rows = vars(cyl),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cols = vars(am))            # 2D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THEMES (l'apparence)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theme_minimal()    # populaire, epure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theme_classic()    # axes en L, publication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theme_bw()         # noir et blanc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theme_void()       # rien (pour les cartes)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PERSONNALISATION FINE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theme(legend.position = 'bottom',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axis.title = element_text(face='bold'),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panel.grid.minor = element_blank())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SAUVEGARDE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ggsave('graphe.png', width=8, height=5, dpi=300)</a:t>
            </a:r>
            <a:endParaRPr lang="en-US" sz="13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276D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F2C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7200" y="457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 5 - Visualisation ggplot2 (12 min)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640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 3 graphiques sur iris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875520" y="6537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  -  41 / 50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5303520" cy="5029200"/>
          </a:xfrm>
          <a:prstGeom prst="rect">
            <a:avLst/>
          </a:prstGeom>
          <a:solidFill>
            <a:srgbClr val="F8F9FA"/>
          </a:solidFill>
          <a:ln w="635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31520" y="15087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76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faire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31520" y="2011680"/>
            <a:ext cx="502920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Nuage Sepal.Length vs Sepal.Width, color = Species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Ajouter geom_smooth(method='lm', se=FALSE)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Decomposer en facets par espece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Boxplot Petal.Length par Species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Histogramme Petal.Width avec fill par espece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Sauver le boxplot 'iris_boxplot.png'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26480" y="1371600"/>
            <a:ext cx="5577840" cy="50292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309360" y="1508760"/>
            <a:ext cx="52120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library(ggplot2)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ggplot(iris, aes(Sepal.Length,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Sepal.Width,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color = Species)) +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geom_point() +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geom_smooth(method='lm', se=FALSE) +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facet_wrap(~ Species) +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theme_minimal()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ggplot(iris, aes(Species, Petal.Length,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fill = Species)) +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geom_boxplot()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ggsave('iris_boxplot.png',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width=7, height=5, dpi=300)</a:t>
            </a:r>
            <a:endParaRPr lang="en-US" sz="13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F2D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2286000"/>
            <a:ext cx="2011680" cy="1371600"/>
          </a:xfrm>
          <a:prstGeom prst="rect">
            <a:avLst/>
          </a:prstGeom>
          <a:solidFill>
            <a:srgbClr val="F2C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48640" y="22860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2834640" y="2377440"/>
            <a:ext cx="8961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Statistiques + reproductibilite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2834640" y="3657600"/>
            <a:ext cx="8961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F2C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Tests, regression lineaire, R Markdown</a:t>
            </a:r>
            <a:endParaRPr lang="en-US" sz="1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276D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F2C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7200" y="457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Statistiques descriptives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640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Univariees, multivariees, et exploration rapide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875520" y="6537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  -  43 / 50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31520" y="1508760"/>
            <a:ext cx="106984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UNIVARIEES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&lt;- iris$Sepal.Length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mean(x)                # moyenne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median(x)              # mediane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sd(x)                  # ecart-type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var(x)                 # variance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min(x); max(x); range(x)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quantile(x, c(0.25, 0.5, 0.75))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summary(x)             # tout d'un coup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Avec NAs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mean(c(1,2,NA), na.rm = TRUE)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MULTIVARIEES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cor(iris[, 1:4])              # matrice correlations Pearson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cor(x, y, method='spearman')  # rang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cov(iris[, 1:4])              # covariance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COMPTAGE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table(iris$Species)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prop.table(table(iris$Species))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EXPLORATION RAPIDE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summary(iris)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skimr::skim(iris)             # plus moderne (package skimr)</a:t>
            </a:r>
            <a:endParaRPr lang="en-US" sz="13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276D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F2C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7200" y="457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d'hypotheses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640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t-test, correlation, ANOVA - les classiques de l'inference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875520" y="6537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  -  44 / 50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31520" y="1508760"/>
            <a:ext cx="106984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T-TEST - difference de moyennes entre 2 groupes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t.test(extra ~ group, data = sleep)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t.test(x, y, paired = TRUE)             # apparie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CORRELATION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cor.test(iris$Sepal.Length, iris$Petal.Length)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H0: cor = 0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CHI2 - independance entre 2 categories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 &lt;- table(survey$Sex, survey$Smoke)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chisq.test(tab)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ANOVA - difference de moyennes entre k groupes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aov_res &lt;- aov(Sepal.Length ~ Species, data = iris)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summary(aov_res)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Comparaisons post-hoc Tukey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TukeyHSD(aov_res)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REGLES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 &lt; 0.05 : on rejette H0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Toujours regarder l'intervalle de confiance, pas que la p-value</a:t>
            </a:r>
            <a:endParaRPr lang="en-US" sz="13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276D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F2C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7200" y="457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lineaire - lm()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640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couteau suisse statistique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875520" y="6537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  -  45 / 50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31520" y="1508760"/>
            <a:ext cx="106984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Modele simple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 &lt;- lm(Sepal.Length ~ Petal.Length, data = iris)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summary(fit)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Donne : coefficients, R2, p-values, residus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Modele multiple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 &lt;- lm(Sepal.Length ~ Petal.Length + Petal.Width + Species,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data = iris)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summary(fit)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Diagnostics graphiques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par(mfrow = c(2, 2))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plot(fit)        # 4 graphiques : residus, QQ, levier, etc.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Coefficients et IC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coef(fit)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confint(fit)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Predictions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predict(fit,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newdata = data.frame(Petal.Length=4, Petal.Width=1.5, Species='setosa'),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interval = 'confidence')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Selection de variable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step(fit, direction='backward')   # AIC criterion</a:t>
            </a:r>
            <a:endParaRPr lang="en-US" sz="13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276D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F2C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7200" y="457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 6 - Analyse stat (10 min)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640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Tests, ANOVA, regression sur iris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875520" y="6537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  -  46 / 50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5303520" cy="5029200"/>
          </a:xfrm>
          <a:prstGeom prst="rect">
            <a:avLst/>
          </a:prstGeom>
          <a:solidFill>
            <a:srgbClr val="F8F9FA"/>
          </a:solidFill>
          <a:ln w="635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31520" y="15087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76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faire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31520" y="2011680"/>
            <a:ext cx="502920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Tester si Sepal.Length differe entre setosa et versicolor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ANOVA des 3 especes (aov, summary, TukeyHSD)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Regression Sepal.Length ~ Petal.Length + Petal.Width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Regarder summary(fit) et confint(fit)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Diagnostics : par(mfrow=c(2,2)); plot(fit)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Quel est le R2 ajuste ?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26480" y="1371600"/>
            <a:ext cx="5577840" cy="50292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309360" y="1508760"/>
            <a:ext cx="52120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t-test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t.test(Sepal.Length ~ Species,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data = subset(iris,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Species != 'virginica'))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ANOVA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aov_res &lt;- aov(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Sepal.Length ~ Species,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 = iris)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summary(aov_res)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TukeyHSD(aov_res)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Regression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 &lt;- lm(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Sepal.Length ~ Petal.Length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+ Petal.Width,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 = iris)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summary(fit)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par(mfrow = c(2, 2))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plot(fit)</a:t>
            </a:r>
            <a:endParaRPr lang="en-US" sz="13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276D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F2C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7200" y="457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Markdown - rapports reproductibles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640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Combinez prose + code + sorties dans un seul fichier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875520" y="6537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  -  47 / 50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31520" y="1508760"/>
            <a:ext cx="106984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title: 'Mon analyse iris'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author: 'Silvio'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date: '2026-05-06'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html_document: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toc: true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theme: readable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Introduction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 rapport analyse le jeu de donnees `iris`.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```{r setup, include=FALSE}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library(tidyverse)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knitr::opts_chunk$set(echo = TRUE, fig.align = 'center')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```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Statistiques par espece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```{r}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iris |&gt; group_by(Species) |&gt; summarize(across(where(is.numeric), mean))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```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Compilation : bouton **Knit** dans RStudio (Ctrl+Maj+K)</a:t>
            </a:r>
            <a:endParaRPr lang="en-US" sz="1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276D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F2C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7200" y="457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aller plus loin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640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 gratuites pour progresser apres ce cours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875520" y="6537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  -  48 / 50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54864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48640" y="1371600"/>
            <a:ext cx="91440" cy="1508760"/>
          </a:xfrm>
          <a:prstGeom prst="rect">
            <a:avLst/>
          </a:prstGeom>
          <a:solidFill>
            <a:srgbClr val="276D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22960" y="14630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6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for Data Science (Wickham)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22960" y="19659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livre de reference du tidyverse. Gratuit en ligne : r4ds.hadley.nz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309360" y="1371600"/>
            <a:ext cx="54864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309360" y="1371600"/>
            <a:ext cx="91440" cy="1508760"/>
          </a:xfrm>
          <a:prstGeom prst="rect">
            <a:avLst/>
          </a:prstGeom>
          <a:solidFill>
            <a:srgbClr val="5A9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583680" y="14630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A9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R (Wickham)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583680" y="19659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devenir expert : metaprogrammation, R6, performance. adv-r.hadley.nz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" y="3063240"/>
            <a:ext cx="54864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548640" y="3063240"/>
            <a:ext cx="91440" cy="1508760"/>
          </a:xfrm>
          <a:prstGeom prst="rect">
            <a:avLst/>
          </a:prstGeom>
          <a:solidFill>
            <a:srgbClr val="F2C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22960" y="31546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C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swirl (interactif)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22960" y="36576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 interactif dans la console : install.packages('swirl'); library(swirl)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309360" y="3063240"/>
            <a:ext cx="54864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6309360" y="3063240"/>
            <a:ext cx="91440" cy="1508760"/>
          </a:xfrm>
          <a:prstGeom prst="rect">
            <a:avLst/>
          </a:prstGeom>
          <a:solidFill>
            <a:srgbClr val="C73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583680" y="31546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73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 Cheatsheets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583680" y="36576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Resumes 1-page de chaque package (dplyr, ggplot2, ...) sur posit.co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48640" y="4754880"/>
            <a:ext cx="54864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548640" y="4754880"/>
            <a:ext cx="91440" cy="1508760"/>
          </a:xfrm>
          <a:prstGeom prst="rect">
            <a:avLst/>
          </a:prstGeom>
          <a:solidFill>
            <a:srgbClr val="1F2D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822960" y="48463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RStudio Community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822960" y="53492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Forum officiel pour poser des questions : community.rstudio.com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309360" y="4754880"/>
            <a:ext cx="54864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6309360" y="4754880"/>
            <a:ext cx="91440" cy="1508760"/>
          </a:xfrm>
          <a:prstGeom prst="rect">
            <a:avLst/>
          </a:prstGeom>
          <a:solidFill>
            <a:srgbClr val="5A9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6583680" y="48463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A9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TidyTuesday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583680" y="53492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 hebdomadaire avec un nouveau dataset : github.com/rfordatascience/tidytuesday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F2D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61520" cy="36576"/>
          </a:xfrm>
          <a:prstGeom prst="rect">
            <a:avLst/>
          </a:prstGeom>
          <a:solidFill>
            <a:srgbClr val="F2C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Take-home messages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188720"/>
            <a:ext cx="11155680" cy="86868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1188720"/>
            <a:ext cx="109728" cy="868680"/>
          </a:xfrm>
          <a:prstGeom prst="rect">
            <a:avLst/>
          </a:prstGeom>
          <a:solidFill>
            <a:srgbClr val="F2C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68680" y="12344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est VECTORIEL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164592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2C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Eviter les boucles for, vectoriser. v^2 plutot que for(i) v[i]^2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148840"/>
            <a:ext cx="11155680" cy="86868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48640" y="2148840"/>
            <a:ext cx="109728" cy="868680"/>
          </a:xfrm>
          <a:prstGeom prst="rect">
            <a:avLst/>
          </a:prstGeom>
          <a:solidFill>
            <a:srgbClr val="F2C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68680" y="21945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Toujours dans un PROJET RStudio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68680" y="26060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2C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Chemins relatifs, code portable, environnement isolable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3108960"/>
            <a:ext cx="11155680" cy="86868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48640" y="3108960"/>
            <a:ext cx="109728" cy="868680"/>
          </a:xfrm>
          <a:prstGeom prst="rect">
            <a:avLst/>
          </a:prstGeom>
          <a:solidFill>
            <a:srgbClr val="F2C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68680" y="3154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TIDYVERSE pour le quotidien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868680" y="356616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2C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dplyr + ggplot2 = 80% des manipulations / visualisations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4069080"/>
            <a:ext cx="11155680" cy="86868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48640" y="4069080"/>
            <a:ext cx="109728" cy="868680"/>
          </a:xfrm>
          <a:prstGeom prst="rect">
            <a:avLst/>
          </a:prstGeom>
          <a:solidFill>
            <a:srgbClr val="F2C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68680" y="4114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MARKDOWN pour partager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868680" y="45262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2C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Rmd vaut mieux que 100 emails avec captures d'ecran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48640" y="5029200"/>
            <a:ext cx="11155680" cy="86868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548640" y="5029200"/>
            <a:ext cx="109728" cy="868680"/>
          </a:xfrm>
          <a:prstGeom prst="rect">
            <a:avLst/>
          </a:prstGeom>
          <a:solidFill>
            <a:srgbClr val="F2C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868680" y="50749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DOC et la COMMUNAUTE sont excellentes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868680" y="548640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2C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?fonction, vignettes, Stack Overflow, RStudio Community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48640" y="6126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!  -  Questions et mise en pratique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14039</Words>
  <Application>Microsoft Macintosh PowerPoint</Application>
  <PresentationFormat>Widescreen</PresentationFormat>
  <Paragraphs>1177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4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Initiation a R et RStudio - cours de 3h</dc:title>
  <dc:subject>PptxGenJS Presentation</dc:subject>
  <dc:creator>Silvio</dc:creator>
  <cp:lastModifiedBy>Silvio José Gumiere</cp:lastModifiedBy>
  <cp:revision>1</cp:revision>
  <dcterms:created xsi:type="dcterms:W3CDTF">2026-05-06T16:40:07Z</dcterms:created>
  <dcterms:modified xsi:type="dcterms:W3CDTF">2026-05-10T17:47:12Z</dcterms:modified>
</cp:coreProperties>
</file>