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handoutMasterIdLst>
    <p:handoutMasterId r:id="rId35"/>
  </p:handoutMasterIdLst>
  <p:sldIdLst>
    <p:sldId id="256" r:id="rId2"/>
    <p:sldId id="257" r:id="rId3"/>
    <p:sldId id="258" r:id="rId4"/>
    <p:sldId id="260" r:id="rId5"/>
    <p:sldId id="261" r:id="rId6"/>
    <p:sldId id="262" r:id="rId7"/>
    <p:sldId id="607" r:id="rId8"/>
    <p:sldId id="608" r:id="rId9"/>
    <p:sldId id="609" r:id="rId10"/>
    <p:sldId id="610" r:id="rId11"/>
    <p:sldId id="611" r:id="rId12"/>
    <p:sldId id="612" r:id="rId13"/>
    <p:sldId id="613" r:id="rId14"/>
    <p:sldId id="614" r:id="rId15"/>
    <p:sldId id="628" r:id="rId16"/>
    <p:sldId id="629" r:id="rId17"/>
    <p:sldId id="630" r:id="rId18"/>
    <p:sldId id="631" r:id="rId19"/>
    <p:sldId id="633" r:id="rId20"/>
    <p:sldId id="634" r:id="rId21"/>
    <p:sldId id="635" r:id="rId22"/>
    <p:sldId id="636" r:id="rId23"/>
    <p:sldId id="644" r:id="rId24"/>
    <p:sldId id="645" r:id="rId25"/>
    <p:sldId id="646" r:id="rId26"/>
    <p:sldId id="637" r:id="rId27"/>
    <p:sldId id="638" r:id="rId28"/>
    <p:sldId id="641" r:id="rId29"/>
    <p:sldId id="647" r:id="rId30"/>
    <p:sldId id="642" r:id="rId31"/>
    <p:sldId id="643" r:id="rId32"/>
    <p:sldId id="25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257"/>
            <p14:sldId id="258"/>
            <p14:sldId id="260"/>
            <p14:sldId id="261"/>
            <p14:sldId id="262"/>
            <p14:sldId id="607"/>
            <p14:sldId id="608"/>
            <p14:sldId id="609"/>
            <p14:sldId id="610"/>
            <p14:sldId id="611"/>
            <p14:sldId id="612"/>
            <p14:sldId id="613"/>
            <p14:sldId id="614"/>
            <p14:sldId id="628"/>
            <p14:sldId id="629"/>
            <p14:sldId id="630"/>
            <p14:sldId id="631"/>
            <p14:sldId id="633"/>
            <p14:sldId id="634"/>
            <p14:sldId id="635"/>
            <p14:sldId id="636"/>
            <p14:sldId id="644"/>
            <p14:sldId id="645"/>
            <p14:sldId id="646"/>
            <p14:sldId id="637"/>
            <p14:sldId id="638"/>
            <p14:sldId id="641"/>
            <p14:sldId id="647"/>
            <p14:sldId id="642"/>
            <p14:sldId id="643"/>
            <p14:sldId id="2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241" autoAdjust="0"/>
  </p:normalViewPr>
  <p:slideViewPr>
    <p:cSldViewPr snapToGrid="0">
      <p:cViewPr varScale="1">
        <p:scale>
          <a:sx n="81" d="100"/>
          <a:sy n="81" d="100"/>
        </p:scale>
        <p:origin x="443"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7.emf"/><Relationship Id="rId1"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12/9/2021</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12/9/2021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DE63E646-BD7C-4DCB-BF99-395776D08262}"/>
              </a:ext>
            </a:extLst>
          </p:cNvPr>
          <p:cNvSpPr>
            <a:spLocks noGrp="1" noChangeArrowheads="1"/>
          </p:cNvSpPr>
          <p:nvPr>
            <p:ph type="sldNum" sz="quarter" idx="5"/>
          </p:nvPr>
        </p:nvSpPr>
        <p:spPr>
          <a:ln/>
        </p:spPr>
        <p:txBody>
          <a:bodyPr/>
          <a:lstStyle/>
          <a:p>
            <a:fld id="{C3C7357E-E354-422E-9540-90AC2069F86F}" type="slidenum">
              <a:rPr lang="en-US" altLang="en-US"/>
              <a:pPr/>
              <a:t>7</a:t>
            </a:fld>
            <a:endParaRPr lang="en-US" altLang="en-US"/>
          </a:p>
        </p:txBody>
      </p:sp>
      <p:sp>
        <p:nvSpPr>
          <p:cNvPr id="733186" name="Rectangle 2">
            <a:extLst>
              <a:ext uri="{FF2B5EF4-FFF2-40B4-BE49-F238E27FC236}">
                <a16:creationId xmlns:a16="http://schemas.microsoft.com/office/drawing/2014/main" id="{CD0CF7CD-AB47-4201-8AF0-BBA81D9F4B30}"/>
              </a:ext>
            </a:extLst>
          </p:cNvPr>
          <p:cNvSpPr>
            <a:spLocks noGrp="1" noRot="1" noChangeAspect="1" noChangeArrowheads="1" noTextEdit="1"/>
          </p:cNvSpPr>
          <p:nvPr>
            <p:ph type="sldImg"/>
          </p:nvPr>
        </p:nvSpPr>
        <p:spPr>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F47D9C4-D731-4AB1-B351-BB6B06B0B63B}"/>
              </a:ext>
            </a:extLst>
          </p:cNvPr>
          <p:cNvSpPr>
            <a:spLocks noGrp="1" noChangeArrowheads="1"/>
          </p:cNvSpPr>
          <p:nvPr>
            <p:ph type="sldNum" sz="quarter" idx="5"/>
          </p:nvPr>
        </p:nvSpPr>
        <p:spPr>
          <a:ln/>
        </p:spPr>
        <p:txBody>
          <a:bodyPr/>
          <a:lstStyle/>
          <a:p>
            <a:fld id="{5EB227E7-FEA9-4A74-AE89-5DB63C0D1C52}" type="slidenum">
              <a:rPr lang="en-US" altLang="en-US"/>
              <a:pPr/>
              <a:t>8</a:t>
            </a:fld>
            <a:endParaRPr lang="en-US" altLang="en-US"/>
          </a:p>
        </p:txBody>
      </p:sp>
      <p:sp>
        <p:nvSpPr>
          <p:cNvPr id="735234" name="Rectangle 2">
            <a:extLst>
              <a:ext uri="{FF2B5EF4-FFF2-40B4-BE49-F238E27FC236}">
                <a16:creationId xmlns:a16="http://schemas.microsoft.com/office/drawing/2014/main" id="{81D43B0A-DA80-4F2E-92E0-0910DAB727D0}"/>
              </a:ext>
            </a:extLst>
          </p:cNvPr>
          <p:cNvSpPr>
            <a:spLocks noGrp="1" noRot="1" noChangeAspect="1" noChangeArrowheads="1" noTextEdit="1"/>
          </p:cNvSpPr>
          <p:nvPr>
            <p:ph type="sldImg"/>
          </p:nvPr>
        </p:nvSpPr>
        <p:spPr>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99BDA655-E9B5-434A-A2B6-B5EDF2D084EE}"/>
              </a:ext>
            </a:extLst>
          </p:cNvPr>
          <p:cNvSpPr>
            <a:spLocks noGrp="1" noChangeArrowheads="1"/>
          </p:cNvSpPr>
          <p:nvPr>
            <p:ph type="sldNum" sz="quarter" idx="5"/>
          </p:nvPr>
        </p:nvSpPr>
        <p:spPr>
          <a:ln/>
        </p:spPr>
        <p:txBody>
          <a:bodyPr/>
          <a:lstStyle/>
          <a:p>
            <a:fld id="{6377ADBF-A277-40D0-8F3B-C9A32D4D1E4D}" type="slidenum">
              <a:rPr lang="en-US" altLang="en-US"/>
              <a:pPr/>
              <a:t>9</a:t>
            </a:fld>
            <a:endParaRPr lang="en-US" altLang="en-US"/>
          </a:p>
        </p:txBody>
      </p:sp>
      <p:sp>
        <p:nvSpPr>
          <p:cNvPr id="737282" name="Rectangle 2">
            <a:extLst>
              <a:ext uri="{FF2B5EF4-FFF2-40B4-BE49-F238E27FC236}">
                <a16:creationId xmlns:a16="http://schemas.microsoft.com/office/drawing/2014/main" id="{EC4B52A1-4D3E-4938-9D77-379871998631}"/>
              </a:ext>
            </a:extLst>
          </p:cNvPr>
          <p:cNvSpPr>
            <a:spLocks noGrp="1" noRot="1" noChangeAspect="1" noChangeArrowheads="1" noTextEdit="1"/>
          </p:cNvSpPr>
          <p:nvPr>
            <p:ph type="sldImg"/>
          </p:nvPr>
        </p:nvSpPr>
        <p:spPr>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E920082-49D6-4E76-8CA8-339F8400E7AC}"/>
              </a:ext>
            </a:extLst>
          </p:cNvPr>
          <p:cNvSpPr>
            <a:spLocks noGrp="1" noChangeArrowheads="1"/>
          </p:cNvSpPr>
          <p:nvPr>
            <p:ph type="sldNum" sz="quarter" idx="5"/>
          </p:nvPr>
        </p:nvSpPr>
        <p:spPr>
          <a:ln/>
        </p:spPr>
        <p:txBody>
          <a:bodyPr/>
          <a:lstStyle/>
          <a:p>
            <a:fld id="{20E3CFF8-0270-4454-AEC6-E886924EA7F3}" type="slidenum">
              <a:rPr lang="en-US" altLang="en-US"/>
              <a:pPr/>
              <a:t>10</a:t>
            </a:fld>
            <a:endParaRPr lang="en-US" altLang="en-US"/>
          </a:p>
        </p:txBody>
      </p:sp>
      <p:sp>
        <p:nvSpPr>
          <p:cNvPr id="739330" name="Rectangle 2">
            <a:extLst>
              <a:ext uri="{FF2B5EF4-FFF2-40B4-BE49-F238E27FC236}">
                <a16:creationId xmlns:a16="http://schemas.microsoft.com/office/drawing/2014/main" id="{2EB4D1ED-4F64-420D-A066-37029A624608}"/>
              </a:ext>
            </a:extLst>
          </p:cNvPr>
          <p:cNvSpPr>
            <a:spLocks noGrp="1" noRot="1" noChangeAspect="1" noChangeArrowheads="1" noTextEdit="1"/>
          </p:cNvSpPr>
          <p:nvPr>
            <p:ph type="sldImg"/>
          </p:nvPr>
        </p:nvSpPr>
        <p:spPr>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6387AE23-946B-4880-973A-E880B5FF35F4}"/>
              </a:ext>
            </a:extLst>
          </p:cNvPr>
          <p:cNvSpPr>
            <a:spLocks noGrp="1" noChangeArrowheads="1"/>
          </p:cNvSpPr>
          <p:nvPr>
            <p:ph type="sldNum" sz="quarter" idx="5"/>
          </p:nvPr>
        </p:nvSpPr>
        <p:spPr>
          <a:ln/>
        </p:spPr>
        <p:txBody>
          <a:bodyPr/>
          <a:lstStyle/>
          <a:p>
            <a:fld id="{2265C9A0-0EA7-49CA-96E4-F663978E3E47}" type="slidenum">
              <a:rPr lang="en-US" altLang="en-US"/>
              <a:pPr/>
              <a:t>11</a:t>
            </a:fld>
            <a:endParaRPr lang="en-US" altLang="en-US"/>
          </a:p>
        </p:txBody>
      </p:sp>
      <p:sp>
        <p:nvSpPr>
          <p:cNvPr id="741378" name="Rectangle 2">
            <a:extLst>
              <a:ext uri="{FF2B5EF4-FFF2-40B4-BE49-F238E27FC236}">
                <a16:creationId xmlns:a16="http://schemas.microsoft.com/office/drawing/2014/main" id="{C47E6E55-89DD-4BB6-A222-BBA1DBD370DA}"/>
              </a:ext>
            </a:extLst>
          </p:cNvPr>
          <p:cNvSpPr>
            <a:spLocks noGrp="1" noRot="1" noChangeAspect="1" noChangeArrowheads="1" noTextEdit="1"/>
          </p:cNvSpPr>
          <p:nvPr>
            <p:ph type="sldImg"/>
          </p:nvPr>
        </p:nvSpPr>
        <p:spPr>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F24EC38E-9209-42B6-BB06-8E26B36FDE3D}"/>
              </a:ext>
            </a:extLst>
          </p:cNvPr>
          <p:cNvSpPr>
            <a:spLocks noGrp="1" noChangeArrowheads="1"/>
          </p:cNvSpPr>
          <p:nvPr>
            <p:ph type="sldNum" sz="quarter" idx="5"/>
          </p:nvPr>
        </p:nvSpPr>
        <p:spPr>
          <a:ln/>
        </p:spPr>
        <p:txBody>
          <a:bodyPr/>
          <a:lstStyle/>
          <a:p>
            <a:fld id="{1893EC77-44A1-4D4E-8525-137C741184C8}" type="slidenum">
              <a:rPr lang="en-US" altLang="en-US"/>
              <a:pPr/>
              <a:t>12</a:t>
            </a:fld>
            <a:endParaRPr lang="en-US" altLang="en-US"/>
          </a:p>
        </p:txBody>
      </p:sp>
      <p:sp>
        <p:nvSpPr>
          <p:cNvPr id="743426" name="Rectangle 2">
            <a:extLst>
              <a:ext uri="{FF2B5EF4-FFF2-40B4-BE49-F238E27FC236}">
                <a16:creationId xmlns:a16="http://schemas.microsoft.com/office/drawing/2014/main" id="{B61A9281-E3BC-4C6D-9DE7-E3FBE8C32344}"/>
              </a:ext>
            </a:extLst>
          </p:cNvPr>
          <p:cNvSpPr>
            <a:spLocks noGrp="1" noRot="1" noChangeAspect="1" noChangeArrowheads="1" noTextEdit="1"/>
          </p:cNvSpPr>
          <p:nvPr>
            <p:ph type="sldImg"/>
          </p:nvPr>
        </p:nvSpPr>
        <p:spPr>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B3D323B0-03A4-419B-8521-B5C76101CFDF}"/>
              </a:ext>
            </a:extLst>
          </p:cNvPr>
          <p:cNvSpPr>
            <a:spLocks noGrp="1" noChangeArrowheads="1"/>
          </p:cNvSpPr>
          <p:nvPr>
            <p:ph type="sldNum" sz="quarter" idx="5"/>
          </p:nvPr>
        </p:nvSpPr>
        <p:spPr>
          <a:ln/>
        </p:spPr>
        <p:txBody>
          <a:bodyPr/>
          <a:lstStyle/>
          <a:p>
            <a:fld id="{F1CC10FA-397B-408F-B0B6-9F76582FDA71}" type="slidenum">
              <a:rPr lang="en-US" altLang="en-US"/>
              <a:pPr/>
              <a:t>13</a:t>
            </a:fld>
            <a:endParaRPr lang="en-US" altLang="en-US"/>
          </a:p>
        </p:txBody>
      </p:sp>
      <p:sp>
        <p:nvSpPr>
          <p:cNvPr id="745474" name="Rectangle 2">
            <a:extLst>
              <a:ext uri="{FF2B5EF4-FFF2-40B4-BE49-F238E27FC236}">
                <a16:creationId xmlns:a16="http://schemas.microsoft.com/office/drawing/2014/main" id="{FE0D5E90-9B72-42CE-8592-80E73EB3E995}"/>
              </a:ext>
            </a:extLst>
          </p:cNvPr>
          <p:cNvSpPr>
            <a:spLocks noGrp="1" noRot="1" noChangeAspect="1" noChangeArrowheads="1" noTextEdit="1"/>
          </p:cNvSpPr>
          <p:nvPr>
            <p:ph type="sldImg"/>
          </p:nvPr>
        </p:nvSpPr>
        <p:spPr>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18D7A900-6630-4637-A438-AF8C65ABF873}"/>
              </a:ext>
            </a:extLst>
          </p:cNvPr>
          <p:cNvSpPr>
            <a:spLocks noGrp="1" noChangeArrowheads="1"/>
          </p:cNvSpPr>
          <p:nvPr>
            <p:ph type="sldNum" sz="quarter" idx="5"/>
          </p:nvPr>
        </p:nvSpPr>
        <p:spPr>
          <a:ln/>
        </p:spPr>
        <p:txBody>
          <a:bodyPr/>
          <a:lstStyle/>
          <a:p>
            <a:fld id="{EB608501-846A-4D4A-9846-835450FC8106}" type="slidenum">
              <a:rPr lang="en-US" altLang="en-US"/>
              <a:pPr/>
              <a:t>14</a:t>
            </a:fld>
            <a:endParaRPr lang="en-US" altLang="en-US"/>
          </a:p>
        </p:txBody>
      </p:sp>
      <p:sp>
        <p:nvSpPr>
          <p:cNvPr id="747522" name="Rectangle 2">
            <a:extLst>
              <a:ext uri="{FF2B5EF4-FFF2-40B4-BE49-F238E27FC236}">
                <a16:creationId xmlns:a16="http://schemas.microsoft.com/office/drawing/2014/main" id="{D28B9A96-352B-402A-8DC6-3A3AC36EAC3B}"/>
              </a:ext>
            </a:extLst>
          </p:cNvPr>
          <p:cNvSpPr>
            <a:spLocks noGrp="1" noRot="1" noChangeAspect="1" noChangeArrowheads="1" noTextEdit="1"/>
          </p:cNvSpPr>
          <p:nvPr>
            <p:ph type="sldImg"/>
          </p:nvPr>
        </p:nvSpPr>
        <p:spPr>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3259EE1E-D7BB-44C6-B2C3-BC2A97E5D9A3}"/>
              </a:ext>
            </a:extLst>
          </p:cNvPr>
          <p:cNvSpPr>
            <a:spLocks noGrp="1" noChangeArrowheads="1"/>
          </p:cNvSpPr>
          <p:nvPr>
            <p:ph type="sldNum" sz="quarter" idx="5"/>
          </p:nvPr>
        </p:nvSpPr>
        <p:spPr>
          <a:ln/>
        </p:spPr>
        <p:txBody>
          <a:bodyPr/>
          <a:lstStyle/>
          <a:p>
            <a:fld id="{5812B02E-750C-4FB2-94A1-D619D7FC88C9}" type="slidenum">
              <a:rPr lang="en-US" altLang="en-US"/>
              <a:pPr/>
              <a:t>16</a:t>
            </a:fld>
            <a:endParaRPr lang="en-US" altLang="en-US"/>
          </a:p>
        </p:txBody>
      </p:sp>
      <p:sp>
        <p:nvSpPr>
          <p:cNvPr id="777218" name="Rectangle 2">
            <a:extLst>
              <a:ext uri="{FF2B5EF4-FFF2-40B4-BE49-F238E27FC236}">
                <a16:creationId xmlns:a16="http://schemas.microsoft.com/office/drawing/2014/main" id="{2503A8A3-B61B-4E74-9C3C-8EC3D0FD10E0}"/>
              </a:ext>
            </a:extLst>
          </p:cNvPr>
          <p:cNvSpPr>
            <a:spLocks noGrp="1" noRot="1" noChangeAspect="1" noChangeArrowheads="1" noTextEdit="1"/>
          </p:cNvSpPr>
          <p:nvPr>
            <p:ph type="sldImg"/>
          </p:nvPr>
        </p:nvSpPr>
        <p:spPr>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11606542-C9B0-43BC-BDCE-96D28D098F4F}"/>
              </a:ext>
            </a:extLst>
          </p:cNvPr>
          <p:cNvSpPr>
            <a:spLocks noGrp="1" noChangeArrowheads="1"/>
          </p:cNvSpPr>
          <p:nvPr>
            <p:ph type="sldNum" sz="quarter" idx="5"/>
          </p:nvPr>
        </p:nvSpPr>
        <p:spPr>
          <a:ln/>
        </p:spPr>
        <p:txBody>
          <a:bodyPr/>
          <a:lstStyle/>
          <a:p>
            <a:fld id="{3DAE0F80-53F8-4359-BF43-5BA62D1B86E1}" type="slidenum">
              <a:rPr lang="en-US" altLang="en-US"/>
              <a:pPr/>
              <a:t>17</a:t>
            </a:fld>
            <a:endParaRPr lang="en-US" altLang="en-US"/>
          </a:p>
        </p:txBody>
      </p:sp>
      <p:sp>
        <p:nvSpPr>
          <p:cNvPr id="779266" name="Rectangle 2">
            <a:extLst>
              <a:ext uri="{FF2B5EF4-FFF2-40B4-BE49-F238E27FC236}">
                <a16:creationId xmlns:a16="http://schemas.microsoft.com/office/drawing/2014/main" id="{180D2835-AB90-414C-B938-83A4A16F912A}"/>
              </a:ext>
            </a:extLst>
          </p:cNvPr>
          <p:cNvSpPr>
            <a:spLocks noGrp="1" noRot="1" noChangeAspect="1" noChangeArrowheads="1" noTextEdit="1"/>
          </p:cNvSpPr>
          <p:nvPr>
            <p:ph type="sldImg"/>
          </p:nvPr>
        </p:nvSpPr>
        <p:spPr>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3111269A-2841-40D5-875A-2D230A829D28}"/>
              </a:ext>
            </a:extLst>
          </p:cNvPr>
          <p:cNvSpPr>
            <a:spLocks noGrp="1" noChangeArrowheads="1"/>
          </p:cNvSpPr>
          <p:nvPr>
            <p:ph type="sldNum" sz="quarter" idx="5"/>
          </p:nvPr>
        </p:nvSpPr>
        <p:spPr>
          <a:ln/>
        </p:spPr>
        <p:txBody>
          <a:bodyPr/>
          <a:lstStyle/>
          <a:p>
            <a:fld id="{6D32ED83-2A8D-4B75-ABE6-9527A7DF9CB5}" type="slidenum">
              <a:rPr lang="en-US" altLang="en-US"/>
              <a:pPr/>
              <a:t>18</a:t>
            </a:fld>
            <a:endParaRPr lang="en-US" altLang="en-US"/>
          </a:p>
        </p:txBody>
      </p:sp>
      <p:sp>
        <p:nvSpPr>
          <p:cNvPr id="781314" name="Rectangle 2">
            <a:extLst>
              <a:ext uri="{FF2B5EF4-FFF2-40B4-BE49-F238E27FC236}">
                <a16:creationId xmlns:a16="http://schemas.microsoft.com/office/drawing/2014/main" id="{498B5A92-C542-412C-B6FC-BFC6F197A70A}"/>
              </a:ext>
            </a:extLst>
          </p:cNvPr>
          <p:cNvSpPr>
            <a:spLocks noGrp="1" noRot="1" noChangeAspect="1" noChangeArrowheads="1" noTextEdit="1"/>
          </p:cNvSpPr>
          <p:nvPr>
            <p:ph type="sldImg"/>
          </p:nvPr>
        </p:nvSpPr>
        <p:spPr>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0604BB13-D39F-46D7-BB4B-F8D5EF403559}"/>
              </a:ext>
            </a:extLst>
          </p:cNvPr>
          <p:cNvSpPr>
            <a:spLocks noGrp="1" noChangeArrowheads="1"/>
          </p:cNvSpPr>
          <p:nvPr>
            <p:ph type="sldNum" sz="quarter" idx="5"/>
          </p:nvPr>
        </p:nvSpPr>
        <p:spPr>
          <a:ln/>
        </p:spPr>
        <p:txBody>
          <a:bodyPr/>
          <a:lstStyle/>
          <a:p>
            <a:fld id="{AE3C604A-0A17-4A9C-A17E-4227A1976C88}" type="slidenum">
              <a:rPr lang="en-US" altLang="en-US"/>
              <a:pPr/>
              <a:t>19</a:t>
            </a:fld>
            <a:endParaRPr lang="en-US" altLang="en-US"/>
          </a:p>
        </p:txBody>
      </p:sp>
      <p:sp>
        <p:nvSpPr>
          <p:cNvPr id="785410" name="Rectangle 2">
            <a:extLst>
              <a:ext uri="{FF2B5EF4-FFF2-40B4-BE49-F238E27FC236}">
                <a16:creationId xmlns:a16="http://schemas.microsoft.com/office/drawing/2014/main" id="{450EC052-1904-4967-B08C-56A41A11483D}"/>
              </a:ext>
            </a:extLst>
          </p:cNvPr>
          <p:cNvSpPr>
            <a:spLocks noGrp="1" noRot="1" noChangeAspect="1" noChangeArrowheads="1" noTextEdit="1"/>
          </p:cNvSpPr>
          <p:nvPr>
            <p:ph type="sldImg"/>
          </p:nvPr>
        </p:nvSpPr>
        <p:spPr>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D41EB682-AF94-4F49-AC5D-5E3FF856F604}"/>
              </a:ext>
            </a:extLst>
          </p:cNvPr>
          <p:cNvSpPr>
            <a:spLocks noGrp="1" noChangeArrowheads="1"/>
          </p:cNvSpPr>
          <p:nvPr>
            <p:ph type="sldNum" sz="quarter" idx="5"/>
          </p:nvPr>
        </p:nvSpPr>
        <p:spPr>
          <a:ln/>
        </p:spPr>
        <p:txBody>
          <a:bodyPr/>
          <a:lstStyle/>
          <a:p>
            <a:fld id="{6A8C48FD-1930-4E66-A803-6DDD804EAE40}" type="slidenum">
              <a:rPr lang="en-US" altLang="en-US"/>
              <a:pPr/>
              <a:t>20</a:t>
            </a:fld>
            <a:endParaRPr lang="en-US" altLang="en-US"/>
          </a:p>
        </p:txBody>
      </p:sp>
      <p:sp>
        <p:nvSpPr>
          <p:cNvPr id="787458" name="Rectangle 2">
            <a:extLst>
              <a:ext uri="{FF2B5EF4-FFF2-40B4-BE49-F238E27FC236}">
                <a16:creationId xmlns:a16="http://schemas.microsoft.com/office/drawing/2014/main" id="{6B4141C2-C33A-4D0F-AE62-77F06888DA7D}"/>
              </a:ext>
            </a:extLst>
          </p:cNvPr>
          <p:cNvSpPr>
            <a:spLocks noGrp="1" noRot="1" noChangeAspect="1" noChangeArrowheads="1" noTextEdit="1"/>
          </p:cNvSpPr>
          <p:nvPr>
            <p:ph type="sldImg"/>
          </p:nvPr>
        </p:nvSpPr>
        <p:spPr>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3CCA7BF3-C530-4149-83C8-20E29D6B2073}"/>
              </a:ext>
            </a:extLst>
          </p:cNvPr>
          <p:cNvSpPr>
            <a:spLocks noGrp="1" noChangeArrowheads="1"/>
          </p:cNvSpPr>
          <p:nvPr>
            <p:ph type="sldNum" sz="quarter" idx="5"/>
          </p:nvPr>
        </p:nvSpPr>
        <p:spPr>
          <a:ln/>
        </p:spPr>
        <p:txBody>
          <a:bodyPr/>
          <a:lstStyle/>
          <a:p>
            <a:fld id="{3C84371F-C9B4-4A3D-B38D-37EB8E5BD842}" type="slidenum">
              <a:rPr lang="en-US" altLang="en-US"/>
              <a:pPr/>
              <a:t>21</a:t>
            </a:fld>
            <a:endParaRPr lang="en-US" altLang="en-US"/>
          </a:p>
        </p:txBody>
      </p:sp>
      <p:sp>
        <p:nvSpPr>
          <p:cNvPr id="789506" name="Rectangle 2">
            <a:extLst>
              <a:ext uri="{FF2B5EF4-FFF2-40B4-BE49-F238E27FC236}">
                <a16:creationId xmlns:a16="http://schemas.microsoft.com/office/drawing/2014/main" id="{CC8A767A-E338-48C1-9110-42BACBA158A9}"/>
              </a:ext>
            </a:extLst>
          </p:cNvPr>
          <p:cNvSpPr>
            <a:spLocks noGrp="1" noRot="1" noChangeAspect="1" noChangeArrowheads="1" noTextEdit="1"/>
          </p:cNvSpPr>
          <p:nvPr>
            <p:ph type="sldImg"/>
          </p:nvPr>
        </p:nvSpPr>
        <p:spPr>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F2B9109C-55BB-4E2B-BA95-78A5B7ECD7A8}"/>
              </a:ext>
            </a:extLst>
          </p:cNvPr>
          <p:cNvSpPr>
            <a:spLocks noGrp="1" noChangeArrowheads="1"/>
          </p:cNvSpPr>
          <p:nvPr>
            <p:ph type="sldNum" sz="quarter" idx="5"/>
          </p:nvPr>
        </p:nvSpPr>
        <p:spPr>
          <a:ln/>
        </p:spPr>
        <p:txBody>
          <a:bodyPr/>
          <a:lstStyle/>
          <a:p>
            <a:fld id="{7066412D-3D18-453C-B370-024C08E76512}" type="slidenum">
              <a:rPr lang="en-US" altLang="en-US"/>
              <a:pPr/>
              <a:t>22</a:t>
            </a:fld>
            <a:endParaRPr lang="en-US" altLang="en-US"/>
          </a:p>
        </p:txBody>
      </p:sp>
      <p:sp>
        <p:nvSpPr>
          <p:cNvPr id="791554" name="Rectangle 2">
            <a:extLst>
              <a:ext uri="{FF2B5EF4-FFF2-40B4-BE49-F238E27FC236}">
                <a16:creationId xmlns:a16="http://schemas.microsoft.com/office/drawing/2014/main" id="{29C404A6-6555-47EB-9DC1-EB38CA3E4EB5}"/>
              </a:ext>
            </a:extLst>
          </p:cNvPr>
          <p:cNvSpPr>
            <a:spLocks noGrp="1" noRot="1" noChangeAspect="1" noChangeArrowheads="1" noTextEdit="1"/>
          </p:cNvSpPr>
          <p:nvPr>
            <p:ph type="sldImg"/>
          </p:nvPr>
        </p:nvSpPr>
        <p:spPr>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B4CEABE0-DD5D-4D2B-9779-E20D147FBFA5}"/>
              </a:ext>
            </a:extLst>
          </p:cNvPr>
          <p:cNvSpPr>
            <a:spLocks noGrp="1" noChangeArrowheads="1"/>
          </p:cNvSpPr>
          <p:nvPr>
            <p:ph type="sldNum" sz="quarter" idx="5"/>
          </p:nvPr>
        </p:nvSpPr>
        <p:spPr>
          <a:ln/>
        </p:spPr>
        <p:txBody>
          <a:bodyPr/>
          <a:lstStyle/>
          <a:p>
            <a:fld id="{324088BF-1155-455D-A7B1-1EA19B9618BD}" type="slidenum">
              <a:rPr lang="en-US" altLang="en-US"/>
              <a:pPr/>
              <a:t>23</a:t>
            </a:fld>
            <a:endParaRPr lang="en-US" altLang="en-US"/>
          </a:p>
        </p:txBody>
      </p:sp>
      <p:sp>
        <p:nvSpPr>
          <p:cNvPr id="807938" name="Rectangle 2">
            <a:extLst>
              <a:ext uri="{FF2B5EF4-FFF2-40B4-BE49-F238E27FC236}">
                <a16:creationId xmlns:a16="http://schemas.microsoft.com/office/drawing/2014/main" id="{B895E21E-B25A-4B5A-970D-987729FA80EA}"/>
              </a:ext>
            </a:extLst>
          </p:cNvPr>
          <p:cNvSpPr>
            <a:spLocks noGrp="1" noRot="1" noChangeAspect="1" noChangeArrowheads="1" noTextEdit="1"/>
          </p:cNvSpPr>
          <p:nvPr>
            <p:ph type="sldImg"/>
          </p:nvPr>
        </p:nvSpPr>
        <p:spPr>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AA182D80-9184-4CAB-AC0F-BFAB90521711}"/>
              </a:ext>
            </a:extLst>
          </p:cNvPr>
          <p:cNvSpPr>
            <a:spLocks noGrp="1" noChangeArrowheads="1"/>
          </p:cNvSpPr>
          <p:nvPr>
            <p:ph type="sldNum" sz="quarter" idx="5"/>
          </p:nvPr>
        </p:nvSpPr>
        <p:spPr>
          <a:ln/>
        </p:spPr>
        <p:txBody>
          <a:bodyPr/>
          <a:lstStyle/>
          <a:p>
            <a:fld id="{8623D90C-84AC-4AED-90E6-9BD12E2C35BA}" type="slidenum">
              <a:rPr lang="en-US" altLang="en-US"/>
              <a:pPr/>
              <a:t>24</a:t>
            </a:fld>
            <a:endParaRPr lang="en-US" altLang="en-US"/>
          </a:p>
        </p:txBody>
      </p:sp>
      <p:sp>
        <p:nvSpPr>
          <p:cNvPr id="809986" name="Rectangle 2">
            <a:extLst>
              <a:ext uri="{FF2B5EF4-FFF2-40B4-BE49-F238E27FC236}">
                <a16:creationId xmlns:a16="http://schemas.microsoft.com/office/drawing/2014/main" id="{6028640E-5C29-48BE-BAC4-5D497F18CEA8}"/>
              </a:ext>
            </a:extLst>
          </p:cNvPr>
          <p:cNvSpPr>
            <a:spLocks noGrp="1" noRot="1" noChangeAspect="1" noChangeArrowheads="1" noTextEdit="1"/>
          </p:cNvSpPr>
          <p:nvPr>
            <p:ph type="sldImg"/>
          </p:nvPr>
        </p:nvSpPr>
        <p:spPr>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80EE77DA-40C7-47BE-95FF-6FEBE23FDA7B}"/>
              </a:ext>
            </a:extLst>
          </p:cNvPr>
          <p:cNvSpPr>
            <a:spLocks noGrp="1" noChangeArrowheads="1"/>
          </p:cNvSpPr>
          <p:nvPr>
            <p:ph type="sldNum" sz="quarter" idx="5"/>
          </p:nvPr>
        </p:nvSpPr>
        <p:spPr>
          <a:ln/>
        </p:spPr>
        <p:txBody>
          <a:bodyPr/>
          <a:lstStyle/>
          <a:p>
            <a:fld id="{44A82B4D-9597-4509-B50B-4D5F976F48B8}" type="slidenum">
              <a:rPr lang="en-US" altLang="en-US"/>
              <a:pPr/>
              <a:t>25</a:t>
            </a:fld>
            <a:endParaRPr lang="en-US" altLang="en-US"/>
          </a:p>
        </p:txBody>
      </p:sp>
      <p:sp>
        <p:nvSpPr>
          <p:cNvPr id="812034" name="Rectangle 2">
            <a:extLst>
              <a:ext uri="{FF2B5EF4-FFF2-40B4-BE49-F238E27FC236}">
                <a16:creationId xmlns:a16="http://schemas.microsoft.com/office/drawing/2014/main" id="{40A0744A-D4E0-4727-9A4D-D6B966D53004}"/>
              </a:ext>
            </a:extLst>
          </p:cNvPr>
          <p:cNvSpPr>
            <a:spLocks noGrp="1" noRot="1" noChangeAspect="1" noChangeArrowheads="1" noTextEdit="1"/>
          </p:cNvSpPr>
          <p:nvPr>
            <p:ph type="sldImg"/>
          </p:nvPr>
        </p:nvSpPr>
        <p:spPr>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AB79E3B-BA96-479A-B934-4AF118F1888B}"/>
              </a:ext>
            </a:extLst>
          </p:cNvPr>
          <p:cNvSpPr>
            <a:spLocks noGrp="1" noChangeArrowheads="1"/>
          </p:cNvSpPr>
          <p:nvPr>
            <p:ph type="sldNum" sz="quarter" idx="5"/>
          </p:nvPr>
        </p:nvSpPr>
        <p:spPr>
          <a:ln/>
        </p:spPr>
        <p:txBody>
          <a:bodyPr/>
          <a:lstStyle/>
          <a:p>
            <a:fld id="{06AC4FEB-AF2B-46A2-8C69-1105CEE2A4A8}" type="slidenum">
              <a:rPr lang="en-US" altLang="en-US"/>
              <a:pPr/>
              <a:t>26</a:t>
            </a:fld>
            <a:endParaRPr lang="en-US" altLang="en-US"/>
          </a:p>
        </p:txBody>
      </p:sp>
      <p:sp>
        <p:nvSpPr>
          <p:cNvPr id="793602" name="Rectangle 2">
            <a:extLst>
              <a:ext uri="{FF2B5EF4-FFF2-40B4-BE49-F238E27FC236}">
                <a16:creationId xmlns:a16="http://schemas.microsoft.com/office/drawing/2014/main" id="{EFC95046-5567-414C-8BB3-F5953103C7E8}"/>
              </a:ext>
            </a:extLst>
          </p:cNvPr>
          <p:cNvSpPr>
            <a:spLocks noGrp="1" noRot="1" noChangeAspect="1" noChangeArrowheads="1" noTextEdit="1"/>
          </p:cNvSpPr>
          <p:nvPr>
            <p:ph type="sldImg"/>
          </p:nvPr>
        </p:nvSpPr>
        <p:spPr>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504288C-3E97-4E59-8965-F30B27103D7F}"/>
              </a:ext>
            </a:extLst>
          </p:cNvPr>
          <p:cNvSpPr>
            <a:spLocks noGrp="1" noChangeArrowheads="1"/>
          </p:cNvSpPr>
          <p:nvPr>
            <p:ph type="sldNum" sz="quarter" idx="5"/>
          </p:nvPr>
        </p:nvSpPr>
        <p:spPr>
          <a:ln/>
        </p:spPr>
        <p:txBody>
          <a:bodyPr/>
          <a:lstStyle/>
          <a:p>
            <a:fld id="{A9369DC0-2171-40AE-A587-C505213265C1}" type="slidenum">
              <a:rPr lang="en-US" altLang="en-US"/>
              <a:pPr/>
              <a:t>27</a:t>
            </a:fld>
            <a:endParaRPr lang="en-US" altLang="en-US"/>
          </a:p>
        </p:txBody>
      </p:sp>
      <p:sp>
        <p:nvSpPr>
          <p:cNvPr id="795650" name="Rectangle 2">
            <a:extLst>
              <a:ext uri="{FF2B5EF4-FFF2-40B4-BE49-F238E27FC236}">
                <a16:creationId xmlns:a16="http://schemas.microsoft.com/office/drawing/2014/main" id="{3959405E-475F-4B4D-95B3-A170C2383744}"/>
              </a:ext>
            </a:extLst>
          </p:cNvPr>
          <p:cNvSpPr>
            <a:spLocks noGrp="1" noRot="1" noChangeAspect="1" noChangeArrowheads="1" noTextEdit="1"/>
          </p:cNvSpPr>
          <p:nvPr>
            <p:ph type="sldImg"/>
          </p:nvPr>
        </p:nvSpPr>
        <p:spPr>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2D45B37C-784E-4FA3-A567-91F36D906BA4}"/>
              </a:ext>
            </a:extLst>
          </p:cNvPr>
          <p:cNvSpPr>
            <a:spLocks noGrp="1" noChangeArrowheads="1"/>
          </p:cNvSpPr>
          <p:nvPr>
            <p:ph type="sldNum" sz="quarter" idx="5"/>
          </p:nvPr>
        </p:nvSpPr>
        <p:spPr>
          <a:ln/>
        </p:spPr>
        <p:txBody>
          <a:bodyPr/>
          <a:lstStyle/>
          <a:p>
            <a:fld id="{FB20344F-59BC-4712-8109-D9036B74A3CE}" type="slidenum">
              <a:rPr lang="en-US" altLang="en-US"/>
              <a:pPr/>
              <a:t>28</a:t>
            </a:fld>
            <a:endParaRPr lang="en-US" altLang="en-US"/>
          </a:p>
        </p:txBody>
      </p:sp>
      <p:sp>
        <p:nvSpPr>
          <p:cNvPr id="801794" name="Rectangle 2">
            <a:extLst>
              <a:ext uri="{FF2B5EF4-FFF2-40B4-BE49-F238E27FC236}">
                <a16:creationId xmlns:a16="http://schemas.microsoft.com/office/drawing/2014/main" id="{26FAE541-B7ED-487C-BFD1-86AF73EFAE55}"/>
              </a:ext>
            </a:extLst>
          </p:cNvPr>
          <p:cNvSpPr>
            <a:spLocks noGrp="1" noRot="1" noChangeAspect="1" noChangeArrowheads="1" noTextEdit="1"/>
          </p:cNvSpPr>
          <p:nvPr>
            <p:ph type="sldImg"/>
          </p:nvPr>
        </p:nvSpPr>
        <p:spPr>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A05B80A-4829-41B8-8676-89949A1894C5}"/>
              </a:ext>
            </a:extLst>
          </p:cNvPr>
          <p:cNvSpPr>
            <a:spLocks noGrp="1" noChangeArrowheads="1"/>
          </p:cNvSpPr>
          <p:nvPr>
            <p:ph type="sldNum" sz="quarter" idx="5"/>
          </p:nvPr>
        </p:nvSpPr>
        <p:spPr>
          <a:ln/>
        </p:spPr>
        <p:txBody>
          <a:bodyPr/>
          <a:lstStyle/>
          <a:p>
            <a:fld id="{5E488E71-99F9-458F-8122-88389E84E85C}" type="slidenum">
              <a:rPr lang="en-US" altLang="en-US"/>
              <a:pPr/>
              <a:t>29</a:t>
            </a:fld>
            <a:endParaRPr lang="en-US" altLang="en-US"/>
          </a:p>
        </p:txBody>
      </p:sp>
      <p:sp>
        <p:nvSpPr>
          <p:cNvPr id="814082" name="Rectangle 2">
            <a:extLst>
              <a:ext uri="{FF2B5EF4-FFF2-40B4-BE49-F238E27FC236}">
                <a16:creationId xmlns:a16="http://schemas.microsoft.com/office/drawing/2014/main" id="{955516C8-E5C2-47EE-9850-355AA9AA9843}"/>
              </a:ext>
            </a:extLst>
          </p:cNvPr>
          <p:cNvSpPr>
            <a:spLocks noGrp="1" noRot="1" noChangeAspect="1" noChangeArrowheads="1" noTextEdit="1"/>
          </p:cNvSpPr>
          <p:nvPr>
            <p:ph type="sldImg"/>
          </p:nvPr>
        </p:nvSpPr>
        <p:spPr>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AD096408-3A0A-4288-A3FD-F679BA1D6BDB}"/>
              </a:ext>
            </a:extLst>
          </p:cNvPr>
          <p:cNvSpPr>
            <a:spLocks noGrp="1" noChangeArrowheads="1"/>
          </p:cNvSpPr>
          <p:nvPr>
            <p:ph type="sldNum" sz="quarter" idx="5"/>
          </p:nvPr>
        </p:nvSpPr>
        <p:spPr>
          <a:ln/>
        </p:spPr>
        <p:txBody>
          <a:bodyPr/>
          <a:lstStyle/>
          <a:p>
            <a:fld id="{E9B7E9CD-E283-4306-AE75-AD15969EE290}" type="slidenum">
              <a:rPr lang="en-US" altLang="en-US"/>
              <a:pPr/>
              <a:t>30</a:t>
            </a:fld>
            <a:endParaRPr lang="en-US" altLang="en-US"/>
          </a:p>
        </p:txBody>
      </p:sp>
      <p:sp>
        <p:nvSpPr>
          <p:cNvPr id="803842" name="Rectangle 2">
            <a:extLst>
              <a:ext uri="{FF2B5EF4-FFF2-40B4-BE49-F238E27FC236}">
                <a16:creationId xmlns:a16="http://schemas.microsoft.com/office/drawing/2014/main" id="{67967718-7D30-4B39-AA5C-BBAD98B986A6}"/>
              </a:ext>
            </a:extLst>
          </p:cNvPr>
          <p:cNvSpPr>
            <a:spLocks noGrp="1" noRot="1" noChangeAspect="1" noChangeArrowheads="1" noTextEdit="1"/>
          </p:cNvSpPr>
          <p:nvPr>
            <p:ph type="sldImg"/>
          </p:nvPr>
        </p:nvSpPr>
        <p:spPr>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53CECA1F-5469-47D0-B7BD-5A1622D98F49}"/>
              </a:ext>
            </a:extLst>
          </p:cNvPr>
          <p:cNvSpPr>
            <a:spLocks noGrp="1" noChangeArrowheads="1"/>
          </p:cNvSpPr>
          <p:nvPr>
            <p:ph type="sldNum" sz="quarter" idx="5"/>
          </p:nvPr>
        </p:nvSpPr>
        <p:spPr>
          <a:ln/>
        </p:spPr>
        <p:txBody>
          <a:bodyPr/>
          <a:lstStyle/>
          <a:p>
            <a:fld id="{929631C9-2EE8-40B1-AF77-E65C4685F2F7}" type="slidenum">
              <a:rPr lang="en-US" altLang="en-US"/>
              <a:pPr/>
              <a:t>31</a:t>
            </a:fld>
            <a:endParaRPr lang="en-US" altLang="en-US"/>
          </a:p>
        </p:txBody>
      </p:sp>
      <p:sp>
        <p:nvSpPr>
          <p:cNvPr id="805890" name="Rectangle 2">
            <a:extLst>
              <a:ext uri="{FF2B5EF4-FFF2-40B4-BE49-F238E27FC236}">
                <a16:creationId xmlns:a16="http://schemas.microsoft.com/office/drawing/2014/main" id="{CC5B6159-63DC-4F38-A641-A19632B4A9E2}"/>
              </a:ext>
            </a:extLst>
          </p:cNvPr>
          <p:cNvSpPr>
            <a:spLocks noGrp="1" noRot="1" noChangeAspect="1" noChangeArrowheads="1" noTextEdit="1"/>
          </p:cNvSpPr>
          <p:nvPr>
            <p:ph type="sldImg"/>
          </p:nvPr>
        </p:nvSpPr>
        <p:spPr>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12/9/2021</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A1BCF-9FFD-48E8-BAFA-5BFE5029BB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CA6496-E19F-4F76-A88F-64A2962FE6DF}"/>
              </a:ext>
            </a:extLst>
          </p:cNvPr>
          <p:cNvSpPr>
            <a:spLocks noGrp="1"/>
          </p:cNvSpPr>
          <p:nvPr>
            <p:ph sz="half" idx="1"/>
          </p:nvPr>
        </p:nvSpPr>
        <p:spPr>
          <a:xfrm>
            <a:off x="914400" y="838200"/>
            <a:ext cx="52324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54B468-7B25-44CD-ACCD-2379CFB77FE0}"/>
              </a:ext>
            </a:extLst>
          </p:cNvPr>
          <p:cNvSpPr>
            <a:spLocks noGrp="1"/>
          </p:cNvSpPr>
          <p:nvPr>
            <p:ph sz="half" idx="2"/>
          </p:nvPr>
        </p:nvSpPr>
        <p:spPr>
          <a:xfrm>
            <a:off x="6350000" y="838200"/>
            <a:ext cx="5232400"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8688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FEAA-94DA-4EB5-B903-A481415ACA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4B9359-D1AD-452B-BE39-ABCCE9F05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0456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12/9/2021</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 Id="rId9" Type="http://schemas.openxmlformats.org/officeDocument/2006/relationships/image" Target="../media/image12.emf"/></Relationships>
</file>

<file path=ppt/slides/_rels/slide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5.emf"/><Relationship Id="rId7" Type="http://schemas.openxmlformats.org/officeDocument/2006/relationships/image" Target="../media/image19.emf"/><Relationship Id="rId2"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image" Target="../media/image18.emf"/><Relationship Id="rId11" Type="http://schemas.openxmlformats.org/officeDocument/2006/relationships/image" Target="../media/image23.emf"/><Relationship Id="rId5" Type="http://schemas.openxmlformats.org/officeDocument/2006/relationships/image" Target="../media/image17.emf"/><Relationship Id="rId10" Type="http://schemas.openxmlformats.org/officeDocument/2006/relationships/image" Target="../media/image22.emf"/><Relationship Id="rId4" Type="http://schemas.openxmlformats.org/officeDocument/2006/relationships/image" Target="../media/image16.emf"/><Relationship Id="rId9" Type="http://schemas.openxmlformats.org/officeDocument/2006/relationships/image" Target="../media/image2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5.emf"/><Relationship Id="rId5" Type="http://schemas.openxmlformats.org/officeDocument/2006/relationships/oleObject" Target="../embeddings/oleObject2.bin"/><Relationship Id="rId4" Type="http://schemas.openxmlformats.org/officeDocument/2006/relationships/image" Target="../media/image24.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xml"/><Relationship Id="rId7" Type="http://schemas.openxmlformats.org/officeDocument/2006/relationships/image" Target="../media/image27.e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26.wmf"/><Relationship Id="rId4" Type="http://schemas.openxmlformats.org/officeDocument/2006/relationships/oleObject" Target="../embeddings/oleObject3.bin"/><Relationship Id="rId9" Type="http://schemas.openxmlformats.org/officeDocument/2006/relationships/image" Target="../media/image24.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6.wmf"/><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28.w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4.xml"/><Relationship Id="rId7" Type="http://schemas.openxmlformats.org/officeDocument/2006/relationships/image" Target="../media/image30.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image" Target="../media/image29.wmf"/><Relationship Id="rId4" Type="http://schemas.openxmlformats.org/officeDocument/2006/relationships/oleObject" Target="../embeddings/oleObject8.bin"/><Relationship Id="rId9" Type="http://schemas.openxmlformats.org/officeDocument/2006/relationships/image" Target="../media/image31.wmf"/></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33.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35.wmf"/><Relationship Id="rId5" Type="http://schemas.openxmlformats.org/officeDocument/2006/relationships/image" Target="../media/image34.e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41.wmf"/><Relationship Id="rId3" Type="http://schemas.openxmlformats.org/officeDocument/2006/relationships/notesSlide" Target="../notesSlides/notesSlide9.xml"/><Relationship Id="rId7" Type="http://schemas.openxmlformats.org/officeDocument/2006/relationships/image" Target="../media/image38.wmf"/><Relationship Id="rId12"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14.bin"/><Relationship Id="rId11" Type="http://schemas.openxmlformats.org/officeDocument/2006/relationships/image" Target="../media/image40.wmf"/><Relationship Id="rId5" Type="http://schemas.openxmlformats.org/officeDocument/2006/relationships/image" Target="../media/image37.emf"/><Relationship Id="rId15" Type="http://schemas.openxmlformats.org/officeDocument/2006/relationships/image" Target="../media/image42.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39.wmf"/><Relationship Id="rId1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notesSlide" Target="../notesSlides/notesSlide11.xml"/><Relationship Id="rId7"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44.wmf"/><Relationship Id="rId5" Type="http://schemas.openxmlformats.org/officeDocument/2006/relationships/oleObject" Target="../embeddings/oleObject19.bin"/><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7.wmf"/><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22.bin"/><Relationship Id="rId5" Type="http://schemas.openxmlformats.org/officeDocument/2006/relationships/image" Target="../media/image46.wmf"/><Relationship Id="rId4"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48.wmf"/><Relationship Id="rId4"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14.xml"/><Relationship Id="rId7" Type="http://schemas.openxmlformats.org/officeDocument/2006/relationships/image" Target="../media/image50.wmf"/><Relationship Id="rId2" Type="http://schemas.openxmlformats.org/officeDocument/2006/relationships/slideLayout" Target="../slideLayouts/slideLayout5.xml"/><Relationship Id="rId1" Type="http://schemas.openxmlformats.org/officeDocument/2006/relationships/vmlDrawing" Target="../drawings/vmlDrawing11.vml"/><Relationship Id="rId6" Type="http://schemas.openxmlformats.org/officeDocument/2006/relationships/oleObject" Target="../embeddings/oleObject25.bin"/><Relationship Id="rId11" Type="http://schemas.openxmlformats.org/officeDocument/2006/relationships/image" Target="../media/image48.wmf"/><Relationship Id="rId5" Type="http://schemas.openxmlformats.org/officeDocument/2006/relationships/image" Target="../media/image49.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51.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52.wmf"/><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29.bin"/><Relationship Id="rId5" Type="http://schemas.openxmlformats.org/officeDocument/2006/relationships/image" Target="../media/image51.wmf"/><Relationship Id="rId4" Type="http://schemas.openxmlformats.org/officeDocument/2006/relationships/oleObject" Target="../embeddings/oleObject28.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16.xml"/><Relationship Id="rId7" Type="http://schemas.openxmlformats.org/officeDocument/2006/relationships/image" Target="../media/image48.wmf"/><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30.bin"/><Relationship Id="rId5" Type="http://schemas.openxmlformats.org/officeDocument/2006/relationships/image" Target="../media/image54.jpeg"/><Relationship Id="rId4" Type="http://schemas.openxmlformats.org/officeDocument/2006/relationships/image" Target="../media/image53.jpeg"/><Relationship Id="rId9" Type="http://schemas.openxmlformats.org/officeDocument/2006/relationships/image" Target="../media/image52.wmf"/></Relationships>
</file>

<file path=ppt/slides/_rels/slide23.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notesSlide" Target="../notesSlides/notesSlide17.xml"/><Relationship Id="rId7"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18.xml"/><Relationship Id="rId7" Type="http://schemas.openxmlformats.org/officeDocument/2006/relationships/image" Target="../media/image58.wmf"/><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33.bin"/><Relationship Id="rId11" Type="http://schemas.openxmlformats.org/officeDocument/2006/relationships/image" Target="../media/image60.wmf"/><Relationship Id="rId5" Type="http://schemas.openxmlformats.org/officeDocument/2006/relationships/image" Target="../media/image62.jpeg"/><Relationship Id="rId10" Type="http://schemas.openxmlformats.org/officeDocument/2006/relationships/oleObject" Target="../embeddings/oleObject35.bin"/><Relationship Id="rId4" Type="http://schemas.openxmlformats.org/officeDocument/2006/relationships/image" Target="../media/image61.jpeg"/><Relationship Id="rId9" Type="http://schemas.openxmlformats.org/officeDocument/2006/relationships/image" Target="../media/image59.wmf"/></Relationships>
</file>

<file path=ppt/slides/_rels/slide25.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notesSlide" Target="../notesSlides/notesSlide19.xml"/><Relationship Id="rId7"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63.wmf"/><Relationship Id="rId5" Type="http://schemas.openxmlformats.org/officeDocument/2006/relationships/oleObject" Target="../embeddings/oleObject36.bin"/><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notesSlide" Target="../notesSlides/notesSlide23.xml"/><Relationship Id="rId7"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68.wmf"/><Relationship Id="rId5" Type="http://schemas.openxmlformats.org/officeDocument/2006/relationships/oleObject" Target="../embeddings/oleObject38.bin"/><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vmlDrawing" Target="../drawings/vmlDrawing18.vml"/><Relationship Id="rId5" Type="http://schemas.openxmlformats.org/officeDocument/2006/relationships/image" Target="../media/image70.wmf"/><Relationship Id="rId4"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vmlDrawing" Target="../drawings/vmlDrawing19.vml"/><Relationship Id="rId5" Type="http://schemas.openxmlformats.org/officeDocument/2006/relationships/image" Target="../media/image71.wmf"/><Relationship Id="rId4" Type="http://schemas.openxmlformats.org/officeDocument/2006/relationships/oleObject" Target="../embeddings/oleObject4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Flow in unsaturated porous media</a:t>
            </a: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Silvio Gumiere, Ph.D.</a:t>
            </a:r>
          </a:p>
          <a:p>
            <a:pPr marL="0" indent="0">
              <a:buNone/>
            </a:pPr>
            <a:endParaRPr lang="en-US" sz="2400" dirty="0">
              <a:solidFill>
                <a:schemeClr val="bg1"/>
              </a:solidFill>
              <a:latin typeface="+mj-lt"/>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476BB-29B8-4A7B-A044-B254316C10F3}"/>
              </a:ext>
            </a:extLst>
          </p:cNvPr>
          <p:cNvSpPr>
            <a:spLocks noGrp="1"/>
          </p:cNvSpPr>
          <p:nvPr>
            <p:ph type="title"/>
          </p:nvPr>
        </p:nvSpPr>
        <p:spPr/>
        <p:txBody>
          <a:bodyPr/>
          <a:lstStyle/>
          <a:p>
            <a:r>
              <a:rPr lang="en-US"/>
              <a:t>Steady flow </a:t>
            </a:r>
          </a:p>
        </p:txBody>
      </p:sp>
      <p:pic>
        <p:nvPicPr>
          <p:cNvPr id="5" name="Picture 4">
            <a:extLst>
              <a:ext uri="{FF2B5EF4-FFF2-40B4-BE49-F238E27FC236}">
                <a16:creationId xmlns:a16="http://schemas.microsoft.com/office/drawing/2014/main" id="{2409EF34-B98D-4FAD-ABEA-E2881C08DFC7}"/>
              </a:ext>
            </a:extLst>
          </p:cNvPr>
          <p:cNvPicPr>
            <a:picLocks noChangeAspect="1"/>
          </p:cNvPicPr>
          <p:nvPr/>
        </p:nvPicPr>
        <p:blipFill>
          <a:blip r:embed="rId2"/>
          <a:stretch>
            <a:fillRect/>
          </a:stretch>
        </p:blipFill>
        <p:spPr>
          <a:xfrm>
            <a:off x="880412" y="1521912"/>
            <a:ext cx="10208622" cy="1420255"/>
          </a:xfrm>
          <a:prstGeom prst="rect">
            <a:avLst/>
          </a:prstGeom>
        </p:spPr>
      </p:pic>
      <p:pic>
        <p:nvPicPr>
          <p:cNvPr id="7" name="Picture 6">
            <a:extLst>
              <a:ext uri="{FF2B5EF4-FFF2-40B4-BE49-F238E27FC236}">
                <a16:creationId xmlns:a16="http://schemas.microsoft.com/office/drawing/2014/main" id="{7358D7F9-582E-4441-8212-C2818BE9D4F0}"/>
              </a:ext>
            </a:extLst>
          </p:cNvPr>
          <p:cNvPicPr>
            <a:picLocks noChangeAspect="1"/>
          </p:cNvPicPr>
          <p:nvPr/>
        </p:nvPicPr>
        <p:blipFill>
          <a:blip r:embed="rId3"/>
          <a:stretch>
            <a:fillRect/>
          </a:stretch>
        </p:blipFill>
        <p:spPr>
          <a:xfrm>
            <a:off x="3386667" y="3509790"/>
            <a:ext cx="5486400" cy="1777285"/>
          </a:xfrm>
          <a:prstGeom prst="rect">
            <a:avLst/>
          </a:prstGeom>
        </p:spPr>
      </p:pic>
      <p:pic>
        <p:nvPicPr>
          <p:cNvPr id="9" name="Picture 8">
            <a:extLst>
              <a:ext uri="{FF2B5EF4-FFF2-40B4-BE49-F238E27FC236}">
                <a16:creationId xmlns:a16="http://schemas.microsoft.com/office/drawing/2014/main" id="{A68DE2D6-C30E-4929-BAFA-B8114BE1910C}"/>
              </a:ext>
            </a:extLst>
          </p:cNvPr>
          <p:cNvPicPr>
            <a:picLocks noChangeAspect="1"/>
          </p:cNvPicPr>
          <p:nvPr/>
        </p:nvPicPr>
        <p:blipFill>
          <a:blip r:embed="rId4"/>
          <a:stretch>
            <a:fillRect/>
          </a:stretch>
        </p:blipFill>
        <p:spPr>
          <a:xfrm>
            <a:off x="4512793" y="5476926"/>
            <a:ext cx="3039414" cy="367048"/>
          </a:xfrm>
          <a:prstGeom prst="rect">
            <a:avLst/>
          </a:prstGeom>
        </p:spPr>
      </p:pic>
      <p:pic>
        <p:nvPicPr>
          <p:cNvPr id="10" name="Picture 9">
            <a:extLst>
              <a:ext uri="{FF2B5EF4-FFF2-40B4-BE49-F238E27FC236}">
                <a16:creationId xmlns:a16="http://schemas.microsoft.com/office/drawing/2014/main" id="{B3DD6CE2-E6D3-4EF0-8658-EE3DCB05EA21}"/>
              </a:ext>
            </a:extLst>
          </p:cNvPr>
          <p:cNvPicPr>
            <a:picLocks noChangeAspect="1"/>
          </p:cNvPicPr>
          <p:nvPr/>
        </p:nvPicPr>
        <p:blipFill>
          <a:blip r:embed="rId5"/>
          <a:stretch>
            <a:fillRect/>
          </a:stretch>
        </p:blipFill>
        <p:spPr>
          <a:xfrm>
            <a:off x="9138709" y="3144837"/>
            <a:ext cx="2381250" cy="3209925"/>
          </a:xfrm>
          <a:prstGeom prst="rect">
            <a:avLst/>
          </a:prstGeom>
        </p:spPr>
      </p:pic>
      <p:pic>
        <p:nvPicPr>
          <p:cNvPr id="1026" name="Picture 2">
            <a:extLst>
              <a:ext uri="{FF2B5EF4-FFF2-40B4-BE49-F238E27FC236}">
                <a16:creationId xmlns:a16="http://schemas.microsoft.com/office/drawing/2014/main" id="{8A189052-6CE0-4A98-8AAC-CF226A1A97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8916" y="3278186"/>
            <a:ext cx="2095500"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417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4B80-F7CD-4DF9-A6C2-1DC1BF1F3B26}"/>
              </a:ext>
            </a:extLst>
          </p:cNvPr>
          <p:cNvSpPr>
            <a:spLocks noGrp="1"/>
          </p:cNvSpPr>
          <p:nvPr>
            <p:ph type="title"/>
          </p:nvPr>
        </p:nvSpPr>
        <p:spPr/>
        <p:txBody>
          <a:bodyPr/>
          <a:lstStyle/>
          <a:p>
            <a:r>
              <a:rPr lang="en-US"/>
              <a:t>Unsaturated hydraulic conductivity </a:t>
            </a:r>
          </a:p>
        </p:txBody>
      </p:sp>
      <p:pic>
        <p:nvPicPr>
          <p:cNvPr id="4" name="Picture 3">
            <a:extLst>
              <a:ext uri="{FF2B5EF4-FFF2-40B4-BE49-F238E27FC236}">
                <a16:creationId xmlns:a16="http://schemas.microsoft.com/office/drawing/2014/main" id="{3A457D8A-0F6D-491A-A1E6-EDEFCB419371}"/>
              </a:ext>
            </a:extLst>
          </p:cNvPr>
          <p:cNvPicPr>
            <a:picLocks noChangeAspect="1"/>
          </p:cNvPicPr>
          <p:nvPr/>
        </p:nvPicPr>
        <p:blipFill>
          <a:blip r:embed="rId2"/>
          <a:stretch>
            <a:fillRect/>
          </a:stretch>
        </p:blipFill>
        <p:spPr>
          <a:xfrm>
            <a:off x="817034" y="1414289"/>
            <a:ext cx="5486400" cy="1777285"/>
          </a:xfrm>
          <a:prstGeom prst="rect">
            <a:avLst/>
          </a:prstGeom>
        </p:spPr>
      </p:pic>
      <p:sp>
        <p:nvSpPr>
          <p:cNvPr id="5" name="Oval 4">
            <a:extLst>
              <a:ext uri="{FF2B5EF4-FFF2-40B4-BE49-F238E27FC236}">
                <a16:creationId xmlns:a16="http://schemas.microsoft.com/office/drawing/2014/main" id="{34C2932C-6324-4E17-9953-EF009E973AD8}"/>
              </a:ext>
            </a:extLst>
          </p:cNvPr>
          <p:cNvSpPr/>
          <p:nvPr/>
        </p:nvSpPr>
        <p:spPr>
          <a:xfrm>
            <a:off x="1672167" y="2239433"/>
            <a:ext cx="503766" cy="60113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6BF2FA9-94E3-49F6-813E-8D8A1597A8D7}"/>
              </a:ext>
            </a:extLst>
          </p:cNvPr>
          <p:cNvPicPr>
            <a:picLocks noChangeAspect="1"/>
          </p:cNvPicPr>
          <p:nvPr/>
        </p:nvPicPr>
        <p:blipFill>
          <a:blip r:embed="rId3"/>
          <a:stretch>
            <a:fillRect/>
          </a:stretch>
        </p:blipFill>
        <p:spPr>
          <a:xfrm>
            <a:off x="2571958" y="4000327"/>
            <a:ext cx="1493949" cy="579549"/>
          </a:xfrm>
          <a:prstGeom prst="rect">
            <a:avLst/>
          </a:prstGeom>
        </p:spPr>
      </p:pic>
      <p:pic>
        <p:nvPicPr>
          <p:cNvPr id="9" name="Picture 8">
            <a:extLst>
              <a:ext uri="{FF2B5EF4-FFF2-40B4-BE49-F238E27FC236}">
                <a16:creationId xmlns:a16="http://schemas.microsoft.com/office/drawing/2014/main" id="{AA56AC94-43C9-46BC-B237-BBBDFEAC16AA}"/>
              </a:ext>
            </a:extLst>
          </p:cNvPr>
          <p:cNvPicPr>
            <a:picLocks noChangeAspect="1"/>
          </p:cNvPicPr>
          <p:nvPr/>
        </p:nvPicPr>
        <p:blipFill>
          <a:blip r:embed="rId4"/>
          <a:stretch>
            <a:fillRect/>
          </a:stretch>
        </p:blipFill>
        <p:spPr>
          <a:xfrm>
            <a:off x="2604154" y="4728944"/>
            <a:ext cx="1429555" cy="354169"/>
          </a:xfrm>
          <a:prstGeom prst="rect">
            <a:avLst/>
          </a:prstGeom>
        </p:spPr>
      </p:pic>
      <p:pic>
        <p:nvPicPr>
          <p:cNvPr id="11" name="Picture 10">
            <a:extLst>
              <a:ext uri="{FF2B5EF4-FFF2-40B4-BE49-F238E27FC236}">
                <a16:creationId xmlns:a16="http://schemas.microsoft.com/office/drawing/2014/main" id="{0058FA58-4B8C-46B4-A615-F90CD81191EB}"/>
              </a:ext>
            </a:extLst>
          </p:cNvPr>
          <p:cNvPicPr>
            <a:picLocks noChangeAspect="1"/>
          </p:cNvPicPr>
          <p:nvPr/>
        </p:nvPicPr>
        <p:blipFill>
          <a:blip r:embed="rId5"/>
          <a:stretch>
            <a:fillRect/>
          </a:stretch>
        </p:blipFill>
        <p:spPr>
          <a:xfrm>
            <a:off x="4826357" y="3940761"/>
            <a:ext cx="1777285" cy="698679"/>
          </a:xfrm>
          <a:prstGeom prst="rect">
            <a:avLst/>
          </a:prstGeom>
        </p:spPr>
      </p:pic>
      <p:pic>
        <p:nvPicPr>
          <p:cNvPr id="13" name="Picture 12">
            <a:extLst>
              <a:ext uri="{FF2B5EF4-FFF2-40B4-BE49-F238E27FC236}">
                <a16:creationId xmlns:a16="http://schemas.microsoft.com/office/drawing/2014/main" id="{6CB40443-9FD6-4928-BCD2-90F09EEA4EDC}"/>
              </a:ext>
            </a:extLst>
          </p:cNvPr>
          <p:cNvPicPr>
            <a:picLocks noChangeAspect="1"/>
          </p:cNvPicPr>
          <p:nvPr/>
        </p:nvPicPr>
        <p:blipFill>
          <a:blip r:embed="rId6"/>
          <a:stretch>
            <a:fillRect/>
          </a:stretch>
        </p:blipFill>
        <p:spPr>
          <a:xfrm>
            <a:off x="4919253" y="4720477"/>
            <a:ext cx="1506828" cy="437882"/>
          </a:xfrm>
          <a:prstGeom prst="rect">
            <a:avLst/>
          </a:prstGeom>
        </p:spPr>
      </p:pic>
      <p:pic>
        <p:nvPicPr>
          <p:cNvPr id="15" name="Picture 14">
            <a:extLst>
              <a:ext uri="{FF2B5EF4-FFF2-40B4-BE49-F238E27FC236}">
                <a16:creationId xmlns:a16="http://schemas.microsoft.com/office/drawing/2014/main" id="{1A58A13E-97AD-407B-A2C6-22A385BAE43F}"/>
              </a:ext>
            </a:extLst>
          </p:cNvPr>
          <p:cNvPicPr>
            <a:picLocks noChangeAspect="1"/>
          </p:cNvPicPr>
          <p:nvPr/>
        </p:nvPicPr>
        <p:blipFill>
          <a:blip r:embed="rId7"/>
          <a:stretch>
            <a:fillRect/>
          </a:stretch>
        </p:blipFill>
        <p:spPr>
          <a:xfrm>
            <a:off x="7112001" y="3865866"/>
            <a:ext cx="1918952" cy="1149439"/>
          </a:xfrm>
          <a:prstGeom prst="rect">
            <a:avLst/>
          </a:prstGeom>
        </p:spPr>
      </p:pic>
      <p:pic>
        <p:nvPicPr>
          <p:cNvPr id="17" name="Picture 16">
            <a:extLst>
              <a:ext uri="{FF2B5EF4-FFF2-40B4-BE49-F238E27FC236}">
                <a16:creationId xmlns:a16="http://schemas.microsoft.com/office/drawing/2014/main" id="{FC654C9A-7A73-4F38-B43B-FB7FEAB1EF32}"/>
              </a:ext>
            </a:extLst>
          </p:cNvPr>
          <p:cNvPicPr>
            <a:picLocks noChangeAspect="1"/>
          </p:cNvPicPr>
          <p:nvPr/>
        </p:nvPicPr>
        <p:blipFill>
          <a:blip r:embed="rId8"/>
          <a:stretch>
            <a:fillRect/>
          </a:stretch>
        </p:blipFill>
        <p:spPr>
          <a:xfrm>
            <a:off x="7198634" y="5094737"/>
            <a:ext cx="1545465" cy="273676"/>
          </a:xfrm>
          <a:prstGeom prst="rect">
            <a:avLst/>
          </a:prstGeom>
        </p:spPr>
      </p:pic>
      <p:pic>
        <p:nvPicPr>
          <p:cNvPr id="19" name="Picture 18">
            <a:extLst>
              <a:ext uri="{FF2B5EF4-FFF2-40B4-BE49-F238E27FC236}">
                <a16:creationId xmlns:a16="http://schemas.microsoft.com/office/drawing/2014/main" id="{11A3E062-7D32-4A95-8DD2-94D97BCE6BB4}"/>
              </a:ext>
            </a:extLst>
          </p:cNvPr>
          <p:cNvPicPr>
            <a:picLocks noChangeAspect="1"/>
          </p:cNvPicPr>
          <p:nvPr/>
        </p:nvPicPr>
        <p:blipFill>
          <a:blip r:embed="rId9"/>
          <a:stretch>
            <a:fillRect/>
          </a:stretch>
        </p:blipFill>
        <p:spPr>
          <a:xfrm>
            <a:off x="8739866" y="5094737"/>
            <a:ext cx="450761" cy="247918"/>
          </a:xfrm>
          <a:prstGeom prst="rect">
            <a:avLst/>
          </a:prstGeom>
        </p:spPr>
      </p:pic>
    </p:spTree>
    <p:extLst>
      <p:ext uri="{BB962C8B-B14F-4D97-AF65-F5344CB8AC3E}">
        <p14:creationId xmlns:p14="http://schemas.microsoft.com/office/powerpoint/2010/main" val="44446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4B80-F7CD-4DF9-A6C2-1DC1BF1F3B26}"/>
              </a:ext>
            </a:extLst>
          </p:cNvPr>
          <p:cNvSpPr>
            <a:spLocks noGrp="1"/>
          </p:cNvSpPr>
          <p:nvPr>
            <p:ph type="title"/>
          </p:nvPr>
        </p:nvSpPr>
        <p:spPr/>
        <p:txBody>
          <a:bodyPr/>
          <a:lstStyle/>
          <a:p>
            <a:r>
              <a:rPr lang="en-US"/>
              <a:t>Unsaturated hydraulic conductivity </a:t>
            </a:r>
          </a:p>
        </p:txBody>
      </p:sp>
      <p:pic>
        <p:nvPicPr>
          <p:cNvPr id="6" name="Picture 5">
            <a:extLst>
              <a:ext uri="{FF2B5EF4-FFF2-40B4-BE49-F238E27FC236}">
                <a16:creationId xmlns:a16="http://schemas.microsoft.com/office/drawing/2014/main" id="{5BCDCA2C-22B3-4A17-8BD1-F44E3C166700}"/>
              </a:ext>
            </a:extLst>
          </p:cNvPr>
          <p:cNvPicPr>
            <a:picLocks noChangeAspect="1"/>
          </p:cNvPicPr>
          <p:nvPr/>
        </p:nvPicPr>
        <p:blipFill rotWithShape="1">
          <a:blip r:embed="rId2"/>
          <a:srcRect b="62782"/>
          <a:stretch/>
        </p:blipFill>
        <p:spPr>
          <a:xfrm>
            <a:off x="442353" y="1331652"/>
            <a:ext cx="11129729" cy="1593582"/>
          </a:xfrm>
          <a:prstGeom prst="rect">
            <a:avLst/>
          </a:prstGeom>
        </p:spPr>
      </p:pic>
      <p:pic>
        <p:nvPicPr>
          <p:cNvPr id="10" name="Picture 9">
            <a:extLst>
              <a:ext uri="{FF2B5EF4-FFF2-40B4-BE49-F238E27FC236}">
                <a16:creationId xmlns:a16="http://schemas.microsoft.com/office/drawing/2014/main" id="{6A14AA59-3264-44B4-97C4-546A59ECF86F}"/>
              </a:ext>
            </a:extLst>
          </p:cNvPr>
          <p:cNvPicPr>
            <a:picLocks noChangeAspect="1"/>
          </p:cNvPicPr>
          <p:nvPr/>
        </p:nvPicPr>
        <p:blipFill>
          <a:blip r:embed="rId3"/>
          <a:stretch>
            <a:fillRect/>
          </a:stretch>
        </p:blipFill>
        <p:spPr>
          <a:xfrm>
            <a:off x="2341509" y="3429000"/>
            <a:ext cx="2369713" cy="1674254"/>
          </a:xfrm>
          <a:prstGeom prst="rect">
            <a:avLst/>
          </a:prstGeom>
        </p:spPr>
      </p:pic>
      <p:pic>
        <p:nvPicPr>
          <p:cNvPr id="14" name="Picture 13">
            <a:extLst>
              <a:ext uri="{FF2B5EF4-FFF2-40B4-BE49-F238E27FC236}">
                <a16:creationId xmlns:a16="http://schemas.microsoft.com/office/drawing/2014/main" id="{E322622A-AC7A-4002-A275-AE13DEEB78B5}"/>
              </a:ext>
            </a:extLst>
          </p:cNvPr>
          <p:cNvPicPr>
            <a:picLocks noChangeAspect="1"/>
          </p:cNvPicPr>
          <p:nvPr/>
        </p:nvPicPr>
        <p:blipFill>
          <a:blip r:embed="rId4"/>
          <a:stretch>
            <a:fillRect/>
          </a:stretch>
        </p:blipFill>
        <p:spPr>
          <a:xfrm>
            <a:off x="6374625" y="3387322"/>
            <a:ext cx="2550017" cy="1886755"/>
          </a:xfrm>
          <a:prstGeom prst="rect">
            <a:avLst/>
          </a:prstGeom>
        </p:spPr>
      </p:pic>
      <p:pic>
        <p:nvPicPr>
          <p:cNvPr id="18" name="Picture 17">
            <a:extLst>
              <a:ext uri="{FF2B5EF4-FFF2-40B4-BE49-F238E27FC236}">
                <a16:creationId xmlns:a16="http://schemas.microsoft.com/office/drawing/2014/main" id="{873DB2A2-1178-4606-95DF-FBB44A6FB1DC}"/>
              </a:ext>
            </a:extLst>
          </p:cNvPr>
          <p:cNvPicPr>
            <a:picLocks noChangeAspect="1"/>
          </p:cNvPicPr>
          <p:nvPr/>
        </p:nvPicPr>
        <p:blipFill>
          <a:blip r:embed="rId5"/>
          <a:stretch>
            <a:fillRect/>
          </a:stretch>
        </p:blipFill>
        <p:spPr>
          <a:xfrm>
            <a:off x="2863103" y="5211472"/>
            <a:ext cx="1326524" cy="270456"/>
          </a:xfrm>
          <a:prstGeom prst="rect">
            <a:avLst/>
          </a:prstGeom>
        </p:spPr>
      </p:pic>
      <p:pic>
        <p:nvPicPr>
          <p:cNvPr id="21" name="Picture 20">
            <a:extLst>
              <a:ext uri="{FF2B5EF4-FFF2-40B4-BE49-F238E27FC236}">
                <a16:creationId xmlns:a16="http://schemas.microsoft.com/office/drawing/2014/main" id="{DC7CD57D-AE3B-4B73-AD9F-5BCB53707D46}"/>
              </a:ext>
            </a:extLst>
          </p:cNvPr>
          <p:cNvPicPr>
            <a:picLocks noChangeAspect="1"/>
          </p:cNvPicPr>
          <p:nvPr/>
        </p:nvPicPr>
        <p:blipFill>
          <a:blip r:embed="rId6"/>
          <a:stretch>
            <a:fillRect/>
          </a:stretch>
        </p:blipFill>
        <p:spPr>
          <a:xfrm>
            <a:off x="6907429" y="5392729"/>
            <a:ext cx="1416676" cy="267237"/>
          </a:xfrm>
          <a:prstGeom prst="rect">
            <a:avLst/>
          </a:prstGeom>
        </p:spPr>
      </p:pic>
    </p:spTree>
    <p:extLst>
      <p:ext uri="{BB962C8B-B14F-4D97-AF65-F5344CB8AC3E}">
        <p14:creationId xmlns:p14="http://schemas.microsoft.com/office/powerpoint/2010/main" val="4272678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4B80-F7CD-4DF9-A6C2-1DC1BF1F3B26}"/>
              </a:ext>
            </a:extLst>
          </p:cNvPr>
          <p:cNvSpPr>
            <a:spLocks noGrp="1"/>
          </p:cNvSpPr>
          <p:nvPr>
            <p:ph type="title"/>
          </p:nvPr>
        </p:nvSpPr>
        <p:spPr>
          <a:xfrm>
            <a:off x="635507" y="451032"/>
            <a:ext cx="6877119" cy="640080"/>
          </a:xfrm>
        </p:spPr>
        <p:txBody>
          <a:bodyPr/>
          <a:lstStyle/>
          <a:p>
            <a:r>
              <a:rPr lang="en-US"/>
              <a:t>Unsaturated hydraulic conductivity </a:t>
            </a:r>
          </a:p>
        </p:txBody>
      </p:sp>
      <p:pic>
        <p:nvPicPr>
          <p:cNvPr id="10" name="Picture 9">
            <a:extLst>
              <a:ext uri="{FF2B5EF4-FFF2-40B4-BE49-F238E27FC236}">
                <a16:creationId xmlns:a16="http://schemas.microsoft.com/office/drawing/2014/main" id="{6A14AA59-3264-44B4-97C4-546A59ECF86F}"/>
              </a:ext>
            </a:extLst>
          </p:cNvPr>
          <p:cNvPicPr>
            <a:picLocks noChangeAspect="1"/>
          </p:cNvPicPr>
          <p:nvPr/>
        </p:nvPicPr>
        <p:blipFill>
          <a:blip r:embed="rId2"/>
          <a:stretch>
            <a:fillRect/>
          </a:stretch>
        </p:blipFill>
        <p:spPr>
          <a:xfrm>
            <a:off x="1021276" y="1228276"/>
            <a:ext cx="2369713" cy="1674254"/>
          </a:xfrm>
          <a:prstGeom prst="rect">
            <a:avLst/>
          </a:prstGeom>
        </p:spPr>
      </p:pic>
      <p:pic>
        <p:nvPicPr>
          <p:cNvPr id="14" name="Picture 13">
            <a:extLst>
              <a:ext uri="{FF2B5EF4-FFF2-40B4-BE49-F238E27FC236}">
                <a16:creationId xmlns:a16="http://schemas.microsoft.com/office/drawing/2014/main" id="{E322622A-AC7A-4002-A275-AE13DEEB78B5}"/>
              </a:ext>
            </a:extLst>
          </p:cNvPr>
          <p:cNvPicPr>
            <a:picLocks noChangeAspect="1"/>
          </p:cNvPicPr>
          <p:nvPr/>
        </p:nvPicPr>
        <p:blipFill>
          <a:blip r:embed="rId3"/>
          <a:stretch>
            <a:fillRect/>
          </a:stretch>
        </p:blipFill>
        <p:spPr>
          <a:xfrm>
            <a:off x="7318658" y="1263681"/>
            <a:ext cx="2550017" cy="1886755"/>
          </a:xfrm>
          <a:prstGeom prst="rect">
            <a:avLst/>
          </a:prstGeom>
        </p:spPr>
      </p:pic>
      <p:pic>
        <p:nvPicPr>
          <p:cNvPr id="18" name="Picture 17">
            <a:extLst>
              <a:ext uri="{FF2B5EF4-FFF2-40B4-BE49-F238E27FC236}">
                <a16:creationId xmlns:a16="http://schemas.microsoft.com/office/drawing/2014/main" id="{873DB2A2-1178-4606-95DF-FBB44A6FB1DC}"/>
              </a:ext>
            </a:extLst>
          </p:cNvPr>
          <p:cNvPicPr>
            <a:picLocks noChangeAspect="1"/>
          </p:cNvPicPr>
          <p:nvPr/>
        </p:nvPicPr>
        <p:blipFill>
          <a:blip r:embed="rId4"/>
          <a:stretch>
            <a:fillRect/>
          </a:stretch>
        </p:blipFill>
        <p:spPr>
          <a:xfrm rot="16200000">
            <a:off x="47938" y="1907563"/>
            <a:ext cx="1326524" cy="270456"/>
          </a:xfrm>
          <a:prstGeom prst="rect">
            <a:avLst/>
          </a:prstGeom>
        </p:spPr>
      </p:pic>
      <p:pic>
        <p:nvPicPr>
          <p:cNvPr id="21" name="Picture 20">
            <a:extLst>
              <a:ext uri="{FF2B5EF4-FFF2-40B4-BE49-F238E27FC236}">
                <a16:creationId xmlns:a16="http://schemas.microsoft.com/office/drawing/2014/main" id="{DC7CD57D-AE3B-4B73-AD9F-5BCB53707D46}"/>
              </a:ext>
            </a:extLst>
          </p:cNvPr>
          <p:cNvPicPr>
            <a:picLocks noChangeAspect="1"/>
          </p:cNvPicPr>
          <p:nvPr/>
        </p:nvPicPr>
        <p:blipFill>
          <a:blip r:embed="rId5"/>
          <a:stretch>
            <a:fillRect/>
          </a:stretch>
        </p:blipFill>
        <p:spPr>
          <a:xfrm rot="16200000">
            <a:off x="6285128" y="2018529"/>
            <a:ext cx="1416676" cy="267237"/>
          </a:xfrm>
          <a:prstGeom prst="rect">
            <a:avLst/>
          </a:prstGeom>
        </p:spPr>
      </p:pic>
      <p:pic>
        <p:nvPicPr>
          <p:cNvPr id="4" name="Picture 3">
            <a:extLst>
              <a:ext uri="{FF2B5EF4-FFF2-40B4-BE49-F238E27FC236}">
                <a16:creationId xmlns:a16="http://schemas.microsoft.com/office/drawing/2014/main" id="{B8E9FC32-02B3-4164-8435-2310F6D8CAEA}"/>
              </a:ext>
            </a:extLst>
          </p:cNvPr>
          <p:cNvPicPr>
            <a:picLocks noChangeAspect="1"/>
          </p:cNvPicPr>
          <p:nvPr/>
        </p:nvPicPr>
        <p:blipFill rotWithShape="1">
          <a:blip r:embed="rId6"/>
          <a:srcRect r="42133" b="-12186"/>
          <a:stretch/>
        </p:blipFill>
        <p:spPr>
          <a:xfrm rot="16200000">
            <a:off x="-728249" y="4387974"/>
            <a:ext cx="2369920" cy="357592"/>
          </a:xfrm>
          <a:prstGeom prst="rect">
            <a:avLst/>
          </a:prstGeom>
        </p:spPr>
      </p:pic>
      <p:pic>
        <p:nvPicPr>
          <p:cNvPr id="7" name="Picture 6">
            <a:extLst>
              <a:ext uri="{FF2B5EF4-FFF2-40B4-BE49-F238E27FC236}">
                <a16:creationId xmlns:a16="http://schemas.microsoft.com/office/drawing/2014/main" id="{180EC642-DF19-46EF-A51F-754DB46A1838}"/>
              </a:ext>
            </a:extLst>
          </p:cNvPr>
          <p:cNvPicPr>
            <a:picLocks noChangeAspect="1"/>
          </p:cNvPicPr>
          <p:nvPr/>
        </p:nvPicPr>
        <p:blipFill>
          <a:blip r:embed="rId7"/>
          <a:stretch>
            <a:fillRect/>
          </a:stretch>
        </p:blipFill>
        <p:spPr>
          <a:xfrm>
            <a:off x="1225102" y="5921357"/>
            <a:ext cx="1893194" cy="537693"/>
          </a:xfrm>
          <a:prstGeom prst="rect">
            <a:avLst/>
          </a:prstGeom>
        </p:spPr>
      </p:pic>
      <p:pic>
        <p:nvPicPr>
          <p:cNvPr id="9" name="Picture 8">
            <a:extLst>
              <a:ext uri="{FF2B5EF4-FFF2-40B4-BE49-F238E27FC236}">
                <a16:creationId xmlns:a16="http://schemas.microsoft.com/office/drawing/2014/main" id="{8253D4A1-A7F1-4061-BB91-222389954812}"/>
              </a:ext>
            </a:extLst>
          </p:cNvPr>
          <p:cNvPicPr>
            <a:picLocks noChangeAspect="1"/>
          </p:cNvPicPr>
          <p:nvPr/>
        </p:nvPicPr>
        <p:blipFill>
          <a:blip r:embed="rId8"/>
          <a:stretch>
            <a:fillRect/>
          </a:stretch>
        </p:blipFill>
        <p:spPr>
          <a:xfrm rot="16200000">
            <a:off x="5822801" y="4129132"/>
            <a:ext cx="2163651" cy="334851"/>
          </a:xfrm>
          <a:prstGeom prst="rect">
            <a:avLst/>
          </a:prstGeom>
        </p:spPr>
      </p:pic>
      <p:pic>
        <p:nvPicPr>
          <p:cNvPr id="12" name="Picture 11">
            <a:extLst>
              <a:ext uri="{FF2B5EF4-FFF2-40B4-BE49-F238E27FC236}">
                <a16:creationId xmlns:a16="http://schemas.microsoft.com/office/drawing/2014/main" id="{BEB98AC4-5B13-4804-8E6B-07EB6CACCCFC}"/>
              </a:ext>
            </a:extLst>
          </p:cNvPr>
          <p:cNvPicPr>
            <a:picLocks noChangeAspect="1"/>
          </p:cNvPicPr>
          <p:nvPr/>
        </p:nvPicPr>
        <p:blipFill>
          <a:blip r:embed="rId9"/>
          <a:stretch>
            <a:fillRect/>
          </a:stretch>
        </p:blipFill>
        <p:spPr>
          <a:xfrm>
            <a:off x="7318658" y="5490292"/>
            <a:ext cx="3000777" cy="875763"/>
          </a:xfrm>
          <a:prstGeom prst="rect">
            <a:avLst/>
          </a:prstGeom>
        </p:spPr>
      </p:pic>
      <p:sp>
        <p:nvSpPr>
          <p:cNvPr id="13" name="Cross 12">
            <a:extLst>
              <a:ext uri="{FF2B5EF4-FFF2-40B4-BE49-F238E27FC236}">
                <a16:creationId xmlns:a16="http://schemas.microsoft.com/office/drawing/2014/main" id="{44D26116-4B2B-448F-B504-7A2F5B8A5F8E}"/>
              </a:ext>
            </a:extLst>
          </p:cNvPr>
          <p:cNvSpPr/>
          <p:nvPr/>
        </p:nvSpPr>
        <p:spPr>
          <a:xfrm>
            <a:off x="1845733" y="3025086"/>
            <a:ext cx="651933" cy="642749"/>
          </a:xfrm>
          <a:prstGeom prst="plus">
            <a:avLst>
              <a:gd name="adj" fmla="val 412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A4F9D44A-3074-4F36-B41A-660768BD7021}"/>
              </a:ext>
            </a:extLst>
          </p:cNvPr>
          <p:cNvPicPr>
            <a:picLocks noChangeAspect="1"/>
          </p:cNvPicPr>
          <p:nvPr/>
        </p:nvPicPr>
        <p:blipFill>
          <a:blip r:embed="rId10"/>
          <a:stretch>
            <a:fillRect/>
          </a:stretch>
        </p:blipFill>
        <p:spPr>
          <a:xfrm>
            <a:off x="519497" y="3713789"/>
            <a:ext cx="3554569" cy="1664594"/>
          </a:xfrm>
          <a:prstGeom prst="rect">
            <a:avLst/>
          </a:prstGeom>
        </p:spPr>
      </p:pic>
      <p:sp>
        <p:nvSpPr>
          <p:cNvPr id="17" name="Equals 16">
            <a:extLst>
              <a:ext uri="{FF2B5EF4-FFF2-40B4-BE49-F238E27FC236}">
                <a16:creationId xmlns:a16="http://schemas.microsoft.com/office/drawing/2014/main" id="{FCF9B563-3270-42BE-894C-6480643D75BC}"/>
              </a:ext>
            </a:extLst>
          </p:cNvPr>
          <p:cNvSpPr/>
          <p:nvPr/>
        </p:nvSpPr>
        <p:spPr>
          <a:xfrm rot="5400000">
            <a:off x="1833033" y="5161941"/>
            <a:ext cx="596900" cy="935566"/>
          </a:xfrm>
          <a:prstGeom prst="mathEqual">
            <a:avLst>
              <a:gd name="adj1" fmla="val 10512"/>
              <a:gd name="adj2" fmla="val 117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 name="Picture 19">
            <a:extLst>
              <a:ext uri="{FF2B5EF4-FFF2-40B4-BE49-F238E27FC236}">
                <a16:creationId xmlns:a16="http://schemas.microsoft.com/office/drawing/2014/main" id="{81EB2A8E-5337-4FE6-BC01-5E22D68BC6DE}"/>
              </a:ext>
            </a:extLst>
          </p:cNvPr>
          <p:cNvPicPr>
            <a:picLocks noChangeAspect="1"/>
          </p:cNvPicPr>
          <p:nvPr/>
        </p:nvPicPr>
        <p:blipFill>
          <a:blip r:embed="rId11"/>
          <a:stretch>
            <a:fillRect/>
          </a:stretch>
        </p:blipFill>
        <p:spPr>
          <a:xfrm>
            <a:off x="7524719" y="3892937"/>
            <a:ext cx="2588654" cy="1010992"/>
          </a:xfrm>
          <a:prstGeom prst="rect">
            <a:avLst/>
          </a:prstGeom>
        </p:spPr>
      </p:pic>
      <p:sp>
        <p:nvSpPr>
          <p:cNvPr id="22" name="Cross 21">
            <a:extLst>
              <a:ext uri="{FF2B5EF4-FFF2-40B4-BE49-F238E27FC236}">
                <a16:creationId xmlns:a16="http://schemas.microsoft.com/office/drawing/2014/main" id="{FD292B45-5DE3-478C-AA49-49580C7B5A44}"/>
              </a:ext>
            </a:extLst>
          </p:cNvPr>
          <p:cNvSpPr/>
          <p:nvPr/>
        </p:nvSpPr>
        <p:spPr>
          <a:xfrm>
            <a:off x="8398933" y="3200312"/>
            <a:ext cx="651933" cy="642749"/>
          </a:xfrm>
          <a:prstGeom prst="plus">
            <a:avLst>
              <a:gd name="adj" fmla="val 412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Equals 22">
            <a:extLst>
              <a:ext uri="{FF2B5EF4-FFF2-40B4-BE49-F238E27FC236}">
                <a16:creationId xmlns:a16="http://schemas.microsoft.com/office/drawing/2014/main" id="{98CFAA62-C9D9-4774-A86F-FD09B89D82DF}"/>
              </a:ext>
            </a:extLst>
          </p:cNvPr>
          <p:cNvSpPr/>
          <p:nvPr/>
        </p:nvSpPr>
        <p:spPr>
          <a:xfrm rot="5400000">
            <a:off x="8495008" y="4736425"/>
            <a:ext cx="596900" cy="935566"/>
          </a:xfrm>
          <a:prstGeom prst="mathEqual">
            <a:avLst>
              <a:gd name="adj1" fmla="val 10512"/>
              <a:gd name="adj2" fmla="val 117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34513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E1A9092-4A82-432E-B017-94904F4E7017}"/>
              </a:ext>
            </a:extLst>
          </p:cNvPr>
          <p:cNvSpPr txBox="1">
            <a:spLocks noChangeArrowheads="1"/>
          </p:cNvSpPr>
          <p:nvPr/>
        </p:nvSpPr>
        <p:spPr>
          <a:xfrm>
            <a:off x="762000" y="152400"/>
            <a:ext cx="7772400" cy="579438"/>
          </a:xfrm>
          <a:prstGeom prst="rect">
            <a:avLst/>
          </a:prstGeom>
        </p:spPr>
        <p:txBody>
          <a:bodyPr vert="horz" lIns="91440" tIns="45720" rIns="91440" bIns="45720" rtlCol="0" anchor="b" anchorCtr="0">
            <a:norm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r>
              <a:rPr lang="en-US" altLang="en-US"/>
              <a:t>Steady State Unsaturated Flow</a:t>
            </a:r>
          </a:p>
        </p:txBody>
      </p:sp>
      <p:sp>
        <p:nvSpPr>
          <p:cNvPr id="5" name="Rectangle 3">
            <a:extLst>
              <a:ext uri="{FF2B5EF4-FFF2-40B4-BE49-F238E27FC236}">
                <a16:creationId xmlns:a16="http://schemas.microsoft.com/office/drawing/2014/main" id="{8B452A72-0A52-4665-9BF7-78EBC8B5BB89}"/>
              </a:ext>
            </a:extLst>
          </p:cNvPr>
          <p:cNvSpPr>
            <a:spLocks noChangeArrowheads="1"/>
          </p:cNvSpPr>
          <p:nvPr/>
        </p:nvSpPr>
        <p:spPr bwMode="auto">
          <a:xfrm>
            <a:off x="0" y="3094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 name="Rectangle 4">
            <a:extLst>
              <a:ext uri="{FF2B5EF4-FFF2-40B4-BE49-F238E27FC236}">
                <a16:creationId xmlns:a16="http://schemas.microsoft.com/office/drawing/2014/main" id="{417872F9-9639-4395-AAF3-419B80043A73}"/>
              </a:ext>
            </a:extLst>
          </p:cNvPr>
          <p:cNvSpPr>
            <a:spLocks noChangeArrowheads="1"/>
          </p:cNvSpPr>
          <p:nvPr/>
        </p:nvSpPr>
        <p:spPr bwMode="auto">
          <a:xfrm>
            <a:off x="0" y="3251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 name="Rectangle 5">
            <a:extLst>
              <a:ext uri="{FF2B5EF4-FFF2-40B4-BE49-F238E27FC236}">
                <a16:creationId xmlns:a16="http://schemas.microsoft.com/office/drawing/2014/main" id="{B24B0DEB-0B5A-4F63-9E5E-005ACE9E99A4}"/>
              </a:ext>
            </a:extLst>
          </p:cNvPr>
          <p:cNvSpPr>
            <a:spLocks noChangeArrowheads="1"/>
          </p:cNvSpPr>
          <p:nvPr/>
        </p:nvSpPr>
        <p:spPr bwMode="auto">
          <a:xfrm>
            <a:off x="0" y="335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 name="Rectangle 6">
            <a:extLst>
              <a:ext uri="{FF2B5EF4-FFF2-40B4-BE49-F238E27FC236}">
                <a16:creationId xmlns:a16="http://schemas.microsoft.com/office/drawing/2014/main" id="{901149A8-24D3-4DD2-BAE1-DF8F2189832F}"/>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 name="Rectangle 7">
            <a:extLst>
              <a:ext uri="{FF2B5EF4-FFF2-40B4-BE49-F238E27FC236}">
                <a16:creationId xmlns:a16="http://schemas.microsoft.com/office/drawing/2014/main" id="{3E61FB44-16A3-44A3-8E48-50EAE0209755}"/>
              </a:ext>
            </a:extLst>
          </p:cNvPr>
          <p:cNvSpPr>
            <a:spLocks noChangeArrowheads="1"/>
          </p:cNvSpPr>
          <p:nvPr/>
        </p:nvSpPr>
        <p:spPr bwMode="auto">
          <a:xfrm>
            <a:off x="0" y="3251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 name="Rectangle 8">
            <a:extLst>
              <a:ext uri="{FF2B5EF4-FFF2-40B4-BE49-F238E27FC236}">
                <a16:creationId xmlns:a16="http://schemas.microsoft.com/office/drawing/2014/main" id="{61CCD16C-865C-427A-9978-34AEB0C4581A}"/>
              </a:ext>
            </a:extLst>
          </p:cNvPr>
          <p:cNvSpPr>
            <a:spLocks noChangeArrowheads="1"/>
          </p:cNvSpPr>
          <p:nvPr/>
        </p:nvSpPr>
        <p:spPr bwMode="auto">
          <a:xfrm>
            <a:off x="0" y="3260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 name="Text Box 9">
            <a:extLst>
              <a:ext uri="{FF2B5EF4-FFF2-40B4-BE49-F238E27FC236}">
                <a16:creationId xmlns:a16="http://schemas.microsoft.com/office/drawing/2014/main" id="{E2BB2F1B-9B29-4759-9F49-7205C0C4935E}"/>
              </a:ext>
            </a:extLst>
          </p:cNvPr>
          <p:cNvSpPr txBox="1">
            <a:spLocks noChangeArrowheads="1"/>
          </p:cNvSpPr>
          <p:nvPr/>
        </p:nvSpPr>
        <p:spPr bwMode="auto">
          <a:xfrm>
            <a:off x="958849" y="1660525"/>
            <a:ext cx="9220419"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Both"/>
            </a:pPr>
            <a:r>
              <a:rPr lang="en-US" altLang="en-US" sz="1900" b="1" dirty="0">
                <a:effectLst>
                  <a:outerShdw blurRad="38100" dist="38100" dir="2700000" algn="tl">
                    <a:srgbClr val="C0C0C0"/>
                  </a:outerShdw>
                </a:effectLst>
              </a:rPr>
              <a:t>When a constant flux at the soil surface, less than the soil's K</a:t>
            </a:r>
            <a:r>
              <a:rPr lang="en-US" altLang="en-US" sz="1900" b="1" baseline="-25000" dirty="0">
                <a:effectLst>
                  <a:outerShdw blurRad="38100" dist="38100" dir="2700000" algn="tl">
                    <a:srgbClr val="C0C0C0"/>
                  </a:outerShdw>
                </a:effectLst>
              </a:rPr>
              <a:t>s</a:t>
            </a:r>
            <a:r>
              <a:rPr lang="en-US" altLang="en-US" sz="1900" b="1" dirty="0">
                <a:effectLst>
                  <a:outerShdw blurRad="38100" dist="38100" dir="2700000" algn="tl">
                    <a:srgbClr val="C0C0C0"/>
                  </a:outerShdw>
                </a:effectLst>
              </a:rPr>
              <a:t> is maintained for extended periods of time by use of a sprinkler or other means.</a:t>
            </a:r>
          </a:p>
          <a:p>
            <a:pPr eaLnBrk="0" hangingPunct="0">
              <a:spcBef>
                <a:spcPct val="50000"/>
              </a:spcBef>
              <a:buClr>
                <a:srgbClr val="CC0000"/>
              </a:buClr>
              <a:buFontTx/>
              <a:buAutoNum type="arabicParenBoth"/>
            </a:pPr>
            <a:r>
              <a:rPr lang="en-US" altLang="en-US" sz="1900" b="1" dirty="0">
                <a:effectLst>
                  <a:outerShdw blurRad="38100" dist="38100" dir="2700000" algn="tl">
                    <a:srgbClr val="C0C0C0"/>
                  </a:outerShdw>
                </a:effectLst>
              </a:rPr>
              <a:t>The evaporation rate from a shallow water table may also attain (approximately) a steady state.</a:t>
            </a:r>
          </a:p>
        </p:txBody>
      </p:sp>
      <p:sp>
        <p:nvSpPr>
          <p:cNvPr id="12" name="Rectangle 10">
            <a:extLst>
              <a:ext uri="{FF2B5EF4-FFF2-40B4-BE49-F238E27FC236}">
                <a16:creationId xmlns:a16="http://schemas.microsoft.com/office/drawing/2014/main" id="{6F99A0BE-F7AF-4756-84B9-77DBB4CEDB62}"/>
              </a:ext>
            </a:extLst>
          </p:cNvPr>
          <p:cNvSpPr>
            <a:spLocks noChangeArrowheads="1"/>
          </p:cNvSpPr>
          <p:nvPr/>
        </p:nvSpPr>
        <p:spPr bwMode="auto">
          <a:xfrm>
            <a:off x="0" y="3221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3" name="Rectangle 11">
            <a:extLst>
              <a:ext uri="{FF2B5EF4-FFF2-40B4-BE49-F238E27FC236}">
                <a16:creationId xmlns:a16="http://schemas.microsoft.com/office/drawing/2014/main" id="{0E360B2C-5535-4135-8E1F-F77C76E958C6}"/>
              </a:ext>
            </a:extLst>
          </p:cNvPr>
          <p:cNvSpPr>
            <a:spLocks noChangeArrowheads="1"/>
          </p:cNvSpPr>
          <p:nvPr/>
        </p:nvSpPr>
        <p:spPr bwMode="auto">
          <a:xfrm>
            <a:off x="0" y="3182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 name="Rectangle 12">
            <a:extLst>
              <a:ext uri="{FF2B5EF4-FFF2-40B4-BE49-F238E27FC236}">
                <a16:creationId xmlns:a16="http://schemas.microsoft.com/office/drawing/2014/main" id="{5316A939-6682-408D-9900-A6493A4F7822}"/>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 name="Rectangle 13">
            <a:extLst>
              <a:ext uri="{FF2B5EF4-FFF2-40B4-BE49-F238E27FC236}">
                <a16:creationId xmlns:a16="http://schemas.microsoft.com/office/drawing/2014/main" id="{25F4FFBE-56DF-469D-B1CA-4A68DB65B551}"/>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6" name="Rectangle 14">
            <a:extLst>
              <a:ext uri="{FF2B5EF4-FFF2-40B4-BE49-F238E27FC236}">
                <a16:creationId xmlns:a16="http://schemas.microsoft.com/office/drawing/2014/main" id="{BFAE36BB-38EE-43B4-94ED-E6AA5BFD422F}"/>
              </a:ext>
            </a:extLst>
          </p:cNvPr>
          <p:cNvSpPr>
            <a:spLocks noChangeArrowheads="1"/>
          </p:cNvSpPr>
          <p:nvPr/>
        </p:nvSpPr>
        <p:spPr bwMode="auto">
          <a:xfrm>
            <a:off x="0" y="328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7" name="Rectangle 15">
            <a:extLst>
              <a:ext uri="{FF2B5EF4-FFF2-40B4-BE49-F238E27FC236}">
                <a16:creationId xmlns:a16="http://schemas.microsoft.com/office/drawing/2014/main" id="{069D74DC-C9EC-413F-A320-94A115CDC6C1}"/>
              </a:ext>
            </a:extLst>
          </p:cNvPr>
          <p:cNvSpPr>
            <a:spLocks noChangeArrowheads="1"/>
          </p:cNvSpPr>
          <p:nvPr/>
        </p:nvSpPr>
        <p:spPr bwMode="auto">
          <a:xfrm>
            <a:off x="0" y="31686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8" name="Rectangle 16">
            <a:extLst>
              <a:ext uri="{FF2B5EF4-FFF2-40B4-BE49-F238E27FC236}">
                <a16:creationId xmlns:a16="http://schemas.microsoft.com/office/drawing/2014/main" id="{F69E90ED-3CA7-4434-BFFF-39D78030AE5C}"/>
              </a:ext>
            </a:extLst>
          </p:cNvPr>
          <p:cNvSpPr>
            <a:spLocks noChangeArrowheads="1"/>
          </p:cNvSpPr>
          <p:nvPr/>
        </p:nvSpPr>
        <p:spPr bwMode="auto">
          <a:xfrm>
            <a:off x="0" y="3140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9" name="Rectangle 17">
            <a:extLst>
              <a:ext uri="{FF2B5EF4-FFF2-40B4-BE49-F238E27FC236}">
                <a16:creationId xmlns:a16="http://schemas.microsoft.com/office/drawing/2014/main" id="{523686B1-1292-4494-A148-5E4771E6FEBB}"/>
              </a:ext>
            </a:extLst>
          </p:cNvPr>
          <p:cNvSpPr>
            <a:spLocks noChangeArrowheads="1"/>
          </p:cNvSpPr>
          <p:nvPr/>
        </p:nvSpPr>
        <p:spPr bwMode="auto">
          <a:xfrm>
            <a:off x="0" y="3236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0" name="Rectangle 18">
            <a:extLst>
              <a:ext uri="{FF2B5EF4-FFF2-40B4-BE49-F238E27FC236}">
                <a16:creationId xmlns:a16="http://schemas.microsoft.com/office/drawing/2014/main" id="{C9E89953-B906-41C0-921B-2EF66EE432CE}"/>
              </a:ext>
            </a:extLst>
          </p:cNvPr>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 name="Text Box 19">
            <a:extLst>
              <a:ext uri="{FF2B5EF4-FFF2-40B4-BE49-F238E27FC236}">
                <a16:creationId xmlns:a16="http://schemas.microsoft.com/office/drawing/2014/main" id="{3C1432CF-3055-4E85-8F5F-8A0666FB55AF}"/>
              </a:ext>
            </a:extLst>
          </p:cNvPr>
          <p:cNvSpPr txBox="1">
            <a:spLocks noChangeArrowheads="1"/>
          </p:cNvSpPr>
          <p:nvPr/>
        </p:nvSpPr>
        <p:spPr bwMode="auto">
          <a:xfrm>
            <a:off x="762000" y="1215479"/>
            <a:ext cx="9845784"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Steady-state unsaturated flow may develop under a variety of conditions.</a:t>
            </a:r>
          </a:p>
        </p:txBody>
      </p:sp>
      <p:sp>
        <p:nvSpPr>
          <p:cNvPr id="22" name="Text Box 20">
            <a:extLst>
              <a:ext uri="{FF2B5EF4-FFF2-40B4-BE49-F238E27FC236}">
                <a16:creationId xmlns:a16="http://schemas.microsoft.com/office/drawing/2014/main" id="{732AEB16-5574-4DB9-8DB4-FB894A06F7DE}"/>
              </a:ext>
            </a:extLst>
          </p:cNvPr>
          <p:cNvSpPr txBox="1">
            <a:spLocks noChangeArrowheads="1"/>
          </p:cNvSpPr>
          <p:nvPr/>
        </p:nvSpPr>
        <p:spPr bwMode="auto">
          <a:xfrm>
            <a:off x="806449" y="3581400"/>
            <a:ext cx="927297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For vertical steady-state unsaturated flow we may write the Buckingham-Darcy equation:</a:t>
            </a:r>
          </a:p>
        </p:txBody>
      </p:sp>
      <p:sp>
        <p:nvSpPr>
          <p:cNvPr id="23" name="Rectangle 21">
            <a:extLst>
              <a:ext uri="{FF2B5EF4-FFF2-40B4-BE49-F238E27FC236}">
                <a16:creationId xmlns:a16="http://schemas.microsoft.com/office/drawing/2014/main" id="{18306E23-285C-4A70-9B22-C6A62119C5C8}"/>
              </a:ext>
            </a:extLst>
          </p:cNvPr>
          <p:cNvSpPr>
            <a:spLocks noChangeArrowheads="1"/>
          </p:cNvSpPr>
          <p:nvPr/>
        </p:nvSpPr>
        <p:spPr bwMode="auto">
          <a:xfrm>
            <a:off x="0" y="327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4" name="Rectangle 22">
            <a:extLst>
              <a:ext uri="{FF2B5EF4-FFF2-40B4-BE49-F238E27FC236}">
                <a16:creationId xmlns:a16="http://schemas.microsoft.com/office/drawing/2014/main" id="{8DF5A916-2ECE-448F-86D3-283AC2E457C9}"/>
              </a:ext>
            </a:extLst>
          </p:cNvPr>
          <p:cNvSpPr>
            <a:spLocks noChangeArrowheads="1"/>
          </p:cNvSpPr>
          <p:nvPr/>
        </p:nvSpPr>
        <p:spPr bwMode="auto">
          <a:xfrm>
            <a:off x="0" y="3179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5" name="Rectangle 23">
            <a:extLst>
              <a:ext uri="{FF2B5EF4-FFF2-40B4-BE49-F238E27FC236}">
                <a16:creationId xmlns:a16="http://schemas.microsoft.com/office/drawing/2014/main" id="{54EA52AA-136A-4B95-94D9-81324E06EE7E}"/>
              </a:ext>
            </a:extLst>
          </p:cNvPr>
          <p:cNvSpPr>
            <a:spLocks noChangeArrowheads="1"/>
          </p:cNvSpPr>
          <p:nvPr/>
        </p:nvSpPr>
        <p:spPr bwMode="auto">
          <a:xfrm>
            <a:off x="1931988" y="4419600"/>
            <a:ext cx="2667000" cy="8382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6" name="Object 24">
            <a:extLst>
              <a:ext uri="{FF2B5EF4-FFF2-40B4-BE49-F238E27FC236}">
                <a16:creationId xmlns:a16="http://schemas.microsoft.com/office/drawing/2014/main" id="{F3E01763-845B-41B2-A2D5-FAA267A70EBC}"/>
              </a:ext>
            </a:extLst>
          </p:cNvPr>
          <p:cNvGraphicFramePr>
            <a:graphicFrameLocks noChangeAspect="1"/>
          </p:cNvGraphicFramePr>
          <p:nvPr/>
        </p:nvGraphicFramePr>
        <p:xfrm>
          <a:off x="5862638" y="4191000"/>
          <a:ext cx="1909762" cy="1196975"/>
        </p:xfrm>
        <a:graphic>
          <a:graphicData uri="http://schemas.openxmlformats.org/presentationml/2006/ole">
            <mc:AlternateContent xmlns:mc="http://schemas.openxmlformats.org/markup-compatibility/2006">
              <mc:Choice xmlns:v="urn:schemas-microsoft-com:vml" Requires="v">
                <p:oleObj spid="_x0000_s2064" name="Equation" r:id="rId3" imgW="1054080" imgH="660240" progId="Equation.3">
                  <p:embed/>
                </p:oleObj>
              </mc:Choice>
              <mc:Fallback>
                <p:oleObj name="Equation" r:id="rId3" imgW="1054080" imgH="660240" progId="Equation.3">
                  <p:embed/>
                  <p:pic>
                    <p:nvPicPr>
                      <p:cNvPr id="730136" name="Object 24">
                        <a:extLst>
                          <a:ext uri="{FF2B5EF4-FFF2-40B4-BE49-F238E27FC236}">
                            <a16:creationId xmlns:a16="http://schemas.microsoft.com/office/drawing/2014/main" id="{1D6FFA98-E809-4378-A0C0-8181A61568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2638" y="4191000"/>
                        <a:ext cx="1909762" cy="1196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5">
            <a:extLst>
              <a:ext uri="{FF2B5EF4-FFF2-40B4-BE49-F238E27FC236}">
                <a16:creationId xmlns:a16="http://schemas.microsoft.com/office/drawing/2014/main" id="{0A14835B-E9E9-4F88-9D8D-4B8E0E47CD19}"/>
              </a:ext>
            </a:extLst>
          </p:cNvPr>
          <p:cNvGraphicFramePr>
            <a:graphicFrameLocks noChangeAspect="1"/>
          </p:cNvGraphicFramePr>
          <p:nvPr/>
        </p:nvGraphicFramePr>
        <p:xfrm>
          <a:off x="2008188" y="4419600"/>
          <a:ext cx="2568575" cy="850900"/>
        </p:xfrm>
        <a:graphic>
          <a:graphicData uri="http://schemas.openxmlformats.org/presentationml/2006/ole">
            <mc:AlternateContent xmlns:mc="http://schemas.openxmlformats.org/markup-compatibility/2006">
              <mc:Choice xmlns:v="urn:schemas-microsoft-com:vml" Requires="v">
                <p:oleObj spid="_x0000_s2065" name="Equation" r:id="rId5" imgW="1409700" imgH="469900" progId="Equation.3">
                  <p:embed/>
                </p:oleObj>
              </mc:Choice>
              <mc:Fallback>
                <p:oleObj name="Equation" r:id="rId5" imgW="1409700" imgH="469900" progId="Equation.3">
                  <p:embed/>
                  <p:pic>
                    <p:nvPicPr>
                      <p:cNvPr id="730137" name="Object 25">
                        <a:extLst>
                          <a:ext uri="{FF2B5EF4-FFF2-40B4-BE49-F238E27FC236}">
                            <a16:creationId xmlns:a16="http://schemas.microsoft.com/office/drawing/2014/main" id="{0ED9458D-5BDA-42D4-B7CC-943B8D90BD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8188" y="4419600"/>
                        <a:ext cx="2568575"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Line 26">
            <a:extLst>
              <a:ext uri="{FF2B5EF4-FFF2-40B4-BE49-F238E27FC236}">
                <a16:creationId xmlns:a16="http://schemas.microsoft.com/office/drawing/2014/main" id="{690B8A0B-22D3-4F54-917A-4F4526DE5A4C}"/>
              </a:ext>
            </a:extLst>
          </p:cNvPr>
          <p:cNvSpPr>
            <a:spLocks noChangeShapeType="1"/>
          </p:cNvSpPr>
          <p:nvPr/>
        </p:nvSpPr>
        <p:spPr bwMode="auto">
          <a:xfrm>
            <a:off x="4903788" y="4799013"/>
            <a:ext cx="685800"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9" name="Text Box 27">
            <a:extLst>
              <a:ext uri="{FF2B5EF4-FFF2-40B4-BE49-F238E27FC236}">
                <a16:creationId xmlns:a16="http://schemas.microsoft.com/office/drawing/2014/main" id="{3BE3F0D3-EAC1-425D-A5CE-D58AB2D8B8C3}"/>
              </a:ext>
            </a:extLst>
          </p:cNvPr>
          <p:cNvSpPr txBox="1">
            <a:spLocks noChangeArrowheads="1"/>
          </p:cNvSpPr>
          <p:nvPr/>
        </p:nvSpPr>
        <p:spPr bwMode="auto">
          <a:xfrm>
            <a:off x="806450" y="5486400"/>
            <a:ext cx="980133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This ordinary differential equation may be integrated to yield the integral form of the Buckingham-Darcy equation (next slide).</a:t>
            </a:r>
          </a:p>
        </p:txBody>
      </p:sp>
    </p:spTree>
    <p:extLst>
      <p:ext uri="{BB962C8B-B14F-4D97-AF65-F5344CB8AC3E}">
        <p14:creationId xmlns:p14="http://schemas.microsoft.com/office/powerpoint/2010/main" val="1301062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a:extLst>
              <a:ext uri="{FF2B5EF4-FFF2-40B4-BE49-F238E27FC236}">
                <a16:creationId xmlns:a16="http://schemas.microsoft.com/office/drawing/2014/main" id="{77B436BA-036D-4A86-B8C1-84726D646123}"/>
              </a:ext>
            </a:extLst>
          </p:cNvPr>
          <p:cNvSpPr>
            <a:spLocks noGrp="1" noChangeArrowheads="1"/>
          </p:cNvSpPr>
          <p:nvPr>
            <p:ph type="title"/>
          </p:nvPr>
        </p:nvSpPr>
        <p:spPr>
          <a:xfrm>
            <a:off x="1938338" y="438151"/>
            <a:ext cx="7772400" cy="579438"/>
          </a:xfrm>
        </p:spPr>
        <p:txBody>
          <a:bodyPr/>
          <a:lstStyle/>
          <a:p>
            <a:r>
              <a:rPr lang="en-US" altLang="en-US" dirty="0"/>
              <a:t>Steady State Unsaturated Flow</a:t>
            </a:r>
          </a:p>
        </p:txBody>
      </p:sp>
      <p:sp>
        <p:nvSpPr>
          <p:cNvPr id="732163" name="Rectangle 3">
            <a:extLst>
              <a:ext uri="{FF2B5EF4-FFF2-40B4-BE49-F238E27FC236}">
                <a16:creationId xmlns:a16="http://schemas.microsoft.com/office/drawing/2014/main" id="{539762ED-2ACC-4021-9C86-AB0FC66DC04B}"/>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4" name="Rectangle 4">
            <a:extLst>
              <a:ext uri="{FF2B5EF4-FFF2-40B4-BE49-F238E27FC236}">
                <a16:creationId xmlns:a16="http://schemas.microsoft.com/office/drawing/2014/main" id="{DADB9627-149E-412C-AE95-EE40AA7A1A6C}"/>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5" name="Rectangle 5">
            <a:extLst>
              <a:ext uri="{FF2B5EF4-FFF2-40B4-BE49-F238E27FC236}">
                <a16:creationId xmlns:a16="http://schemas.microsoft.com/office/drawing/2014/main" id="{0E139C3B-C748-472A-A8C0-2F784BB806C7}"/>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6" name="Rectangle 6">
            <a:extLst>
              <a:ext uri="{FF2B5EF4-FFF2-40B4-BE49-F238E27FC236}">
                <a16:creationId xmlns:a16="http://schemas.microsoft.com/office/drawing/2014/main" id="{E7A6F8BC-9708-4CA3-8E43-935AB097384F}"/>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7" name="Rectangle 7">
            <a:extLst>
              <a:ext uri="{FF2B5EF4-FFF2-40B4-BE49-F238E27FC236}">
                <a16:creationId xmlns:a16="http://schemas.microsoft.com/office/drawing/2014/main" id="{A9CB535F-EFAD-4B4E-ABA6-C4042C1E7E27}"/>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8" name="Rectangle 8">
            <a:extLst>
              <a:ext uri="{FF2B5EF4-FFF2-40B4-BE49-F238E27FC236}">
                <a16:creationId xmlns:a16="http://schemas.microsoft.com/office/drawing/2014/main" id="{AEFAAB37-CFBE-4B95-83BB-206FD48FA60B}"/>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69" name="Rectangle 9">
            <a:extLst>
              <a:ext uri="{FF2B5EF4-FFF2-40B4-BE49-F238E27FC236}">
                <a16:creationId xmlns:a16="http://schemas.microsoft.com/office/drawing/2014/main" id="{A851D08D-EC4A-4671-8902-870879202792}"/>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0" name="Rectangle 10">
            <a:extLst>
              <a:ext uri="{FF2B5EF4-FFF2-40B4-BE49-F238E27FC236}">
                <a16:creationId xmlns:a16="http://schemas.microsoft.com/office/drawing/2014/main" id="{0F17B7B7-254D-48B7-82C0-08EB16D20359}"/>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1" name="Rectangle 11">
            <a:extLst>
              <a:ext uri="{FF2B5EF4-FFF2-40B4-BE49-F238E27FC236}">
                <a16:creationId xmlns:a16="http://schemas.microsoft.com/office/drawing/2014/main" id="{9EE1B6D2-2B66-440A-8638-7A3F71014DEB}"/>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2" name="Rectangle 12">
            <a:extLst>
              <a:ext uri="{FF2B5EF4-FFF2-40B4-BE49-F238E27FC236}">
                <a16:creationId xmlns:a16="http://schemas.microsoft.com/office/drawing/2014/main" id="{3CE6569D-9D5C-4B93-8C7E-77CBA2E1242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3" name="Rectangle 13">
            <a:extLst>
              <a:ext uri="{FF2B5EF4-FFF2-40B4-BE49-F238E27FC236}">
                <a16:creationId xmlns:a16="http://schemas.microsoft.com/office/drawing/2014/main" id="{2C3487D2-0525-41EA-BED0-9F50BF4D2F30}"/>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4" name="Rectangle 14">
            <a:extLst>
              <a:ext uri="{FF2B5EF4-FFF2-40B4-BE49-F238E27FC236}">
                <a16:creationId xmlns:a16="http://schemas.microsoft.com/office/drawing/2014/main" id="{101A9751-4DBC-43FA-B84E-127FC6136B17}"/>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5" name="Rectangle 15">
            <a:extLst>
              <a:ext uri="{FF2B5EF4-FFF2-40B4-BE49-F238E27FC236}">
                <a16:creationId xmlns:a16="http://schemas.microsoft.com/office/drawing/2014/main" id="{BDB78EBE-8A7F-42A6-9BC5-64465D1FDAD2}"/>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6" name="Rectangle 16">
            <a:extLst>
              <a:ext uri="{FF2B5EF4-FFF2-40B4-BE49-F238E27FC236}">
                <a16:creationId xmlns:a16="http://schemas.microsoft.com/office/drawing/2014/main" id="{6026BC4C-C421-48B9-A99D-8F210679FD80}"/>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7" name="Rectangle 17">
            <a:extLst>
              <a:ext uri="{FF2B5EF4-FFF2-40B4-BE49-F238E27FC236}">
                <a16:creationId xmlns:a16="http://schemas.microsoft.com/office/drawing/2014/main" id="{05A8A0E1-2C7A-4B7E-B4DF-59567F7F9841}"/>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2178" name="Text Box 18">
            <a:extLst>
              <a:ext uri="{FF2B5EF4-FFF2-40B4-BE49-F238E27FC236}">
                <a16:creationId xmlns:a16="http://schemas.microsoft.com/office/drawing/2014/main" id="{9ED1006B-26DC-41ED-B737-CD1A4F0161EF}"/>
              </a:ext>
            </a:extLst>
          </p:cNvPr>
          <p:cNvSpPr txBox="1">
            <a:spLocks noChangeArrowheads="1"/>
          </p:cNvSpPr>
          <p:nvPr/>
        </p:nvSpPr>
        <p:spPr bwMode="auto">
          <a:xfrm>
            <a:off x="1915292" y="1208088"/>
            <a:ext cx="79565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u="sng" dirty="0">
                <a:solidFill>
                  <a:srgbClr val="CC0000"/>
                </a:solidFill>
                <a:effectLst>
                  <a:outerShdw blurRad="38100" dist="38100" dir="2700000" algn="tl">
                    <a:srgbClr val="C0C0C0"/>
                  </a:outerShdw>
                </a:effectLst>
              </a:rPr>
              <a:t>Integral form of the Buckingham-Darcy equation:</a:t>
            </a:r>
          </a:p>
        </p:txBody>
      </p:sp>
      <p:sp>
        <p:nvSpPr>
          <p:cNvPr id="732179" name="Rectangle 19">
            <a:extLst>
              <a:ext uri="{FF2B5EF4-FFF2-40B4-BE49-F238E27FC236}">
                <a16:creationId xmlns:a16="http://schemas.microsoft.com/office/drawing/2014/main" id="{D89F000A-F4D2-416D-8D4B-B1DA0C842BBB}"/>
              </a:ext>
            </a:extLst>
          </p:cNvPr>
          <p:cNvSpPr>
            <a:spLocks noChangeArrowheads="1"/>
          </p:cNvSpPr>
          <p:nvPr/>
        </p:nvSpPr>
        <p:spPr bwMode="auto">
          <a:xfrm>
            <a:off x="7729538" y="4570414"/>
            <a:ext cx="1905000" cy="458787"/>
          </a:xfrm>
          <a:prstGeom prst="rect">
            <a:avLst/>
          </a:prstGeom>
          <a:solidFill>
            <a:srgbClr val="FFFFCC"/>
          </a:solidFill>
          <a:ln w="952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2180" name="Oval 20">
            <a:extLst>
              <a:ext uri="{FF2B5EF4-FFF2-40B4-BE49-F238E27FC236}">
                <a16:creationId xmlns:a16="http://schemas.microsoft.com/office/drawing/2014/main" id="{A1F86976-72C3-43BB-A06E-C806AD97EFAF}"/>
              </a:ext>
            </a:extLst>
          </p:cNvPr>
          <p:cNvSpPr>
            <a:spLocks noChangeArrowheads="1"/>
          </p:cNvSpPr>
          <p:nvPr/>
        </p:nvSpPr>
        <p:spPr bwMode="auto">
          <a:xfrm>
            <a:off x="5443538" y="3760788"/>
            <a:ext cx="762000" cy="457200"/>
          </a:xfrm>
          <a:prstGeom prst="ellipse">
            <a:avLst/>
          </a:prstGeom>
          <a:solidFill>
            <a:srgbClr val="FFFFCC"/>
          </a:solidFill>
          <a:ln w="9525">
            <a:solidFill>
              <a:srgbClr val="CC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32181" name="Object 21">
            <a:extLst>
              <a:ext uri="{FF2B5EF4-FFF2-40B4-BE49-F238E27FC236}">
                <a16:creationId xmlns:a16="http://schemas.microsoft.com/office/drawing/2014/main" id="{64281E1E-3533-4C39-87EB-D53DE0762E94}"/>
              </a:ext>
            </a:extLst>
          </p:cNvPr>
          <p:cNvGraphicFramePr>
            <a:graphicFrameLocks noChangeAspect="1"/>
          </p:cNvGraphicFramePr>
          <p:nvPr/>
        </p:nvGraphicFramePr>
        <p:xfrm>
          <a:off x="4840288" y="2865438"/>
          <a:ext cx="3568700" cy="1352550"/>
        </p:xfrm>
        <a:graphic>
          <a:graphicData uri="http://schemas.openxmlformats.org/presentationml/2006/ole">
            <mc:AlternateContent xmlns:mc="http://schemas.openxmlformats.org/markup-compatibility/2006">
              <mc:Choice xmlns:v="urn:schemas-microsoft-com:vml" Requires="v">
                <p:oleObj spid="_x0000_s3095" name="Equation" r:id="rId4" imgW="1943100" imgH="736600" progId="Equation.3">
                  <p:embed/>
                </p:oleObj>
              </mc:Choice>
              <mc:Fallback>
                <p:oleObj name="Equation" r:id="rId4" imgW="1943100" imgH="736600" progId="Equation.3">
                  <p:embed/>
                  <p:pic>
                    <p:nvPicPr>
                      <p:cNvPr id="732181" name="Object 21">
                        <a:extLst>
                          <a:ext uri="{FF2B5EF4-FFF2-40B4-BE49-F238E27FC236}">
                            <a16:creationId xmlns:a16="http://schemas.microsoft.com/office/drawing/2014/main" id="{64281E1E-3533-4C39-87EB-D53DE0762E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0288" y="2865438"/>
                        <a:ext cx="3568700" cy="1352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2182" name="Line 22">
            <a:extLst>
              <a:ext uri="{FF2B5EF4-FFF2-40B4-BE49-F238E27FC236}">
                <a16:creationId xmlns:a16="http://schemas.microsoft.com/office/drawing/2014/main" id="{4190DE10-F74A-48A0-8E8D-22E236DCA8DB}"/>
              </a:ext>
            </a:extLst>
          </p:cNvPr>
          <p:cNvSpPr>
            <a:spLocks noChangeShapeType="1"/>
          </p:cNvSpPr>
          <p:nvPr/>
        </p:nvSpPr>
        <p:spPr bwMode="auto">
          <a:xfrm>
            <a:off x="6205538" y="3989389"/>
            <a:ext cx="1377950" cy="306387"/>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aphicFrame>
        <p:nvGraphicFramePr>
          <p:cNvPr id="732183" name="Object 23">
            <a:extLst>
              <a:ext uri="{FF2B5EF4-FFF2-40B4-BE49-F238E27FC236}">
                <a16:creationId xmlns:a16="http://schemas.microsoft.com/office/drawing/2014/main" id="{EE10EE3B-D5B2-42BB-8481-9B0389D9749C}"/>
              </a:ext>
            </a:extLst>
          </p:cNvPr>
          <p:cNvGraphicFramePr>
            <a:graphicFrameLocks noGrp="1" noChangeAspect="1"/>
          </p:cNvGraphicFramePr>
          <p:nvPr>
            <p:ph sz="half" idx="2"/>
          </p:nvPr>
        </p:nvGraphicFramePr>
        <p:xfrm>
          <a:off x="8102600" y="4646614"/>
          <a:ext cx="1233488" cy="320675"/>
        </p:xfrm>
        <a:graphic>
          <a:graphicData uri="http://schemas.openxmlformats.org/presentationml/2006/ole">
            <mc:AlternateContent xmlns:mc="http://schemas.openxmlformats.org/markup-compatibility/2006">
              <mc:Choice xmlns:v="urn:schemas-microsoft-com:vml" Requires="v">
                <p:oleObj spid="_x0000_s3096" name="Equation" r:id="rId6" imgW="1028254" imgH="266584" progId="Equation.3">
                  <p:embed/>
                </p:oleObj>
              </mc:Choice>
              <mc:Fallback>
                <p:oleObj name="Equation" r:id="rId6" imgW="1028254" imgH="266584" progId="Equation.3">
                  <p:embed/>
                  <p:pic>
                    <p:nvPicPr>
                      <p:cNvPr id="732183" name="Object 23">
                        <a:extLst>
                          <a:ext uri="{FF2B5EF4-FFF2-40B4-BE49-F238E27FC236}">
                            <a16:creationId xmlns:a16="http://schemas.microsoft.com/office/drawing/2014/main" id="{EE10EE3B-D5B2-42BB-8481-9B0389D974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02600" y="4646614"/>
                        <a:ext cx="1233488"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2184" name="Text Box 24">
            <a:extLst>
              <a:ext uri="{FF2B5EF4-FFF2-40B4-BE49-F238E27FC236}">
                <a16:creationId xmlns:a16="http://schemas.microsoft.com/office/drawing/2014/main" id="{67701A6F-EAC8-4E88-8752-7C42B3D355CF}"/>
              </a:ext>
            </a:extLst>
          </p:cNvPr>
          <p:cNvSpPr txBox="1">
            <a:spLocks noChangeArrowheads="1"/>
          </p:cNvSpPr>
          <p:nvPr/>
        </p:nvSpPr>
        <p:spPr bwMode="auto">
          <a:xfrm>
            <a:off x="7553326" y="4186238"/>
            <a:ext cx="2276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600" b="1">
                <a:solidFill>
                  <a:srgbClr val="CC0000"/>
                </a:solidFill>
              </a:rPr>
              <a:t>E.g., Gardner’s Model</a:t>
            </a:r>
          </a:p>
        </p:txBody>
      </p:sp>
      <p:sp>
        <p:nvSpPr>
          <p:cNvPr id="732185" name="Text Box 25">
            <a:extLst>
              <a:ext uri="{FF2B5EF4-FFF2-40B4-BE49-F238E27FC236}">
                <a16:creationId xmlns:a16="http://schemas.microsoft.com/office/drawing/2014/main" id="{8FC6A187-5A5A-401E-9DE8-F3A68B03DC4D}"/>
              </a:ext>
            </a:extLst>
          </p:cNvPr>
          <p:cNvSpPr txBox="1">
            <a:spLocks noChangeArrowheads="1"/>
          </p:cNvSpPr>
          <p:nvPr/>
        </p:nvSpPr>
        <p:spPr bwMode="auto">
          <a:xfrm>
            <a:off x="2330450" y="5410200"/>
            <a:ext cx="818515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effectLst>
                  <a:outerShdw blurRad="38100" dist="38100" dir="2700000" algn="tl">
                    <a:srgbClr val="C0C0C0"/>
                  </a:outerShdw>
                </a:effectLst>
              </a:rPr>
              <a:t>When K(h) has a known functional form, the integral on the left side may be evaluated exactly to produce an analytical solution for the water flux or for the distribution of the matric potential in the soil profile, h(z).</a:t>
            </a:r>
          </a:p>
        </p:txBody>
      </p:sp>
      <p:graphicFrame>
        <p:nvGraphicFramePr>
          <p:cNvPr id="732186" name="Object 26">
            <a:extLst>
              <a:ext uri="{FF2B5EF4-FFF2-40B4-BE49-F238E27FC236}">
                <a16:creationId xmlns:a16="http://schemas.microsoft.com/office/drawing/2014/main" id="{21085175-2DEE-430D-87A2-23FECFA452E3}"/>
              </a:ext>
            </a:extLst>
          </p:cNvPr>
          <p:cNvGraphicFramePr>
            <a:graphicFrameLocks noGrp="1" noChangeAspect="1"/>
          </p:cNvGraphicFramePr>
          <p:nvPr>
            <p:ph sz="half" idx="1"/>
          </p:nvPr>
        </p:nvGraphicFramePr>
        <p:xfrm>
          <a:off x="2590801" y="1524001"/>
          <a:ext cx="1909763" cy="1196975"/>
        </p:xfrm>
        <a:graphic>
          <a:graphicData uri="http://schemas.openxmlformats.org/presentationml/2006/ole">
            <mc:AlternateContent xmlns:mc="http://schemas.openxmlformats.org/markup-compatibility/2006">
              <mc:Choice xmlns:v="urn:schemas-microsoft-com:vml" Requires="v">
                <p:oleObj spid="_x0000_s3097" name="Equation" r:id="rId8" imgW="1054080" imgH="660240" progId="Equation.3">
                  <p:embed/>
                </p:oleObj>
              </mc:Choice>
              <mc:Fallback>
                <p:oleObj name="Equation" r:id="rId8" imgW="1054080" imgH="660240" progId="Equation.3">
                  <p:embed/>
                  <p:pic>
                    <p:nvPicPr>
                      <p:cNvPr id="732186" name="Object 26">
                        <a:extLst>
                          <a:ext uri="{FF2B5EF4-FFF2-40B4-BE49-F238E27FC236}">
                            <a16:creationId xmlns:a16="http://schemas.microsoft.com/office/drawing/2014/main" id="{21085175-2DEE-430D-87A2-23FECFA452E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0801" y="1524001"/>
                        <a:ext cx="1909763" cy="1196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2187" name="Line 27">
            <a:extLst>
              <a:ext uri="{FF2B5EF4-FFF2-40B4-BE49-F238E27FC236}">
                <a16:creationId xmlns:a16="http://schemas.microsoft.com/office/drawing/2014/main" id="{BFF8E642-9E16-4CB3-A1CD-95068D565E72}"/>
              </a:ext>
            </a:extLst>
          </p:cNvPr>
          <p:cNvSpPr>
            <a:spLocks noChangeShapeType="1"/>
          </p:cNvSpPr>
          <p:nvPr/>
        </p:nvSpPr>
        <p:spPr bwMode="auto">
          <a:xfrm>
            <a:off x="3962400" y="2286000"/>
            <a:ext cx="685800" cy="685800"/>
          </a:xfrm>
          <a:prstGeom prst="line">
            <a:avLst/>
          </a:prstGeom>
          <a:noFill/>
          <a:ln w="539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a:extLst>
              <a:ext uri="{FF2B5EF4-FFF2-40B4-BE49-F238E27FC236}">
                <a16:creationId xmlns:a16="http://schemas.microsoft.com/office/drawing/2014/main" id="{B6824C13-7519-4877-B551-549AB90E81FD}"/>
              </a:ext>
            </a:extLst>
          </p:cNvPr>
          <p:cNvSpPr>
            <a:spLocks noGrp="1" noChangeArrowheads="1"/>
          </p:cNvSpPr>
          <p:nvPr>
            <p:ph type="title"/>
          </p:nvPr>
        </p:nvSpPr>
        <p:spPr/>
        <p:txBody>
          <a:bodyPr/>
          <a:lstStyle/>
          <a:p>
            <a:r>
              <a:rPr lang="en-US" altLang="en-US"/>
              <a:t>Steady State Unsaturated Flow</a:t>
            </a:r>
          </a:p>
        </p:txBody>
      </p:sp>
      <p:sp>
        <p:nvSpPr>
          <p:cNvPr id="734211" name="Rectangle 3">
            <a:extLst>
              <a:ext uri="{FF2B5EF4-FFF2-40B4-BE49-F238E27FC236}">
                <a16:creationId xmlns:a16="http://schemas.microsoft.com/office/drawing/2014/main" id="{DDF29384-0C02-44E3-834B-134FBD038E90}"/>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2" name="Rectangle 4">
            <a:extLst>
              <a:ext uri="{FF2B5EF4-FFF2-40B4-BE49-F238E27FC236}">
                <a16:creationId xmlns:a16="http://schemas.microsoft.com/office/drawing/2014/main" id="{711B5344-F2E9-47CA-B21C-76586DB6D33F}"/>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3" name="Rectangle 5">
            <a:extLst>
              <a:ext uri="{FF2B5EF4-FFF2-40B4-BE49-F238E27FC236}">
                <a16:creationId xmlns:a16="http://schemas.microsoft.com/office/drawing/2014/main" id="{F8FB9528-CE03-4D0C-B16D-9F8777914B10}"/>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4" name="Rectangle 6">
            <a:extLst>
              <a:ext uri="{FF2B5EF4-FFF2-40B4-BE49-F238E27FC236}">
                <a16:creationId xmlns:a16="http://schemas.microsoft.com/office/drawing/2014/main" id="{D5A950E8-CB8A-4286-8315-91915FF1D0C2}"/>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5" name="Rectangle 7">
            <a:extLst>
              <a:ext uri="{FF2B5EF4-FFF2-40B4-BE49-F238E27FC236}">
                <a16:creationId xmlns:a16="http://schemas.microsoft.com/office/drawing/2014/main" id="{04B1F0A7-8166-4542-903C-9EF1D10CBF21}"/>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6" name="Rectangle 8">
            <a:extLst>
              <a:ext uri="{FF2B5EF4-FFF2-40B4-BE49-F238E27FC236}">
                <a16:creationId xmlns:a16="http://schemas.microsoft.com/office/drawing/2014/main" id="{2D818768-335D-46EA-855E-90B56106B6B2}"/>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7" name="Rectangle 9">
            <a:extLst>
              <a:ext uri="{FF2B5EF4-FFF2-40B4-BE49-F238E27FC236}">
                <a16:creationId xmlns:a16="http://schemas.microsoft.com/office/drawing/2014/main" id="{C5441C8E-89D8-400C-8674-AC9322F7B8A2}"/>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8" name="Rectangle 10">
            <a:extLst>
              <a:ext uri="{FF2B5EF4-FFF2-40B4-BE49-F238E27FC236}">
                <a16:creationId xmlns:a16="http://schemas.microsoft.com/office/drawing/2014/main" id="{07CA43E2-69AC-4EA6-A959-A6363AE9438F}"/>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19" name="Rectangle 11">
            <a:extLst>
              <a:ext uri="{FF2B5EF4-FFF2-40B4-BE49-F238E27FC236}">
                <a16:creationId xmlns:a16="http://schemas.microsoft.com/office/drawing/2014/main" id="{F8E88765-6575-4000-808D-EB1A7463288A}"/>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0" name="Rectangle 12">
            <a:extLst>
              <a:ext uri="{FF2B5EF4-FFF2-40B4-BE49-F238E27FC236}">
                <a16:creationId xmlns:a16="http://schemas.microsoft.com/office/drawing/2014/main" id="{3064B97B-46E8-407A-A00B-95A801DEDC9C}"/>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1" name="Rectangle 13">
            <a:extLst>
              <a:ext uri="{FF2B5EF4-FFF2-40B4-BE49-F238E27FC236}">
                <a16:creationId xmlns:a16="http://schemas.microsoft.com/office/drawing/2014/main" id="{EE455E00-461A-467D-A850-0EE47153E7FC}"/>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2" name="Rectangle 14">
            <a:extLst>
              <a:ext uri="{FF2B5EF4-FFF2-40B4-BE49-F238E27FC236}">
                <a16:creationId xmlns:a16="http://schemas.microsoft.com/office/drawing/2014/main" id="{D4148AC2-3CE7-45D8-B3D8-2FB09018BDB3}"/>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3" name="Rectangle 15">
            <a:extLst>
              <a:ext uri="{FF2B5EF4-FFF2-40B4-BE49-F238E27FC236}">
                <a16:creationId xmlns:a16="http://schemas.microsoft.com/office/drawing/2014/main" id="{C0EAEADA-C439-4C00-9876-1080BAA9E6B1}"/>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4" name="Rectangle 16">
            <a:extLst>
              <a:ext uri="{FF2B5EF4-FFF2-40B4-BE49-F238E27FC236}">
                <a16:creationId xmlns:a16="http://schemas.microsoft.com/office/drawing/2014/main" id="{1A23D423-1A31-4231-AD9C-6ADD3B8F271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5" name="Rectangle 17">
            <a:extLst>
              <a:ext uri="{FF2B5EF4-FFF2-40B4-BE49-F238E27FC236}">
                <a16:creationId xmlns:a16="http://schemas.microsoft.com/office/drawing/2014/main" id="{FE3BD81F-9C9B-4450-8B88-C9F09CC1E076}"/>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4226" name="Text Box 18">
            <a:extLst>
              <a:ext uri="{FF2B5EF4-FFF2-40B4-BE49-F238E27FC236}">
                <a16:creationId xmlns:a16="http://schemas.microsoft.com/office/drawing/2014/main" id="{F74D313C-EF27-4B15-A8C1-3068B32DB8AB}"/>
              </a:ext>
            </a:extLst>
          </p:cNvPr>
          <p:cNvSpPr txBox="1">
            <a:spLocks noChangeArrowheads="1"/>
          </p:cNvSpPr>
          <p:nvPr/>
        </p:nvSpPr>
        <p:spPr bwMode="auto">
          <a:xfrm>
            <a:off x="798786" y="1266107"/>
            <a:ext cx="944617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u="sng" dirty="0">
                <a:solidFill>
                  <a:srgbClr val="CC0000"/>
                </a:solidFill>
                <a:effectLst>
                  <a:outerShdw blurRad="38100" dist="38100" dir="2700000" algn="tl">
                    <a:srgbClr val="C0C0C0"/>
                  </a:outerShdw>
                </a:effectLst>
              </a:rPr>
              <a:t>Analytical Solution for Unsaturated Steady State Flow to a Water Table:</a:t>
            </a:r>
          </a:p>
        </p:txBody>
      </p:sp>
      <p:sp>
        <p:nvSpPr>
          <p:cNvPr id="734227" name="Text Box 19">
            <a:extLst>
              <a:ext uri="{FF2B5EF4-FFF2-40B4-BE49-F238E27FC236}">
                <a16:creationId xmlns:a16="http://schemas.microsoft.com/office/drawing/2014/main" id="{6D2A1D01-476F-4A2F-975E-378A18CB77FF}"/>
              </a:ext>
            </a:extLst>
          </p:cNvPr>
          <p:cNvSpPr txBox="1">
            <a:spLocks noChangeArrowheads="1"/>
          </p:cNvSpPr>
          <p:nvPr/>
        </p:nvSpPr>
        <p:spPr bwMode="auto">
          <a:xfrm>
            <a:off x="977462" y="1828800"/>
            <a:ext cx="96012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Given a constant flux </a:t>
            </a:r>
            <a:r>
              <a:rPr lang="en-US" altLang="en-US" sz="1900" b="1" i="1" dirty="0">
                <a:solidFill>
                  <a:srgbClr val="CC0000"/>
                </a:solidFill>
                <a:effectLst>
                  <a:outerShdw blurRad="38100" dist="38100" dir="2700000" algn="tl">
                    <a:srgbClr val="C0C0C0"/>
                  </a:outerShdw>
                </a:effectLst>
              </a:rPr>
              <a:t>(</a:t>
            </a:r>
            <a:r>
              <a:rPr lang="en-US" altLang="en-US" sz="1900" b="1" i="1" dirty="0" err="1">
                <a:solidFill>
                  <a:srgbClr val="CC0000"/>
                </a:solidFill>
                <a:effectLst>
                  <a:outerShdw blurRad="38100" dist="38100" dir="2700000" algn="tl">
                    <a:srgbClr val="C0C0C0"/>
                  </a:outerShdw>
                </a:effectLst>
              </a:rPr>
              <a:t>J</a:t>
            </a:r>
            <a:r>
              <a:rPr lang="en-US" altLang="en-US" sz="1900" b="1" i="1" baseline="-25000" dirty="0" err="1">
                <a:solidFill>
                  <a:srgbClr val="CC0000"/>
                </a:solidFill>
                <a:effectLst>
                  <a:outerShdw blurRad="38100" dist="38100" dir="2700000" algn="tl">
                    <a:srgbClr val="C0C0C0"/>
                  </a:outerShdw>
                </a:effectLst>
              </a:rPr>
              <a:t>w</a:t>
            </a:r>
            <a:r>
              <a:rPr lang="en-US" altLang="en-US" sz="1900" b="1" i="1" dirty="0">
                <a:solidFill>
                  <a:srgbClr val="CC0000"/>
                </a:solidFill>
                <a:effectLst>
                  <a:outerShdw blurRad="38100" dist="38100" dir="2700000" algn="tl">
                    <a:srgbClr val="C0C0C0"/>
                  </a:outerShdw>
                </a:effectLst>
              </a:rPr>
              <a:t> &lt; K</a:t>
            </a:r>
            <a:r>
              <a:rPr lang="en-US" altLang="en-US" sz="1900" b="1" i="1" baseline="-25000" dirty="0">
                <a:solidFill>
                  <a:srgbClr val="CC0000"/>
                </a:solidFill>
                <a:effectLst>
                  <a:outerShdw blurRad="38100" dist="38100" dir="2700000" algn="tl">
                    <a:srgbClr val="C0C0C0"/>
                  </a:outerShdw>
                </a:effectLst>
              </a:rPr>
              <a:t>s</a:t>
            </a:r>
            <a:r>
              <a:rPr lang="en-US" altLang="en-US" sz="1900" b="1" i="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 from the soil surface to a water table at a depth L. We assume that the unsaturated hydraulic conductivity, K(h), is given by Gardner's model </a:t>
            </a:r>
            <a:r>
              <a:rPr lang="en-US" altLang="en-US" sz="1900" b="1" i="1" dirty="0">
                <a:solidFill>
                  <a:srgbClr val="CC0000"/>
                </a:solidFill>
                <a:effectLst>
                  <a:outerShdw blurRad="38100" dist="38100" dir="2700000" algn="tl">
                    <a:srgbClr val="C0C0C0"/>
                  </a:outerShdw>
                </a:effectLst>
              </a:rPr>
              <a:t>K(h)=K</a:t>
            </a:r>
            <a:r>
              <a:rPr lang="en-US" altLang="en-US" sz="1900" b="1" i="1" baseline="-25000" dirty="0">
                <a:solidFill>
                  <a:srgbClr val="CC0000"/>
                </a:solidFill>
                <a:effectLst>
                  <a:outerShdw blurRad="38100" dist="38100" dir="2700000" algn="tl">
                    <a:srgbClr val="C0C0C0"/>
                  </a:outerShdw>
                </a:effectLst>
              </a:rPr>
              <a:t>s</a:t>
            </a:r>
            <a:r>
              <a:rPr lang="en-US" altLang="en-US" sz="1900" b="1" i="1" dirty="0">
                <a:solidFill>
                  <a:srgbClr val="CC0000"/>
                </a:solidFill>
                <a:effectLst>
                  <a:outerShdw blurRad="38100" dist="38100" dir="2700000" algn="tl">
                    <a:srgbClr val="C0C0C0"/>
                  </a:outerShdw>
                </a:effectLst>
              </a:rPr>
              <a:t> </a:t>
            </a:r>
            <a:r>
              <a:rPr lang="en-US" altLang="en-US" sz="1900" b="1" i="1" dirty="0" err="1">
                <a:solidFill>
                  <a:srgbClr val="CC0000"/>
                </a:solidFill>
                <a:effectLst>
                  <a:outerShdw blurRad="38100" dist="38100" dir="2700000" algn="tl">
                    <a:srgbClr val="C0C0C0"/>
                  </a:outerShdw>
                </a:effectLst>
              </a:rPr>
              <a:t>e</a:t>
            </a:r>
            <a:r>
              <a:rPr lang="en-US" altLang="en-US" sz="1900" b="1" i="1" baseline="30000" dirty="0" err="1">
                <a:solidFill>
                  <a:srgbClr val="CC0000"/>
                </a:solidFill>
                <a:effectLst>
                  <a:outerShdw blurRad="38100" dist="38100" dir="2700000" algn="tl">
                    <a:srgbClr val="C0C0C0"/>
                  </a:outerShdw>
                </a:effectLst>
                <a:latin typeface="Symbol" panose="05050102010706020507" pitchFamily="18" charset="2"/>
              </a:rPr>
              <a:t>b</a:t>
            </a:r>
            <a:r>
              <a:rPr lang="en-US" altLang="en-US" sz="1900" b="1" i="1" baseline="30000" dirty="0" err="1">
                <a:solidFill>
                  <a:srgbClr val="CC0000"/>
                </a:solidFill>
                <a:effectLst>
                  <a:outerShdw blurRad="38100" dist="38100" dir="2700000" algn="tl">
                    <a:srgbClr val="C0C0C0"/>
                  </a:outerShdw>
                </a:effectLst>
              </a:rPr>
              <a:t>h</a:t>
            </a:r>
            <a:endParaRPr lang="en-US" altLang="en-US" sz="1900" b="1" i="1" baseline="30000" dirty="0">
              <a:solidFill>
                <a:srgbClr val="CC0000"/>
              </a:solidFill>
              <a:effectLst>
                <a:outerShdw blurRad="38100" dist="38100" dir="2700000" algn="tl">
                  <a:srgbClr val="C0C0C0"/>
                </a:outerShdw>
              </a:effectLst>
            </a:endParaRPr>
          </a:p>
          <a:p>
            <a:pPr eaLnBrk="0" hangingPunct="0">
              <a:spcBef>
                <a:spcPct val="50000"/>
              </a:spcBef>
              <a:buClr>
                <a:srgbClr val="FF0066"/>
              </a:buClr>
            </a:pPr>
            <a:r>
              <a:rPr lang="en-US" altLang="en-US" sz="1900" b="1" dirty="0">
                <a:effectLst>
                  <a:outerShdw blurRad="38100" dist="38100" dir="2700000" algn="tl">
                    <a:srgbClr val="C0C0C0"/>
                  </a:outerShdw>
                </a:effectLst>
              </a:rPr>
              <a:t>We want to find the distribution of soil matric potential in the soil profile from the soil surface to the water table.</a:t>
            </a:r>
          </a:p>
        </p:txBody>
      </p:sp>
      <p:sp>
        <p:nvSpPr>
          <p:cNvPr id="734228" name="Text Box 20">
            <a:extLst>
              <a:ext uri="{FF2B5EF4-FFF2-40B4-BE49-F238E27FC236}">
                <a16:creationId xmlns:a16="http://schemas.microsoft.com/office/drawing/2014/main" id="{962F596B-C85E-4C73-989A-144D76159080}"/>
              </a:ext>
            </a:extLst>
          </p:cNvPr>
          <p:cNvSpPr txBox="1">
            <a:spLocks noChangeArrowheads="1"/>
          </p:cNvSpPr>
          <p:nvPr/>
        </p:nvSpPr>
        <p:spPr bwMode="auto">
          <a:xfrm>
            <a:off x="1072055" y="3749675"/>
            <a:ext cx="906254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Both"/>
            </a:pPr>
            <a:r>
              <a:rPr lang="en-US" altLang="en-US" sz="1900" b="1" dirty="0">
                <a:effectLst>
                  <a:outerShdw blurRad="38100" dist="38100" dir="2700000" algn="tl">
                    <a:srgbClr val="C0C0C0"/>
                  </a:outerShdw>
                </a:effectLst>
              </a:rPr>
              <a:t>The first step is to introduce the parametric expression of K(h) into the integral form of the Buckingham-Darcy law</a:t>
            </a:r>
          </a:p>
        </p:txBody>
      </p:sp>
      <p:graphicFrame>
        <p:nvGraphicFramePr>
          <p:cNvPr id="734229" name="Object 21">
            <a:extLst>
              <a:ext uri="{FF2B5EF4-FFF2-40B4-BE49-F238E27FC236}">
                <a16:creationId xmlns:a16="http://schemas.microsoft.com/office/drawing/2014/main" id="{B3354952-8871-43F4-AF82-30F29B1AC937}"/>
              </a:ext>
            </a:extLst>
          </p:cNvPr>
          <p:cNvGraphicFramePr>
            <a:graphicFrameLocks noChangeAspect="1"/>
          </p:cNvGraphicFramePr>
          <p:nvPr/>
        </p:nvGraphicFramePr>
        <p:xfrm>
          <a:off x="5791201" y="4876800"/>
          <a:ext cx="3967163" cy="1314450"/>
        </p:xfrm>
        <a:graphic>
          <a:graphicData uri="http://schemas.openxmlformats.org/presentationml/2006/ole">
            <mc:AlternateContent xmlns:mc="http://schemas.openxmlformats.org/markup-compatibility/2006">
              <mc:Choice xmlns:v="urn:schemas-microsoft-com:vml" Requires="v">
                <p:oleObj spid="_x0000_s4112" name="Equation" r:id="rId4" imgW="2209800" imgH="736600" progId="Equation.3">
                  <p:embed/>
                </p:oleObj>
              </mc:Choice>
              <mc:Fallback>
                <p:oleObj name="Equation" r:id="rId4" imgW="2209800" imgH="736600" progId="Equation.3">
                  <p:embed/>
                  <p:pic>
                    <p:nvPicPr>
                      <p:cNvPr id="734229" name="Object 21">
                        <a:extLst>
                          <a:ext uri="{FF2B5EF4-FFF2-40B4-BE49-F238E27FC236}">
                            <a16:creationId xmlns:a16="http://schemas.microsoft.com/office/drawing/2014/main" id="{B3354952-8871-43F4-AF82-30F29B1AC9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1" y="4876800"/>
                        <a:ext cx="3967163"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4230" name="Object 22">
            <a:extLst>
              <a:ext uri="{FF2B5EF4-FFF2-40B4-BE49-F238E27FC236}">
                <a16:creationId xmlns:a16="http://schemas.microsoft.com/office/drawing/2014/main" id="{3C2CFF5A-3613-4152-8E99-B9292F76B5B9}"/>
              </a:ext>
            </a:extLst>
          </p:cNvPr>
          <p:cNvGraphicFramePr>
            <a:graphicFrameLocks noGrp="1" noChangeAspect="1"/>
          </p:cNvGraphicFramePr>
          <p:nvPr>
            <p:ph idx="1"/>
          </p:nvPr>
        </p:nvGraphicFramePr>
        <p:xfrm>
          <a:off x="2590800" y="4953001"/>
          <a:ext cx="2590800" cy="982663"/>
        </p:xfrm>
        <a:graphic>
          <a:graphicData uri="http://schemas.openxmlformats.org/presentationml/2006/ole">
            <mc:AlternateContent xmlns:mc="http://schemas.openxmlformats.org/markup-compatibility/2006">
              <mc:Choice xmlns:v="urn:schemas-microsoft-com:vml" Requires="v">
                <p:oleObj spid="_x0000_s4113" name="Equation" r:id="rId6" imgW="1943100" imgH="736600" progId="Equation.3">
                  <p:embed/>
                </p:oleObj>
              </mc:Choice>
              <mc:Fallback>
                <p:oleObj name="Equation" r:id="rId6" imgW="1943100" imgH="736600" progId="Equation.3">
                  <p:embed/>
                  <p:pic>
                    <p:nvPicPr>
                      <p:cNvPr id="734230" name="Object 22">
                        <a:extLst>
                          <a:ext uri="{FF2B5EF4-FFF2-40B4-BE49-F238E27FC236}">
                            <a16:creationId xmlns:a16="http://schemas.microsoft.com/office/drawing/2014/main" id="{3C2CFF5A-3613-4152-8E99-B9292F76B5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4953001"/>
                        <a:ext cx="259080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a:extLst>
              <a:ext uri="{FF2B5EF4-FFF2-40B4-BE49-F238E27FC236}">
                <a16:creationId xmlns:a16="http://schemas.microsoft.com/office/drawing/2014/main" id="{22550B17-EDA8-4CAF-AD45-7CD19B11EA91}"/>
              </a:ext>
            </a:extLst>
          </p:cNvPr>
          <p:cNvSpPr>
            <a:spLocks noGrp="1" noChangeArrowheads="1"/>
          </p:cNvSpPr>
          <p:nvPr>
            <p:ph type="title"/>
          </p:nvPr>
        </p:nvSpPr>
        <p:spPr>
          <a:xfrm>
            <a:off x="473912" y="150495"/>
            <a:ext cx="6876288" cy="640080"/>
          </a:xfrm>
        </p:spPr>
        <p:txBody>
          <a:bodyPr/>
          <a:lstStyle/>
          <a:p>
            <a:r>
              <a:rPr lang="en-US" altLang="en-US" dirty="0"/>
              <a:t>Steady State Unsaturated Flow</a:t>
            </a:r>
          </a:p>
        </p:txBody>
      </p:sp>
      <p:graphicFrame>
        <p:nvGraphicFramePr>
          <p:cNvPr id="736259" name="Object 3">
            <a:extLst>
              <a:ext uri="{FF2B5EF4-FFF2-40B4-BE49-F238E27FC236}">
                <a16:creationId xmlns:a16="http://schemas.microsoft.com/office/drawing/2014/main" id="{59CBD070-D4F9-4199-B532-EAC8E4152227}"/>
              </a:ext>
            </a:extLst>
          </p:cNvPr>
          <p:cNvGraphicFramePr>
            <a:graphicFrameLocks noGrp="1" noChangeAspect="1"/>
          </p:cNvGraphicFramePr>
          <p:nvPr>
            <p:ph sz="half" idx="1"/>
            <p:extLst>
              <p:ext uri="{D42A27DB-BD31-4B8C-83A1-F6EECF244321}">
                <p14:modId xmlns:p14="http://schemas.microsoft.com/office/powerpoint/2010/main" val="987722614"/>
              </p:ext>
            </p:extLst>
          </p:nvPr>
        </p:nvGraphicFramePr>
        <p:xfrm>
          <a:off x="4164725" y="1816391"/>
          <a:ext cx="4251325" cy="850900"/>
        </p:xfrm>
        <a:graphic>
          <a:graphicData uri="http://schemas.openxmlformats.org/presentationml/2006/ole">
            <mc:AlternateContent xmlns:mc="http://schemas.openxmlformats.org/markup-compatibility/2006">
              <mc:Choice xmlns:v="urn:schemas-microsoft-com:vml" Requires="v">
                <p:oleObj spid="_x0000_s5143" name="Equation" r:id="rId4" imgW="2349500" imgH="469900" progId="Equation.3">
                  <p:embed/>
                </p:oleObj>
              </mc:Choice>
              <mc:Fallback>
                <p:oleObj name="Equation" r:id="rId4" imgW="2349500" imgH="469900" progId="Equation.3">
                  <p:embed/>
                  <p:pic>
                    <p:nvPicPr>
                      <p:cNvPr id="736259" name="Object 3">
                        <a:extLst>
                          <a:ext uri="{FF2B5EF4-FFF2-40B4-BE49-F238E27FC236}">
                            <a16:creationId xmlns:a16="http://schemas.microsoft.com/office/drawing/2014/main" id="{59CBD070-D4F9-4199-B532-EAC8E41522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4725" y="1816391"/>
                        <a:ext cx="425132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6260" name="Rectangle 4">
            <a:extLst>
              <a:ext uri="{FF2B5EF4-FFF2-40B4-BE49-F238E27FC236}">
                <a16:creationId xmlns:a16="http://schemas.microsoft.com/office/drawing/2014/main" id="{3AA962A6-3EEF-4761-81EA-E8E8F9DB417B}"/>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1" name="Rectangle 5">
            <a:extLst>
              <a:ext uri="{FF2B5EF4-FFF2-40B4-BE49-F238E27FC236}">
                <a16:creationId xmlns:a16="http://schemas.microsoft.com/office/drawing/2014/main" id="{A1C619A9-6C7B-491D-A9D2-104B9CEE2025}"/>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2" name="Rectangle 6">
            <a:extLst>
              <a:ext uri="{FF2B5EF4-FFF2-40B4-BE49-F238E27FC236}">
                <a16:creationId xmlns:a16="http://schemas.microsoft.com/office/drawing/2014/main" id="{579095C9-9476-47C4-9868-17FD04B531B3}"/>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3" name="Rectangle 7">
            <a:extLst>
              <a:ext uri="{FF2B5EF4-FFF2-40B4-BE49-F238E27FC236}">
                <a16:creationId xmlns:a16="http://schemas.microsoft.com/office/drawing/2014/main" id="{54508C8F-539B-43E2-8D0B-9BE85B4877D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4" name="Rectangle 8">
            <a:extLst>
              <a:ext uri="{FF2B5EF4-FFF2-40B4-BE49-F238E27FC236}">
                <a16:creationId xmlns:a16="http://schemas.microsoft.com/office/drawing/2014/main" id="{D3E17EAC-80FA-4C12-B009-74C5E2CCC86B}"/>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5" name="Rectangle 9">
            <a:extLst>
              <a:ext uri="{FF2B5EF4-FFF2-40B4-BE49-F238E27FC236}">
                <a16:creationId xmlns:a16="http://schemas.microsoft.com/office/drawing/2014/main" id="{F4856DC9-A2E0-4EBF-A396-138D00C997FA}"/>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6" name="Rectangle 10">
            <a:extLst>
              <a:ext uri="{FF2B5EF4-FFF2-40B4-BE49-F238E27FC236}">
                <a16:creationId xmlns:a16="http://schemas.microsoft.com/office/drawing/2014/main" id="{36B8773D-547F-40C4-9BB8-88F36C462FAB}"/>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7" name="Rectangle 11">
            <a:extLst>
              <a:ext uri="{FF2B5EF4-FFF2-40B4-BE49-F238E27FC236}">
                <a16:creationId xmlns:a16="http://schemas.microsoft.com/office/drawing/2014/main" id="{BD1F2848-3672-4C63-B670-B0475044164D}"/>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8" name="Rectangle 12">
            <a:extLst>
              <a:ext uri="{FF2B5EF4-FFF2-40B4-BE49-F238E27FC236}">
                <a16:creationId xmlns:a16="http://schemas.microsoft.com/office/drawing/2014/main" id="{3CDFAD41-E641-4EA8-8DE6-37F224AF508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69" name="Rectangle 13">
            <a:extLst>
              <a:ext uri="{FF2B5EF4-FFF2-40B4-BE49-F238E27FC236}">
                <a16:creationId xmlns:a16="http://schemas.microsoft.com/office/drawing/2014/main" id="{BDFED051-E2FD-49FE-B6E0-388E07F81261}"/>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0" name="Rectangle 14">
            <a:extLst>
              <a:ext uri="{FF2B5EF4-FFF2-40B4-BE49-F238E27FC236}">
                <a16:creationId xmlns:a16="http://schemas.microsoft.com/office/drawing/2014/main" id="{DA3A0F83-55EB-4910-82DD-AFDB2C85709F}"/>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1" name="Rectangle 15">
            <a:extLst>
              <a:ext uri="{FF2B5EF4-FFF2-40B4-BE49-F238E27FC236}">
                <a16:creationId xmlns:a16="http://schemas.microsoft.com/office/drawing/2014/main" id="{BBAA093A-67D3-4AEA-8EFD-01FD6375E30B}"/>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2" name="Rectangle 16">
            <a:extLst>
              <a:ext uri="{FF2B5EF4-FFF2-40B4-BE49-F238E27FC236}">
                <a16:creationId xmlns:a16="http://schemas.microsoft.com/office/drawing/2014/main" id="{6788BA7B-6BF7-41E2-A256-ECD0A3DB2E32}"/>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3" name="Rectangle 17">
            <a:extLst>
              <a:ext uri="{FF2B5EF4-FFF2-40B4-BE49-F238E27FC236}">
                <a16:creationId xmlns:a16="http://schemas.microsoft.com/office/drawing/2014/main" id="{C9E0F5DD-1A4E-4393-8CD1-C2A3E3119D8F}"/>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4" name="Rectangle 18">
            <a:extLst>
              <a:ext uri="{FF2B5EF4-FFF2-40B4-BE49-F238E27FC236}">
                <a16:creationId xmlns:a16="http://schemas.microsoft.com/office/drawing/2014/main" id="{BDD00F0A-2403-4F50-A88C-44804AC1CB3A}"/>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6275" name="Text Box 19">
            <a:extLst>
              <a:ext uri="{FF2B5EF4-FFF2-40B4-BE49-F238E27FC236}">
                <a16:creationId xmlns:a16="http://schemas.microsoft.com/office/drawing/2014/main" id="{027B5DBF-9C6C-4431-8C03-BF96123E9A1A}"/>
              </a:ext>
            </a:extLst>
          </p:cNvPr>
          <p:cNvSpPr txBox="1">
            <a:spLocks noChangeArrowheads="1"/>
          </p:cNvSpPr>
          <p:nvPr/>
        </p:nvSpPr>
        <p:spPr bwMode="auto">
          <a:xfrm>
            <a:off x="283780" y="1150912"/>
            <a:ext cx="111252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Both" startAt="2"/>
            </a:pPr>
            <a:r>
              <a:rPr lang="en-US" altLang="en-US" sz="1900" b="1" dirty="0">
                <a:effectLst>
                  <a:outerShdw blurRad="38100" dist="38100" dir="2700000" algn="tl">
                    <a:srgbClr val="C0C0C0"/>
                  </a:outerShdw>
                </a:effectLst>
              </a:rPr>
              <a:t>We set </a:t>
            </a:r>
            <a:r>
              <a:rPr lang="en-US" altLang="en-US" sz="1900" b="1" dirty="0">
                <a:solidFill>
                  <a:srgbClr val="CC0000"/>
                </a:solidFill>
                <a:effectLst>
                  <a:outerShdw blurRad="38100" dist="38100" dir="2700000" algn="tl">
                    <a:srgbClr val="C0C0C0"/>
                  </a:outerShdw>
                </a:effectLst>
              </a:rPr>
              <a:t>z=0</a:t>
            </a:r>
            <a:r>
              <a:rPr lang="en-US" altLang="en-US" sz="1900" b="1" dirty="0">
                <a:effectLst>
                  <a:outerShdw blurRad="38100" dist="38100" dir="2700000" algn="tl">
                    <a:srgbClr val="C0C0C0"/>
                  </a:outerShdw>
                </a:effectLst>
              </a:rPr>
              <a:t> at the soil surface, and </a:t>
            </a:r>
            <a:r>
              <a:rPr lang="en-US" altLang="en-US" sz="1900" b="1" dirty="0">
                <a:solidFill>
                  <a:srgbClr val="CC0000"/>
                </a:solidFill>
                <a:effectLst>
                  <a:outerShdw blurRad="38100" dist="38100" dir="2700000" algn="tl">
                    <a:srgbClr val="C0C0C0"/>
                  </a:outerShdw>
                </a:effectLst>
              </a:rPr>
              <a:t>z=-L</a:t>
            </a:r>
            <a:r>
              <a:rPr lang="en-US" altLang="en-US" sz="1900" b="1" dirty="0">
                <a:effectLst>
                  <a:outerShdw blurRad="38100" dist="38100" dir="2700000" algn="tl">
                    <a:srgbClr val="C0C0C0"/>
                  </a:outerShdw>
                </a:effectLst>
              </a:rPr>
              <a:t> at the water table (where h=0). From a table of integrals we find the following solution:</a:t>
            </a:r>
          </a:p>
        </p:txBody>
      </p:sp>
      <p:sp>
        <p:nvSpPr>
          <p:cNvPr id="736276" name="Text Box 20">
            <a:extLst>
              <a:ext uri="{FF2B5EF4-FFF2-40B4-BE49-F238E27FC236}">
                <a16:creationId xmlns:a16="http://schemas.microsoft.com/office/drawing/2014/main" id="{3C1B6256-E184-4AF8-B900-5C87EF8A24C9}"/>
              </a:ext>
            </a:extLst>
          </p:cNvPr>
          <p:cNvSpPr txBox="1">
            <a:spLocks noChangeArrowheads="1"/>
          </p:cNvSpPr>
          <p:nvPr/>
        </p:nvSpPr>
        <p:spPr bwMode="auto">
          <a:xfrm>
            <a:off x="473913" y="2663942"/>
            <a:ext cx="11287164"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Both" startAt="3"/>
            </a:pPr>
            <a:r>
              <a:rPr lang="en-US" altLang="en-US" sz="1900" b="1" dirty="0">
                <a:effectLst>
                  <a:outerShdw blurRad="38100" dist="38100" dir="2700000" algn="tl">
                    <a:srgbClr val="C0C0C0"/>
                  </a:outerShdw>
                </a:effectLst>
              </a:rPr>
              <a:t>Applying this solution to our problem with the appropriate boundary conditions yields:</a:t>
            </a:r>
          </a:p>
        </p:txBody>
      </p:sp>
      <p:graphicFrame>
        <p:nvGraphicFramePr>
          <p:cNvPr id="736277" name="Object 21">
            <a:extLst>
              <a:ext uri="{FF2B5EF4-FFF2-40B4-BE49-F238E27FC236}">
                <a16:creationId xmlns:a16="http://schemas.microsoft.com/office/drawing/2014/main" id="{4C0620BE-ECFE-410F-A69E-254553C4D053}"/>
              </a:ext>
            </a:extLst>
          </p:cNvPr>
          <p:cNvGraphicFramePr>
            <a:graphicFrameLocks noGrp="1" noChangeAspect="1"/>
          </p:cNvGraphicFramePr>
          <p:nvPr>
            <p:ph sz="half" idx="2"/>
          </p:nvPr>
        </p:nvGraphicFramePr>
        <p:xfrm>
          <a:off x="3352800" y="3173414"/>
          <a:ext cx="6224588" cy="941387"/>
        </p:xfrm>
        <a:graphic>
          <a:graphicData uri="http://schemas.openxmlformats.org/presentationml/2006/ole">
            <mc:AlternateContent xmlns:mc="http://schemas.openxmlformats.org/markup-compatibility/2006">
              <mc:Choice xmlns:v="urn:schemas-microsoft-com:vml" Requires="v">
                <p:oleObj spid="_x0000_s5144" name="Equation" r:id="rId6" imgW="3441700" imgH="520700" progId="Equation.3">
                  <p:embed/>
                </p:oleObj>
              </mc:Choice>
              <mc:Fallback>
                <p:oleObj name="Equation" r:id="rId6" imgW="3441700" imgH="520700" progId="Equation.3">
                  <p:embed/>
                  <p:pic>
                    <p:nvPicPr>
                      <p:cNvPr id="736277" name="Object 21">
                        <a:extLst>
                          <a:ext uri="{FF2B5EF4-FFF2-40B4-BE49-F238E27FC236}">
                            <a16:creationId xmlns:a16="http://schemas.microsoft.com/office/drawing/2014/main" id="{4C0620BE-ECFE-410F-A69E-254553C4D0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3173414"/>
                        <a:ext cx="6224588" cy="941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6278" name="Text Box 22">
            <a:extLst>
              <a:ext uri="{FF2B5EF4-FFF2-40B4-BE49-F238E27FC236}">
                <a16:creationId xmlns:a16="http://schemas.microsoft.com/office/drawing/2014/main" id="{590D34E0-4D50-46D6-A6A0-1E46AF6B19B2}"/>
              </a:ext>
            </a:extLst>
          </p:cNvPr>
          <p:cNvSpPr txBox="1">
            <a:spLocks noChangeArrowheads="1"/>
          </p:cNvSpPr>
          <p:nvPr/>
        </p:nvSpPr>
        <p:spPr bwMode="auto">
          <a:xfrm>
            <a:off x="430924" y="4206875"/>
            <a:ext cx="9703676"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Both" startAt="4"/>
            </a:pPr>
            <a:r>
              <a:rPr lang="en-US" altLang="en-US" sz="1900" b="1" dirty="0">
                <a:effectLst>
                  <a:outerShdw blurRad="38100" dist="38100" dir="2700000" algn="tl">
                    <a:srgbClr val="C0C0C0"/>
                  </a:outerShdw>
                </a:effectLst>
              </a:rPr>
              <a:t>Rearranging and log-transforming yields the desired form in terms of h(z):</a:t>
            </a:r>
          </a:p>
        </p:txBody>
      </p:sp>
      <p:graphicFrame>
        <p:nvGraphicFramePr>
          <p:cNvPr id="736279" name="Object 23">
            <a:extLst>
              <a:ext uri="{FF2B5EF4-FFF2-40B4-BE49-F238E27FC236}">
                <a16:creationId xmlns:a16="http://schemas.microsoft.com/office/drawing/2014/main" id="{205F2508-8A4C-47F1-9E69-6EA6292DD491}"/>
              </a:ext>
            </a:extLst>
          </p:cNvPr>
          <p:cNvGraphicFramePr>
            <a:graphicFrameLocks noChangeAspect="1"/>
          </p:cNvGraphicFramePr>
          <p:nvPr/>
        </p:nvGraphicFramePr>
        <p:xfrm>
          <a:off x="3657600" y="4918076"/>
          <a:ext cx="4953000" cy="873125"/>
        </p:xfrm>
        <a:graphic>
          <a:graphicData uri="http://schemas.openxmlformats.org/presentationml/2006/ole">
            <mc:AlternateContent xmlns:mc="http://schemas.openxmlformats.org/markup-compatibility/2006">
              <mc:Choice xmlns:v="urn:schemas-microsoft-com:vml" Requires="v">
                <p:oleObj spid="_x0000_s5145" name="Equation" r:id="rId8" imgW="2971800" imgH="520700" progId="Equation.3">
                  <p:embed/>
                </p:oleObj>
              </mc:Choice>
              <mc:Fallback>
                <p:oleObj name="Equation" r:id="rId8" imgW="2971800" imgH="520700" progId="Equation.3">
                  <p:embed/>
                  <p:pic>
                    <p:nvPicPr>
                      <p:cNvPr id="736279" name="Object 23">
                        <a:extLst>
                          <a:ext uri="{FF2B5EF4-FFF2-40B4-BE49-F238E27FC236}">
                            <a16:creationId xmlns:a16="http://schemas.microsoft.com/office/drawing/2014/main" id="{205F2508-8A4C-47F1-9E69-6EA6292DD49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7600" y="4918076"/>
                        <a:ext cx="49530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6280" name="Text Box 24">
            <a:extLst>
              <a:ext uri="{FF2B5EF4-FFF2-40B4-BE49-F238E27FC236}">
                <a16:creationId xmlns:a16="http://schemas.microsoft.com/office/drawing/2014/main" id="{6A3EFA6B-2ED5-4279-9A0F-7639ABAE181A}"/>
              </a:ext>
            </a:extLst>
          </p:cNvPr>
          <p:cNvSpPr txBox="1">
            <a:spLocks noChangeArrowheads="1"/>
          </p:cNvSpPr>
          <p:nvPr/>
        </p:nvSpPr>
        <p:spPr bwMode="auto">
          <a:xfrm>
            <a:off x="331076" y="5959475"/>
            <a:ext cx="114300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600" b="1" dirty="0">
                <a:solidFill>
                  <a:srgbClr val="CC0000"/>
                </a:solidFill>
                <a:effectLst>
                  <a:outerShdw blurRad="38100" dist="38100" dir="2700000" algn="tl">
                    <a:srgbClr val="C0C0C0"/>
                  </a:outerShdw>
                </a:effectLst>
              </a:rPr>
              <a:t>One can verify that at z=-L, h(z=-L)=0. The term in the square brackets is limited to values between 0 and 1. This is important for analyses of maximal upward flow from a water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a:extLst>
              <a:ext uri="{FF2B5EF4-FFF2-40B4-BE49-F238E27FC236}">
                <a16:creationId xmlns:a16="http://schemas.microsoft.com/office/drawing/2014/main" id="{A36D646E-C645-44FB-8661-99B845CA97AC}"/>
              </a:ext>
            </a:extLst>
          </p:cNvPr>
          <p:cNvSpPr>
            <a:spLocks noGrp="1" noChangeArrowheads="1"/>
          </p:cNvSpPr>
          <p:nvPr>
            <p:ph type="title"/>
          </p:nvPr>
        </p:nvSpPr>
        <p:spPr/>
        <p:txBody>
          <a:bodyPr/>
          <a:lstStyle/>
          <a:p>
            <a:r>
              <a:rPr lang="en-US" altLang="en-US"/>
              <a:t>Steady State Unsaturated Flow</a:t>
            </a:r>
          </a:p>
        </p:txBody>
      </p:sp>
      <p:sp>
        <p:nvSpPr>
          <p:cNvPr id="738307" name="Rectangle 3">
            <a:extLst>
              <a:ext uri="{FF2B5EF4-FFF2-40B4-BE49-F238E27FC236}">
                <a16:creationId xmlns:a16="http://schemas.microsoft.com/office/drawing/2014/main" id="{DBA57A1B-FEF1-47B1-87F6-2F68D7DE6BAB}"/>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08" name="Rectangle 4">
            <a:extLst>
              <a:ext uri="{FF2B5EF4-FFF2-40B4-BE49-F238E27FC236}">
                <a16:creationId xmlns:a16="http://schemas.microsoft.com/office/drawing/2014/main" id="{4EB746C6-1C1D-4E82-9F83-05C52DAC05FE}"/>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09" name="Rectangle 5">
            <a:extLst>
              <a:ext uri="{FF2B5EF4-FFF2-40B4-BE49-F238E27FC236}">
                <a16:creationId xmlns:a16="http://schemas.microsoft.com/office/drawing/2014/main" id="{C26A0AEA-9661-40EB-8F20-4B1A74F30FE9}"/>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0" name="Rectangle 6">
            <a:extLst>
              <a:ext uri="{FF2B5EF4-FFF2-40B4-BE49-F238E27FC236}">
                <a16:creationId xmlns:a16="http://schemas.microsoft.com/office/drawing/2014/main" id="{8DE0824A-DD4F-407F-A616-60B72BCD9415}"/>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1" name="Rectangle 7">
            <a:extLst>
              <a:ext uri="{FF2B5EF4-FFF2-40B4-BE49-F238E27FC236}">
                <a16:creationId xmlns:a16="http://schemas.microsoft.com/office/drawing/2014/main" id="{9E7476BB-A953-40BB-937A-63D7ECC4715D}"/>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2" name="Rectangle 8">
            <a:extLst>
              <a:ext uri="{FF2B5EF4-FFF2-40B4-BE49-F238E27FC236}">
                <a16:creationId xmlns:a16="http://schemas.microsoft.com/office/drawing/2014/main" id="{67CD03AB-450E-4CBF-AB56-F1BC5717BDAF}"/>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3" name="Rectangle 9">
            <a:extLst>
              <a:ext uri="{FF2B5EF4-FFF2-40B4-BE49-F238E27FC236}">
                <a16:creationId xmlns:a16="http://schemas.microsoft.com/office/drawing/2014/main" id="{5A801603-81EE-45A5-81D1-26E8513E6693}"/>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4" name="Rectangle 10">
            <a:extLst>
              <a:ext uri="{FF2B5EF4-FFF2-40B4-BE49-F238E27FC236}">
                <a16:creationId xmlns:a16="http://schemas.microsoft.com/office/drawing/2014/main" id="{2A99269C-2BB9-4110-9427-AEAB39C40627}"/>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5" name="Rectangle 11">
            <a:extLst>
              <a:ext uri="{FF2B5EF4-FFF2-40B4-BE49-F238E27FC236}">
                <a16:creationId xmlns:a16="http://schemas.microsoft.com/office/drawing/2014/main" id="{3649471B-637A-447A-964A-1CCB8B289782}"/>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6" name="Rectangle 12">
            <a:extLst>
              <a:ext uri="{FF2B5EF4-FFF2-40B4-BE49-F238E27FC236}">
                <a16:creationId xmlns:a16="http://schemas.microsoft.com/office/drawing/2014/main" id="{EAC0785A-068E-4765-BA93-6B6D844BFAD7}"/>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7" name="Rectangle 13">
            <a:extLst>
              <a:ext uri="{FF2B5EF4-FFF2-40B4-BE49-F238E27FC236}">
                <a16:creationId xmlns:a16="http://schemas.microsoft.com/office/drawing/2014/main" id="{1FECD709-881A-424D-B0C1-9651948EBBB3}"/>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8" name="Rectangle 14">
            <a:extLst>
              <a:ext uri="{FF2B5EF4-FFF2-40B4-BE49-F238E27FC236}">
                <a16:creationId xmlns:a16="http://schemas.microsoft.com/office/drawing/2014/main" id="{3FBE763A-0373-4DF3-B3F7-9E8038EFBC39}"/>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19" name="Rectangle 15">
            <a:extLst>
              <a:ext uri="{FF2B5EF4-FFF2-40B4-BE49-F238E27FC236}">
                <a16:creationId xmlns:a16="http://schemas.microsoft.com/office/drawing/2014/main" id="{C92202CA-8ECC-460A-9E68-CA26E08F1ACF}"/>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20" name="Rectangle 16">
            <a:extLst>
              <a:ext uri="{FF2B5EF4-FFF2-40B4-BE49-F238E27FC236}">
                <a16:creationId xmlns:a16="http://schemas.microsoft.com/office/drawing/2014/main" id="{8D65749E-3C2E-4FBF-912E-D04FF9AFFD8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21" name="Rectangle 17">
            <a:extLst>
              <a:ext uri="{FF2B5EF4-FFF2-40B4-BE49-F238E27FC236}">
                <a16:creationId xmlns:a16="http://schemas.microsoft.com/office/drawing/2014/main" id="{089498A6-1CD6-4D6F-9395-53E09C494AFB}"/>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38322" name="Text Box 18">
            <a:extLst>
              <a:ext uri="{FF2B5EF4-FFF2-40B4-BE49-F238E27FC236}">
                <a16:creationId xmlns:a16="http://schemas.microsoft.com/office/drawing/2014/main" id="{85A15932-52B8-4CC3-9651-3AAC92242B8F}"/>
              </a:ext>
            </a:extLst>
          </p:cNvPr>
          <p:cNvSpPr txBox="1">
            <a:spLocks noChangeArrowheads="1"/>
          </p:cNvSpPr>
          <p:nvPr/>
        </p:nvSpPr>
        <p:spPr bwMode="auto">
          <a:xfrm>
            <a:off x="977463" y="1321646"/>
            <a:ext cx="1067325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dirty="0">
                <a:effectLst>
                  <a:outerShdw blurRad="38100" dist="38100" dir="2700000" algn="tl">
                    <a:srgbClr val="C0C0C0"/>
                  </a:outerShdw>
                </a:effectLst>
              </a:rPr>
              <a:t>Graph showing matric potential distributions within the soil profile for various potentials (previous equation). </a:t>
            </a:r>
          </a:p>
        </p:txBody>
      </p:sp>
      <p:pic>
        <p:nvPicPr>
          <p:cNvPr id="738323" name="Picture 19">
            <a:extLst>
              <a:ext uri="{FF2B5EF4-FFF2-40B4-BE49-F238E27FC236}">
                <a16:creationId xmlns:a16="http://schemas.microsoft.com/office/drawing/2014/main" id="{CAA16C1C-6B7F-4FC1-B70A-89B5A43FFB7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962401" y="1905000"/>
            <a:ext cx="4468813" cy="4573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a:extLst>
              <a:ext uri="{FF2B5EF4-FFF2-40B4-BE49-F238E27FC236}">
                <a16:creationId xmlns:a16="http://schemas.microsoft.com/office/drawing/2014/main" id="{E3BC16EE-90E3-4B7F-BD91-FBA9088AB6DE}"/>
              </a:ext>
            </a:extLst>
          </p:cNvPr>
          <p:cNvSpPr>
            <a:spLocks noGrp="1" noChangeArrowheads="1"/>
          </p:cNvSpPr>
          <p:nvPr>
            <p:ph type="title"/>
          </p:nvPr>
        </p:nvSpPr>
        <p:spPr>
          <a:xfrm>
            <a:off x="2286000" y="182564"/>
            <a:ext cx="7772400" cy="579437"/>
          </a:xfrm>
        </p:spPr>
        <p:txBody>
          <a:bodyPr/>
          <a:lstStyle/>
          <a:p>
            <a:r>
              <a:rPr lang="en-US" altLang="en-US"/>
              <a:t>Steady State Unsaturated Flow - Example</a:t>
            </a:r>
          </a:p>
        </p:txBody>
      </p:sp>
      <p:sp>
        <p:nvSpPr>
          <p:cNvPr id="740355" name="Rectangle 3">
            <a:extLst>
              <a:ext uri="{FF2B5EF4-FFF2-40B4-BE49-F238E27FC236}">
                <a16:creationId xmlns:a16="http://schemas.microsoft.com/office/drawing/2014/main" id="{0F72D52F-1B46-4075-A0DE-898A545C20B6}"/>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56" name="Rectangle 4">
            <a:extLst>
              <a:ext uri="{FF2B5EF4-FFF2-40B4-BE49-F238E27FC236}">
                <a16:creationId xmlns:a16="http://schemas.microsoft.com/office/drawing/2014/main" id="{89EA4E00-A934-42CE-80B9-7885AF738B49}"/>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57" name="Rectangle 5">
            <a:extLst>
              <a:ext uri="{FF2B5EF4-FFF2-40B4-BE49-F238E27FC236}">
                <a16:creationId xmlns:a16="http://schemas.microsoft.com/office/drawing/2014/main" id="{E0C4BEA7-38EC-4631-B892-656E19D8CAAF}"/>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58" name="Rectangle 6">
            <a:extLst>
              <a:ext uri="{FF2B5EF4-FFF2-40B4-BE49-F238E27FC236}">
                <a16:creationId xmlns:a16="http://schemas.microsoft.com/office/drawing/2014/main" id="{CBDA8639-1AC0-4A2B-BFB5-9E681674F5A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59" name="Rectangle 7">
            <a:extLst>
              <a:ext uri="{FF2B5EF4-FFF2-40B4-BE49-F238E27FC236}">
                <a16:creationId xmlns:a16="http://schemas.microsoft.com/office/drawing/2014/main" id="{2ACB4B76-3B02-4496-BBE2-06A273CCAE84}"/>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0" name="Rectangle 8">
            <a:extLst>
              <a:ext uri="{FF2B5EF4-FFF2-40B4-BE49-F238E27FC236}">
                <a16:creationId xmlns:a16="http://schemas.microsoft.com/office/drawing/2014/main" id="{E3FD4EAA-F0F1-4305-908B-9D1EEFA2ED2E}"/>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1" name="Rectangle 9">
            <a:extLst>
              <a:ext uri="{FF2B5EF4-FFF2-40B4-BE49-F238E27FC236}">
                <a16:creationId xmlns:a16="http://schemas.microsoft.com/office/drawing/2014/main" id="{F5BD1259-2B2D-4879-B8FB-CF03393F583C}"/>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2" name="Rectangle 10">
            <a:extLst>
              <a:ext uri="{FF2B5EF4-FFF2-40B4-BE49-F238E27FC236}">
                <a16:creationId xmlns:a16="http://schemas.microsoft.com/office/drawing/2014/main" id="{06991D7A-C079-4B11-A65F-AFC49D6A257F}"/>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3" name="Rectangle 11">
            <a:extLst>
              <a:ext uri="{FF2B5EF4-FFF2-40B4-BE49-F238E27FC236}">
                <a16:creationId xmlns:a16="http://schemas.microsoft.com/office/drawing/2014/main" id="{757ACA7F-ECF9-4FDA-B1DF-E83C8007394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4" name="Rectangle 12">
            <a:extLst>
              <a:ext uri="{FF2B5EF4-FFF2-40B4-BE49-F238E27FC236}">
                <a16:creationId xmlns:a16="http://schemas.microsoft.com/office/drawing/2014/main" id="{A34B635A-E929-4E0E-900D-E5FEB7B85CF6}"/>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5" name="Rectangle 13">
            <a:extLst>
              <a:ext uri="{FF2B5EF4-FFF2-40B4-BE49-F238E27FC236}">
                <a16:creationId xmlns:a16="http://schemas.microsoft.com/office/drawing/2014/main" id="{F5F118A8-81D2-4117-BC79-0B753F9358CE}"/>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6" name="Rectangle 14">
            <a:extLst>
              <a:ext uri="{FF2B5EF4-FFF2-40B4-BE49-F238E27FC236}">
                <a16:creationId xmlns:a16="http://schemas.microsoft.com/office/drawing/2014/main" id="{4A65E4F2-A76B-4BE5-8301-F5D97841141C}"/>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7" name="Rectangle 15">
            <a:extLst>
              <a:ext uri="{FF2B5EF4-FFF2-40B4-BE49-F238E27FC236}">
                <a16:creationId xmlns:a16="http://schemas.microsoft.com/office/drawing/2014/main" id="{07F021D0-D476-4127-9778-B5E9398FEEC3}"/>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8" name="Rectangle 16">
            <a:extLst>
              <a:ext uri="{FF2B5EF4-FFF2-40B4-BE49-F238E27FC236}">
                <a16:creationId xmlns:a16="http://schemas.microsoft.com/office/drawing/2014/main" id="{1B5876C1-35BA-4230-8EC6-9584D9DE8DA2}"/>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69" name="Rectangle 17">
            <a:extLst>
              <a:ext uri="{FF2B5EF4-FFF2-40B4-BE49-F238E27FC236}">
                <a16:creationId xmlns:a16="http://schemas.microsoft.com/office/drawing/2014/main" id="{DCAE4822-043F-41D2-83C5-BF29D87A3879}"/>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0370" name="Text Box 18">
            <a:extLst>
              <a:ext uri="{FF2B5EF4-FFF2-40B4-BE49-F238E27FC236}">
                <a16:creationId xmlns:a16="http://schemas.microsoft.com/office/drawing/2014/main" id="{1325F7F2-75DD-4002-AA24-7E911C47EAAB}"/>
              </a:ext>
            </a:extLst>
          </p:cNvPr>
          <p:cNvSpPr txBox="1">
            <a:spLocks noChangeArrowheads="1"/>
          </p:cNvSpPr>
          <p:nvPr/>
        </p:nvSpPr>
        <p:spPr bwMode="auto">
          <a:xfrm>
            <a:off x="2362200" y="788988"/>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Problem Statement:</a:t>
            </a:r>
          </a:p>
        </p:txBody>
      </p:sp>
      <p:sp>
        <p:nvSpPr>
          <p:cNvPr id="740371" name="Text Box 19">
            <a:extLst>
              <a:ext uri="{FF2B5EF4-FFF2-40B4-BE49-F238E27FC236}">
                <a16:creationId xmlns:a16="http://schemas.microsoft.com/office/drawing/2014/main" id="{86C808A7-2C1A-49B8-ADE4-199F0E259C68}"/>
              </a:ext>
            </a:extLst>
          </p:cNvPr>
          <p:cNvSpPr txBox="1">
            <a:spLocks noChangeArrowheads="1"/>
          </p:cNvSpPr>
          <p:nvPr/>
        </p:nvSpPr>
        <p:spPr bwMode="auto">
          <a:xfrm>
            <a:off x="2362200" y="1185864"/>
            <a:ext cx="7772400"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Compute and plot the vertical distributions of the soil matric potential under steady flow into a water table at a depth of 3 m from the surface for the flow rates of J</a:t>
            </a:r>
            <a:r>
              <a:rPr lang="en-US" altLang="en-US" sz="1900" b="1" baseline="-25000">
                <a:effectLst>
                  <a:outerShdw blurRad="38100" dist="38100" dir="2700000" algn="tl">
                    <a:srgbClr val="C0C0C0"/>
                  </a:outerShdw>
                </a:effectLst>
              </a:rPr>
              <a:t>w</a:t>
            </a:r>
            <a:r>
              <a:rPr lang="en-US" altLang="en-US" sz="1900" b="1">
                <a:effectLst>
                  <a:outerShdw blurRad="38100" dist="38100" dir="2700000" algn="tl">
                    <a:srgbClr val="C0C0C0"/>
                  </a:outerShdw>
                </a:effectLst>
              </a:rPr>
              <a:t>/K</a:t>
            </a:r>
            <a:r>
              <a:rPr lang="en-US" altLang="en-US" sz="1900" b="1" baseline="-25000">
                <a:effectLst>
                  <a:outerShdw blurRad="38100" dist="38100" dir="2700000" algn="tl">
                    <a:srgbClr val="C0C0C0"/>
                  </a:outerShdw>
                </a:effectLst>
              </a:rPr>
              <a:t>s</a:t>
            </a:r>
            <a:r>
              <a:rPr lang="en-US" altLang="en-US" sz="1900" b="1">
                <a:effectLst>
                  <a:outerShdw blurRad="38100" dist="38100" dir="2700000" algn="tl">
                    <a:srgbClr val="C0C0C0"/>
                  </a:outerShdw>
                </a:effectLst>
              </a:rPr>
              <a:t>= -0.001, -0.01,  -0.1, and -0.5. </a:t>
            </a:r>
            <a:r>
              <a:rPr lang="en-US" altLang="en-US" sz="1900" b="1">
                <a:solidFill>
                  <a:srgbClr val="CC0000"/>
                </a:solidFill>
                <a:effectLst>
                  <a:outerShdw blurRad="38100" dist="38100" dir="2700000" algn="tl">
                    <a:srgbClr val="C0C0C0"/>
                  </a:outerShdw>
                </a:effectLst>
              </a:rPr>
              <a:t>Note that the sign of the downward flux is negative.</a:t>
            </a:r>
            <a:r>
              <a:rPr lang="en-US" altLang="en-US" sz="1900" b="1">
                <a:effectLst>
                  <a:outerShdw blurRad="38100" dist="38100" dir="2700000" algn="tl">
                    <a:srgbClr val="C0C0C0"/>
                  </a:outerShdw>
                </a:effectLst>
              </a:rPr>
              <a:t> The unsaturated hydraulic conductivity of the soil is based on Gardner's (1958) model, and is characterized by </a:t>
            </a:r>
            <a:r>
              <a:rPr lang="en-US" altLang="en-US" sz="1900" b="1">
                <a:solidFill>
                  <a:srgbClr val="CC0000"/>
                </a:solidFill>
                <a:effectLst>
                  <a:outerShdw blurRad="38100" dist="38100" dir="2700000" algn="tl">
                    <a:srgbClr val="C0C0C0"/>
                  </a:outerShdw>
                </a:effectLst>
                <a:latin typeface="Symbol" panose="05050102010706020507" pitchFamily="18" charset="2"/>
              </a:rPr>
              <a:t>b</a:t>
            </a:r>
            <a:r>
              <a:rPr lang="en-US" altLang="en-US" sz="1900" b="1">
                <a:solidFill>
                  <a:srgbClr val="CC0000"/>
                </a:solidFill>
                <a:effectLst>
                  <a:outerShdw blurRad="38100" dist="38100" dir="2700000" algn="tl">
                    <a:srgbClr val="C0C0C0"/>
                  </a:outerShdw>
                </a:effectLst>
              </a:rPr>
              <a:t>=5 m</a:t>
            </a:r>
            <a:r>
              <a:rPr lang="en-US" altLang="en-US" sz="1900" b="1" baseline="30000">
                <a:solidFill>
                  <a:srgbClr val="CC0000"/>
                </a:solidFill>
                <a:effectLst>
                  <a:outerShdw blurRad="38100" dist="38100" dir="2700000" algn="tl">
                    <a:srgbClr val="C0C0C0"/>
                  </a:outerShdw>
                </a:effectLst>
              </a:rPr>
              <a:t>-1</a:t>
            </a:r>
            <a:r>
              <a:rPr lang="en-US" altLang="en-US" sz="1900" b="1">
                <a:effectLst>
                  <a:outerShdw blurRad="38100" dist="38100" dir="2700000" algn="tl">
                    <a:srgbClr val="C0C0C0"/>
                  </a:outerShdw>
                </a:effectLst>
              </a:rPr>
              <a:t>.</a:t>
            </a:r>
          </a:p>
          <a:p>
            <a:pPr eaLnBrk="0" hangingPunct="0">
              <a:spcBef>
                <a:spcPct val="50000"/>
              </a:spcBef>
              <a:buClr>
                <a:srgbClr val="CC0000"/>
              </a:buClr>
            </a:pPr>
            <a:r>
              <a:rPr lang="en-US" altLang="en-US" sz="1900" b="1">
                <a:effectLst>
                  <a:outerShdw blurRad="38100" dist="38100" dir="2700000" algn="tl">
                    <a:srgbClr val="C0C0C0"/>
                  </a:outerShdw>
                </a:effectLst>
              </a:rPr>
              <a:t>Estimate the hydraulic gradient (</a:t>
            </a:r>
            <a:r>
              <a:rPr lang="en-US" altLang="en-US" sz="1900" b="1">
                <a:solidFill>
                  <a:srgbClr val="CC0000"/>
                </a:solidFill>
                <a:effectLst>
                  <a:outerShdw blurRad="38100" dist="38100" dir="2700000" algn="tl">
                    <a:srgbClr val="C0C0C0"/>
                  </a:outerShdw>
                </a:effectLst>
              </a:rPr>
              <a:t>dH/dz</a:t>
            </a:r>
            <a:r>
              <a:rPr lang="en-US" altLang="en-US" sz="1900" b="1">
                <a:effectLst>
                  <a:outerShdw blurRad="38100" dist="38100" dir="2700000" algn="tl">
                    <a:srgbClr val="C0C0C0"/>
                  </a:outerShdw>
                </a:effectLst>
              </a:rPr>
              <a:t>) from 0 to 1m below the soil surface.</a:t>
            </a:r>
          </a:p>
        </p:txBody>
      </p:sp>
      <p:sp>
        <p:nvSpPr>
          <p:cNvPr id="740372" name="Text Box 20">
            <a:extLst>
              <a:ext uri="{FF2B5EF4-FFF2-40B4-BE49-F238E27FC236}">
                <a16:creationId xmlns:a16="http://schemas.microsoft.com/office/drawing/2014/main" id="{9A579169-D68E-4AC6-B7BC-8E3F8BA5D5C2}"/>
              </a:ext>
            </a:extLst>
          </p:cNvPr>
          <p:cNvSpPr txBox="1">
            <a:spLocks noChangeArrowheads="1"/>
          </p:cNvSpPr>
          <p:nvPr/>
        </p:nvSpPr>
        <p:spPr bwMode="auto">
          <a:xfrm>
            <a:off x="2362200" y="3810000"/>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Solution:</a:t>
            </a:r>
          </a:p>
        </p:txBody>
      </p:sp>
      <p:sp>
        <p:nvSpPr>
          <p:cNvPr id="740373" name="Text Box 21">
            <a:extLst>
              <a:ext uri="{FF2B5EF4-FFF2-40B4-BE49-F238E27FC236}">
                <a16:creationId xmlns:a16="http://schemas.microsoft.com/office/drawing/2014/main" id="{2CB93129-67C2-4CBB-8D79-9D723FFB2D61}"/>
              </a:ext>
            </a:extLst>
          </p:cNvPr>
          <p:cNvSpPr txBox="1">
            <a:spLocks noChangeArrowheads="1"/>
          </p:cNvSpPr>
          <p:nvPr/>
        </p:nvSpPr>
        <p:spPr bwMode="auto">
          <a:xfrm>
            <a:off x="2362200" y="4206875"/>
            <a:ext cx="80772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eriod"/>
            </a:pPr>
            <a:r>
              <a:rPr lang="en-US" altLang="en-US" sz="1900" b="1">
                <a:effectLst>
                  <a:outerShdw blurRad="38100" dist="38100" dir="2700000" algn="tl">
                    <a:srgbClr val="C0C0C0"/>
                  </a:outerShdw>
                </a:effectLst>
              </a:rPr>
              <a:t>The depth dependent matric potential may be calculated according to the following relationship:</a:t>
            </a:r>
          </a:p>
        </p:txBody>
      </p:sp>
      <p:graphicFrame>
        <p:nvGraphicFramePr>
          <p:cNvPr id="740374" name="Object 22">
            <a:extLst>
              <a:ext uri="{FF2B5EF4-FFF2-40B4-BE49-F238E27FC236}">
                <a16:creationId xmlns:a16="http://schemas.microsoft.com/office/drawing/2014/main" id="{49439616-2B2E-4207-95E1-371FB893BD40}"/>
              </a:ext>
            </a:extLst>
          </p:cNvPr>
          <p:cNvGraphicFramePr>
            <a:graphicFrameLocks noChangeAspect="1"/>
          </p:cNvGraphicFramePr>
          <p:nvPr/>
        </p:nvGraphicFramePr>
        <p:xfrm>
          <a:off x="3657600" y="4953001"/>
          <a:ext cx="4953000" cy="873125"/>
        </p:xfrm>
        <a:graphic>
          <a:graphicData uri="http://schemas.openxmlformats.org/presentationml/2006/ole">
            <mc:AlternateContent xmlns:mc="http://schemas.openxmlformats.org/markup-compatibility/2006">
              <mc:Choice xmlns:v="urn:schemas-microsoft-com:vml" Requires="v">
                <p:oleObj spid="_x0000_s6153" name="Equation" r:id="rId4" imgW="2971800" imgH="520700" progId="Equation.3">
                  <p:embed/>
                </p:oleObj>
              </mc:Choice>
              <mc:Fallback>
                <p:oleObj name="Equation" r:id="rId4" imgW="2971800" imgH="520700" progId="Equation.3">
                  <p:embed/>
                  <p:pic>
                    <p:nvPicPr>
                      <p:cNvPr id="740374" name="Object 22">
                        <a:extLst>
                          <a:ext uri="{FF2B5EF4-FFF2-40B4-BE49-F238E27FC236}">
                            <a16:creationId xmlns:a16="http://schemas.microsoft.com/office/drawing/2014/main" id="{49439616-2B2E-4207-95E1-371FB893BD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4953001"/>
                        <a:ext cx="49530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0375" name="Text Box 23">
            <a:extLst>
              <a:ext uri="{FF2B5EF4-FFF2-40B4-BE49-F238E27FC236}">
                <a16:creationId xmlns:a16="http://schemas.microsoft.com/office/drawing/2014/main" id="{3CDA4D3A-1CBE-4E6C-815E-EA6E0F52D3B3}"/>
              </a:ext>
            </a:extLst>
          </p:cNvPr>
          <p:cNvSpPr txBox="1">
            <a:spLocks noChangeArrowheads="1"/>
          </p:cNvSpPr>
          <p:nvPr/>
        </p:nvSpPr>
        <p:spPr bwMode="auto">
          <a:xfrm>
            <a:off x="2362200" y="6035675"/>
            <a:ext cx="807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Results are listed on the next slide.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a:extLst>
              <a:ext uri="{FF2B5EF4-FFF2-40B4-BE49-F238E27FC236}">
                <a16:creationId xmlns:a16="http://schemas.microsoft.com/office/drawing/2014/main" id="{A9C94CA0-4A04-44CB-A3B9-F47C1C3370BC}"/>
              </a:ext>
            </a:extLst>
          </p:cNvPr>
          <p:cNvSpPr>
            <a:spLocks noGrp="1" noChangeArrowheads="1"/>
          </p:cNvSpPr>
          <p:nvPr>
            <p:ph type="title"/>
          </p:nvPr>
        </p:nvSpPr>
        <p:spPr>
          <a:xfrm>
            <a:off x="2286000" y="182564"/>
            <a:ext cx="7772400" cy="579437"/>
          </a:xfrm>
        </p:spPr>
        <p:txBody>
          <a:bodyPr/>
          <a:lstStyle/>
          <a:p>
            <a:r>
              <a:rPr lang="en-US" altLang="en-US"/>
              <a:t>Steady State Unsaturated Flow - Example</a:t>
            </a:r>
          </a:p>
        </p:txBody>
      </p:sp>
      <p:sp>
        <p:nvSpPr>
          <p:cNvPr id="742403" name="Rectangle 3">
            <a:extLst>
              <a:ext uri="{FF2B5EF4-FFF2-40B4-BE49-F238E27FC236}">
                <a16:creationId xmlns:a16="http://schemas.microsoft.com/office/drawing/2014/main" id="{6C94135B-5BAA-461B-91EB-5AB699C58A41}"/>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4" name="Rectangle 4">
            <a:extLst>
              <a:ext uri="{FF2B5EF4-FFF2-40B4-BE49-F238E27FC236}">
                <a16:creationId xmlns:a16="http://schemas.microsoft.com/office/drawing/2014/main" id="{36C62A41-BB93-47F5-AE94-C7E0AD98D03E}"/>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5" name="Rectangle 5">
            <a:extLst>
              <a:ext uri="{FF2B5EF4-FFF2-40B4-BE49-F238E27FC236}">
                <a16:creationId xmlns:a16="http://schemas.microsoft.com/office/drawing/2014/main" id="{7EC38A3A-BF6D-4545-A29E-2B6150B97636}"/>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6" name="Rectangle 6">
            <a:extLst>
              <a:ext uri="{FF2B5EF4-FFF2-40B4-BE49-F238E27FC236}">
                <a16:creationId xmlns:a16="http://schemas.microsoft.com/office/drawing/2014/main" id="{3BFB3E9B-24FB-4EB0-B3AA-346C5ADEB09E}"/>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7" name="Rectangle 7">
            <a:extLst>
              <a:ext uri="{FF2B5EF4-FFF2-40B4-BE49-F238E27FC236}">
                <a16:creationId xmlns:a16="http://schemas.microsoft.com/office/drawing/2014/main" id="{7FED9B33-BACD-42E0-B2EA-26CE6903E8CB}"/>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8" name="Rectangle 8">
            <a:extLst>
              <a:ext uri="{FF2B5EF4-FFF2-40B4-BE49-F238E27FC236}">
                <a16:creationId xmlns:a16="http://schemas.microsoft.com/office/drawing/2014/main" id="{9E43DE29-9F9D-4077-8589-69550E4B6322}"/>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09" name="Rectangle 9">
            <a:extLst>
              <a:ext uri="{FF2B5EF4-FFF2-40B4-BE49-F238E27FC236}">
                <a16:creationId xmlns:a16="http://schemas.microsoft.com/office/drawing/2014/main" id="{637DA421-E189-4999-9E56-9AB0BB529CD1}"/>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0" name="Rectangle 10">
            <a:extLst>
              <a:ext uri="{FF2B5EF4-FFF2-40B4-BE49-F238E27FC236}">
                <a16:creationId xmlns:a16="http://schemas.microsoft.com/office/drawing/2014/main" id="{F29916F9-ACC9-40A7-9376-8BFA22C1F4D7}"/>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1" name="Rectangle 11">
            <a:extLst>
              <a:ext uri="{FF2B5EF4-FFF2-40B4-BE49-F238E27FC236}">
                <a16:creationId xmlns:a16="http://schemas.microsoft.com/office/drawing/2014/main" id="{26650924-50FB-4D1D-82D5-9678FC8C8976}"/>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2" name="Rectangle 12">
            <a:extLst>
              <a:ext uri="{FF2B5EF4-FFF2-40B4-BE49-F238E27FC236}">
                <a16:creationId xmlns:a16="http://schemas.microsoft.com/office/drawing/2014/main" id="{8AF9E1CC-3186-4AF9-80D6-6C6669D18C66}"/>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3" name="Rectangle 13">
            <a:extLst>
              <a:ext uri="{FF2B5EF4-FFF2-40B4-BE49-F238E27FC236}">
                <a16:creationId xmlns:a16="http://schemas.microsoft.com/office/drawing/2014/main" id="{4F79A39A-615E-4FA3-9BCB-7D04B87CF76D}"/>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4" name="Rectangle 14">
            <a:extLst>
              <a:ext uri="{FF2B5EF4-FFF2-40B4-BE49-F238E27FC236}">
                <a16:creationId xmlns:a16="http://schemas.microsoft.com/office/drawing/2014/main" id="{152CA3FC-F0C7-408D-A7A2-20394BDE308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5" name="Rectangle 15">
            <a:extLst>
              <a:ext uri="{FF2B5EF4-FFF2-40B4-BE49-F238E27FC236}">
                <a16:creationId xmlns:a16="http://schemas.microsoft.com/office/drawing/2014/main" id="{2FB2AA1B-58AF-426E-A810-0D1EE47A6E66}"/>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6" name="Rectangle 16">
            <a:extLst>
              <a:ext uri="{FF2B5EF4-FFF2-40B4-BE49-F238E27FC236}">
                <a16:creationId xmlns:a16="http://schemas.microsoft.com/office/drawing/2014/main" id="{78E186AF-9F4D-471E-BF5F-A9F5BAA489CD}"/>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7" name="Rectangle 17">
            <a:extLst>
              <a:ext uri="{FF2B5EF4-FFF2-40B4-BE49-F238E27FC236}">
                <a16:creationId xmlns:a16="http://schemas.microsoft.com/office/drawing/2014/main" id="{55233654-C5A4-455D-846B-0B8F895A5F27}"/>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2418" name="Text Box 18">
            <a:extLst>
              <a:ext uri="{FF2B5EF4-FFF2-40B4-BE49-F238E27FC236}">
                <a16:creationId xmlns:a16="http://schemas.microsoft.com/office/drawing/2014/main" id="{BA7EB6C8-B859-4F6C-B11D-0F5B782D498F}"/>
              </a:ext>
            </a:extLst>
          </p:cNvPr>
          <p:cNvSpPr txBox="1">
            <a:spLocks noChangeArrowheads="1"/>
          </p:cNvSpPr>
          <p:nvPr/>
        </p:nvSpPr>
        <p:spPr bwMode="auto">
          <a:xfrm>
            <a:off x="2362200" y="788988"/>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Tabulated Results:</a:t>
            </a:r>
          </a:p>
        </p:txBody>
      </p:sp>
      <p:graphicFrame>
        <p:nvGraphicFramePr>
          <p:cNvPr id="742419" name="Object 19">
            <a:extLst>
              <a:ext uri="{FF2B5EF4-FFF2-40B4-BE49-F238E27FC236}">
                <a16:creationId xmlns:a16="http://schemas.microsoft.com/office/drawing/2014/main" id="{4B681203-354D-4448-AEA8-5562E41AE0BA}"/>
              </a:ext>
            </a:extLst>
          </p:cNvPr>
          <p:cNvGraphicFramePr>
            <a:graphicFrameLocks noChangeAspect="1"/>
          </p:cNvGraphicFramePr>
          <p:nvPr/>
        </p:nvGraphicFramePr>
        <p:xfrm>
          <a:off x="3657600" y="1447801"/>
          <a:ext cx="4953000" cy="873125"/>
        </p:xfrm>
        <a:graphic>
          <a:graphicData uri="http://schemas.openxmlformats.org/presentationml/2006/ole">
            <mc:AlternateContent xmlns:mc="http://schemas.openxmlformats.org/markup-compatibility/2006">
              <mc:Choice xmlns:v="urn:schemas-microsoft-com:vml" Requires="v">
                <p:oleObj spid="_x0000_s7177" name="Equation" r:id="rId4" imgW="2971800" imgH="520700" progId="Equation.3">
                  <p:embed/>
                </p:oleObj>
              </mc:Choice>
              <mc:Fallback>
                <p:oleObj name="Equation" r:id="rId4" imgW="2971800" imgH="520700" progId="Equation.3">
                  <p:embed/>
                  <p:pic>
                    <p:nvPicPr>
                      <p:cNvPr id="742419" name="Object 19">
                        <a:extLst>
                          <a:ext uri="{FF2B5EF4-FFF2-40B4-BE49-F238E27FC236}">
                            <a16:creationId xmlns:a16="http://schemas.microsoft.com/office/drawing/2014/main" id="{4B681203-354D-4448-AEA8-5562E41AE0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1447801"/>
                        <a:ext cx="495300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42420" name="Picture 20">
            <a:extLst>
              <a:ext uri="{FF2B5EF4-FFF2-40B4-BE49-F238E27FC236}">
                <a16:creationId xmlns:a16="http://schemas.microsoft.com/office/drawing/2014/main" id="{D67BDF7E-21B8-4FA9-AC36-4184057AA1B5}"/>
              </a:ext>
            </a:extLst>
          </p:cNvPr>
          <p:cNvPicPr>
            <a:picLocks noGrp="1" noChangeAspect="1" noChangeArrowheads="1"/>
          </p:cNvPicPr>
          <p:nvPr>
            <p:ph idx="1"/>
          </p:nvPr>
        </p:nvPicPr>
        <p:blipFill>
          <a:blip r:embed="rId6">
            <a:extLst>
              <a:ext uri="{28A0092B-C50C-407E-A947-70E740481C1C}">
                <a14:useLocalDpi xmlns:a14="http://schemas.microsoft.com/office/drawing/2010/main" val="0"/>
              </a:ext>
            </a:extLst>
          </a:blip>
          <a:srcRect l="15039" r="15039"/>
          <a:stretch>
            <a:fillRect/>
          </a:stretch>
        </p:blipFill>
        <p:spPr>
          <a:xfrm>
            <a:off x="3200400" y="2743200"/>
            <a:ext cx="6248400" cy="3798888"/>
          </a:xfrm>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a:extLst>
              <a:ext uri="{FF2B5EF4-FFF2-40B4-BE49-F238E27FC236}">
                <a16:creationId xmlns:a16="http://schemas.microsoft.com/office/drawing/2014/main" id="{5BC7F4EA-8BBD-463A-B978-F13A1CF44596}"/>
              </a:ext>
            </a:extLst>
          </p:cNvPr>
          <p:cNvSpPr>
            <a:spLocks noGrp="1" noChangeArrowheads="1"/>
          </p:cNvSpPr>
          <p:nvPr>
            <p:ph type="title"/>
          </p:nvPr>
        </p:nvSpPr>
        <p:spPr>
          <a:xfrm>
            <a:off x="2286000" y="182564"/>
            <a:ext cx="7772400" cy="579437"/>
          </a:xfrm>
        </p:spPr>
        <p:txBody>
          <a:bodyPr/>
          <a:lstStyle/>
          <a:p>
            <a:r>
              <a:rPr lang="en-US" altLang="en-US"/>
              <a:t>Steady State Unsaturated Flow - Example</a:t>
            </a:r>
          </a:p>
        </p:txBody>
      </p:sp>
      <p:sp>
        <p:nvSpPr>
          <p:cNvPr id="744451" name="Rectangle 3">
            <a:extLst>
              <a:ext uri="{FF2B5EF4-FFF2-40B4-BE49-F238E27FC236}">
                <a16:creationId xmlns:a16="http://schemas.microsoft.com/office/drawing/2014/main" id="{FBB92297-47B3-4DF4-9BEA-D30CD51BB4F6}"/>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2" name="Rectangle 4">
            <a:extLst>
              <a:ext uri="{FF2B5EF4-FFF2-40B4-BE49-F238E27FC236}">
                <a16:creationId xmlns:a16="http://schemas.microsoft.com/office/drawing/2014/main" id="{41A7159A-0A04-424D-BCE2-CA8C84992656}"/>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3" name="Rectangle 5">
            <a:extLst>
              <a:ext uri="{FF2B5EF4-FFF2-40B4-BE49-F238E27FC236}">
                <a16:creationId xmlns:a16="http://schemas.microsoft.com/office/drawing/2014/main" id="{402DB9AA-5471-49F4-837F-24A67063EEF8}"/>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4" name="Rectangle 6">
            <a:extLst>
              <a:ext uri="{FF2B5EF4-FFF2-40B4-BE49-F238E27FC236}">
                <a16:creationId xmlns:a16="http://schemas.microsoft.com/office/drawing/2014/main" id="{A7DC7272-9B40-4889-8B18-62DE06E4953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5" name="Rectangle 7">
            <a:extLst>
              <a:ext uri="{FF2B5EF4-FFF2-40B4-BE49-F238E27FC236}">
                <a16:creationId xmlns:a16="http://schemas.microsoft.com/office/drawing/2014/main" id="{D8AB73F6-F382-488C-8F5E-A32A75FDE48A}"/>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6" name="Rectangle 8">
            <a:extLst>
              <a:ext uri="{FF2B5EF4-FFF2-40B4-BE49-F238E27FC236}">
                <a16:creationId xmlns:a16="http://schemas.microsoft.com/office/drawing/2014/main" id="{06587388-7568-4D10-A543-BE723B122ACD}"/>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7" name="Rectangle 9">
            <a:extLst>
              <a:ext uri="{FF2B5EF4-FFF2-40B4-BE49-F238E27FC236}">
                <a16:creationId xmlns:a16="http://schemas.microsoft.com/office/drawing/2014/main" id="{18B99824-3844-4328-8D53-DE3B2951D0D3}"/>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8" name="Rectangle 10">
            <a:extLst>
              <a:ext uri="{FF2B5EF4-FFF2-40B4-BE49-F238E27FC236}">
                <a16:creationId xmlns:a16="http://schemas.microsoft.com/office/drawing/2014/main" id="{4F358039-A3CC-485B-8419-8BB21D093B76}"/>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59" name="Rectangle 11">
            <a:extLst>
              <a:ext uri="{FF2B5EF4-FFF2-40B4-BE49-F238E27FC236}">
                <a16:creationId xmlns:a16="http://schemas.microsoft.com/office/drawing/2014/main" id="{4BE38751-3F62-4012-8EB5-990D66B04C60}"/>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0" name="Rectangle 12">
            <a:extLst>
              <a:ext uri="{FF2B5EF4-FFF2-40B4-BE49-F238E27FC236}">
                <a16:creationId xmlns:a16="http://schemas.microsoft.com/office/drawing/2014/main" id="{F7577728-3F23-453D-AB5F-0863961CB74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1" name="Rectangle 13">
            <a:extLst>
              <a:ext uri="{FF2B5EF4-FFF2-40B4-BE49-F238E27FC236}">
                <a16:creationId xmlns:a16="http://schemas.microsoft.com/office/drawing/2014/main" id="{14E95B4B-A026-44C8-B8D6-B4258376AAE0}"/>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2" name="Rectangle 14">
            <a:extLst>
              <a:ext uri="{FF2B5EF4-FFF2-40B4-BE49-F238E27FC236}">
                <a16:creationId xmlns:a16="http://schemas.microsoft.com/office/drawing/2014/main" id="{30DE403E-14F7-4FD3-A490-E9F3D21FC55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3" name="Rectangle 15">
            <a:extLst>
              <a:ext uri="{FF2B5EF4-FFF2-40B4-BE49-F238E27FC236}">
                <a16:creationId xmlns:a16="http://schemas.microsoft.com/office/drawing/2014/main" id="{02413E90-7172-4F0C-A2EE-65CBD4BADEC7}"/>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4" name="Rectangle 16">
            <a:extLst>
              <a:ext uri="{FF2B5EF4-FFF2-40B4-BE49-F238E27FC236}">
                <a16:creationId xmlns:a16="http://schemas.microsoft.com/office/drawing/2014/main" id="{2240E7A7-430A-43B2-AAF2-05C73365A38A}"/>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5" name="Rectangle 17">
            <a:extLst>
              <a:ext uri="{FF2B5EF4-FFF2-40B4-BE49-F238E27FC236}">
                <a16:creationId xmlns:a16="http://schemas.microsoft.com/office/drawing/2014/main" id="{89A656B6-662F-4C63-878E-05CC40CB8CC3}"/>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4466" name="Text Box 18">
            <a:extLst>
              <a:ext uri="{FF2B5EF4-FFF2-40B4-BE49-F238E27FC236}">
                <a16:creationId xmlns:a16="http://schemas.microsoft.com/office/drawing/2014/main" id="{41A4AF07-9376-48A6-8D15-0282B429CBE2}"/>
              </a:ext>
            </a:extLst>
          </p:cNvPr>
          <p:cNvSpPr txBox="1">
            <a:spLocks noChangeArrowheads="1"/>
          </p:cNvSpPr>
          <p:nvPr/>
        </p:nvSpPr>
        <p:spPr bwMode="auto">
          <a:xfrm>
            <a:off x="2362200" y="838200"/>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Solution – Graph:</a:t>
            </a:r>
          </a:p>
        </p:txBody>
      </p:sp>
      <p:pic>
        <p:nvPicPr>
          <p:cNvPr id="744467" name="Picture 19">
            <a:extLst>
              <a:ext uri="{FF2B5EF4-FFF2-40B4-BE49-F238E27FC236}">
                <a16:creationId xmlns:a16="http://schemas.microsoft.com/office/drawing/2014/main" id="{3C24F44C-142C-40B1-A467-37C9D25A64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b="22643"/>
          <a:stretch>
            <a:fillRect/>
          </a:stretch>
        </p:blipFill>
        <p:spPr>
          <a:xfrm>
            <a:off x="2667001" y="1752601"/>
            <a:ext cx="7358063" cy="38957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a:extLst>
              <a:ext uri="{FF2B5EF4-FFF2-40B4-BE49-F238E27FC236}">
                <a16:creationId xmlns:a16="http://schemas.microsoft.com/office/drawing/2014/main" id="{2958C24D-F54E-4934-83F6-F8379949B347}"/>
              </a:ext>
            </a:extLst>
          </p:cNvPr>
          <p:cNvSpPr>
            <a:spLocks noChangeArrowheads="1"/>
          </p:cNvSpPr>
          <p:nvPr/>
        </p:nvSpPr>
        <p:spPr bwMode="auto">
          <a:xfrm>
            <a:off x="4343400" y="1905000"/>
            <a:ext cx="2971800" cy="914400"/>
          </a:xfrm>
          <a:prstGeom prst="rect">
            <a:avLst/>
          </a:prstGeom>
          <a:solidFill>
            <a:srgbClr val="FFFF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6499" name="Rectangle 3">
            <a:extLst>
              <a:ext uri="{FF2B5EF4-FFF2-40B4-BE49-F238E27FC236}">
                <a16:creationId xmlns:a16="http://schemas.microsoft.com/office/drawing/2014/main" id="{96CF171B-E0A1-4F27-8341-0DABB10E9DCC}"/>
              </a:ext>
            </a:extLst>
          </p:cNvPr>
          <p:cNvSpPr>
            <a:spLocks noGrp="1" noChangeArrowheads="1"/>
          </p:cNvSpPr>
          <p:nvPr>
            <p:ph type="title"/>
          </p:nvPr>
        </p:nvSpPr>
        <p:spPr>
          <a:xfrm>
            <a:off x="2286000" y="182564"/>
            <a:ext cx="7772400" cy="579437"/>
          </a:xfrm>
        </p:spPr>
        <p:txBody>
          <a:bodyPr/>
          <a:lstStyle/>
          <a:p>
            <a:r>
              <a:rPr lang="en-US" altLang="en-US"/>
              <a:t>Steady State Unsaturated Flow - Example</a:t>
            </a:r>
          </a:p>
        </p:txBody>
      </p:sp>
      <p:sp>
        <p:nvSpPr>
          <p:cNvPr id="746500" name="Rectangle 4">
            <a:extLst>
              <a:ext uri="{FF2B5EF4-FFF2-40B4-BE49-F238E27FC236}">
                <a16:creationId xmlns:a16="http://schemas.microsoft.com/office/drawing/2014/main" id="{1B46B23E-6649-43F3-B2BC-D0921C084A51}"/>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1" name="Rectangle 5">
            <a:extLst>
              <a:ext uri="{FF2B5EF4-FFF2-40B4-BE49-F238E27FC236}">
                <a16:creationId xmlns:a16="http://schemas.microsoft.com/office/drawing/2014/main" id="{2BC2DD24-5DE5-485E-AE69-5C2B40F2095B}"/>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2" name="Rectangle 6">
            <a:extLst>
              <a:ext uri="{FF2B5EF4-FFF2-40B4-BE49-F238E27FC236}">
                <a16:creationId xmlns:a16="http://schemas.microsoft.com/office/drawing/2014/main" id="{45A36C07-AC45-4DCC-922A-CD3987BC3210}"/>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3" name="Rectangle 7">
            <a:extLst>
              <a:ext uri="{FF2B5EF4-FFF2-40B4-BE49-F238E27FC236}">
                <a16:creationId xmlns:a16="http://schemas.microsoft.com/office/drawing/2014/main" id="{082AFE4A-22EF-4A01-B89C-A7DB9E66DC0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4" name="Rectangle 8">
            <a:extLst>
              <a:ext uri="{FF2B5EF4-FFF2-40B4-BE49-F238E27FC236}">
                <a16:creationId xmlns:a16="http://schemas.microsoft.com/office/drawing/2014/main" id="{1FA9CA0A-2691-45A9-BD34-7E411380D5D5}"/>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5" name="Rectangle 9">
            <a:extLst>
              <a:ext uri="{FF2B5EF4-FFF2-40B4-BE49-F238E27FC236}">
                <a16:creationId xmlns:a16="http://schemas.microsoft.com/office/drawing/2014/main" id="{B1F34AAB-CB47-4B6E-B6B6-6B50598EE74B}"/>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6" name="Rectangle 10">
            <a:extLst>
              <a:ext uri="{FF2B5EF4-FFF2-40B4-BE49-F238E27FC236}">
                <a16:creationId xmlns:a16="http://schemas.microsoft.com/office/drawing/2014/main" id="{8EDA9358-30EC-4C1D-9124-B37F86ED81A9}"/>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7" name="Rectangle 11">
            <a:extLst>
              <a:ext uri="{FF2B5EF4-FFF2-40B4-BE49-F238E27FC236}">
                <a16:creationId xmlns:a16="http://schemas.microsoft.com/office/drawing/2014/main" id="{6457A4E2-0BA2-4202-B1A4-67E59D198521}"/>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8" name="Rectangle 12">
            <a:extLst>
              <a:ext uri="{FF2B5EF4-FFF2-40B4-BE49-F238E27FC236}">
                <a16:creationId xmlns:a16="http://schemas.microsoft.com/office/drawing/2014/main" id="{0B8BAA24-297D-46B2-8CC4-AA5A668A395B}"/>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09" name="Rectangle 13">
            <a:extLst>
              <a:ext uri="{FF2B5EF4-FFF2-40B4-BE49-F238E27FC236}">
                <a16:creationId xmlns:a16="http://schemas.microsoft.com/office/drawing/2014/main" id="{A68A71C8-A48F-452D-A9C5-FEC752148C22}"/>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0" name="Rectangle 14">
            <a:extLst>
              <a:ext uri="{FF2B5EF4-FFF2-40B4-BE49-F238E27FC236}">
                <a16:creationId xmlns:a16="http://schemas.microsoft.com/office/drawing/2014/main" id="{B12D4ECB-D6F0-409D-84DB-3DD725D04AF5}"/>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1" name="Rectangle 15">
            <a:extLst>
              <a:ext uri="{FF2B5EF4-FFF2-40B4-BE49-F238E27FC236}">
                <a16:creationId xmlns:a16="http://schemas.microsoft.com/office/drawing/2014/main" id="{6A962E34-93A4-43AF-A402-42D56F105A86}"/>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2" name="Rectangle 16">
            <a:extLst>
              <a:ext uri="{FF2B5EF4-FFF2-40B4-BE49-F238E27FC236}">
                <a16:creationId xmlns:a16="http://schemas.microsoft.com/office/drawing/2014/main" id="{CAF8A460-0E2F-4E7A-9225-8D006DB780D3}"/>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3" name="Rectangle 17">
            <a:extLst>
              <a:ext uri="{FF2B5EF4-FFF2-40B4-BE49-F238E27FC236}">
                <a16:creationId xmlns:a16="http://schemas.microsoft.com/office/drawing/2014/main" id="{54454410-D696-4DCD-A0F5-CDD426CEB46B}"/>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4" name="Rectangle 18">
            <a:extLst>
              <a:ext uri="{FF2B5EF4-FFF2-40B4-BE49-F238E27FC236}">
                <a16:creationId xmlns:a16="http://schemas.microsoft.com/office/drawing/2014/main" id="{84679947-E8AA-42BC-A8A7-8D11FF174F9C}"/>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46515" name="Text Box 19">
            <a:extLst>
              <a:ext uri="{FF2B5EF4-FFF2-40B4-BE49-F238E27FC236}">
                <a16:creationId xmlns:a16="http://schemas.microsoft.com/office/drawing/2014/main" id="{3B7EC78D-D1FD-4CDA-B0FA-FAFF02F5B11B}"/>
              </a:ext>
            </a:extLst>
          </p:cNvPr>
          <p:cNvSpPr txBox="1">
            <a:spLocks noChangeArrowheads="1"/>
          </p:cNvSpPr>
          <p:nvPr/>
        </p:nvSpPr>
        <p:spPr bwMode="auto">
          <a:xfrm>
            <a:off x="2362200" y="838200"/>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Solution - Continued:</a:t>
            </a:r>
          </a:p>
        </p:txBody>
      </p:sp>
      <p:sp>
        <p:nvSpPr>
          <p:cNvPr id="746516" name="Text Box 20">
            <a:extLst>
              <a:ext uri="{FF2B5EF4-FFF2-40B4-BE49-F238E27FC236}">
                <a16:creationId xmlns:a16="http://schemas.microsoft.com/office/drawing/2014/main" id="{0B1C6438-87E6-48E6-AEFD-291995A6E41A}"/>
              </a:ext>
            </a:extLst>
          </p:cNvPr>
          <p:cNvSpPr txBox="1">
            <a:spLocks noChangeArrowheads="1"/>
          </p:cNvSpPr>
          <p:nvPr/>
        </p:nvSpPr>
        <p:spPr bwMode="auto">
          <a:xfrm>
            <a:off x="2362200" y="1235075"/>
            <a:ext cx="807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eriod" startAt="2"/>
            </a:pPr>
            <a:r>
              <a:rPr lang="en-US" altLang="en-US" sz="1900" b="1">
                <a:effectLst>
                  <a:outerShdw blurRad="38100" dist="38100" dir="2700000" algn="tl">
                    <a:srgbClr val="C0C0C0"/>
                  </a:outerShdw>
                </a:effectLst>
              </a:rPr>
              <a:t>To estimate the hydraulic gradient we have to solve:</a:t>
            </a:r>
          </a:p>
        </p:txBody>
      </p:sp>
      <p:graphicFrame>
        <p:nvGraphicFramePr>
          <p:cNvPr id="746517" name="Object 21">
            <a:extLst>
              <a:ext uri="{FF2B5EF4-FFF2-40B4-BE49-F238E27FC236}">
                <a16:creationId xmlns:a16="http://schemas.microsoft.com/office/drawing/2014/main" id="{490CB06C-01DA-4498-8910-A9136C3C7523}"/>
              </a:ext>
            </a:extLst>
          </p:cNvPr>
          <p:cNvGraphicFramePr>
            <a:graphicFrameLocks noChangeAspect="1"/>
          </p:cNvGraphicFramePr>
          <p:nvPr/>
        </p:nvGraphicFramePr>
        <p:xfrm>
          <a:off x="4495800" y="1981200"/>
          <a:ext cx="2660650" cy="712788"/>
        </p:xfrm>
        <a:graphic>
          <a:graphicData uri="http://schemas.openxmlformats.org/presentationml/2006/ole">
            <mc:AlternateContent xmlns:mc="http://schemas.openxmlformats.org/markup-compatibility/2006">
              <mc:Choice xmlns:v="urn:schemas-microsoft-com:vml" Requires="v">
                <p:oleObj spid="_x0000_s8236" name="Equation" r:id="rId4" imgW="1459866" imgH="393529" progId="Equation.3">
                  <p:embed/>
                </p:oleObj>
              </mc:Choice>
              <mc:Fallback>
                <p:oleObj name="Equation" r:id="rId4" imgW="1459866" imgH="393529" progId="Equation.3">
                  <p:embed/>
                  <p:pic>
                    <p:nvPicPr>
                      <p:cNvPr id="746517" name="Object 21">
                        <a:extLst>
                          <a:ext uri="{FF2B5EF4-FFF2-40B4-BE49-F238E27FC236}">
                            <a16:creationId xmlns:a16="http://schemas.microsoft.com/office/drawing/2014/main" id="{490CB06C-01DA-4498-8910-A9136C3C75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981200"/>
                        <a:ext cx="2660650"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6518" name="Object 22">
            <a:extLst>
              <a:ext uri="{FF2B5EF4-FFF2-40B4-BE49-F238E27FC236}">
                <a16:creationId xmlns:a16="http://schemas.microsoft.com/office/drawing/2014/main" id="{1D533EDA-AD08-42A2-B839-03FB6FE04E69}"/>
              </a:ext>
            </a:extLst>
          </p:cNvPr>
          <p:cNvGraphicFramePr>
            <a:graphicFrameLocks noChangeAspect="1"/>
          </p:cNvGraphicFramePr>
          <p:nvPr/>
        </p:nvGraphicFramePr>
        <p:xfrm>
          <a:off x="3886201" y="3200401"/>
          <a:ext cx="1865313" cy="411163"/>
        </p:xfrm>
        <a:graphic>
          <a:graphicData uri="http://schemas.openxmlformats.org/presentationml/2006/ole">
            <mc:AlternateContent xmlns:mc="http://schemas.openxmlformats.org/markup-compatibility/2006">
              <mc:Choice xmlns:v="urn:schemas-microsoft-com:vml" Requires="v">
                <p:oleObj spid="_x0000_s8237" name="Equation" r:id="rId6" imgW="1040948" imgH="228501" progId="Equation.3">
                  <p:embed/>
                </p:oleObj>
              </mc:Choice>
              <mc:Fallback>
                <p:oleObj name="Equation" r:id="rId6" imgW="1040948" imgH="228501" progId="Equation.3">
                  <p:embed/>
                  <p:pic>
                    <p:nvPicPr>
                      <p:cNvPr id="746518" name="Object 22">
                        <a:extLst>
                          <a:ext uri="{FF2B5EF4-FFF2-40B4-BE49-F238E27FC236}">
                            <a16:creationId xmlns:a16="http://schemas.microsoft.com/office/drawing/2014/main" id="{1D533EDA-AD08-42A2-B839-03FB6FE04E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1" y="3200401"/>
                        <a:ext cx="1865313"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6519" name="Object 23">
            <a:extLst>
              <a:ext uri="{FF2B5EF4-FFF2-40B4-BE49-F238E27FC236}">
                <a16:creationId xmlns:a16="http://schemas.microsoft.com/office/drawing/2014/main" id="{40DBE6D3-C7D4-4FC3-9D71-F4B5D024BCEE}"/>
              </a:ext>
            </a:extLst>
          </p:cNvPr>
          <p:cNvGraphicFramePr>
            <a:graphicFrameLocks noChangeAspect="1"/>
          </p:cNvGraphicFramePr>
          <p:nvPr/>
        </p:nvGraphicFramePr>
        <p:xfrm>
          <a:off x="3810001" y="3811588"/>
          <a:ext cx="4543425" cy="711200"/>
        </p:xfrm>
        <a:graphic>
          <a:graphicData uri="http://schemas.openxmlformats.org/presentationml/2006/ole">
            <mc:AlternateContent xmlns:mc="http://schemas.openxmlformats.org/markup-compatibility/2006">
              <mc:Choice xmlns:v="urn:schemas-microsoft-com:vml" Requires="v">
                <p:oleObj spid="_x0000_s8238" name="Equation" r:id="rId8" imgW="2489200" imgH="393700" progId="Equation.3">
                  <p:embed/>
                </p:oleObj>
              </mc:Choice>
              <mc:Fallback>
                <p:oleObj name="Equation" r:id="rId8" imgW="2489200" imgH="393700" progId="Equation.3">
                  <p:embed/>
                  <p:pic>
                    <p:nvPicPr>
                      <p:cNvPr id="746519" name="Object 23">
                        <a:extLst>
                          <a:ext uri="{FF2B5EF4-FFF2-40B4-BE49-F238E27FC236}">
                            <a16:creationId xmlns:a16="http://schemas.microsoft.com/office/drawing/2014/main" id="{40DBE6D3-C7D4-4FC3-9D71-F4B5D024BC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1" y="3811588"/>
                        <a:ext cx="4543425"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6520" name="Object 24">
            <a:extLst>
              <a:ext uri="{FF2B5EF4-FFF2-40B4-BE49-F238E27FC236}">
                <a16:creationId xmlns:a16="http://schemas.microsoft.com/office/drawing/2014/main" id="{A2C44387-5C6B-49D3-BF6E-A0A12814B17A}"/>
              </a:ext>
            </a:extLst>
          </p:cNvPr>
          <p:cNvGraphicFramePr>
            <a:graphicFrameLocks noChangeAspect="1"/>
          </p:cNvGraphicFramePr>
          <p:nvPr/>
        </p:nvGraphicFramePr>
        <p:xfrm>
          <a:off x="3886201" y="4800600"/>
          <a:ext cx="4195763" cy="412750"/>
        </p:xfrm>
        <a:graphic>
          <a:graphicData uri="http://schemas.openxmlformats.org/presentationml/2006/ole">
            <mc:AlternateContent xmlns:mc="http://schemas.openxmlformats.org/markup-compatibility/2006">
              <mc:Choice xmlns:v="urn:schemas-microsoft-com:vml" Requires="v">
                <p:oleObj spid="_x0000_s8239" name="Equation" r:id="rId10" imgW="2336800" imgH="228600" progId="Equation.3">
                  <p:embed/>
                </p:oleObj>
              </mc:Choice>
              <mc:Fallback>
                <p:oleObj name="Equation" r:id="rId10" imgW="2336800" imgH="228600" progId="Equation.3">
                  <p:embed/>
                  <p:pic>
                    <p:nvPicPr>
                      <p:cNvPr id="746520" name="Object 24">
                        <a:extLst>
                          <a:ext uri="{FF2B5EF4-FFF2-40B4-BE49-F238E27FC236}">
                            <a16:creationId xmlns:a16="http://schemas.microsoft.com/office/drawing/2014/main" id="{A2C44387-5C6B-49D3-BF6E-A0A12814B1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86201" y="4800600"/>
                        <a:ext cx="4195763"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6521" name="Object 25">
            <a:extLst>
              <a:ext uri="{FF2B5EF4-FFF2-40B4-BE49-F238E27FC236}">
                <a16:creationId xmlns:a16="http://schemas.microsoft.com/office/drawing/2014/main" id="{D7CE0DCE-81C4-4BE1-81FB-6CF8CFEA1ACE}"/>
              </a:ext>
            </a:extLst>
          </p:cNvPr>
          <p:cNvGraphicFramePr>
            <a:graphicFrameLocks noChangeAspect="1"/>
          </p:cNvGraphicFramePr>
          <p:nvPr/>
        </p:nvGraphicFramePr>
        <p:xfrm>
          <a:off x="3886201" y="5334001"/>
          <a:ext cx="4111625" cy="411163"/>
        </p:xfrm>
        <a:graphic>
          <a:graphicData uri="http://schemas.openxmlformats.org/presentationml/2006/ole">
            <mc:AlternateContent xmlns:mc="http://schemas.openxmlformats.org/markup-compatibility/2006">
              <mc:Choice xmlns:v="urn:schemas-microsoft-com:vml" Requires="v">
                <p:oleObj spid="_x0000_s8240" name="Equation" r:id="rId12" imgW="2286000" imgH="228600" progId="Equation.3">
                  <p:embed/>
                </p:oleObj>
              </mc:Choice>
              <mc:Fallback>
                <p:oleObj name="Equation" r:id="rId12" imgW="2286000" imgH="228600" progId="Equation.3">
                  <p:embed/>
                  <p:pic>
                    <p:nvPicPr>
                      <p:cNvPr id="746521" name="Object 25">
                        <a:extLst>
                          <a:ext uri="{FF2B5EF4-FFF2-40B4-BE49-F238E27FC236}">
                            <a16:creationId xmlns:a16="http://schemas.microsoft.com/office/drawing/2014/main" id="{D7CE0DCE-81C4-4BE1-81FB-6CF8CFEA1A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86201" y="5334001"/>
                        <a:ext cx="41116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6522" name="Object 26">
            <a:extLst>
              <a:ext uri="{FF2B5EF4-FFF2-40B4-BE49-F238E27FC236}">
                <a16:creationId xmlns:a16="http://schemas.microsoft.com/office/drawing/2014/main" id="{268C386C-A8F9-478C-B3C1-A675004EB76D}"/>
              </a:ext>
            </a:extLst>
          </p:cNvPr>
          <p:cNvGraphicFramePr>
            <a:graphicFrameLocks noChangeAspect="1"/>
          </p:cNvGraphicFramePr>
          <p:nvPr/>
        </p:nvGraphicFramePr>
        <p:xfrm>
          <a:off x="3886200" y="5837238"/>
          <a:ext cx="4059238" cy="411162"/>
        </p:xfrm>
        <a:graphic>
          <a:graphicData uri="http://schemas.openxmlformats.org/presentationml/2006/ole">
            <mc:AlternateContent xmlns:mc="http://schemas.openxmlformats.org/markup-compatibility/2006">
              <mc:Choice xmlns:v="urn:schemas-microsoft-com:vml" Requires="v">
                <p:oleObj spid="_x0000_s8241" name="Equation" r:id="rId14" imgW="2260600" imgH="228600" progId="Equation.3">
                  <p:embed/>
                </p:oleObj>
              </mc:Choice>
              <mc:Fallback>
                <p:oleObj name="Equation" r:id="rId14" imgW="2260600" imgH="228600" progId="Equation.3">
                  <p:embed/>
                  <p:pic>
                    <p:nvPicPr>
                      <p:cNvPr id="746522" name="Object 26">
                        <a:extLst>
                          <a:ext uri="{FF2B5EF4-FFF2-40B4-BE49-F238E27FC236}">
                            <a16:creationId xmlns:a16="http://schemas.microsoft.com/office/drawing/2014/main" id="{268C386C-A8F9-478C-B3C1-A675004EB76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86200" y="5837238"/>
                        <a:ext cx="4059238"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5210EAFE-C654-4BA5-8D3C-D2A789E16975}"/>
              </a:ext>
            </a:extLst>
          </p:cNvPr>
          <p:cNvSpPr>
            <a:spLocks noGrp="1" noChangeArrowheads="1"/>
          </p:cNvSpPr>
          <p:nvPr>
            <p:ph type="title"/>
          </p:nvPr>
        </p:nvSpPr>
        <p:spPr>
          <a:xfrm>
            <a:off x="669373" y="570823"/>
            <a:ext cx="10790260" cy="640080"/>
          </a:xfrm>
        </p:spPr>
        <p:txBody>
          <a:bodyPr>
            <a:normAutofit/>
          </a:bodyPr>
          <a:lstStyle/>
          <a:p>
            <a:r>
              <a:rPr lang="en-US" altLang="en-US" sz="3200" dirty="0"/>
              <a:t>Unsteady and Unsaturated Flow –The Richards Equation</a:t>
            </a:r>
          </a:p>
        </p:txBody>
      </p:sp>
      <p:sp>
        <p:nvSpPr>
          <p:cNvPr id="2" name="Content Placeholder 1">
            <a:extLst>
              <a:ext uri="{FF2B5EF4-FFF2-40B4-BE49-F238E27FC236}">
                <a16:creationId xmlns:a16="http://schemas.microsoft.com/office/drawing/2014/main" id="{242B83BF-2A51-4CD8-B799-D230E76A0C4A}"/>
              </a:ext>
            </a:extLst>
          </p:cNvPr>
          <p:cNvSpPr>
            <a:spLocks noGrp="1"/>
          </p:cNvSpPr>
          <p:nvPr>
            <p:ph sz="quarter" idx="10"/>
          </p:nvPr>
        </p:nvSpPr>
        <p:spPr/>
        <p:txBody>
          <a:bodyPr/>
          <a:lstStyle/>
          <a:p>
            <a:endParaRPr lang="en-US"/>
          </a:p>
        </p:txBody>
      </p:sp>
      <p:pic>
        <p:nvPicPr>
          <p:cNvPr id="775171" name="Picture 3">
            <a:extLst>
              <a:ext uri="{FF2B5EF4-FFF2-40B4-BE49-F238E27FC236}">
                <a16:creationId xmlns:a16="http://schemas.microsoft.com/office/drawing/2014/main" id="{B5652E49-B8D9-49B7-939C-A3F7C8369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9733" y="1524002"/>
            <a:ext cx="5224084" cy="2992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a:extLst>
              <a:ext uri="{FF2B5EF4-FFF2-40B4-BE49-F238E27FC236}">
                <a16:creationId xmlns:a16="http://schemas.microsoft.com/office/drawing/2014/main" id="{AC69B29D-24CF-4B45-8A76-62177B6C36C3}"/>
              </a:ext>
            </a:extLst>
          </p:cNvPr>
          <p:cNvSpPr>
            <a:spLocks noGrp="1" noChangeArrowheads="1"/>
          </p:cNvSpPr>
          <p:nvPr>
            <p:ph type="title"/>
          </p:nvPr>
        </p:nvSpPr>
        <p:spPr>
          <a:xfrm>
            <a:off x="2286000" y="182564"/>
            <a:ext cx="7772400" cy="579437"/>
          </a:xfrm>
        </p:spPr>
        <p:txBody>
          <a:bodyPr/>
          <a:lstStyle/>
          <a:p>
            <a:r>
              <a:rPr lang="en-US" altLang="en-US"/>
              <a:t>Unsaturated Nonsteady Flow</a:t>
            </a:r>
          </a:p>
        </p:txBody>
      </p:sp>
      <p:sp>
        <p:nvSpPr>
          <p:cNvPr id="776195" name="Rectangle 3">
            <a:extLst>
              <a:ext uri="{FF2B5EF4-FFF2-40B4-BE49-F238E27FC236}">
                <a16:creationId xmlns:a16="http://schemas.microsoft.com/office/drawing/2014/main" id="{7D7D49BC-B2EC-498F-AB30-4852F0D50CAC}"/>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196" name="Rectangle 4">
            <a:extLst>
              <a:ext uri="{FF2B5EF4-FFF2-40B4-BE49-F238E27FC236}">
                <a16:creationId xmlns:a16="http://schemas.microsoft.com/office/drawing/2014/main" id="{6203637E-9FB7-43FE-869D-D523C865FCA3}"/>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197" name="Rectangle 5">
            <a:extLst>
              <a:ext uri="{FF2B5EF4-FFF2-40B4-BE49-F238E27FC236}">
                <a16:creationId xmlns:a16="http://schemas.microsoft.com/office/drawing/2014/main" id="{F1EC5F7C-9107-45A2-98D8-E5BEAAA4558C}"/>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198" name="Rectangle 6">
            <a:extLst>
              <a:ext uri="{FF2B5EF4-FFF2-40B4-BE49-F238E27FC236}">
                <a16:creationId xmlns:a16="http://schemas.microsoft.com/office/drawing/2014/main" id="{DE4BDABA-6E14-43F7-9A31-F089C291B0B2}"/>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199" name="Rectangle 7">
            <a:extLst>
              <a:ext uri="{FF2B5EF4-FFF2-40B4-BE49-F238E27FC236}">
                <a16:creationId xmlns:a16="http://schemas.microsoft.com/office/drawing/2014/main" id="{0765BD45-9F63-4371-8EA8-AED0E11E030C}"/>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0" name="Rectangle 8">
            <a:extLst>
              <a:ext uri="{FF2B5EF4-FFF2-40B4-BE49-F238E27FC236}">
                <a16:creationId xmlns:a16="http://schemas.microsoft.com/office/drawing/2014/main" id="{56E52B0A-93F7-4786-ACDA-2495A19B48AF}"/>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1" name="Rectangle 9">
            <a:extLst>
              <a:ext uri="{FF2B5EF4-FFF2-40B4-BE49-F238E27FC236}">
                <a16:creationId xmlns:a16="http://schemas.microsoft.com/office/drawing/2014/main" id="{40119455-6BA7-476A-9B79-790B2735C115}"/>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2" name="Rectangle 10">
            <a:extLst>
              <a:ext uri="{FF2B5EF4-FFF2-40B4-BE49-F238E27FC236}">
                <a16:creationId xmlns:a16="http://schemas.microsoft.com/office/drawing/2014/main" id="{E869D4D6-66D9-48D6-A40F-525D93C1BDBF}"/>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3" name="Rectangle 11">
            <a:extLst>
              <a:ext uri="{FF2B5EF4-FFF2-40B4-BE49-F238E27FC236}">
                <a16:creationId xmlns:a16="http://schemas.microsoft.com/office/drawing/2014/main" id="{D19A452A-E6E6-4258-8E1D-5ADAEFB5B5D8}"/>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4" name="Rectangle 12">
            <a:extLst>
              <a:ext uri="{FF2B5EF4-FFF2-40B4-BE49-F238E27FC236}">
                <a16:creationId xmlns:a16="http://schemas.microsoft.com/office/drawing/2014/main" id="{7EE9B036-5D20-4176-9663-46FC4D53F10C}"/>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5" name="Rectangle 13">
            <a:extLst>
              <a:ext uri="{FF2B5EF4-FFF2-40B4-BE49-F238E27FC236}">
                <a16:creationId xmlns:a16="http://schemas.microsoft.com/office/drawing/2014/main" id="{0D2B78E9-573B-40FB-A8AF-B8D5A837DF18}"/>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6" name="Rectangle 14">
            <a:extLst>
              <a:ext uri="{FF2B5EF4-FFF2-40B4-BE49-F238E27FC236}">
                <a16:creationId xmlns:a16="http://schemas.microsoft.com/office/drawing/2014/main" id="{AA8CD603-EE0E-450D-A97F-4BB1C6889F1C}"/>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7" name="Rectangle 15">
            <a:extLst>
              <a:ext uri="{FF2B5EF4-FFF2-40B4-BE49-F238E27FC236}">
                <a16:creationId xmlns:a16="http://schemas.microsoft.com/office/drawing/2014/main" id="{7244DECD-96C7-4B5F-B6F3-A426721C9668}"/>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8" name="Rectangle 16">
            <a:extLst>
              <a:ext uri="{FF2B5EF4-FFF2-40B4-BE49-F238E27FC236}">
                <a16:creationId xmlns:a16="http://schemas.microsoft.com/office/drawing/2014/main" id="{0C84120B-1B8D-45AB-9B17-2B650778075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09" name="Rectangle 17">
            <a:extLst>
              <a:ext uri="{FF2B5EF4-FFF2-40B4-BE49-F238E27FC236}">
                <a16:creationId xmlns:a16="http://schemas.microsoft.com/office/drawing/2014/main" id="{0D091654-B00F-454D-88D3-B0570D12555F}"/>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6210" name="Text Box 18">
            <a:extLst>
              <a:ext uri="{FF2B5EF4-FFF2-40B4-BE49-F238E27FC236}">
                <a16:creationId xmlns:a16="http://schemas.microsoft.com/office/drawing/2014/main" id="{E417B628-1C9A-4BD5-8AEE-DABAED715650}"/>
              </a:ext>
            </a:extLst>
          </p:cNvPr>
          <p:cNvSpPr txBox="1">
            <a:spLocks noChangeArrowheads="1"/>
          </p:cNvSpPr>
          <p:nvPr/>
        </p:nvSpPr>
        <p:spPr bwMode="auto">
          <a:xfrm>
            <a:off x="2286000" y="844550"/>
            <a:ext cx="7772400"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Unsaturated nonsteady flow is the most common flow regime under field situations, where water content </a:t>
            </a:r>
            <a:r>
              <a:rPr lang="en-US" altLang="en-US" sz="1900" b="1">
                <a:solidFill>
                  <a:srgbClr val="CC0000"/>
                </a:solidFill>
                <a:effectLst>
                  <a:outerShdw blurRad="38100" dist="38100" dir="2700000" algn="tl">
                    <a:srgbClr val="C0C0C0"/>
                  </a:outerShdw>
                </a:effectLst>
                <a:latin typeface="Symbol" panose="05050102010706020507" pitchFamily="18" charset="2"/>
              </a:rPr>
              <a:t>q</a:t>
            </a:r>
            <a:r>
              <a:rPr lang="en-US" altLang="en-US" sz="1900" b="1">
                <a:effectLst>
                  <a:outerShdw blurRad="38100" dist="38100" dir="2700000" algn="tl">
                    <a:srgbClr val="C0C0C0"/>
                  </a:outerShdw>
                </a:effectLst>
              </a:rPr>
              <a:t>, the matric potential </a:t>
            </a:r>
            <a:r>
              <a:rPr lang="en-US" altLang="en-US" sz="1900" b="1">
                <a:solidFill>
                  <a:srgbClr val="CC0000"/>
                </a:solidFill>
                <a:effectLst>
                  <a:outerShdw blurRad="38100" dist="38100" dir="2700000" algn="tl">
                    <a:srgbClr val="C0C0C0"/>
                  </a:outerShdw>
                </a:effectLst>
              </a:rPr>
              <a:t>h</a:t>
            </a:r>
            <a:r>
              <a:rPr lang="en-US" altLang="en-US" sz="1900" b="1">
                <a:effectLst>
                  <a:outerShdw blurRad="38100" dist="38100" dir="2700000" algn="tl">
                    <a:srgbClr val="C0C0C0"/>
                  </a:outerShdw>
                </a:effectLst>
              </a:rPr>
              <a:t>, and the flux </a:t>
            </a:r>
            <a:r>
              <a:rPr lang="en-US" altLang="en-US" sz="1900" b="1">
                <a:solidFill>
                  <a:srgbClr val="CC0000"/>
                </a:solidFill>
                <a:effectLst>
                  <a:outerShdw blurRad="38100" dist="38100" dir="2700000" algn="tl">
                    <a:srgbClr val="C0C0C0"/>
                  </a:outerShdw>
                </a:effectLst>
              </a:rPr>
              <a:t>J</a:t>
            </a:r>
            <a:r>
              <a:rPr lang="en-US" altLang="en-US" sz="1900" b="1" baseline="-25000">
                <a:solidFill>
                  <a:srgbClr val="CC0000"/>
                </a:solidFill>
                <a:effectLst>
                  <a:outerShdw blurRad="38100" dist="38100" dir="2700000" algn="tl">
                    <a:srgbClr val="C0C0C0"/>
                  </a:outerShdw>
                </a:effectLst>
              </a:rPr>
              <a:t>w</a:t>
            </a:r>
            <a:r>
              <a:rPr lang="en-US" altLang="en-US" sz="1900" b="1">
                <a:effectLst>
                  <a:outerShdw blurRad="38100" dist="38100" dir="2700000" algn="tl">
                    <a:srgbClr val="C0C0C0"/>
                  </a:outerShdw>
                </a:effectLst>
              </a:rPr>
              <a:t> vary in time and space.</a:t>
            </a:r>
          </a:p>
          <a:p>
            <a:pPr eaLnBrk="0" hangingPunct="0">
              <a:spcBef>
                <a:spcPct val="50000"/>
              </a:spcBef>
              <a:buClr>
                <a:srgbClr val="CC0000"/>
              </a:buClr>
            </a:pPr>
            <a:r>
              <a:rPr lang="en-US" altLang="en-US" sz="1900" b="1">
                <a:effectLst>
                  <a:outerShdw blurRad="38100" dist="38100" dir="2700000" algn="tl">
                    <a:srgbClr val="C0C0C0"/>
                  </a:outerShdw>
                </a:effectLst>
              </a:rPr>
              <a:t>The application of Buckingham-Darcy's law to describe the flow is no longer sufficient as the flux varies from one location to another, a condition called flux divergence.</a:t>
            </a:r>
          </a:p>
          <a:p>
            <a:pPr eaLnBrk="0" hangingPunct="0">
              <a:spcBef>
                <a:spcPct val="50000"/>
              </a:spcBef>
              <a:buClr>
                <a:srgbClr val="CC0000"/>
              </a:buClr>
            </a:pPr>
            <a:r>
              <a:rPr lang="en-US" altLang="en-US" sz="1900" b="1">
                <a:effectLst>
                  <a:outerShdw blurRad="38100" dist="38100" dir="2700000" algn="tl">
                    <a:srgbClr val="C0C0C0"/>
                  </a:outerShdw>
                </a:effectLst>
              </a:rPr>
              <a:t>The difference between the flux entering a volume element of soil and that exiting the same volume element is the change in water content, or storage </a:t>
            </a:r>
            <a:r>
              <a:rPr lang="en-US" altLang="en-US" sz="1900" b="1">
                <a:solidFill>
                  <a:srgbClr val="CC0000"/>
                </a:solidFill>
                <a:effectLst>
                  <a:outerShdw blurRad="38100" dist="38100" dir="2700000" algn="tl">
                    <a:srgbClr val="C0C0C0"/>
                  </a:outerShdw>
                </a:effectLst>
              </a:rPr>
              <a:t>(CONSERVATION OF MASS = CONTINUITY PRINCIPLE).</a:t>
            </a:r>
            <a:r>
              <a:rPr lang="en-US" altLang="en-US" sz="1900" b="1">
                <a:effectLst>
                  <a:outerShdw blurRad="38100" dist="38100" dir="2700000" algn="tl">
                    <a:srgbClr val="C0C0C0"/>
                  </a:outerShdw>
                </a:effectLst>
              </a:rPr>
              <a:t> </a:t>
            </a:r>
          </a:p>
        </p:txBody>
      </p:sp>
      <p:pic>
        <p:nvPicPr>
          <p:cNvPr id="776211" name="Picture 19">
            <a:extLst>
              <a:ext uri="{FF2B5EF4-FFF2-40B4-BE49-F238E27FC236}">
                <a16:creationId xmlns:a16="http://schemas.microsoft.com/office/drawing/2014/main" id="{1369AFE1-FAE2-478A-B517-17FC066D544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886200" y="3962401"/>
            <a:ext cx="4648200" cy="2663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BA7BDAB3-6D7C-4C51-BE92-18F641FFD766}"/>
              </a:ext>
            </a:extLst>
          </p:cNvPr>
          <p:cNvSpPr>
            <a:spLocks noGrp="1" noChangeArrowheads="1"/>
          </p:cNvSpPr>
          <p:nvPr>
            <p:ph type="title"/>
          </p:nvPr>
        </p:nvSpPr>
        <p:spPr>
          <a:xfrm>
            <a:off x="2286000" y="182564"/>
            <a:ext cx="7772400" cy="579437"/>
          </a:xfrm>
        </p:spPr>
        <p:txBody>
          <a:bodyPr/>
          <a:lstStyle/>
          <a:p>
            <a:r>
              <a:rPr lang="en-US" altLang="en-US"/>
              <a:t>The Richards Equation</a:t>
            </a:r>
          </a:p>
        </p:txBody>
      </p:sp>
      <p:sp>
        <p:nvSpPr>
          <p:cNvPr id="778243" name="Rectangle 3">
            <a:extLst>
              <a:ext uri="{FF2B5EF4-FFF2-40B4-BE49-F238E27FC236}">
                <a16:creationId xmlns:a16="http://schemas.microsoft.com/office/drawing/2014/main" id="{684303F9-917B-4DE3-A092-DC90236D7D6B}"/>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4" name="Rectangle 4">
            <a:extLst>
              <a:ext uri="{FF2B5EF4-FFF2-40B4-BE49-F238E27FC236}">
                <a16:creationId xmlns:a16="http://schemas.microsoft.com/office/drawing/2014/main" id="{16ABCB0C-1D8C-460F-9746-E6C58E9BC574}"/>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5" name="Rectangle 5">
            <a:extLst>
              <a:ext uri="{FF2B5EF4-FFF2-40B4-BE49-F238E27FC236}">
                <a16:creationId xmlns:a16="http://schemas.microsoft.com/office/drawing/2014/main" id="{21AF7073-FC50-4155-8FDA-0800EA733F70}"/>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6" name="Rectangle 6">
            <a:extLst>
              <a:ext uri="{FF2B5EF4-FFF2-40B4-BE49-F238E27FC236}">
                <a16:creationId xmlns:a16="http://schemas.microsoft.com/office/drawing/2014/main" id="{515FB963-5EEB-4A97-8F12-EB1B75D629E7}"/>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7" name="Rectangle 7">
            <a:extLst>
              <a:ext uri="{FF2B5EF4-FFF2-40B4-BE49-F238E27FC236}">
                <a16:creationId xmlns:a16="http://schemas.microsoft.com/office/drawing/2014/main" id="{FAB6D146-17B9-4403-BE63-23D55108C822}"/>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8" name="Rectangle 8">
            <a:extLst>
              <a:ext uri="{FF2B5EF4-FFF2-40B4-BE49-F238E27FC236}">
                <a16:creationId xmlns:a16="http://schemas.microsoft.com/office/drawing/2014/main" id="{E2EE397A-E619-4C68-98FC-1B498CAB7ED0}"/>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49" name="Rectangle 9">
            <a:extLst>
              <a:ext uri="{FF2B5EF4-FFF2-40B4-BE49-F238E27FC236}">
                <a16:creationId xmlns:a16="http://schemas.microsoft.com/office/drawing/2014/main" id="{60E7E7D2-B5CE-4FA0-B1ED-141AEDF5411D}"/>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0" name="Rectangle 10">
            <a:extLst>
              <a:ext uri="{FF2B5EF4-FFF2-40B4-BE49-F238E27FC236}">
                <a16:creationId xmlns:a16="http://schemas.microsoft.com/office/drawing/2014/main" id="{F08913CA-E317-4EFB-9EA2-7D5A812876FC}"/>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1" name="Rectangle 11">
            <a:extLst>
              <a:ext uri="{FF2B5EF4-FFF2-40B4-BE49-F238E27FC236}">
                <a16:creationId xmlns:a16="http://schemas.microsoft.com/office/drawing/2014/main" id="{016D039F-DAF3-496A-A063-FCE7AA6388E8}"/>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2" name="Rectangle 12">
            <a:extLst>
              <a:ext uri="{FF2B5EF4-FFF2-40B4-BE49-F238E27FC236}">
                <a16:creationId xmlns:a16="http://schemas.microsoft.com/office/drawing/2014/main" id="{62F5BFBE-A0EC-4B19-9C0D-D60BDC75456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3" name="Rectangle 13">
            <a:extLst>
              <a:ext uri="{FF2B5EF4-FFF2-40B4-BE49-F238E27FC236}">
                <a16:creationId xmlns:a16="http://schemas.microsoft.com/office/drawing/2014/main" id="{739FFA1D-BE50-4432-A11C-8864D322E223}"/>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4" name="Rectangle 14">
            <a:extLst>
              <a:ext uri="{FF2B5EF4-FFF2-40B4-BE49-F238E27FC236}">
                <a16:creationId xmlns:a16="http://schemas.microsoft.com/office/drawing/2014/main" id="{80DEDF53-6BB1-4196-8CA3-BDFABCFB297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5" name="Rectangle 15">
            <a:extLst>
              <a:ext uri="{FF2B5EF4-FFF2-40B4-BE49-F238E27FC236}">
                <a16:creationId xmlns:a16="http://schemas.microsoft.com/office/drawing/2014/main" id="{48F76C16-25C8-4981-AB86-98983D447D82}"/>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6" name="Rectangle 16">
            <a:extLst>
              <a:ext uri="{FF2B5EF4-FFF2-40B4-BE49-F238E27FC236}">
                <a16:creationId xmlns:a16="http://schemas.microsoft.com/office/drawing/2014/main" id="{6BF3DF75-F604-40C3-AC95-377D9EB768DC}"/>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7" name="Rectangle 17">
            <a:extLst>
              <a:ext uri="{FF2B5EF4-FFF2-40B4-BE49-F238E27FC236}">
                <a16:creationId xmlns:a16="http://schemas.microsoft.com/office/drawing/2014/main" id="{EAC4D062-705F-44D2-8873-F7D4FD63CCEC}"/>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78258" name="Text Box 18">
            <a:extLst>
              <a:ext uri="{FF2B5EF4-FFF2-40B4-BE49-F238E27FC236}">
                <a16:creationId xmlns:a16="http://schemas.microsoft.com/office/drawing/2014/main" id="{7B2E3CA9-C52D-4D1A-8F22-B26CB2A80AAA}"/>
              </a:ext>
            </a:extLst>
          </p:cNvPr>
          <p:cNvSpPr txBox="1">
            <a:spLocks noChangeArrowheads="1"/>
          </p:cNvSpPr>
          <p:nvPr/>
        </p:nvSpPr>
        <p:spPr bwMode="auto">
          <a:xfrm>
            <a:off x="6096000" y="990600"/>
            <a:ext cx="403860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The principal of continuity may be formalized mathematically for one-dimensional vertical flow as:</a:t>
            </a:r>
          </a:p>
        </p:txBody>
      </p:sp>
      <p:pic>
        <p:nvPicPr>
          <p:cNvPr id="778259" name="Picture 19">
            <a:extLst>
              <a:ext uri="{FF2B5EF4-FFF2-40B4-BE49-F238E27FC236}">
                <a16:creationId xmlns:a16="http://schemas.microsoft.com/office/drawing/2014/main" id="{259B5877-1CB2-442B-AC9C-C1433E7ED39C}"/>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2438400" y="1143000"/>
            <a:ext cx="3581400" cy="2052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778260" name="Object 20">
            <a:extLst>
              <a:ext uri="{FF2B5EF4-FFF2-40B4-BE49-F238E27FC236}">
                <a16:creationId xmlns:a16="http://schemas.microsoft.com/office/drawing/2014/main" id="{9C9CF359-E532-4544-8F31-B83BFB88498A}"/>
              </a:ext>
            </a:extLst>
          </p:cNvPr>
          <p:cNvGraphicFramePr>
            <a:graphicFrameLocks noChangeAspect="1"/>
          </p:cNvGraphicFramePr>
          <p:nvPr/>
        </p:nvGraphicFramePr>
        <p:xfrm>
          <a:off x="7086600" y="2133600"/>
          <a:ext cx="1524000" cy="825500"/>
        </p:xfrm>
        <a:graphic>
          <a:graphicData uri="http://schemas.openxmlformats.org/presentationml/2006/ole">
            <mc:AlternateContent xmlns:mc="http://schemas.openxmlformats.org/markup-compatibility/2006">
              <mc:Choice xmlns:v="urn:schemas-microsoft-com:vml" Requires="v">
                <p:oleObj spid="_x0000_s9232" name="Equation" r:id="rId5" imgW="787400" imgH="431800" progId="Equation.3">
                  <p:embed/>
                </p:oleObj>
              </mc:Choice>
              <mc:Fallback>
                <p:oleObj name="Equation" r:id="rId5" imgW="787400" imgH="431800" progId="Equation.3">
                  <p:embed/>
                  <p:pic>
                    <p:nvPicPr>
                      <p:cNvPr id="778260" name="Object 20">
                        <a:extLst>
                          <a:ext uri="{FF2B5EF4-FFF2-40B4-BE49-F238E27FC236}">
                            <a16:creationId xmlns:a16="http://schemas.microsoft.com/office/drawing/2014/main" id="{9C9CF359-E532-4544-8F31-B83BFB8849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2133600"/>
                        <a:ext cx="152400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261" name="Text Box 21">
            <a:extLst>
              <a:ext uri="{FF2B5EF4-FFF2-40B4-BE49-F238E27FC236}">
                <a16:creationId xmlns:a16="http://schemas.microsoft.com/office/drawing/2014/main" id="{716A5297-B68B-4280-9E5B-168A840D788C}"/>
              </a:ext>
            </a:extLst>
          </p:cNvPr>
          <p:cNvSpPr txBox="1">
            <a:spLocks noChangeArrowheads="1"/>
          </p:cNvSpPr>
          <p:nvPr/>
        </p:nvSpPr>
        <p:spPr bwMode="auto">
          <a:xfrm>
            <a:off x="2438400" y="3200400"/>
            <a:ext cx="8001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solidFill>
                  <a:srgbClr val="CC0000"/>
                </a:solidFill>
                <a:effectLst>
                  <a:outerShdw blurRad="38100" dist="38100" dir="2700000" algn="tl">
                    <a:srgbClr val="C0C0C0"/>
                  </a:outerShdw>
                </a:effectLst>
              </a:rPr>
              <a:t>Note that the partial derivatives indicate possible variations of flux and water content in space and in time. </a:t>
            </a:r>
          </a:p>
        </p:txBody>
      </p:sp>
      <p:sp>
        <p:nvSpPr>
          <p:cNvPr id="778262" name="Line 22">
            <a:extLst>
              <a:ext uri="{FF2B5EF4-FFF2-40B4-BE49-F238E27FC236}">
                <a16:creationId xmlns:a16="http://schemas.microsoft.com/office/drawing/2014/main" id="{2F3DA0B5-EF7C-4B1F-8128-9A72591312D3}"/>
              </a:ext>
            </a:extLst>
          </p:cNvPr>
          <p:cNvSpPr>
            <a:spLocks noChangeShapeType="1"/>
          </p:cNvSpPr>
          <p:nvPr/>
        </p:nvSpPr>
        <p:spPr bwMode="auto">
          <a:xfrm flipV="1">
            <a:off x="5257800" y="2819400"/>
            <a:ext cx="1981200" cy="45720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263" name="Text Box 23">
            <a:extLst>
              <a:ext uri="{FF2B5EF4-FFF2-40B4-BE49-F238E27FC236}">
                <a16:creationId xmlns:a16="http://schemas.microsoft.com/office/drawing/2014/main" id="{918EC282-AEAC-42E5-BF7B-21B69213970A}"/>
              </a:ext>
            </a:extLst>
          </p:cNvPr>
          <p:cNvSpPr txBox="1">
            <a:spLocks noChangeArrowheads="1"/>
          </p:cNvSpPr>
          <p:nvPr/>
        </p:nvSpPr>
        <p:spPr bwMode="auto">
          <a:xfrm>
            <a:off x="2438400" y="4019550"/>
            <a:ext cx="784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effectLst>
                  <a:outerShdw blurRad="38100" dist="38100" dir="2700000" algn="tl">
                    <a:srgbClr val="C0C0C0"/>
                  </a:outerShdw>
                </a:effectLst>
              </a:rPr>
              <a:t>The three-dimensional form of the continuity equation is given as:</a:t>
            </a:r>
          </a:p>
        </p:txBody>
      </p:sp>
      <p:grpSp>
        <p:nvGrpSpPr>
          <p:cNvPr id="778264" name="Group 24">
            <a:extLst>
              <a:ext uri="{FF2B5EF4-FFF2-40B4-BE49-F238E27FC236}">
                <a16:creationId xmlns:a16="http://schemas.microsoft.com/office/drawing/2014/main" id="{C4DF1BA4-3DB5-4967-A9F5-CA2E737DC157}"/>
              </a:ext>
            </a:extLst>
          </p:cNvPr>
          <p:cNvGrpSpPr>
            <a:grpSpLocks/>
          </p:cNvGrpSpPr>
          <p:nvPr/>
        </p:nvGrpSpPr>
        <p:grpSpPr bwMode="auto">
          <a:xfrm>
            <a:off x="4281488" y="4630739"/>
            <a:ext cx="4405312" cy="1936705"/>
            <a:chOff x="960" y="1680"/>
            <a:chExt cx="2775" cy="1219"/>
          </a:xfrm>
        </p:grpSpPr>
        <p:sp>
          <p:nvSpPr>
            <p:cNvPr id="778265" name="Text Box 25">
              <a:extLst>
                <a:ext uri="{FF2B5EF4-FFF2-40B4-BE49-F238E27FC236}">
                  <a16:creationId xmlns:a16="http://schemas.microsoft.com/office/drawing/2014/main" id="{2691D2B3-C103-4DAB-B97E-89BD6D7070D3}"/>
                </a:ext>
              </a:extLst>
            </p:cNvPr>
            <p:cNvSpPr txBox="1">
              <a:spLocks noChangeArrowheads="1"/>
            </p:cNvSpPr>
            <p:nvPr/>
          </p:nvSpPr>
          <p:spPr bwMode="auto">
            <a:xfrm>
              <a:off x="1175" y="2492"/>
              <a:ext cx="109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b="1">
                  <a:solidFill>
                    <a:srgbClr val="CC0000"/>
                  </a:solidFill>
                </a:rPr>
                <a:t>del operator</a:t>
              </a:r>
            </a:p>
            <a:p>
              <a:pPr algn="ctr" eaLnBrk="0" hangingPunct="0"/>
              <a:r>
                <a:rPr lang="en-US" altLang="en-US" b="1">
                  <a:solidFill>
                    <a:srgbClr val="CC0000"/>
                  </a:solidFill>
                </a:rPr>
                <a:t>(gradient of J)</a:t>
              </a:r>
            </a:p>
          </p:txBody>
        </p:sp>
        <p:graphicFrame>
          <p:nvGraphicFramePr>
            <p:cNvPr id="778266" name="Object 26">
              <a:extLst>
                <a:ext uri="{FF2B5EF4-FFF2-40B4-BE49-F238E27FC236}">
                  <a16:creationId xmlns:a16="http://schemas.microsoft.com/office/drawing/2014/main" id="{D81BB795-3162-429D-9F7E-EF14EB64A2EE}"/>
                </a:ext>
              </a:extLst>
            </p:cNvPr>
            <p:cNvGraphicFramePr>
              <a:graphicFrameLocks noChangeAspect="1"/>
            </p:cNvGraphicFramePr>
            <p:nvPr/>
          </p:nvGraphicFramePr>
          <p:xfrm>
            <a:off x="960" y="1680"/>
            <a:ext cx="2775" cy="587"/>
          </p:xfrm>
          <a:graphic>
            <a:graphicData uri="http://schemas.openxmlformats.org/presentationml/2006/ole">
              <mc:AlternateContent xmlns:mc="http://schemas.openxmlformats.org/markup-compatibility/2006">
                <mc:Choice xmlns:v="urn:schemas-microsoft-com:vml" Requires="v">
                  <p:oleObj spid="_x0000_s9233" name="Equation" r:id="rId7" imgW="2476500" imgH="520700" progId="Equation.3">
                    <p:embed/>
                  </p:oleObj>
                </mc:Choice>
                <mc:Fallback>
                  <p:oleObj name="Equation" r:id="rId7" imgW="2476500" imgH="520700" progId="Equation.3">
                    <p:embed/>
                    <p:pic>
                      <p:nvPicPr>
                        <p:cNvPr id="778266" name="Object 26">
                          <a:extLst>
                            <a:ext uri="{FF2B5EF4-FFF2-40B4-BE49-F238E27FC236}">
                              <a16:creationId xmlns:a16="http://schemas.microsoft.com/office/drawing/2014/main" id="{D81BB795-3162-429D-9F7E-EF14EB64A2E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 y="1680"/>
                          <a:ext cx="2775" cy="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267" name="Oval 27">
              <a:extLst>
                <a:ext uri="{FF2B5EF4-FFF2-40B4-BE49-F238E27FC236}">
                  <a16:creationId xmlns:a16="http://schemas.microsoft.com/office/drawing/2014/main" id="{B0721CAC-574A-40B2-9208-846F4DCB5852}"/>
                </a:ext>
              </a:extLst>
            </p:cNvPr>
            <p:cNvSpPr>
              <a:spLocks noChangeArrowheads="1"/>
            </p:cNvSpPr>
            <p:nvPr/>
          </p:nvSpPr>
          <p:spPr bwMode="auto">
            <a:xfrm>
              <a:off x="1344" y="1824"/>
              <a:ext cx="288" cy="288"/>
            </a:xfrm>
            <a:prstGeom prst="ellipse">
              <a:avLst/>
            </a:prstGeom>
            <a:noFill/>
            <a:ln w="381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8268" name="Line 28">
              <a:extLst>
                <a:ext uri="{FF2B5EF4-FFF2-40B4-BE49-F238E27FC236}">
                  <a16:creationId xmlns:a16="http://schemas.microsoft.com/office/drawing/2014/main" id="{94A4123E-91AB-476A-A337-855F8E1A4AFA}"/>
                </a:ext>
              </a:extLst>
            </p:cNvPr>
            <p:cNvSpPr>
              <a:spLocks noChangeShapeType="1"/>
            </p:cNvSpPr>
            <p:nvPr/>
          </p:nvSpPr>
          <p:spPr bwMode="auto">
            <a:xfrm>
              <a:off x="1536" y="2112"/>
              <a:ext cx="144" cy="432"/>
            </a:xfrm>
            <a:prstGeom prst="line">
              <a:avLst/>
            </a:prstGeom>
            <a:noFill/>
            <a:ln w="508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a:extLst>
              <a:ext uri="{FF2B5EF4-FFF2-40B4-BE49-F238E27FC236}">
                <a16:creationId xmlns:a16="http://schemas.microsoft.com/office/drawing/2014/main" id="{C0B986CE-1C70-4BB2-8B34-70DA0160A426}"/>
              </a:ext>
            </a:extLst>
          </p:cNvPr>
          <p:cNvSpPr>
            <a:spLocks noGrp="1" noChangeArrowheads="1"/>
          </p:cNvSpPr>
          <p:nvPr>
            <p:ph type="title"/>
          </p:nvPr>
        </p:nvSpPr>
        <p:spPr>
          <a:xfrm>
            <a:off x="2286000" y="182564"/>
            <a:ext cx="8153400" cy="579437"/>
          </a:xfrm>
        </p:spPr>
        <p:txBody>
          <a:bodyPr/>
          <a:lstStyle/>
          <a:p>
            <a:r>
              <a:rPr lang="en-US" altLang="en-US" sz="2600"/>
              <a:t>Unsaturated Nonsteady Flow – Richards Equation</a:t>
            </a:r>
          </a:p>
        </p:txBody>
      </p:sp>
      <p:sp>
        <p:nvSpPr>
          <p:cNvPr id="780291" name="Rectangle 3">
            <a:extLst>
              <a:ext uri="{FF2B5EF4-FFF2-40B4-BE49-F238E27FC236}">
                <a16:creationId xmlns:a16="http://schemas.microsoft.com/office/drawing/2014/main" id="{13A4440F-D015-493E-A188-72E9326C6041}"/>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2" name="Rectangle 4">
            <a:extLst>
              <a:ext uri="{FF2B5EF4-FFF2-40B4-BE49-F238E27FC236}">
                <a16:creationId xmlns:a16="http://schemas.microsoft.com/office/drawing/2014/main" id="{5930C8EF-15CC-497A-8B6F-3C453E4553EB}"/>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3" name="Rectangle 5">
            <a:extLst>
              <a:ext uri="{FF2B5EF4-FFF2-40B4-BE49-F238E27FC236}">
                <a16:creationId xmlns:a16="http://schemas.microsoft.com/office/drawing/2014/main" id="{CE6D9F1A-C1CE-4766-95BC-C86B2EBF0415}"/>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4" name="Rectangle 6">
            <a:extLst>
              <a:ext uri="{FF2B5EF4-FFF2-40B4-BE49-F238E27FC236}">
                <a16:creationId xmlns:a16="http://schemas.microsoft.com/office/drawing/2014/main" id="{FA866CC3-5EC8-48DA-91DD-5600C9520DE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5" name="Rectangle 7">
            <a:extLst>
              <a:ext uri="{FF2B5EF4-FFF2-40B4-BE49-F238E27FC236}">
                <a16:creationId xmlns:a16="http://schemas.microsoft.com/office/drawing/2014/main" id="{775339A2-A202-4A3A-A3C7-D10E81969ADF}"/>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6" name="Rectangle 8">
            <a:extLst>
              <a:ext uri="{FF2B5EF4-FFF2-40B4-BE49-F238E27FC236}">
                <a16:creationId xmlns:a16="http://schemas.microsoft.com/office/drawing/2014/main" id="{68DC48C2-FF19-4A49-BE61-4E0BA5745D73}"/>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7" name="Rectangle 9">
            <a:extLst>
              <a:ext uri="{FF2B5EF4-FFF2-40B4-BE49-F238E27FC236}">
                <a16:creationId xmlns:a16="http://schemas.microsoft.com/office/drawing/2014/main" id="{89003ECB-526A-4C8D-A9C8-7BB8D4637CE6}"/>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8" name="Rectangle 10">
            <a:extLst>
              <a:ext uri="{FF2B5EF4-FFF2-40B4-BE49-F238E27FC236}">
                <a16:creationId xmlns:a16="http://schemas.microsoft.com/office/drawing/2014/main" id="{C61A64B5-92E0-46CD-A55C-7D1A13787121}"/>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299" name="Rectangle 11">
            <a:extLst>
              <a:ext uri="{FF2B5EF4-FFF2-40B4-BE49-F238E27FC236}">
                <a16:creationId xmlns:a16="http://schemas.microsoft.com/office/drawing/2014/main" id="{0F398683-DCF8-42CC-9CA6-18EE408ABB8B}"/>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0" name="Rectangle 12">
            <a:extLst>
              <a:ext uri="{FF2B5EF4-FFF2-40B4-BE49-F238E27FC236}">
                <a16:creationId xmlns:a16="http://schemas.microsoft.com/office/drawing/2014/main" id="{2273152F-CD18-41AF-BE7F-AB3020C80DF8}"/>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1" name="Rectangle 13">
            <a:extLst>
              <a:ext uri="{FF2B5EF4-FFF2-40B4-BE49-F238E27FC236}">
                <a16:creationId xmlns:a16="http://schemas.microsoft.com/office/drawing/2014/main" id="{A6CED01B-395F-4965-A301-EDCB6C90280E}"/>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2" name="Rectangle 14">
            <a:extLst>
              <a:ext uri="{FF2B5EF4-FFF2-40B4-BE49-F238E27FC236}">
                <a16:creationId xmlns:a16="http://schemas.microsoft.com/office/drawing/2014/main" id="{C436DAF4-E187-4C84-93DD-F9314A2D3D40}"/>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3" name="Rectangle 15">
            <a:extLst>
              <a:ext uri="{FF2B5EF4-FFF2-40B4-BE49-F238E27FC236}">
                <a16:creationId xmlns:a16="http://schemas.microsoft.com/office/drawing/2014/main" id="{4BA0A4BF-9001-4C54-8606-850D94F730F1}"/>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4" name="Rectangle 16">
            <a:extLst>
              <a:ext uri="{FF2B5EF4-FFF2-40B4-BE49-F238E27FC236}">
                <a16:creationId xmlns:a16="http://schemas.microsoft.com/office/drawing/2014/main" id="{6372750B-E714-4E6A-B14D-1106D28958CE}"/>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5" name="Rectangle 17">
            <a:extLst>
              <a:ext uri="{FF2B5EF4-FFF2-40B4-BE49-F238E27FC236}">
                <a16:creationId xmlns:a16="http://schemas.microsoft.com/office/drawing/2014/main" id="{A90A6478-F166-498F-B56C-6407E6056595}"/>
              </a:ext>
            </a:extLst>
          </p:cNvPr>
          <p:cNvSpPr>
            <a:spLocks noChangeArrowheads="1"/>
          </p:cNvSpPr>
          <p:nvPr/>
        </p:nvSpPr>
        <p:spPr bwMode="auto">
          <a:xfrm>
            <a:off x="1524001" y="29950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0306" name="Text Box 18">
            <a:extLst>
              <a:ext uri="{FF2B5EF4-FFF2-40B4-BE49-F238E27FC236}">
                <a16:creationId xmlns:a16="http://schemas.microsoft.com/office/drawing/2014/main" id="{E3D1D738-0C8B-4C00-9829-B697C304EE0E}"/>
              </a:ext>
            </a:extLst>
          </p:cNvPr>
          <p:cNvSpPr txBox="1">
            <a:spLocks noChangeArrowheads="1"/>
          </p:cNvSpPr>
          <p:nvPr/>
        </p:nvSpPr>
        <p:spPr bwMode="auto">
          <a:xfrm>
            <a:off x="2286000" y="844550"/>
            <a:ext cx="77724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To obtain a flow equation for unsaturated nonsteady flow we have to combine Buckingham-Darcy's law for the flux (J</a:t>
            </a:r>
            <a:r>
              <a:rPr lang="en-US" altLang="en-US" sz="1900" b="1" baseline="-25000">
                <a:effectLst>
                  <a:outerShdw blurRad="38100" dist="38100" dir="2700000" algn="tl">
                    <a:srgbClr val="C0C0C0"/>
                  </a:outerShdw>
                </a:effectLst>
              </a:rPr>
              <a:t>w</a:t>
            </a:r>
            <a:r>
              <a:rPr lang="en-US" altLang="en-US" sz="1900" b="1">
                <a:effectLst>
                  <a:outerShdw blurRad="38100" dist="38100" dir="2700000" algn="tl">
                    <a:srgbClr val="C0C0C0"/>
                  </a:outerShdw>
                </a:effectLst>
              </a:rPr>
              <a:t>) with the continuity equation.</a:t>
            </a:r>
          </a:p>
          <a:p>
            <a:pPr eaLnBrk="0" hangingPunct="0">
              <a:spcBef>
                <a:spcPct val="50000"/>
              </a:spcBef>
              <a:buClr>
                <a:srgbClr val="CC0000"/>
              </a:buClr>
            </a:pPr>
            <a:r>
              <a:rPr lang="en-US" altLang="en-US" sz="1900" b="1" u="sng">
                <a:solidFill>
                  <a:srgbClr val="CC0000"/>
                </a:solidFill>
                <a:effectLst>
                  <a:outerShdw blurRad="38100" dist="38100" dir="2700000" algn="tl">
                    <a:srgbClr val="C0C0C0"/>
                  </a:outerShdw>
                </a:effectLst>
              </a:rPr>
              <a:t>For one-dimensional vertical flow we obtain: </a:t>
            </a:r>
          </a:p>
        </p:txBody>
      </p:sp>
      <p:graphicFrame>
        <p:nvGraphicFramePr>
          <p:cNvPr id="780307" name="Object 19">
            <a:extLst>
              <a:ext uri="{FF2B5EF4-FFF2-40B4-BE49-F238E27FC236}">
                <a16:creationId xmlns:a16="http://schemas.microsoft.com/office/drawing/2014/main" id="{674AC566-9408-45B5-9CD1-67F4467C2F64}"/>
              </a:ext>
            </a:extLst>
          </p:cNvPr>
          <p:cNvGraphicFramePr>
            <a:graphicFrameLocks noChangeAspect="1"/>
          </p:cNvGraphicFramePr>
          <p:nvPr/>
        </p:nvGraphicFramePr>
        <p:xfrm>
          <a:off x="4267201" y="2362200"/>
          <a:ext cx="2468563" cy="742950"/>
        </p:xfrm>
        <a:graphic>
          <a:graphicData uri="http://schemas.openxmlformats.org/presentationml/2006/ole">
            <mc:AlternateContent xmlns:mc="http://schemas.openxmlformats.org/markup-compatibility/2006">
              <mc:Choice xmlns:v="urn:schemas-microsoft-com:vml" Requires="v">
                <p:oleObj spid="_x0000_s10256" name="Equation" r:id="rId4" imgW="1651000" imgH="495300" progId="Equation.3">
                  <p:embed/>
                </p:oleObj>
              </mc:Choice>
              <mc:Fallback>
                <p:oleObj name="Equation" r:id="rId4" imgW="1651000" imgH="495300" progId="Equation.3">
                  <p:embed/>
                  <p:pic>
                    <p:nvPicPr>
                      <p:cNvPr id="780307" name="Object 19">
                        <a:extLst>
                          <a:ext uri="{FF2B5EF4-FFF2-40B4-BE49-F238E27FC236}">
                            <a16:creationId xmlns:a16="http://schemas.microsoft.com/office/drawing/2014/main" id="{674AC566-9408-45B5-9CD1-67F4467C2F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1" y="2362200"/>
                        <a:ext cx="2468563"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0308" name="Object 20">
            <a:extLst>
              <a:ext uri="{FF2B5EF4-FFF2-40B4-BE49-F238E27FC236}">
                <a16:creationId xmlns:a16="http://schemas.microsoft.com/office/drawing/2014/main" id="{9AE798ED-3C61-43F0-92A8-5739A4E068C4}"/>
              </a:ext>
            </a:extLst>
          </p:cNvPr>
          <p:cNvGraphicFramePr>
            <a:graphicFrameLocks noChangeAspect="1"/>
          </p:cNvGraphicFramePr>
          <p:nvPr/>
        </p:nvGraphicFramePr>
        <p:xfrm>
          <a:off x="2590801" y="3733800"/>
          <a:ext cx="7377113" cy="725488"/>
        </p:xfrm>
        <a:graphic>
          <a:graphicData uri="http://schemas.openxmlformats.org/presentationml/2006/ole">
            <mc:AlternateContent xmlns:mc="http://schemas.openxmlformats.org/markup-compatibility/2006">
              <mc:Choice xmlns:v="urn:schemas-microsoft-com:vml" Requires="v">
                <p:oleObj spid="_x0000_s10257" name="Equation" r:id="rId6" imgW="5067000" imgH="495000" progId="Equation.3">
                  <p:embed/>
                </p:oleObj>
              </mc:Choice>
              <mc:Fallback>
                <p:oleObj name="Equation" r:id="rId6" imgW="5067000" imgH="495000" progId="Equation.3">
                  <p:embed/>
                  <p:pic>
                    <p:nvPicPr>
                      <p:cNvPr id="780308" name="Object 20">
                        <a:extLst>
                          <a:ext uri="{FF2B5EF4-FFF2-40B4-BE49-F238E27FC236}">
                            <a16:creationId xmlns:a16="http://schemas.microsoft.com/office/drawing/2014/main" id="{9AE798ED-3C61-43F0-92A8-5739A4E068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1" y="3733800"/>
                        <a:ext cx="7377113" cy="725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0309" name="Text Box 21">
            <a:extLst>
              <a:ext uri="{FF2B5EF4-FFF2-40B4-BE49-F238E27FC236}">
                <a16:creationId xmlns:a16="http://schemas.microsoft.com/office/drawing/2014/main" id="{BC8F0D04-034A-4AAB-A85E-72E2E86EF76F}"/>
              </a:ext>
            </a:extLst>
          </p:cNvPr>
          <p:cNvSpPr txBox="1">
            <a:spLocks noChangeArrowheads="1"/>
          </p:cNvSpPr>
          <p:nvPr/>
        </p:nvSpPr>
        <p:spPr bwMode="auto">
          <a:xfrm>
            <a:off x="2286000" y="3276600"/>
            <a:ext cx="7086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u="sng">
                <a:solidFill>
                  <a:srgbClr val="CC0000"/>
                </a:solidFill>
                <a:effectLst>
                  <a:outerShdw blurRad="38100" dist="38100" dir="2700000" algn="tl">
                    <a:srgbClr val="C0C0C0"/>
                  </a:outerShdw>
                </a:effectLst>
              </a:rPr>
              <a:t>For three-dimensional flow we obtain: </a:t>
            </a:r>
          </a:p>
        </p:txBody>
      </p:sp>
      <p:sp>
        <p:nvSpPr>
          <p:cNvPr id="780310" name="Text Box 22">
            <a:extLst>
              <a:ext uri="{FF2B5EF4-FFF2-40B4-BE49-F238E27FC236}">
                <a16:creationId xmlns:a16="http://schemas.microsoft.com/office/drawing/2014/main" id="{CE4B4D03-D653-4D12-9E81-CC7DA5B95F97}"/>
              </a:ext>
            </a:extLst>
          </p:cNvPr>
          <p:cNvSpPr txBox="1">
            <a:spLocks noChangeArrowheads="1"/>
          </p:cNvSpPr>
          <p:nvPr/>
        </p:nvSpPr>
        <p:spPr bwMode="auto">
          <a:xfrm>
            <a:off x="2286000" y="4795838"/>
            <a:ext cx="80010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effectLst>
                  <a:outerShdw blurRad="38100" dist="38100" dir="2700000" algn="tl">
                    <a:srgbClr val="C0C0C0"/>
                  </a:outerShdw>
                </a:effectLst>
              </a:rPr>
              <a:t>This equation is known as the </a:t>
            </a:r>
            <a:r>
              <a:rPr lang="en-US" altLang="en-US" sz="1900" b="1">
                <a:solidFill>
                  <a:srgbClr val="CC0000"/>
                </a:solidFill>
                <a:effectLst>
                  <a:outerShdw blurRad="38100" dist="38100" dir="2700000" algn="tl">
                    <a:srgbClr val="C0C0C0"/>
                  </a:outerShdw>
                </a:effectLst>
              </a:rPr>
              <a:t>RICHARDS EQUATION</a:t>
            </a:r>
            <a:r>
              <a:rPr lang="en-US" altLang="en-US" sz="1900" b="1">
                <a:effectLst>
                  <a:outerShdw blurRad="38100" dist="38100" dir="2700000" algn="tl">
                    <a:srgbClr val="C0C0C0"/>
                  </a:outerShdw>
                </a:effectLst>
              </a:rPr>
              <a:t>, and is the most general unsaturated flow equation used in practice.</a:t>
            </a:r>
          </a:p>
          <a:p>
            <a:pPr eaLnBrk="0" hangingPunct="0">
              <a:spcBef>
                <a:spcPct val="50000"/>
              </a:spcBef>
              <a:buClr>
                <a:srgbClr val="FF0066"/>
              </a:buClr>
            </a:pPr>
            <a:r>
              <a:rPr lang="en-US" altLang="en-US" sz="1900" b="1">
                <a:effectLst>
                  <a:outerShdw blurRad="38100" dist="38100" dir="2700000" algn="tl">
                    <a:srgbClr val="C0C0C0"/>
                  </a:outerShdw>
                </a:effectLst>
              </a:rPr>
              <a:t>Note that this equation is based on the assumption of isothermal conditions (uniform temperature) and flow through a rigid matrix (no swelling or shrinking of the soil).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a:extLst>
              <a:ext uri="{FF2B5EF4-FFF2-40B4-BE49-F238E27FC236}">
                <a16:creationId xmlns:a16="http://schemas.microsoft.com/office/drawing/2014/main" id="{277CB4AF-7BC9-4126-A6BC-90EDCCA244B7}"/>
              </a:ext>
            </a:extLst>
          </p:cNvPr>
          <p:cNvSpPr>
            <a:spLocks noGrp="1" noChangeArrowheads="1"/>
          </p:cNvSpPr>
          <p:nvPr>
            <p:ph type="title"/>
          </p:nvPr>
        </p:nvSpPr>
        <p:spPr>
          <a:xfrm>
            <a:off x="2286000" y="182564"/>
            <a:ext cx="7772400" cy="579437"/>
          </a:xfrm>
        </p:spPr>
        <p:txBody>
          <a:bodyPr/>
          <a:lstStyle/>
          <a:p>
            <a:r>
              <a:rPr lang="en-US" altLang="en-US"/>
              <a:t>Unsaturated &amp; Unsteady Horizontal Flow</a:t>
            </a:r>
          </a:p>
        </p:txBody>
      </p:sp>
      <p:sp>
        <p:nvSpPr>
          <p:cNvPr id="784387" name="Rectangle 3">
            <a:extLst>
              <a:ext uri="{FF2B5EF4-FFF2-40B4-BE49-F238E27FC236}">
                <a16:creationId xmlns:a16="http://schemas.microsoft.com/office/drawing/2014/main" id="{E1986592-E9E7-4EFA-BC62-8374E68E3749}"/>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88" name="Rectangle 4">
            <a:extLst>
              <a:ext uri="{FF2B5EF4-FFF2-40B4-BE49-F238E27FC236}">
                <a16:creationId xmlns:a16="http://schemas.microsoft.com/office/drawing/2014/main" id="{D01B3ABA-82B1-409E-8679-13A26A0E6745}"/>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89" name="Rectangle 5">
            <a:extLst>
              <a:ext uri="{FF2B5EF4-FFF2-40B4-BE49-F238E27FC236}">
                <a16:creationId xmlns:a16="http://schemas.microsoft.com/office/drawing/2014/main" id="{3DA5426A-87BC-4271-81C5-18D8AEE5964D}"/>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0" name="Rectangle 6">
            <a:extLst>
              <a:ext uri="{FF2B5EF4-FFF2-40B4-BE49-F238E27FC236}">
                <a16:creationId xmlns:a16="http://schemas.microsoft.com/office/drawing/2014/main" id="{322B1B9B-0802-4773-BED3-6B21681DDA87}"/>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1" name="Rectangle 7">
            <a:extLst>
              <a:ext uri="{FF2B5EF4-FFF2-40B4-BE49-F238E27FC236}">
                <a16:creationId xmlns:a16="http://schemas.microsoft.com/office/drawing/2014/main" id="{1B0A9B3D-3647-454B-8693-9CA38045BCA7}"/>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2" name="Rectangle 8">
            <a:extLst>
              <a:ext uri="{FF2B5EF4-FFF2-40B4-BE49-F238E27FC236}">
                <a16:creationId xmlns:a16="http://schemas.microsoft.com/office/drawing/2014/main" id="{854139E4-5B21-4A48-AA6E-7840241B4326}"/>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3" name="Rectangle 9">
            <a:extLst>
              <a:ext uri="{FF2B5EF4-FFF2-40B4-BE49-F238E27FC236}">
                <a16:creationId xmlns:a16="http://schemas.microsoft.com/office/drawing/2014/main" id="{390A7474-B922-42A8-864C-F2C714DC953A}"/>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4" name="Rectangle 10">
            <a:extLst>
              <a:ext uri="{FF2B5EF4-FFF2-40B4-BE49-F238E27FC236}">
                <a16:creationId xmlns:a16="http://schemas.microsoft.com/office/drawing/2014/main" id="{FE0D3CE2-6D9E-4CA1-BBFB-C760E2E9AB49}"/>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5" name="Rectangle 11">
            <a:extLst>
              <a:ext uri="{FF2B5EF4-FFF2-40B4-BE49-F238E27FC236}">
                <a16:creationId xmlns:a16="http://schemas.microsoft.com/office/drawing/2014/main" id="{D5542333-9BF2-4E74-B485-E381916267D2}"/>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6" name="Rectangle 12">
            <a:extLst>
              <a:ext uri="{FF2B5EF4-FFF2-40B4-BE49-F238E27FC236}">
                <a16:creationId xmlns:a16="http://schemas.microsoft.com/office/drawing/2014/main" id="{7E93FFDD-2CE5-452B-839D-D676BD2A9BB2}"/>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7" name="Rectangle 13">
            <a:extLst>
              <a:ext uri="{FF2B5EF4-FFF2-40B4-BE49-F238E27FC236}">
                <a16:creationId xmlns:a16="http://schemas.microsoft.com/office/drawing/2014/main" id="{ED5B04B0-416A-43AE-B3D0-BD2970AF4FFA}"/>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8" name="Rectangle 14">
            <a:extLst>
              <a:ext uri="{FF2B5EF4-FFF2-40B4-BE49-F238E27FC236}">
                <a16:creationId xmlns:a16="http://schemas.microsoft.com/office/drawing/2014/main" id="{5137BC0A-D8D3-4BF2-B965-7B05134093C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399" name="Rectangle 15">
            <a:extLst>
              <a:ext uri="{FF2B5EF4-FFF2-40B4-BE49-F238E27FC236}">
                <a16:creationId xmlns:a16="http://schemas.microsoft.com/office/drawing/2014/main" id="{E06BA217-CE27-4812-AF2B-3D82A39CC666}"/>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400" name="Rectangle 16">
            <a:extLst>
              <a:ext uri="{FF2B5EF4-FFF2-40B4-BE49-F238E27FC236}">
                <a16:creationId xmlns:a16="http://schemas.microsoft.com/office/drawing/2014/main" id="{5E6E8148-3F97-4A53-8307-C26A3F2143FF}"/>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4401" name="Text Box 17">
            <a:extLst>
              <a:ext uri="{FF2B5EF4-FFF2-40B4-BE49-F238E27FC236}">
                <a16:creationId xmlns:a16="http://schemas.microsoft.com/office/drawing/2014/main" id="{791B9849-24FA-4371-B900-64A391140214}"/>
              </a:ext>
            </a:extLst>
          </p:cNvPr>
          <p:cNvSpPr txBox="1">
            <a:spLocks noChangeArrowheads="1"/>
          </p:cNvSpPr>
          <p:nvPr/>
        </p:nvSpPr>
        <p:spPr bwMode="auto">
          <a:xfrm>
            <a:off x="2209800" y="914400"/>
            <a:ext cx="777240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Unsaturated and nonsteady horizontal flow in one dimension may be represented by the simplest form of the Richards equation, with no gravitational component, as:</a:t>
            </a:r>
          </a:p>
        </p:txBody>
      </p:sp>
      <p:graphicFrame>
        <p:nvGraphicFramePr>
          <p:cNvPr id="784402" name="Object 18">
            <a:extLst>
              <a:ext uri="{FF2B5EF4-FFF2-40B4-BE49-F238E27FC236}">
                <a16:creationId xmlns:a16="http://schemas.microsoft.com/office/drawing/2014/main" id="{DC74E098-90A7-400F-86E8-25FBC3509249}"/>
              </a:ext>
            </a:extLst>
          </p:cNvPr>
          <p:cNvGraphicFramePr>
            <a:graphicFrameLocks noChangeAspect="1"/>
          </p:cNvGraphicFramePr>
          <p:nvPr/>
        </p:nvGraphicFramePr>
        <p:xfrm>
          <a:off x="4191000" y="2019300"/>
          <a:ext cx="3048000" cy="1104900"/>
        </p:xfrm>
        <a:graphic>
          <a:graphicData uri="http://schemas.openxmlformats.org/presentationml/2006/ole">
            <mc:AlternateContent xmlns:mc="http://schemas.openxmlformats.org/markup-compatibility/2006">
              <mc:Choice xmlns:v="urn:schemas-microsoft-com:vml" Requires="v">
                <p:oleObj spid="_x0000_s11273" name="Equation" r:id="rId4" imgW="1346200" imgH="482600" progId="Equation.3">
                  <p:embed/>
                </p:oleObj>
              </mc:Choice>
              <mc:Fallback>
                <p:oleObj name="Equation" r:id="rId4" imgW="1346200" imgH="482600" progId="Equation.3">
                  <p:embed/>
                  <p:pic>
                    <p:nvPicPr>
                      <p:cNvPr id="784402" name="Object 18">
                        <a:extLst>
                          <a:ext uri="{FF2B5EF4-FFF2-40B4-BE49-F238E27FC236}">
                            <a16:creationId xmlns:a16="http://schemas.microsoft.com/office/drawing/2014/main" id="{DC74E098-90A7-400F-86E8-25FBC35092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2019300"/>
                        <a:ext cx="30480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4403" name="Text Box 19">
            <a:extLst>
              <a:ext uri="{FF2B5EF4-FFF2-40B4-BE49-F238E27FC236}">
                <a16:creationId xmlns:a16="http://schemas.microsoft.com/office/drawing/2014/main" id="{DACEF048-3856-4B2F-B980-877650A74965}"/>
              </a:ext>
            </a:extLst>
          </p:cNvPr>
          <p:cNvSpPr txBox="1">
            <a:spLocks noChangeArrowheads="1"/>
          </p:cNvSpPr>
          <p:nvPr/>
        </p:nvSpPr>
        <p:spPr bwMode="auto">
          <a:xfrm>
            <a:off x="2209800" y="3219450"/>
            <a:ext cx="8001000"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effectLst>
                  <a:outerShdw blurRad="38100" dist="38100" dir="2700000" algn="tl">
                    <a:srgbClr val="C0C0C0"/>
                  </a:outerShdw>
                </a:effectLst>
              </a:rPr>
              <a:t>In this case we have two variables, </a:t>
            </a:r>
            <a:r>
              <a:rPr lang="en-US" altLang="en-US" sz="1900" b="1">
                <a:solidFill>
                  <a:srgbClr val="CC0000"/>
                </a:solidFill>
                <a:effectLst>
                  <a:outerShdw blurRad="38100" dist="38100" dir="2700000" algn="tl">
                    <a:srgbClr val="C0C0C0"/>
                  </a:outerShdw>
                </a:effectLst>
                <a:latin typeface="Symbol" panose="05050102010706020507" pitchFamily="18" charset="2"/>
              </a:rPr>
              <a:t>q</a:t>
            </a:r>
            <a:r>
              <a:rPr lang="en-US" altLang="en-US" sz="1900" b="1">
                <a:effectLst>
                  <a:outerShdw blurRad="38100" dist="38100" dir="2700000" algn="tl">
                    <a:srgbClr val="C0C0C0"/>
                  </a:outerShdw>
                </a:effectLst>
              </a:rPr>
              <a:t> and </a:t>
            </a:r>
            <a:r>
              <a:rPr lang="en-US" altLang="en-US" sz="1900" b="1">
                <a:solidFill>
                  <a:srgbClr val="CC0000"/>
                </a:solidFill>
                <a:effectLst>
                  <a:outerShdw blurRad="38100" dist="38100" dir="2700000" algn="tl">
                    <a:srgbClr val="C0C0C0"/>
                  </a:outerShdw>
                </a:effectLst>
              </a:rPr>
              <a:t>h</a:t>
            </a:r>
            <a:r>
              <a:rPr lang="en-US" altLang="en-US" sz="1900" b="1">
                <a:effectLst>
                  <a:outerShdw blurRad="38100" dist="38100" dir="2700000" algn="tl">
                    <a:srgbClr val="C0C0C0"/>
                  </a:outerShdw>
                </a:effectLst>
              </a:rPr>
              <a:t>, which vary in time and space, but only one equation.</a:t>
            </a:r>
          </a:p>
          <a:p>
            <a:pPr eaLnBrk="0" hangingPunct="0">
              <a:spcBef>
                <a:spcPct val="50000"/>
              </a:spcBef>
              <a:buClr>
                <a:srgbClr val="FF0066"/>
              </a:buClr>
            </a:pPr>
            <a:r>
              <a:rPr lang="en-US" altLang="en-US" sz="1900" b="1">
                <a:effectLst>
                  <a:outerShdw blurRad="38100" dist="38100" dir="2700000" algn="tl">
                    <a:srgbClr val="C0C0C0"/>
                  </a:outerShdw>
                </a:effectLst>
              </a:rPr>
              <a:t>In some cases it is possible to reduce the equation to only one variable by using the interrelationship</a:t>
            </a:r>
            <a:r>
              <a:rPr lang="en-US" altLang="en-US" b="1">
                <a:solidFill>
                  <a:srgbClr val="CC0000"/>
                </a:solidFill>
                <a:effectLst>
                  <a:outerShdw blurRad="38100" dist="38100" dir="2700000" algn="tl">
                    <a:srgbClr val="C0C0C0"/>
                  </a:outerShdw>
                </a:effectLst>
              </a:rPr>
              <a:t> </a:t>
            </a:r>
            <a:r>
              <a:rPr lang="en-US" altLang="en-US" b="1">
                <a:solidFill>
                  <a:srgbClr val="CC0000"/>
                </a:solidFill>
                <a:effectLst>
                  <a:outerShdw blurRad="38100" dist="38100" dir="2700000" algn="tl">
                    <a:srgbClr val="C0C0C0"/>
                  </a:outerShdw>
                </a:effectLst>
                <a:latin typeface="Symbol" panose="05050102010706020507" pitchFamily="18" charset="2"/>
              </a:rPr>
              <a:t>q-</a:t>
            </a:r>
            <a:r>
              <a:rPr lang="en-US" altLang="en-US" b="1">
                <a:solidFill>
                  <a:srgbClr val="CC0000"/>
                </a:solidFill>
                <a:effectLst>
                  <a:outerShdw blurRad="38100" dist="38100" dir="2700000" algn="tl">
                    <a:srgbClr val="C0C0C0"/>
                  </a:outerShdw>
                </a:effectLst>
              </a:rPr>
              <a:t>h</a:t>
            </a:r>
            <a:r>
              <a:rPr lang="en-US" altLang="en-US" sz="1900" b="1">
                <a:effectLst>
                  <a:outerShdw blurRad="38100" dist="38100" dir="2700000" algn="tl">
                    <a:srgbClr val="C0C0C0"/>
                  </a:outerShdw>
                </a:effectLst>
              </a:rPr>
              <a:t> (the SWC curve).</a:t>
            </a:r>
          </a:p>
          <a:p>
            <a:pPr eaLnBrk="0" hangingPunct="0">
              <a:spcBef>
                <a:spcPct val="50000"/>
              </a:spcBef>
              <a:buClr>
                <a:srgbClr val="FF0066"/>
              </a:buClr>
            </a:pPr>
            <a:r>
              <a:rPr lang="en-US" altLang="en-US" sz="1900" b="1">
                <a:solidFill>
                  <a:srgbClr val="CC0000"/>
                </a:solidFill>
                <a:effectLst>
                  <a:outerShdw blurRad="38100" dist="38100" dir="2700000" algn="tl">
                    <a:srgbClr val="C0C0C0"/>
                  </a:outerShdw>
                </a:effectLst>
              </a:rPr>
              <a:t>For water infiltration into a homogeneous soil having uniform initial water content it is advantageous to eliminate the matric potential (h).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a:extLst>
              <a:ext uri="{FF2B5EF4-FFF2-40B4-BE49-F238E27FC236}">
                <a16:creationId xmlns:a16="http://schemas.microsoft.com/office/drawing/2014/main" id="{0CCEF545-6127-42C6-8547-B191168E99B7}"/>
              </a:ext>
            </a:extLst>
          </p:cNvPr>
          <p:cNvSpPr>
            <a:spLocks noChangeArrowheads="1"/>
          </p:cNvSpPr>
          <p:nvPr/>
        </p:nvSpPr>
        <p:spPr bwMode="auto">
          <a:xfrm>
            <a:off x="2667000" y="5257800"/>
            <a:ext cx="3429000" cy="99218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6435" name="Rectangle 3">
            <a:extLst>
              <a:ext uri="{FF2B5EF4-FFF2-40B4-BE49-F238E27FC236}">
                <a16:creationId xmlns:a16="http://schemas.microsoft.com/office/drawing/2014/main" id="{84F7B32B-431B-4238-BD06-10F036CB8F87}"/>
              </a:ext>
            </a:extLst>
          </p:cNvPr>
          <p:cNvSpPr>
            <a:spLocks noGrp="1" noChangeArrowheads="1"/>
          </p:cNvSpPr>
          <p:nvPr>
            <p:ph type="title"/>
          </p:nvPr>
        </p:nvSpPr>
        <p:spPr>
          <a:xfrm>
            <a:off x="542375" y="248166"/>
            <a:ext cx="6876288" cy="640080"/>
          </a:xfrm>
        </p:spPr>
        <p:txBody>
          <a:bodyPr/>
          <a:lstStyle/>
          <a:p>
            <a:r>
              <a:rPr lang="en-US" altLang="en-US" dirty="0"/>
              <a:t>Unsaturated </a:t>
            </a:r>
            <a:r>
              <a:rPr lang="en-US" altLang="en-US" dirty="0" err="1"/>
              <a:t>Nonsteady</a:t>
            </a:r>
            <a:r>
              <a:rPr lang="en-US" altLang="en-US" dirty="0"/>
              <a:t> Horizontal Flow</a:t>
            </a:r>
          </a:p>
        </p:txBody>
      </p:sp>
      <p:sp>
        <p:nvSpPr>
          <p:cNvPr id="786436" name="Rectangle 4">
            <a:extLst>
              <a:ext uri="{FF2B5EF4-FFF2-40B4-BE49-F238E27FC236}">
                <a16:creationId xmlns:a16="http://schemas.microsoft.com/office/drawing/2014/main" id="{115B6375-186F-4975-8F12-C10CE17AD1E8}"/>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37" name="Rectangle 5">
            <a:extLst>
              <a:ext uri="{FF2B5EF4-FFF2-40B4-BE49-F238E27FC236}">
                <a16:creationId xmlns:a16="http://schemas.microsoft.com/office/drawing/2014/main" id="{3ABEFCE0-FE86-4A6E-B869-1B76DB48111B}"/>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38" name="Rectangle 6">
            <a:extLst>
              <a:ext uri="{FF2B5EF4-FFF2-40B4-BE49-F238E27FC236}">
                <a16:creationId xmlns:a16="http://schemas.microsoft.com/office/drawing/2014/main" id="{6155DFA2-A190-4180-B519-2E8B5DEC0168}"/>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39" name="Rectangle 7">
            <a:extLst>
              <a:ext uri="{FF2B5EF4-FFF2-40B4-BE49-F238E27FC236}">
                <a16:creationId xmlns:a16="http://schemas.microsoft.com/office/drawing/2014/main" id="{A65485CC-BA83-4E00-B7BD-6CE21843DA4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0" name="Rectangle 8">
            <a:extLst>
              <a:ext uri="{FF2B5EF4-FFF2-40B4-BE49-F238E27FC236}">
                <a16:creationId xmlns:a16="http://schemas.microsoft.com/office/drawing/2014/main" id="{B8FF0586-1440-4915-B4AC-103848246D9E}"/>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1" name="Rectangle 9">
            <a:extLst>
              <a:ext uri="{FF2B5EF4-FFF2-40B4-BE49-F238E27FC236}">
                <a16:creationId xmlns:a16="http://schemas.microsoft.com/office/drawing/2014/main" id="{66C77CCC-B955-45E4-9603-5CF7ED5272A9}"/>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2" name="Rectangle 10">
            <a:extLst>
              <a:ext uri="{FF2B5EF4-FFF2-40B4-BE49-F238E27FC236}">
                <a16:creationId xmlns:a16="http://schemas.microsoft.com/office/drawing/2014/main" id="{652B6A5F-A833-42B5-81BC-86312BF37237}"/>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3" name="Rectangle 11">
            <a:extLst>
              <a:ext uri="{FF2B5EF4-FFF2-40B4-BE49-F238E27FC236}">
                <a16:creationId xmlns:a16="http://schemas.microsoft.com/office/drawing/2014/main" id="{6C037299-3B7C-4DC5-9F9F-398FFB2CE9F2}"/>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4" name="Rectangle 12">
            <a:extLst>
              <a:ext uri="{FF2B5EF4-FFF2-40B4-BE49-F238E27FC236}">
                <a16:creationId xmlns:a16="http://schemas.microsoft.com/office/drawing/2014/main" id="{0208C1C2-67CE-4F2B-B978-D12DAD6B0B72}"/>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5" name="Rectangle 13">
            <a:extLst>
              <a:ext uri="{FF2B5EF4-FFF2-40B4-BE49-F238E27FC236}">
                <a16:creationId xmlns:a16="http://schemas.microsoft.com/office/drawing/2014/main" id="{342D01BE-48DE-4001-B16A-A5EC54153044}"/>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6" name="Rectangle 14">
            <a:extLst>
              <a:ext uri="{FF2B5EF4-FFF2-40B4-BE49-F238E27FC236}">
                <a16:creationId xmlns:a16="http://schemas.microsoft.com/office/drawing/2014/main" id="{27E3BD9B-1D44-481C-A1EF-4A983622066C}"/>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7" name="Rectangle 15">
            <a:extLst>
              <a:ext uri="{FF2B5EF4-FFF2-40B4-BE49-F238E27FC236}">
                <a16:creationId xmlns:a16="http://schemas.microsoft.com/office/drawing/2014/main" id="{E48EDF8D-808E-452D-9EAB-97BE1D04B421}"/>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8" name="Rectangle 16">
            <a:extLst>
              <a:ext uri="{FF2B5EF4-FFF2-40B4-BE49-F238E27FC236}">
                <a16:creationId xmlns:a16="http://schemas.microsoft.com/office/drawing/2014/main" id="{51410A29-1AD7-4571-A197-3680FB8E3E26}"/>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49" name="Rectangle 17">
            <a:extLst>
              <a:ext uri="{FF2B5EF4-FFF2-40B4-BE49-F238E27FC236}">
                <a16:creationId xmlns:a16="http://schemas.microsoft.com/office/drawing/2014/main" id="{1014E4A2-7C0B-445A-9251-5B27F0530D02}"/>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6450" name="Text Box 18">
            <a:extLst>
              <a:ext uri="{FF2B5EF4-FFF2-40B4-BE49-F238E27FC236}">
                <a16:creationId xmlns:a16="http://schemas.microsoft.com/office/drawing/2014/main" id="{B97FEDEB-B6B3-4EF7-B185-B7C27F10B1AF}"/>
              </a:ext>
            </a:extLst>
          </p:cNvPr>
          <p:cNvSpPr txBox="1">
            <a:spLocks noChangeArrowheads="1"/>
          </p:cNvSpPr>
          <p:nvPr/>
        </p:nvSpPr>
        <p:spPr bwMode="auto">
          <a:xfrm>
            <a:off x="2205567" y="820738"/>
            <a:ext cx="8001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We first apply the chain rule to the matric potential gradient to obtain: </a:t>
            </a:r>
          </a:p>
        </p:txBody>
      </p:sp>
      <p:sp>
        <p:nvSpPr>
          <p:cNvPr id="786451" name="Rectangle 19">
            <a:extLst>
              <a:ext uri="{FF2B5EF4-FFF2-40B4-BE49-F238E27FC236}">
                <a16:creationId xmlns:a16="http://schemas.microsoft.com/office/drawing/2014/main" id="{6A1FF916-57ED-42FE-AD00-F207D7F87A2C}"/>
              </a:ext>
            </a:extLst>
          </p:cNvPr>
          <p:cNvSpPr>
            <a:spLocks noChangeArrowheads="1"/>
          </p:cNvSpPr>
          <p:nvPr/>
        </p:nvSpPr>
        <p:spPr bwMode="auto">
          <a:xfrm>
            <a:off x="5132388" y="2362200"/>
            <a:ext cx="4114800" cy="6858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86452" name="Object 20">
            <a:extLst>
              <a:ext uri="{FF2B5EF4-FFF2-40B4-BE49-F238E27FC236}">
                <a16:creationId xmlns:a16="http://schemas.microsoft.com/office/drawing/2014/main" id="{200D5D73-0D64-43D2-982B-41415E901BC2}"/>
              </a:ext>
            </a:extLst>
          </p:cNvPr>
          <p:cNvGraphicFramePr>
            <a:graphicFrameLocks noChangeAspect="1"/>
          </p:cNvGraphicFramePr>
          <p:nvPr/>
        </p:nvGraphicFramePr>
        <p:xfrm>
          <a:off x="3455988" y="1524000"/>
          <a:ext cx="1517650" cy="774700"/>
        </p:xfrm>
        <a:graphic>
          <a:graphicData uri="http://schemas.openxmlformats.org/presentationml/2006/ole">
            <mc:AlternateContent xmlns:mc="http://schemas.openxmlformats.org/markup-compatibility/2006">
              <mc:Choice xmlns:v="urn:schemas-microsoft-com:vml" Requires="v">
                <p:oleObj spid="_x0000_s12318" name="Equation" r:id="rId4" imgW="837836" imgH="431613" progId="Equation.3">
                  <p:embed/>
                </p:oleObj>
              </mc:Choice>
              <mc:Fallback>
                <p:oleObj name="Equation" r:id="rId4" imgW="837836" imgH="431613" progId="Equation.3">
                  <p:embed/>
                  <p:pic>
                    <p:nvPicPr>
                      <p:cNvPr id="786452" name="Object 20">
                        <a:extLst>
                          <a:ext uri="{FF2B5EF4-FFF2-40B4-BE49-F238E27FC236}">
                            <a16:creationId xmlns:a16="http://schemas.microsoft.com/office/drawing/2014/main" id="{200D5D73-0D64-43D2-982B-41415E901B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988" y="1524000"/>
                        <a:ext cx="151765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6453" name="Oval 21">
            <a:extLst>
              <a:ext uri="{FF2B5EF4-FFF2-40B4-BE49-F238E27FC236}">
                <a16:creationId xmlns:a16="http://schemas.microsoft.com/office/drawing/2014/main" id="{4C2E3942-1802-42CD-8C8C-0821303F8E33}"/>
              </a:ext>
            </a:extLst>
          </p:cNvPr>
          <p:cNvSpPr>
            <a:spLocks noChangeArrowheads="1"/>
          </p:cNvSpPr>
          <p:nvPr/>
        </p:nvSpPr>
        <p:spPr bwMode="auto">
          <a:xfrm>
            <a:off x="4090988" y="1524000"/>
            <a:ext cx="457200" cy="838200"/>
          </a:xfrm>
          <a:prstGeom prst="ellipse">
            <a:avLst/>
          </a:prstGeom>
          <a:noFill/>
          <a:ln w="381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6454" name="Line 22">
            <a:extLst>
              <a:ext uri="{FF2B5EF4-FFF2-40B4-BE49-F238E27FC236}">
                <a16:creationId xmlns:a16="http://schemas.microsoft.com/office/drawing/2014/main" id="{8C618445-89C2-4021-A768-5007FE893C29}"/>
              </a:ext>
            </a:extLst>
          </p:cNvPr>
          <p:cNvSpPr>
            <a:spLocks noChangeShapeType="1"/>
          </p:cNvSpPr>
          <p:nvPr/>
        </p:nvSpPr>
        <p:spPr bwMode="auto">
          <a:xfrm>
            <a:off x="4370388" y="2362200"/>
            <a:ext cx="685800" cy="304800"/>
          </a:xfrm>
          <a:prstGeom prst="line">
            <a:avLst/>
          </a:prstGeom>
          <a:noFill/>
          <a:ln w="508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786455" name="Text Box 23">
            <a:extLst>
              <a:ext uri="{FF2B5EF4-FFF2-40B4-BE49-F238E27FC236}">
                <a16:creationId xmlns:a16="http://schemas.microsoft.com/office/drawing/2014/main" id="{EBCD9E48-4718-41AB-92FB-B5292793E4C4}"/>
              </a:ext>
            </a:extLst>
          </p:cNvPr>
          <p:cNvSpPr txBox="1">
            <a:spLocks noChangeArrowheads="1"/>
          </p:cNvSpPr>
          <p:nvPr/>
        </p:nvSpPr>
        <p:spPr bwMode="auto">
          <a:xfrm>
            <a:off x="5220484" y="2344738"/>
            <a:ext cx="394813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1900" b="1">
                <a:solidFill>
                  <a:srgbClr val="CC0000"/>
                </a:solidFill>
              </a:rPr>
              <a:t>Reciprocal of the</a:t>
            </a:r>
          </a:p>
          <a:p>
            <a:pPr algn="ctr" eaLnBrk="0" hangingPunct="0"/>
            <a:r>
              <a:rPr lang="en-US" altLang="en-US" sz="1900" b="1">
                <a:solidFill>
                  <a:srgbClr val="CC0000"/>
                </a:solidFill>
              </a:rPr>
              <a:t>SPECIFIC WATER CAPACITY C</a:t>
            </a:r>
            <a:r>
              <a:rPr lang="en-US" altLang="en-US" sz="1900" b="1" baseline="-25000">
                <a:solidFill>
                  <a:srgbClr val="CC0000"/>
                </a:solidFill>
              </a:rPr>
              <a:t>w</a:t>
            </a:r>
            <a:r>
              <a:rPr lang="en-US" altLang="en-US" sz="1900" b="1">
                <a:solidFill>
                  <a:srgbClr val="CC0000"/>
                </a:solidFill>
              </a:rPr>
              <a:t>(</a:t>
            </a:r>
            <a:r>
              <a:rPr lang="en-US" altLang="en-US" sz="1900" b="1">
                <a:solidFill>
                  <a:srgbClr val="CC0000"/>
                </a:solidFill>
                <a:latin typeface="Symbol" panose="05050102010706020507" pitchFamily="18" charset="2"/>
              </a:rPr>
              <a:t>q</a:t>
            </a:r>
            <a:r>
              <a:rPr lang="en-US" altLang="en-US" sz="1900" b="1">
                <a:solidFill>
                  <a:srgbClr val="CC0000"/>
                </a:solidFill>
              </a:rPr>
              <a:t>)</a:t>
            </a:r>
          </a:p>
        </p:txBody>
      </p:sp>
      <p:graphicFrame>
        <p:nvGraphicFramePr>
          <p:cNvPr id="786456" name="Object 24">
            <a:extLst>
              <a:ext uri="{FF2B5EF4-FFF2-40B4-BE49-F238E27FC236}">
                <a16:creationId xmlns:a16="http://schemas.microsoft.com/office/drawing/2014/main" id="{D86E72CB-BEE6-455A-889D-62992B87E62D}"/>
              </a:ext>
            </a:extLst>
          </p:cNvPr>
          <p:cNvGraphicFramePr>
            <a:graphicFrameLocks noChangeAspect="1"/>
          </p:cNvGraphicFramePr>
          <p:nvPr/>
        </p:nvGraphicFramePr>
        <p:xfrm>
          <a:off x="6275389" y="3048000"/>
          <a:ext cx="1563687" cy="776288"/>
        </p:xfrm>
        <a:graphic>
          <a:graphicData uri="http://schemas.openxmlformats.org/presentationml/2006/ole">
            <mc:AlternateContent xmlns:mc="http://schemas.openxmlformats.org/markup-compatibility/2006">
              <mc:Choice xmlns:v="urn:schemas-microsoft-com:vml" Requires="v">
                <p:oleObj spid="_x0000_s12319" name="Equation" r:id="rId6" imgW="863280" imgH="431640" progId="Equation.3">
                  <p:embed/>
                </p:oleObj>
              </mc:Choice>
              <mc:Fallback>
                <p:oleObj name="Equation" r:id="rId6" imgW="863280" imgH="431640" progId="Equation.3">
                  <p:embed/>
                  <p:pic>
                    <p:nvPicPr>
                      <p:cNvPr id="786456" name="Object 24">
                        <a:extLst>
                          <a:ext uri="{FF2B5EF4-FFF2-40B4-BE49-F238E27FC236}">
                            <a16:creationId xmlns:a16="http://schemas.microsoft.com/office/drawing/2014/main" id="{D86E72CB-BEE6-455A-889D-62992B87E6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5389" y="3048000"/>
                        <a:ext cx="1563687"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6457" name="Text Box 25">
            <a:extLst>
              <a:ext uri="{FF2B5EF4-FFF2-40B4-BE49-F238E27FC236}">
                <a16:creationId xmlns:a16="http://schemas.microsoft.com/office/drawing/2014/main" id="{FEE3DF19-56F8-4ED9-A1E8-222A44B92843}"/>
              </a:ext>
            </a:extLst>
          </p:cNvPr>
          <p:cNvSpPr txBox="1">
            <a:spLocks noChangeArrowheads="1"/>
          </p:cNvSpPr>
          <p:nvPr/>
        </p:nvSpPr>
        <p:spPr bwMode="auto">
          <a:xfrm>
            <a:off x="2286000" y="3886201"/>
            <a:ext cx="800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b="1">
                <a:effectLst>
                  <a:outerShdw blurRad="38100" dist="38100" dir="2700000" algn="tl">
                    <a:srgbClr val="C0C0C0"/>
                  </a:outerShdw>
                </a:effectLst>
              </a:rPr>
              <a:t>C</a:t>
            </a:r>
            <a:r>
              <a:rPr lang="en-US" altLang="en-US" b="1" baseline="-25000">
                <a:effectLst>
                  <a:outerShdw blurRad="38100" dist="38100" dir="2700000" algn="tl">
                    <a:srgbClr val="C0C0C0"/>
                  </a:outerShdw>
                </a:effectLst>
              </a:rPr>
              <a:t>w</a:t>
            </a:r>
            <a:r>
              <a:rPr lang="en-US" altLang="en-US" b="1">
                <a:effectLst>
                  <a:outerShdw blurRad="38100" dist="38100" dir="2700000" algn="tl">
                    <a:srgbClr val="C0C0C0"/>
                  </a:outerShdw>
                </a:effectLst>
              </a:rPr>
              <a:t>(</a:t>
            </a:r>
            <a:r>
              <a:rPr lang="en-US" altLang="en-US" b="1">
                <a:effectLst>
                  <a:outerShdw blurRad="38100" dist="38100" dir="2700000" algn="tl">
                    <a:srgbClr val="C0C0C0"/>
                  </a:outerShdw>
                </a:effectLst>
                <a:latin typeface="Symbol" panose="05050102010706020507" pitchFamily="18" charset="2"/>
              </a:rPr>
              <a:t>q</a:t>
            </a:r>
            <a:r>
              <a:rPr lang="en-US" altLang="en-US" b="1">
                <a:effectLst>
                  <a:outerShdw blurRad="38100" dist="38100" dir="2700000" algn="tl">
                    <a:srgbClr val="C0C0C0"/>
                  </a:outerShdw>
                </a:effectLst>
              </a:rPr>
              <a:t>) is the slope of the SWC curve at any particular water content.</a:t>
            </a:r>
          </a:p>
        </p:txBody>
      </p:sp>
      <p:sp>
        <p:nvSpPr>
          <p:cNvPr id="786458" name="Text Box 26">
            <a:extLst>
              <a:ext uri="{FF2B5EF4-FFF2-40B4-BE49-F238E27FC236}">
                <a16:creationId xmlns:a16="http://schemas.microsoft.com/office/drawing/2014/main" id="{E915F68E-BA39-4F1D-B921-61E4D26B046D}"/>
              </a:ext>
            </a:extLst>
          </p:cNvPr>
          <p:cNvSpPr txBox="1">
            <a:spLocks noChangeArrowheads="1"/>
          </p:cNvSpPr>
          <p:nvPr/>
        </p:nvSpPr>
        <p:spPr bwMode="auto">
          <a:xfrm>
            <a:off x="2286000" y="4419600"/>
            <a:ext cx="8001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effectLst>
                  <a:outerShdw blurRad="38100" dist="38100" dir="2700000" algn="tl">
                    <a:srgbClr val="C0C0C0"/>
                  </a:outerShdw>
                </a:effectLst>
              </a:rPr>
              <a:t>Next we express </a:t>
            </a:r>
            <a:r>
              <a:rPr lang="en-US" altLang="en-US" sz="1900" b="1">
                <a:solidFill>
                  <a:srgbClr val="CC0000"/>
                </a:solidFill>
                <a:effectLst>
                  <a:outerShdw blurRad="38100" dist="38100" dir="2700000" algn="tl">
                    <a:srgbClr val="C0C0C0"/>
                  </a:outerShdw>
                </a:effectLst>
              </a:rPr>
              <a:t>K(h[</a:t>
            </a:r>
            <a:r>
              <a:rPr lang="en-US" altLang="en-US" sz="1900" b="1">
                <a:solidFill>
                  <a:srgbClr val="CC0000"/>
                </a:solidFill>
                <a:effectLst>
                  <a:outerShdw blurRad="38100" dist="38100" dir="2700000" algn="tl">
                    <a:srgbClr val="C0C0C0"/>
                  </a:outerShdw>
                </a:effectLst>
                <a:latin typeface="Symbol" panose="05050102010706020507" pitchFamily="18" charset="2"/>
              </a:rPr>
              <a:t>q</a:t>
            </a:r>
            <a:r>
              <a:rPr lang="en-US" altLang="en-US" sz="1900" b="1">
                <a:solidFill>
                  <a:srgbClr val="CC0000"/>
                </a:solidFill>
                <a:effectLst>
                  <a:outerShdw blurRad="38100" dist="38100" dir="2700000" algn="tl">
                    <a:srgbClr val="C0C0C0"/>
                  </a:outerShdw>
                </a:effectLst>
              </a:rPr>
              <a:t>]) = K(</a:t>
            </a:r>
            <a:r>
              <a:rPr lang="en-US" altLang="en-US" sz="1900" b="1">
                <a:solidFill>
                  <a:srgbClr val="CC0000"/>
                </a:solidFill>
                <a:effectLst>
                  <a:outerShdw blurRad="38100" dist="38100" dir="2700000" algn="tl">
                    <a:srgbClr val="C0C0C0"/>
                  </a:outerShdw>
                </a:effectLst>
                <a:latin typeface="Symbol" panose="05050102010706020507" pitchFamily="18" charset="2"/>
              </a:rPr>
              <a:t>q</a:t>
            </a:r>
            <a:r>
              <a:rPr lang="en-US" altLang="en-US" sz="1900" b="1">
                <a:solidFill>
                  <a:srgbClr val="CC0000"/>
                </a:solidFill>
                <a:effectLst>
                  <a:outerShdw blurRad="38100" dist="38100" dir="2700000" algn="tl">
                    <a:srgbClr val="C0C0C0"/>
                  </a:outerShdw>
                </a:effectLst>
              </a:rPr>
              <a:t>)</a:t>
            </a:r>
            <a:r>
              <a:rPr lang="en-US" altLang="en-US" sz="1900" b="1">
                <a:effectLst>
                  <a:outerShdw blurRad="38100" dist="38100" dir="2700000" algn="tl">
                    <a:srgbClr val="C0C0C0"/>
                  </a:outerShdw>
                </a:effectLst>
              </a:rPr>
              <a:t>, and define a new hydraulic function, the </a:t>
            </a:r>
            <a:r>
              <a:rPr lang="en-US" altLang="en-US" sz="1900" b="1">
                <a:solidFill>
                  <a:srgbClr val="CC0000"/>
                </a:solidFill>
                <a:effectLst>
                  <a:outerShdw blurRad="38100" dist="38100" dir="2700000" algn="tl">
                    <a:srgbClr val="C0C0C0"/>
                  </a:outerShdw>
                </a:effectLst>
              </a:rPr>
              <a:t>Soil Water Diffusivity</a:t>
            </a:r>
            <a:r>
              <a:rPr lang="en-US" altLang="en-US" sz="1900" b="1">
                <a:effectLst>
                  <a:outerShdw blurRad="38100" dist="38100" dir="2700000" algn="tl">
                    <a:srgbClr val="C0C0C0"/>
                  </a:outerShdw>
                </a:effectLst>
              </a:rPr>
              <a:t> </a:t>
            </a:r>
            <a:r>
              <a:rPr lang="en-US" altLang="en-US" sz="1900" b="1">
                <a:solidFill>
                  <a:srgbClr val="CC0000"/>
                </a:solidFill>
                <a:effectLst>
                  <a:outerShdw blurRad="38100" dist="38100" dir="2700000" algn="tl">
                    <a:srgbClr val="C0C0C0"/>
                  </a:outerShdw>
                </a:effectLst>
              </a:rPr>
              <a:t>D(</a:t>
            </a:r>
            <a:r>
              <a:rPr lang="en-US" altLang="en-US" sz="1900" b="1">
                <a:solidFill>
                  <a:srgbClr val="CC0000"/>
                </a:solidFill>
                <a:effectLst>
                  <a:outerShdw blurRad="38100" dist="38100" dir="2700000" algn="tl">
                    <a:srgbClr val="C0C0C0"/>
                  </a:outerShdw>
                </a:effectLst>
                <a:latin typeface="Symbol" panose="05050102010706020507" pitchFamily="18" charset="2"/>
              </a:rPr>
              <a:t>q</a:t>
            </a:r>
            <a:r>
              <a:rPr lang="en-US" altLang="en-US" sz="1900" b="1">
                <a:solidFill>
                  <a:srgbClr val="CC0000"/>
                </a:solidFill>
                <a:effectLst>
                  <a:outerShdw blurRad="38100" dist="38100" dir="2700000" algn="tl">
                    <a:srgbClr val="C0C0C0"/>
                  </a:outerShdw>
                </a:effectLst>
              </a:rPr>
              <a:t>)</a:t>
            </a:r>
            <a:r>
              <a:rPr lang="en-US" altLang="en-US" sz="1900" b="1">
                <a:effectLst>
                  <a:outerShdw blurRad="38100" dist="38100" dir="2700000" algn="tl">
                    <a:srgbClr val="C0C0C0"/>
                  </a:outerShdw>
                </a:effectLst>
              </a:rPr>
              <a:t> as:</a:t>
            </a:r>
          </a:p>
        </p:txBody>
      </p:sp>
      <p:sp>
        <p:nvSpPr>
          <p:cNvPr id="786459" name="Text Box 27">
            <a:extLst>
              <a:ext uri="{FF2B5EF4-FFF2-40B4-BE49-F238E27FC236}">
                <a16:creationId xmlns:a16="http://schemas.microsoft.com/office/drawing/2014/main" id="{D0E344B5-5D8E-4E76-B074-BC01F92EEE37}"/>
              </a:ext>
            </a:extLst>
          </p:cNvPr>
          <p:cNvSpPr txBox="1">
            <a:spLocks noChangeArrowheads="1"/>
          </p:cNvSpPr>
          <p:nvPr/>
        </p:nvSpPr>
        <p:spPr bwMode="auto">
          <a:xfrm>
            <a:off x="6400800" y="5181601"/>
            <a:ext cx="3352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b="1"/>
              <a:t>The </a:t>
            </a:r>
            <a:r>
              <a:rPr lang="en-US" altLang="en-US" b="1">
                <a:solidFill>
                  <a:srgbClr val="CC0000"/>
                </a:solidFill>
              </a:rPr>
              <a:t>Soil Water Diffusivity</a:t>
            </a:r>
            <a:r>
              <a:rPr lang="en-US" altLang="en-US" b="1"/>
              <a:t> is the ratio of unsaturated hydraulic conductivity to the specific water capacity. </a:t>
            </a:r>
          </a:p>
        </p:txBody>
      </p:sp>
      <p:graphicFrame>
        <p:nvGraphicFramePr>
          <p:cNvPr id="786460" name="Object 28">
            <a:extLst>
              <a:ext uri="{FF2B5EF4-FFF2-40B4-BE49-F238E27FC236}">
                <a16:creationId xmlns:a16="http://schemas.microsoft.com/office/drawing/2014/main" id="{A2B893B6-AEED-4DA7-9E58-C5DA1B1471B9}"/>
              </a:ext>
            </a:extLst>
          </p:cNvPr>
          <p:cNvGraphicFramePr>
            <a:graphicFrameLocks noChangeAspect="1"/>
          </p:cNvGraphicFramePr>
          <p:nvPr/>
        </p:nvGraphicFramePr>
        <p:xfrm>
          <a:off x="2895600" y="5334000"/>
          <a:ext cx="3151188" cy="846138"/>
        </p:xfrm>
        <a:graphic>
          <a:graphicData uri="http://schemas.openxmlformats.org/presentationml/2006/ole">
            <mc:AlternateContent xmlns:mc="http://schemas.openxmlformats.org/markup-compatibility/2006">
              <mc:Choice xmlns:v="urn:schemas-microsoft-com:vml" Requires="v">
                <p:oleObj spid="_x0000_s12320" name="Equation" r:id="rId8" imgW="1739880" imgH="469800" progId="Equation.3">
                  <p:embed/>
                </p:oleObj>
              </mc:Choice>
              <mc:Fallback>
                <p:oleObj name="Equation" r:id="rId8" imgW="1739880" imgH="469800" progId="Equation.3">
                  <p:embed/>
                  <p:pic>
                    <p:nvPicPr>
                      <p:cNvPr id="786460" name="Object 28">
                        <a:extLst>
                          <a:ext uri="{FF2B5EF4-FFF2-40B4-BE49-F238E27FC236}">
                            <a16:creationId xmlns:a16="http://schemas.microsoft.com/office/drawing/2014/main" id="{A2B893B6-AEED-4DA7-9E58-C5DA1B1471B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5334000"/>
                        <a:ext cx="3151188"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6461" name="Object 29">
            <a:extLst>
              <a:ext uri="{FF2B5EF4-FFF2-40B4-BE49-F238E27FC236}">
                <a16:creationId xmlns:a16="http://schemas.microsoft.com/office/drawing/2014/main" id="{60C4DDBD-6A83-4BBF-A02A-17FC06D8DAF2}"/>
              </a:ext>
            </a:extLst>
          </p:cNvPr>
          <p:cNvGraphicFramePr>
            <a:graphicFrameLocks noGrp="1" noChangeAspect="1"/>
          </p:cNvGraphicFramePr>
          <p:nvPr>
            <p:ph idx="1"/>
          </p:nvPr>
        </p:nvGraphicFramePr>
        <p:xfrm>
          <a:off x="6096000" y="1447801"/>
          <a:ext cx="1981200" cy="709613"/>
        </p:xfrm>
        <a:graphic>
          <a:graphicData uri="http://schemas.openxmlformats.org/presentationml/2006/ole">
            <mc:AlternateContent xmlns:mc="http://schemas.openxmlformats.org/markup-compatibility/2006">
              <mc:Choice xmlns:v="urn:schemas-microsoft-com:vml" Requires="v">
                <p:oleObj spid="_x0000_s12321" name="Equation" r:id="rId10" imgW="1346200" imgH="482600" progId="Equation.3">
                  <p:embed/>
                </p:oleObj>
              </mc:Choice>
              <mc:Fallback>
                <p:oleObj name="Equation" r:id="rId10" imgW="1346200" imgH="482600" progId="Equation.3">
                  <p:embed/>
                  <p:pic>
                    <p:nvPicPr>
                      <p:cNvPr id="786461" name="Object 29">
                        <a:extLst>
                          <a:ext uri="{FF2B5EF4-FFF2-40B4-BE49-F238E27FC236}">
                            <a16:creationId xmlns:a16="http://schemas.microsoft.com/office/drawing/2014/main" id="{60C4DDBD-6A83-4BBF-A02A-17FC06D8DAF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1447801"/>
                        <a:ext cx="19812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a:extLst>
              <a:ext uri="{FF2B5EF4-FFF2-40B4-BE49-F238E27FC236}">
                <a16:creationId xmlns:a16="http://schemas.microsoft.com/office/drawing/2014/main" id="{4EDCB40D-F083-4712-B26B-A34B2899F505}"/>
              </a:ext>
            </a:extLst>
          </p:cNvPr>
          <p:cNvSpPr>
            <a:spLocks noGrp="1" noChangeArrowheads="1"/>
          </p:cNvSpPr>
          <p:nvPr>
            <p:ph type="title"/>
          </p:nvPr>
        </p:nvSpPr>
        <p:spPr>
          <a:xfrm>
            <a:off x="2286000" y="182564"/>
            <a:ext cx="7772400" cy="579437"/>
          </a:xfrm>
        </p:spPr>
        <p:txBody>
          <a:bodyPr/>
          <a:lstStyle/>
          <a:p>
            <a:r>
              <a:rPr lang="en-US" altLang="en-US"/>
              <a:t>Unsaturated Nonsteady Horizontal Flow</a:t>
            </a:r>
          </a:p>
        </p:txBody>
      </p:sp>
      <p:sp>
        <p:nvSpPr>
          <p:cNvPr id="788483" name="Rectangle 3">
            <a:extLst>
              <a:ext uri="{FF2B5EF4-FFF2-40B4-BE49-F238E27FC236}">
                <a16:creationId xmlns:a16="http://schemas.microsoft.com/office/drawing/2014/main" id="{EF77998C-45D7-4BC6-8605-D80516A615D2}"/>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4" name="Rectangle 4">
            <a:extLst>
              <a:ext uri="{FF2B5EF4-FFF2-40B4-BE49-F238E27FC236}">
                <a16:creationId xmlns:a16="http://schemas.microsoft.com/office/drawing/2014/main" id="{45D25FED-AB00-430B-AC40-2B99EC29793E}"/>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5" name="Rectangle 5">
            <a:extLst>
              <a:ext uri="{FF2B5EF4-FFF2-40B4-BE49-F238E27FC236}">
                <a16:creationId xmlns:a16="http://schemas.microsoft.com/office/drawing/2014/main" id="{9D8719F8-B5E7-4950-BD6E-62DC6C38689D}"/>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6" name="Rectangle 6">
            <a:extLst>
              <a:ext uri="{FF2B5EF4-FFF2-40B4-BE49-F238E27FC236}">
                <a16:creationId xmlns:a16="http://schemas.microsoft.com/office/drawing/2014/main" id="{4C3F58D2-FDDD-49A5-8D90-87EAC7215CDB}"/>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7" name="Rectangle 7">
            <a:extLst>
              <a:ext uri="{FF2B5EF4-FFF2-40B4-BE49-F238E27FC236}">
                <a16:creationId xmlns:a16="http://schemas.microsoft.com/office/drawing/2014/main" id="{5F1DB72F-5F0D-4828-ACD3-1C386C1560F2}"/>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8" name="Rectangle 8">
            <a:extLst>
              <a:ext uri="{FF2B5EF4-FFF2-40B4-BE49-F238E27FC236}">
                <a16:creationId xmlns:a16="http://schemas.microsoft.com/office/drawing/2014/main" id="{752291A1-61E6-4D25-8BFB-0B42BB73334F}"/>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89" name="Rectangle 9">
            <a:extLst>
              <a:ext uri="{FF2B5EF4-FFF2-40B4-BE49-F238E27FC236}">
                <a16:creationId xmlns:a16="http://schemas.microsoft.com/office/drawing/2014/main" id="{646FE80F-B0E3-4240-ADAA-C92A4762C472}"/>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0" name="Rectangle 10">
            <a:extLst>
              <a:ext uri="{FF2B5EF4-FFF2-40B4-BE49-F238E27FC236}">
                <a16:creationId xmlns:a16="http://schemas.microsoft.com/office/drawing/2014/main" id="{AAF3DA72-27BD-4943-B021-05D3322D8DA3}"/>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1" name="Rectangle 11">
            <a:extLst>
              <a:ext uri="{FF2B5EF4-FFF2-40B4-BE49-F238E27FC236}">
                <a16:creationId xmlns:a16="http://schemas.microsoft.com/office/drawing/2014/main" id="{DFC59B95-C26F-4017-8D0E-A82170B971A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2" name="Rectangle 12">
            <a:extLst>
              <a:ext uri="{FF2B5EF4-FFF2-40B4-BE49-F238E27FC236}">
                <a16:creationId xmlns:a16="http://schemas.microsoft.com/office/drawing/2014/main" id="{D23B0CB8-8E22-4631-8A27-86058A7C6BD7}"/>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3" name="Rectangle 13">
            <a:extLst>
              <a:ext uri="{FF2B5EF4-FFF2-40B4-BE49-F238E27FC236}">
                <a16:creationId xmlns:a16="http://schemas.microsoft.com/office/drawing/2014/main" id="{461B3DBE-52EE-4B46-83A7-C5DF2FE162F1}"/>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4" name="Rectangle 14">
            <a:extLst>
              <a:ext uri="{FF2B5EF4-FFF2-40B4-BE49-F238E27FC236}">
                <a16:creationId xmlns:a16="http://schemas.microsoft.com/office/drawing/2014/main" id="{C8B08760-9B0B-4A8C-AC15-DA1E05D26E3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5" name="Rectangle 15">
            <a:extLst>
              <a:ext uri="{FF2B5EF4-FFF2-40B4-BE49-F238E27FC236}">
                <a16:creationId xmlns:a16="http://schemas.microsoft.com/office/drawing/2014/main" id="{1BBE702B-85A7-4379-A960-D0360F4D9441}"/>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6" name="Rectangle 16">
            <a:extLst>
              <a:ext uri="{FF2B5EF4-FFF2-40B4-BE49-F238E27FC236}">
                <a16:creationId xmlns:a16="http://schemas.microsoft.com/office/drawing/2014/main" id="{46607439-41E8-4540-906B-7C954E61034F}"/>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88497" name="Text Box 17">
            <a:extLst>
              <a:ext uri="{FF2B5EF4-FFF2-40B4-BE49-F238E27FC236}">
                <a16:creationId xmlns:a16="http://schemas.microsoft.com/office/drawing/2014/main" id="{7C4B767C-6B7F-42CE-9DC5-41333A612575}"/>
              </a:ext>
            </a:extLst>
          </p:cNvPr>
          <p:cNvSpPr txBox="1">
            <a:spLocks noChangeArrowheads="1"/>
          </p:cNvSpPr>
          <p:nvPr/>
        </p:nvSpPr>
        <p:spPr bwMode="auto">
          <a:xfrm>
            <a:off x="2362200" y="1198166"/>
            <a:ext cx="358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u="sng" dirty="0">
                <a:solidFill>
                  <a:srgbClr val="CC0000"/>
                </a:solidFill>
                <a:effectLst>
                  <a:outerShdw blurRad="38100" dist="38100" dir="2700000" algn="tl">
                    <a:srgbClr val="C0C0C0"/>
                  </a:outerShdw>
                </a:effectLst>
              </a:rPr>
              <a:t>Soil Water Diffusivity D(</a:t>
            </a:r>
            <a:r>
              <a:rPr lang="en-US" altLang="en-US" sz="1900" b="1" u="sng" dirty="0">
                <a:solidFill>
                  <a:srgbClr val="CC0000"/>
                </a:solidFill>
                <a:effectLst>
                  <a:outerShdw blurRad="38100" dist="38100" dir="2700000" algn="tl">
                    <a:srgbClr val="C0C0C0"/>
                  </a:outerShdw>
                </a:effectLst>
                <a:latin typeface="Symbol" panose="05050102010706020507" pitchFamily="18" charset="2"/>
              </a:rPr>
              <a:t>q</a:t>
            </a:r>
            <a:r>
              <a:rPr lang="en-US" altLang="en-US" sz="1900" b="1" u="sng" dirty="0">
                <a:solidFill>
                  <a:srgbClr val="CC0000"/>
                </a:solidFill>
                <a:effectLst>
                  <a:outerShdw blurRad="38100" dist="38100" dir="2700000" algn="tl">
                    <a:srgbClr val="C0C0C0"/>
                  </a:outerShdw>
                </a:effectLst>
              </a:rPr>
              <a:t>):</a:t>
            </a:r>
          </a:p>
        </p:txBody>
      </p:sp>
      <p:sp>
        <p:nvSpPr>
          <p:cNvPr id="788498" name="Text Box 18">
            <a:extLst>
              <a:ext uri="{FF2B5EF4-FFF2-40B4-BE49-F238E27FC236}">
                <a16:creationId xmlns:a16="http://schemas.microsoft.com/office/drawing/2014/main" id="{396B00D7-FC58-4164-9D0B-CCAD4258649A}"/>
              </a:ext>
            </a:extLst>
          </p:cNvPr>
          <p:cNvSpPr txBox="1">
            <a:spLocks noChangeArrowheads="1"/>
          </p:cNvSpPr>
          <p:nvPr/>
        </p:nvSpPr>
        <p:spPr bwMode="auto">
          <a:xfrm>
            <a:off x="1473202" y="2082637"/>
            <a:ext cx="9550400"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Since the </a:t>
            </a:r>
            <a:r>
              <a:rPr lang="en-US" altLang="en-US" sz="1900" b="1" dirty="0">
                <a:solidFill>
                  <a:srgbClr val="CC0000"/>
                </a:solidFill>
                <a:effectLst>
                  <a:outerShdw blurRad="38100" dist="38100" dir="2700000" algn="tl">
                    <a:srgbClr val="C0C0C0"/>
                  </a:outerShdw>
                </a:effectLst>
              </a:rPr>
              <a:t>K(</a:t>
            </a:r>
            <a:r>
              <a:rPr lang="en-US" altLang="en-US" sz="1900" b="1" dirty="0">
                <a:solidFill>
                  <a:srgbClr val="CC0000"/>
                </a:solidFill>
                <a:effectLst>
                  <a:outerShdw blurRad="38100" dist="38100" dir="2700000" algn="tl">
                    <a:srgbClr val="C0C0C0"/>
                  </a:outerShdw>
                </a:effectLst>
                <a:latin typeface="Symbol" panose="05050102010706020507" pitchFamily="18" charset="2"/>
              </a:rPr>
              <a:t>q</a:t>
            </a:r>
            <a:r>
              <a:rPr lang="en-US" altLang="en-US" sz="1900" b="1" dirty="0">
                <a:solidFill>
                  <a:srgbClr val="CC0000"/>
                </a:solidFill>
                <a:effectLst>
                  <a:outerShdw blurRad="38100" dist="38100" dir="2700000" algn="tl">
                    <a:srgbClr val="C0C0C0"/>
                  </a:outerShdw>
                </a:effectLst>
              </a:rPr>
              <a:t>) </a:t>
            </a:r>
            <a:r>
              <a:rPr lang="en-US" altLang="en-US" sz="1900" b="1" dirty="0">
                <a:effectLst>
                  <a:outerShdw blurRad="38100" dist="38100" dir="2700000" algn="tl">
                    <a:srgbClr val="C0C0C0"/>
                  </a:outerShdw>
                </a:effectLst>
              </a:rPr>
              <a:t>and </a:t>
            </a:r>
            <a:r>
              <a:rPr lang="en-US" altLang="en-US" sz="1900" b="1" dirty="0" err="1">
                <a:solidFill>
                  <a:srgbClr val="CC0000"/>
                </a:solidFill>
                <a:effectLst>
                  <a:outerShdw blurRad="38100" dist="38100" dir="2700000" algn="tl">
                    <a:srgbClr val="C0C0C0"/>
                  </a:outerShdw>
                </a:effectLst>
              </a:rPr>
              <a:t>C</a:t>
            </a:r>
            <a:r>
              <a:rPr lang="en-US" altLang="en-US" sz="1900" b="1" baseline="-25000" dirty="0" err="1">
                <a:solidFill>
                  <a:srgbClr val="CC0000"/>
                </a:solidFill>
                <a:effectLst>
                  <a:outerShdw blurRad="38100" dist="38100" dir="2700000" algn="tl">
                    <a:srgbClr val="C0C0C0"/>
                  </a:outerShdw>
                </a:effectLst>
              </a:rPr>
              <a:t>w</a:t>
            </a:r>
            <a:r>
              <a:rPr lang="en-US" altLang="en-US" sz="1900" b="1" dirty="0">
                <a:solidFill>
                  <a:srgbClr val="CC0000"/>
                </a:solidFill>
                <a:effectLst>
                  <a:outerShdw blurRad="38100" dist="38100" dir="2700000" algn="tl">
                    <a:srgbClr val="C0C0C0"/>
                  </a:outerShdw>
                </a:effectLst>
              </a:rPr>
              <a:t>(</a:t>
            </a:r>
            <a:r>
              <a:rPr lang="en-US" altLang="en-US" sz="1900" b="1" dirty="0">
                <a:solidFill>
                  <a:srgbClr val="CC0000"/>
                </a:solidFill>
                <a:effectLst>
                  <a:outerShdw blurRad="38100" dist="38100" dir="2700000" algn="tl">
                    <a:srgbClr val="C0C0C0"/>
                  </a:outerShdw>
                </a:effectLst>
                <a:latin typeface="Symbol" panose="05050102010706020507" pitchFamily="18" charset="2"/>
              </a:rPr>
              <a:t>q</a:t>
            </a:r>
            <a:r>
              <a:rPr lang="en-US" altLang="en-US" sz="1900" b="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 functions are highly nonlinear, the diffusivity is also nonlinear. However, the range of variation in </a:t>
            </a:r>
            <a:r>
              <a:rPr lang="en-US" altLang="en-US" sz="1900" b="1" dirty="0">
                <a:solidFill>
                  <a:srgbClr val="CC0000"/>
                </a:solidFill>
                <a:effectLst>
                  <a:outerShdw blurRad="38100" dist="38100" dir="2700000" algn="tl">
                    <a:srgbClr val="C0C0C0"/>
                  </a:outerShdw>
                </a:effectLst>
              </a:rPr>
              <a:t>D(</a:t>
            </a:r>
            <a:r>
              <a:rPr lang="en-US" altLang="en-US" sz="1900" b="1" dirty="0">
                <a:solidFill>
                  <a:srgbClr val="CC0000"/>
                </a:solidFill>
                <a:effectLst>
                  <a:outerShdw blurRad="38100" dist="38100" dir="2700000" algn="tl">
                    <a:srgbClr val="C0C0C0"/>
                  </a:outerShdw>
                </a:effectLst>
                <a:latin typeface="Symbol" panose="05050102010706020507" pitchFamily="18" charset="2"/>
              </a:rPr>
              <a:t>q</a:t>
            </a:r>
            <a:r>
              <a:rPr lang="en-US" altLang="en-US" sz="1900" b="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 is much smaller than the range of </a:t>
            </a:r>
            <a:r>
              <a:rPr lang="en-US" altLang="en-US" sz="1900" b="1" dirty="0">
                <a:solidFill>
                  <a:srgbClr val="CC0000"/>
                </a:solidFill>
                <a:effectLst>
                  <a:outerShdw blurRad="38100" dist="38100" dir="2700000" algn="tl">
                    <a:srgbClr val="C0C0C0"/>
                  </a:outerShdw>
                </a:effectLst>
              </a:rPr>
              <a:t>K(</a:t>
            </a:r>
            <a:r>
              <a:rPr lang="en-US" altLang="en-US" sz="1900" b="1" dirty="0">
                <a:solidFill>
                  <a:srgbClr val="CC0000"/>
                </a:solidFill>
                <a:effectLst>
                  <a:outerShdw blurRad="38100" dist="38100" dir="2700000" algn="tl">
                    <a:srgbClr val="C0C0C0"/>
                  </a:outerShdw>
                </a:effectLst>
                <a:latin typeface="Symbol" panose="05050102010706020507" pitchFamily="18" charset="2"/>
              </a:rPr>
              <a:t>q</a:t>
            </a:r>
            <a:r>
              <a:rPr lang="en-US" altLang="en-US" sz="1900" b="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 variation because the nonlinearity in numerator and denominator cancel out to some degree. The resulting water content or </a:t>
            </a:r>
            <a:r>
              <a:rPr lang="en-US" altLang="en-US" sz="1900" b="1" dirty="0">
                <a:solidFill>
                  <a:srgbClr val="CC0000"/>
                </a:solidFill>
                <a:effectLst>
                  <a:outerShdw blurRad="38100" dist="38100" dir="2700000" algn="tl">
                    <a:srgbClr val="C0C0C0"/>
                  </a:outerShdw>
                </a:effectLst>
              </a:rPr>
              <a:t>diffusivity form of the Richards equation</a:t>
            </a:r>
            <a:r>
              <a:rPr lang="en-US" altLang="en-US" sz="1900" b="1" dirty="0">
                <a:effectLst>
                  <a:outerShdw blurRad="38100" dist="38100" dir="2700000" algn="tl">
                    <a:srgbClr val="C0C0C0"/>
                  </a:outerShdw>
                </a:effectLst>
              </a:rPr>
              <a:t> for one dimensional horizontal flow is then:</a:t>
            </a:r>
          </a:p>
        </p:txBody>
      </p:sp>
      <p:graphicFrame>
        <p:nvGraphicFramePr>
          <p:cNvPr id="788499" name="Object 19">
            <a:extLst>
              <a:ext uri="{FF2B5EF4-FFF2-40B4-BE49-F238E27FC236}">
                <a16:creationId xmlns:a16="http://schemas.microsoft.com/office/drawing/2014/main" id="{2E580E9E-D13F-428B-AFD3-37671E608E7C}"/>
              </a:ext>
            </a:extLst>
          </p:cNvPr>
          <p:cNvGraphicFramePr>
            <a:graphicFrameLocks noChangeAspect="1"/>
          </p:cNvGraphicFramePr>
          <p:nvPr>
            <p:extLst>
              <p:ext uri="{D42A27DB-BD31-4B8C-83A1-F6EECF244321}">
                <p14:modId xmlns:p14="http://schemas.microsoft.com/office/powerpoint/2010/main" val="2793570986"/>
              </p:ext>
            </p:extLst>
          </p:nvPr>
        </p:nvGraphicFramePr>
        <p:xfrm>
          <a:off x="5808136" y="1247099"/>
          <a:ext cx="3151187" cy="846137"/>
        </p:xfrm>
        <a:graphic>
          <a:graphicData uri="http://schemas.openxmlformats.org/presentationml/2006/ole">
            <mc:AlternateContent xmlns:mc="http://schemas.openxmlformats.org/markup-compatibility/2006">
              <mc:Choice xmlns:v="urn:schemas-microsoft-com:vml" Requires="v">
                <p:oleObj spid="_x0000_s13328" name="Equation" r:id="rId4" imgW="1739880" imgH="469800" progId="Equation.3">
                  <p:embed/>
                </p:oleObj>
              </mc:Choice>
              <mc:Fallback>
                <p:oleObj name="Equation" r:id="rId4" imgW="1739880" imgH="469800" progId="Equation.3">
                  <p:embed/>
                  <p:pic>
                    <p:nvPicPr>
                      <p:cNvPr id="788499" name="Object 19">
                        <a:extLst>
                          <a:ext uri="{FF2B5EF4-FFF2-40B4-BE49-F238E27FC236}">
                            <a16:creationId xmlns:a16="http://schemas.microsoft.com/office/drawing/2014/main" id="{2E580E9E-D13F-428B-AFD3-37671E608E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8136" y="1247099"/>
                        <a:ext cx="3151187" cy="84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500" name="Rectangle 20">
            <a:extLst>
              <a:ext uri="{FF2B5EF4-FFF2-40B4-BE49-F238E27FC236}">
                <a16:creationId xmlns:a16="http://schemas.microsoft.com/office/drawing/2014/main" id="{F6716EE2-3A8B-4EE5-8BF9-39D72CC188DA}"/>
              </a:ext>
            </a:extLst>
          </p:cNvPr>
          <p:cNvSpPr>
            <a:spLocks noChangeArrowheads="1"/>
          </p:cNvSpPr>
          <p:nvPr/>
        </p:nvSpPr>
        <p:spPr bwMode="auto">
          <a:xfrm>
            <a:off x="2514600" y="5165725"/>
            <a:ext cx="6934200" cy="1295400"/>
          </a:xfrm>
          <a:prstGeom prst="rect">
            <a:avLst/>
          </a:prstGeom>
          <a:solidFill>
            <a:srgbClr val="FFFFCC"/>
          </a:solidFill>
          <a:ln w="1587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788501" name="Object 21">
            <a:extLst>
              <a:ext uri="{FF2B5EF4-FFF2-40B4-BE49-F238E27FC236}">
                <a16:creationId xmlns:a16="http://schemas.microsoft.com/office/drawing/2014/main" id="{92106D82-FC86-44E6-8411-B0DECAA3922D}"/>
              </a:ext>
            </a:extLst>
          </p:cNvPr>
          <p:cNvGraphicFramePr>
            <a:graphicFrameLocks noChangeAspect="1"/>
          </p:cNvGraphicFramePr>
          <p:nvPr/>
        </p:nvGraphicFramePr>
        <p:xfrm>
          <a:off x="2514600" y="3886201"/>
          <a:ext cx="3124200" cy="1116013"/>
        </p:xfrm>
        <a:graphic>
          <a:graphicData uri="http://schemas.openxmlformats.org/presentationml/2006/ole">
            <mc:AlternateContent xmlns:mc="http://schemas.openxmlformats.org/markup-compatibility/2006">
              <mc:Choice xmlns:v="urn:schemas-microsoft-com:vml" Requires="v">
                <p:oleObj spid="_x0000_s13329" name="Equation" r:id="rId6" imgW="1358310" imgH="482391" progId="Equation.3">
                  <p:embed/>
                </p:oleObj>
              </mc:Choice>
              <mc:Fallback>
                <p:oleObj name="Equation" r:id="rId6" imgW="1358310" imgH="482391" progId="Equation.3">
                  <p:embed/>
                  <p:pic>
                    <p:nvPicPr>
                      <p:cNvPr id="788501" name="Object 21">
                        <a:extLst>
                          <a:ext uri="{FF2B5EF4-FFF2-40B4-BE49-F238E27FC236}">
                            <a16:creationId xmlns:a16="http://schemas.microsoft.com/office/drawing/2014/main" id="{92106D82-FC86-44E6-8411-B0DECAA392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3886201"/>
                        <a:ext cx="3124200"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502" name="Oval 22">
            <a:extLst>
              <a:ext uri="{FF2B5EF4-FFF2-40B4-BE49-F238E27FC236}">
                <a16:creationId xmlns:a16="http://schemas.microsoft.com/office/drawing/2014/main" id="{DCE680CA-45BD-4F6E-BBA4-206594401816}"/>
              </a:ext>
            </a:extLst>
          </p:cNvPr>
          <p:cNvSpPr>
            <a:spLocks noChangeArrowheads="1"/>
          </p:cNvSpPr>
          <p:nvPr/>
        </p:nvSpPr>
        <p:spPr bwMode="auto">
          <a:xfrm>
            <a:off x="4876800" y="3886200"/>
            <a:ext cx="609600" cy="10668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8503" name="Line 23">
            <a:extLst>
              <a:ext uri="{FF2B5EF4-FFF2-40B4-BE49-F238E27FC236}">
                <a16:creationId xmlns:a16="http://schemas.microsoft.com/office/drawing/2014/main" id="{EFF72936-8081-4117-8618-5128BE587AB3}"/>
              </a:ext>
            </a:extLst>
          </p:cNvPr>
          <p:cNvSpPr>
            <a:spLocks noChangeShapeType="1"/>
          </p:cNvSpPr>
          <p:nvPr/>
        </p:nvSpPr>
        <p:spPr bwMode="auto">
          <a:xfrm flipV="1">
            <a:off x="5486400" y="4495800"/>
            <a:ext cx="914400" cy="762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788504" name="Text Box 24">
            <a:extLst>
              <a:ext uri="{FF2B5EF4-FFF2-40B4-BE49-F238E27FC236}">
                <a16:creationId xmlns:a16="http://schemas.microsoft.com/office/drawing/2014/main" id="{A4BF50A8-4BAD-4C71-A20C-79B18C657B33}"/>
              </a:ext>
            </a:extLst>
          </p:cNvPr>
          <p:cNvSpPr txBox="1">
            <a:spLocks noChangeArrowheads="1"/>
          </p:cNvSpPr>
          <p:nvPr/>
        </p:nvSpPr>
        <p:spPr bwMode="auto">
          <a:xfrm>
            <a:off x="6629400" y="3962400"/>
            <a:ext cx="358140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a:solidFill>
                  <a:srgbClr val="CC0000"/>
                </a:solidFill>
              </a:rPr>
              <a:t>The driving force is the gradient in water content</a:t>
            </a:r>
          </a:p>
          <a:p>
            <a:pPr eaLnBrk="0" hangingPunct="0"/>
            <a:r>
              <a:rPr lang="en-US" altLang="en-US" sz="1900" b="1">
                <a:solidFill>
                  <a:srgbClr val="CC0000"/>
                </a:solidFill>
              </a:rPr>
              <a:t> “water concentration”</a:t>
            </a:r>
          </a:p>
        </p:txBody>
      </p:sp>
      <p:sp>
        <p:nvSpPr>
          <p:cNvPr id="788505" name="Text Box 25">
            <a:extLst>
              <a:ext uri="{FF2B5EF4-FFF2-40B4-BE49-F238E27FC236}">
                <a16:creationId xmlns:a16="http://schemas.microsoft.com/office/drawing/2014/main" id="{B161E303-878A-449A-A586-1A3E418F1D3D}"/>
              </a:ext>
            </a:extLst>
          </p:cNvPr>
          <p:cNvSpPr txBox="1">
            <a:spLocks noChangeArrowheads="1"/>
          </p:cNvSpPr>
          <p:nvPr/>
        </p:nvSpPr>
        <p:spPr bwMode="auto">
          <a:xfrm>
            <a:off x="2590800" y="5165726"/>
            <a:ext cx="670136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en-US" b="1" dirty="0">
                <a:solidFill>
                  <a:srgbClr val="CC0000"/>
                </a:solidFill>
              </a:rPr>
              <a:t>This is not in accordance with the basic physical  principle of flow occurring due to potential gradients !!</a:t>
            </a:r>
          </a:p>
          <a:p>
            <a:pPr eaLnBrk="0" hangingPunct="0"/>
            <a:r>
              <a:rPr lang="en-US" altLang="en-US" b="1" dirty="0">
                <a:solidFill>
                  <a:srgbClr val="CC0000"/>
                </a:solidFill>
              </a:rPr>
              <a:t>Special care is required when applying the diffusivity form of the Richards equation!!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a:extLst>
              <a:ext uri="{FF2B5EF4-FFF2-40B4-BE49-F238E27FC236}">
                <a16:creationId xmlns:a16="http://schemas.microsoft.com/office/drawing/2014/main" id="{AB8A4719-89C4-48CB-A14D-1384E4E476BE}"/>
              </a:ext>
            </a:extLst>
          </p:cNvPr>
          <p:cNvSpPr>
            <a:spLocks noGrp="1" noChangeArrowheads="1"/>
          </p:cNvSpPr>
          <p:nvPr>
            <p:ph type="title"/>
          </p:nvPr>
        </p:nvSpPr>
        <p:spPr>
          <a:xfrm>
            <a:off x="2286000" y="182564"/>
            <a:ext cx="7772400" cy="579437"/>
          </a:xfrm>
        </p:spPr>
        <p:txBody>
          <a:bodyPr/>
          <a:lstStyle/>
          <a:p>
            <a:r>
              <a:rPr lang="en-US" altLang="en-US"/>
              <a:t>Unsaturated Nonsteady Horizontal Flow</a:t>
            </a:r>
          </a:p>
        </p:txBody>
      </p:sp>
      <p:sp>
        <p:nvSpPr>
          <p:cNvPr id="790531" name="Rectangle 3">
            <a:extLst>
              <a:ext uri="{FF2B5EF4-FFF2-40B4-BE49-F238E27FC236}">
                <a16:creationId xmlns:a16="http://schemas.microsoft.com/office/drawing/2014/main" id="{E8195171-2726-454F-BB54-01F8A55F3CC3}"/>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2" name="Rectangle 4">
            <a:extLst>
              <a:ext uri="{FF2B5EF4-FFF2-40B4-BE49-F238E27FC236}">
                <a16:creationId xmlns:a16="http://schemas.microsoft.com/office/drawing/2014/main" id="{3A54AF0E-211E-4525-8E77-0EAAB4330F46}"/>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3" name="Rectangle 5">
            <a:extLst>
              <a:ext uri="{FF2B5EF4-FFF2-40B4-BE49-F238E27FC236}">
                <a16:creationId xmlns:a16="http://schemas.microsoft.com/office/drawing/2014/main" id="{C818AAED-9D87-4821-B99C-4AD36CACDA00}"/>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4" name="Rectangle 6">
            <a:extLst>
              <a:ext uri="{FF2B5EF4-FFF2-40B4-BE49-F238E27FC236}">
                <a16:creationId xmlns:a16="http://schemas.microsoft.com/office/drawing/2014/main" id="{D29EF9C2-B239-48BB-82B3-49824F2C10C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5" name="Rectangle 7">
            <a:extLst>
              <a:ext uri="{FF2B5EF4-FFF2-40B4-BE49-F238E27FC236}">
                <a16:creationId xmlns:a16="http://schemas.microsoft.com/office/drawing/2014/main" id="{19C2DD91-F0FD-43A8-8578-1938B43B4AE5}"/>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6" name="Rectangle 8">
            <a:extLst>
              <a:ext uri="{FF2B5EF4-FFF2-40B4-BE49-F238E27FC236}">
                <a16:creationId xmlns:a16="http://schemas.microsoft.com/office/drawing/2014/main" id="{4E87B1AD-40C9-4C4D-98B5-EEB04ACB248A}"/>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7" name="Rectangle 9">
            <a:extLst>
              <a:ext uri="{FF2B5EF4-FFF2-40B4-BE49-F238E27FC236}">
                <a16:creationId xmlns:a16="http://schemas.microsoft.com/office/drawing/2014/main" id="{696D2364-1328-440B-ABEE-21DB7B004916}"/>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8" name="Rectangle 10">
            <a:extLst>
              <a:ext uri="{FF2B5EF4-FFF2-40B4-BE49-F238E27FC236}">
                <a16:creationId xmlns:a16="http://schemas.microsoft.com/office/drawing/2014/main" id="{5AFE8CD9-7ED7-4ED0-8BA2-0B7F966985F5}"/>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39" name="Rectangle 11">
            <a:extLst>
              <a:ext uri="{FF2B5EF4-FFF2-40B4-BE49-F238E27FC236}">
                <a16:creationId xmlns:a16="http://schemas.microsoft.com/office/drawing/2014/main" id="{954CF2CC-C8CD-451E-B623-328438A9E97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40" name="Rectangle 12">
            <a:extLst>
              <a:ext uri="{FF2B5EF4-FFF2-40B4-BE49-F238E27FC236}">
                <a16:creationId xmlns:a16="http://schemas.microsoft.com/office/drawing/2014/main" id="{4D1E326E-C791-4B88-B40D-0EC88097E36D}"/>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41" name="Rectangle 13">
            <a:extLst>
              <a:ext uri="{FF2B5EF4-FFF2-40B4-BE49-F238E27FC236}">
                <a16:creationId xmlns:a16="http://schemas.microsoft.com/office/drawing/2014/main" id="{E6B2524B-6F79-46C6-AF1E-D632A3A03164}"/>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42" name="Rectangle 14">
            <a:extLst>
              <a:ext uri="{FF2B5EF4-FFF2-40B4-BE49-F238E27FC236}">
                <a16:creationId xmlns:a16="http://schemas.microsoft.com/office/drawing/2014/main" id="{2087CC4B-F4D7-44A7-8A33-03543E156C58}"/>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43" name="Rectangle 15">
            <a:extLst>
              <a:ext uri="{FF2B5EF4-FFF2-40B4-BE49-F238E27FC236}">
                <a16:creationId xmlns:a16="http://schemas.microsoft.com/office/drawing/2014/main" id="{104754E7-6A6F-4DB3-AA69-938F485B74EC}"/>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0544" name="Rectangle 16">
            <a:extLst>
              <a:ext uri="{FF2B5EF4-FFF2-40B4-BE49-F238E27FC236}">
                <a16:creationId xmlns:a16="http://schemas.microsoft.com/office/drawing/2014/main" id="{8F701986-DB09-40DD-AB14-6257FCBF86FA}"/>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790557" name="Picture 29">
            <a:extLst>
              <a:ext uri="{FF2B5EF4-FFF2-40B4-BE49-F238E27FC236}">
                <a16:creationId xmlns:a16="http://schemas.microsoft.com/office/drawing/2014/main" id="{84DEBCC1-EC63-49C8-80BC-52AAB6ABAD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838201"/>
            <a:ext cx="4572000" cy="2860675"/>
          </a:xfrm>
          <a:prstGeom prst="rect">
            <a:avLst/>
          </a:prstGeom>
          <a:noFill/>
          <a:extLst>
            <a:ext uri="{909E8E84-426E-40DD-AFC4-6F175D3DCCD1}">
              <a14:hiddenFill xmlns:a14="http://schemas.microsoft.com/office/drawing/2010/main">
                <a:solidFill>
                  <a:srgbClr val="FFFFFF"/>
                </a:solidFill>
              </a14:hiddenFill>
            </a:ext>
          </a:extLst>
        </p:spPr>
      </p:pic>
      <p:pic>
        <p:nvPicPr>
          <p:cNvPr id="790558" name="Picture 30">
            <a:extLst>
              <a:ext uri="{FF2B5EF4-FFF2-40B4-BE49-F238E27FC236}">
                <a16:creationId xmlns:a16="http://schemas.microsoft.com/office/drawing/2014/main" id="{BAF4BA38-6F4E-4059-A3A8-CC4D8C66FE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1" y="3810000"/>
            <a:ext cx="4505325" cy="27813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90559" name="Object 31">
            <a:extLst>
              <a:ext uri="{FF2B5EF4-FFF2-40B4-BE49-F238E27FC236}">
                <a16:creationId xmlns:a16="http://schemas.microsoft.com/office/drawing/2014/main" id="{88E950B6-5113-4C98-AE69-18E9D01F0AF0}"/>
              </a:ext>
            </a:extLst>
          </p:cNvPr>
          <p:cNvGraphicFramePr>
            <a:graphicFrameLocks noChangeAspect="1"/>
          </p:cNvGraphicFramePr>
          <p:nvPr/>
        </p:nvGraphicFramePr>
        <p:xfrm>
          <a:off x="1981200" y="1828800"/>
          <a:ext cx="3048000" cy="1104900"/>
        </p:xfrm>
        <a:graphic>
          <a:graphicData uri="http://schemas.openxmlformats.org/presentationml/2006/ole">
            <mc:AlternateContent xmlns:mc="http://schemas.openxmlformats.org/markup-compatibility/2006">
              <mc:Choice xmlns:v="urn:schemas-microsoft-com:vml" Requires="v">
                <p:oleObj spid="_x0000_s14352" name="Equation" r:id="rId6" imgW="1346200" imgH="482600" progId="Equation.3">
                  <p:embed/>
                </p:oleObj>
              </mc:Choice>
              <mc:Fallback>
                <p:oleObj name="Equation" r:id="rId6" imgW="1346200" imgH="482600" progId="Equation.3">
                  <p:embed/>
                  <p:pic>
                    <p:nvPicPr>
                      <p:cNvPr id="790559" name="Object 31">
                        <a:extLst>
                          <a:ext uri="{FF2B5EF4-FFF2-40B4-BE49-F238E27FC236}">
                            <a16:creationId xmlns:a16="http://schemas.microsoft.com/office/drawing/2014/main" id="{88E950B6-5113-4C98-AE69-18E9D01F0A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1828800"/>
                        <a:ext cx="30480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0560" name="Object 32">
            <a:extLst>
              <a:ext uri="{FF2B5EF4-FFF2-40B4-BE49-F238E27FC236}">
                <a16:creationId xmlns:a16="http://schemas.microsoft.com/office/drawing/2014/main" id="{6CB1240D-2FBC-4DBF-BFD6-DECFEFDCCFD3}"/>
              </a:ext>
            </a:extLst>
          </p:cNvPr>
          <p:cNvGraphicFramePr>
            <a:graphicFrameLocks noChangeAspect="1"/>
          </p:cNvGraphicFramePr>
          <p:nvPr/>
        </p:nvGraphicFramePr>
        <p:xfrm>
          <a:off x="2057400" y="4724401"/>
          <a:ext cx="3124200" cy="1116013"/>
        </p:xfrm>
        <a:graphic>
          <a:graphicData uri="http://schemas.openxmlformats.org/presentationml/2006/ole">
            <mc:AlternateContent xmlns:mc="http://schemas.openxmlformats.org/markup-compatibility/2006">
              <mc:Choice xmlns:v="urn:schemas-microsoft-com:vml" Requires="v">
                <p:oleObj spid="_x0000_s14353" name="Equation" r:id="rId8" imgW="1358310" imgH="482391" progId="Equation.3">
                  <p:embed/>
                </p:oleObj>
              </mc:Choice>
              <mc:Fallback>
                <p:oleObj name="Equation" r:id="rId8" imgW="1358310" imgH="482391" progId="Equation.3">
                  <p:embed/>
                  <p:pic>
                    <p:nvPicPr>
                      <p:cNvPr id="790560" name="Object 32">
                        <a:extLst>
                          <a:ext uri="{FF2B5EF4-FFF2-40B4-BE49-F238E27FC236}">
                            <a16:creationId xmlns:a16="http://schemas.microsoft.com/office/drawing/2014/main" id="{6CB1240D-2FBC-4DBF-BFD6-DECFEFDCCF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4724401"/>
                        <a:ext cx="3124200"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0561" name="Line 33">
            <a:extLst>
              <a:ext uri="{FF2B5EF4-FFF2-40B4-BE49-F238E27FC236}">
                <a16:creationId xmlns:a16="http://schemas.microsoft.com/office/drawing/2014/main" id="{90DA5438-5E5A-4177-9C84-67A02838F22A}"/>
              </a:ext>
            </a:extLst>
          </p:cNvPr>
          <p:cNvSpPr>
            <a:spLocks noChangeShapeType="1"/>
          </p:cNvSpPr>
          <p:nvPr/>
        </p:nvSpPr>
        <p:spPr bwMode="auto">
          <a:xfrm>
            <a:off x="3505200" y="3429000"/>
            <a:ext cx="0" cy="9906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a:extLst>
              <a:ext uri="{FF2B5EF4-FFF2-40B4-BE49-F238E27FC236}">
                <a16:creationId xmlns:a16="http://schemas.microsoft.com/office/drawing/2014/main" id="{49AEE22F-E8DA-421F-932E-C9C37205113B}"/>
              </a:ext>
            </a:extLst>
          </p:cNvPr>
          <p:cNvSpPr>
            <a:spLocks noGrp="1" noChangeArrowheads="1"/>
          </p:cNvSpPr>
          <p:nvPr>
            <p:ph type="title"/>
          </p:nvPr>
        </p:nvSpPr>
        <p:spPr>
          <a:xfrm>
            <a:off x="2286000" y="182564"/>
            <a:ext cx="7772400" cy="579437"/>
          </a:xfrm>
        </p:spPr>
        <p:txBody>
          <a:bodyPr/>
          <a:lstStyle/>
          <a:p>
            <a:r>
              <a:rPr lang="en-US" altLang="en-US"/>
              <a:t>Unsaturated Nonsteady Horizontal Flow</a:t>
            </a:r>
          </a:p>
        </p:txBody>
      </p:sp>
      <p:sp>
        <p:nvSpPr>
          <p:cNvPr id="806915" name="Rectangle 3">
            <a:extLst>
              <a:ext uri="{FF2B5EF4-FFF2-40B4-BE49-F238E27FC236}">
                <a16:creationId xmlns:a16="http://schemas.microsoft.com/office/drawing/2014/main" id="{3C83EEB3-5ED1-466F-B728-3E8DA1E27FC9}"/>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16" name="Rectangle 4">
            <a:extLst>
              <a:ext uri="{FF2B5EF4-FFF2-40B4-BE49-F238E27FC236}">
                <a16:creationId xmlns:a16="http://schemas.microsoft.com/office/drawing/2014/main" id="{9A836B53-F221-490C-AFF3-CECF0CFBFBC2}"/>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17" name="Rectangle 5">
            <a:extLst>
              <a:ext uri="{FF2B5EF4-FFF2-40B4-BE49-F238E27FC236}">
                <a16:creationId xmlns:a16="http://schemas.microsoft.com/office/drawing/2014/main" id="{90CA6511-28B5-415D-A98E-D7B16FFBB0B6}"/>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18" name="Rectangle 6">
            <a:extLst>
              <a:ext uri="{FF2B5EF4-FFF2-40B4-BE49-F238E27FC236}">
                <a16:creationId xmlns:a16="http://schemas.microsoft.com/office/drawing/2014/main" id="{7A93C7A3-6EE9-4FD1-9084-82B9A4EFC8D0}"/>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19" name="Rectangle 7">
            <a:extLst>
              <a:ext uri="{FF2B5EF4-FFF2-40B4-BE49-F238E27FC236}">
                <a16:creationId xmlns:a16="http://schemas.microsoft.com/office/drawing/2014/main" id="{DFE00B5F-5245-430A-B642-0A0D7C9C5308}"/>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0" name="Rectangle 8">
            <a:extLst>
              <a:ext uri="{FF2B5EF4-FFF2-40B4-BE49-F238E27FC236}">
                <a16:creationId xmlns:a16="http://schemas.microsoft.com/office/drawing/2014/main" id="{295BB7B4-7540-4DBB-8034-61C4DCDC1B64}"/>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1" name="Rectangle 9">
            <a:extLst>
              <a:ext uri="{FF2B5EF4-FFF2-40B4-BE49-F238E27FC236}">
                <a16:creationId xmlns:a16="http://schemas.microsoft.com/office/drawing/2014/main" id="{CB6D38DB-ABCB-4642-9AAB-4797705FA29F}"/>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2" name="Rectangle 10">
            <a:extLst>
              <a:ext uri="{FF2B5EF4-FFF2-40B4-BE49-F238E27FC236}">
                <a16:creationId xmlns:a16="http://schemas.microsoft.com/office/drawing/2014/main" id="{EC2998AD-C4D7-478A-8602-306F8BC674F1}"/>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3" name="Rectangle 11">
            <a:extLst>
              <a:ext uri="{FF2B5EF4-FFF2-40B4-BE49-F238E27FC236}">
                <a16:creationId xmlns:a16="http://schemas.microsoft.com/office/drawing/2014/main" id="{E19AA6B4-4381-4485-99DE-6D81C689F0AA}"/>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4" name="Rectangle 12">
            <a:extLst>
              <a:ext uri="{FF2B5EF4-FFF2-40B4-BE49-F238E27FC236}">
                <a16:creationId xmlns:a16="http://schemas.microsoft.com/office/drawing/2014/main" id="{264459B6-07D9-4036-8508-EDE5B71BD2B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5" name="Rectangle 13">
            <a:extLst>
              <a:ext uri="{FF2B5EF4-FFF2-40B4-BE49-F238E27FC236}">
                <a16:creationId xmlns:a16="http://schemas.microsoft.com/office/drawing/2014/main" id="{30A7C98A-5705-40A8-8131-56E41B5F2838}"/>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6" name="Rectangle 14">
            <a:extLst>
              <a:ext uri="{FF2B5EF4-FFF2-40B4-BE49-F238E27FC236}">
                <a16:creationId xmlns:a16="http://schemas.microsoft.com/office/drawing/2014/main" id="{D89A033B-9314-4A0C-8281-13A84DFB51CA}"/>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7" name="Rectangle 15">
            <a:extLst>
              <a:ext uri="{FF2B5EF4-FFF2-40B4-BE49-F238E27FC236}">
                <a16:creationId xmlns:a16="http://schemas.microsoft.com/office/drawing/2014/main" id="{86C583C8-AA65-46B2-BCB6-BDB84B72C078}"/>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8" name="Rectangle 16">
            <a:extLst>
              <a:ext uri="{FF2B5EF4-FFF2-40B4-BE49-F238E27FC236}">
                <a16:creationId xmlns:a16="http://schemas.microsoft.com/office/drawing/2014/main" id="{731BD4A7-CCEB-4205-8BBB-1468F30D92F9}"/>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6929" name="Text Box 17">
            <a:extLst>
              <a:ext uri="{FF2B5EF4-FFF2-40B4-BE49-F238E27FC236}">
                <a16:creationId xmlns:a16="http://schemas.microsoft.com/office/drawing/2014/main" id="{61A65AB1-1742-4C29-BF87-48240E31492A}"/>
              </a:ext>
            </a:extLst>
          </p:cNvPr>
          <p:cNvSpPr txBox="1">
            <a:spLocks noChangeArrowheads="1"/>
          </p:cNvSpPr>
          <p:nvPr/>
        </p:nvSpPr>
        <p:spPr bwMode="auto">
          <a:xfrm>
            <a:off x="2286000" y="844550"/>
            <a:ext cx="777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a:effectLst>
                  <a:outerShdw blurRad="38100" dist="38100" dir="2700000" algn="tl">
                    <a:srgbClr val="C0C0C0"/>
                  </a:outerShdw>
                </a:effectLst>
              </a:rPr>
              <a:t>Graphical presentation of the K(</a:t>
            </a:r>
            <a:r>
              <a:rPr lang="en-US" altLang="en-US" sz="1900" b="1">
                <a:effectLst>
                  <a:outerShdw blurRad="38100" dist="38100" dir="2700000" algn="tl">
                    <a:srgbClr val="C0C0C0"/>
                  </a:outerShdw>
                </a:effectLst>
                <a:latin typeface="Symbol" panose="05050102010706020507" pitchFamily="18" charset="2"/>
              </a:rPr>
              <a:t>q</a:t>
            </a:r>
            <a:r>
              <a:rPr lang="en-US" altLang="en-US" sz="1900" b="1">
                <a:effectLst>
                  <a:outerShdw blurRad="38100" dist="38100" dir="2700000" algn="tl">
                    <a:srgbClr val="C0C0C0"/>
                  </a:outerShdw>
                </a:effectLst>
              </a:rPr>
              <a:t>), C</a:t>
            </a:r>
            <a:r>
              <a:rPr lang="en-US" altLang="en-US" sz="1900" b="1" baseline="-25000">
                <a:effectLst>
                  <a:outerShdw blurRad="38100" dist="38100" dir="2700000" algn="tl">
                    <a:srgbClr val="C0C0C0"/>
                  </a:outerShdw>
                </a:effectLst>
              </a:rPr>
              <a:t>w</a:t>
            </a:r>
            <a:r>
              <a:rPr lang="en-US" altLang="en-US" sz="1900" b="1">
                <a:effectLst>
                  <a:outerShdw blurRad="38100" dist="38100" dir="2700000" algn="tl">
                    <a:srgbClr val="C0C0C0"/>
                  </a:outerShdw>
                </a:effectLst>
              </a:rPr>
              <a:t>(</a:t>
            </a:r>
            <a:r>
              <a:rPr lang="en-US" altLang="en-US" sz="1900" b="1">
                <a:effectLst>
                  <a:outerShdw blurRad="38100" dist="38100" dir="2700000" algn="tl">
                    <a:srgbClr val="C0C0C0"/>
                  </a:outerShdw>
                </a:effectLst>
                <a:latin typeface="Symbol" panose="05050102010706020507" pitchFamily="18" charset="2"/>
              </a:rPr>
              <a:t>q</a:t>
            </a:r>
            <a:r>
              <a:rPr lang="en-US" altLang="en-US" sz="1900" b="1">
                <a:effectLst>
                  <a:outerShdw blurRad="38100" dist="38100" dir="2700000" algn="tl">
                    <a:srgbClr val="C0C0C0"/>
                  </a:outerShdw>
                </a:effectLst>
              </a:rPr>
              <a:t>), and D(</a:t>
            </a:r>
            <a:r>
              <a:rPr lang="en-US" altLang="en-US" sz="1900" b="1">
                <a:effectLst>
                  <a:outerShdw blurRad="38100" dist="38100" dir="2700000" algn="tl">
                    <a:srgbClr val="C0C0C0"/>
                  </a:outerShdw>
                </a:effectLst>
                <a:latin typeface="Symbol" panose="05050102010706020507" pitchFamily="18" charset="2"/>
              </a:rPr>
              <a:t>q</a:t>
            </a:r>
            <a:r>
              <a:rPr lang="en-US" altLang="en-US" sz="1900" b="1">
                <a:effectLst>
                  <a:outerShdw blurRad="38100" dist="38100" dir="2700000" algn="tl">
                    <a:srgbClr val="C0C0C0"/>
                  </a:outerShdw>
                </a:effectLst>
              </a:rPr>
              <a:t>) functions</a:t>
            </a:r>
          </a:p>
        </p:txBody>
      </p:sp>
      <p:pic>
        <p:nvPicPr>
          <p:cNvPr id="806930" name="Picture 18">
            <a:extLst>
              <a:ext uri="{FF2B5EF4-FFF2-40B4-BE49-F238E27FC236}">
                <a16:creationId xmlns:a16="http://schemas.microsoft.com/office/drawing/2014/main" id="{66540234-7565-450B-8A35-2A3FB645AC70}"/>
              </a:ext>
            </a:extLst>
          </p:cNvPr>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2438400" y="1585914"/>
            <a:ext cx="3810000" cy="2205037"/>
          </a:xfrm>
          <a:noFill/>
          <a:ln/>
        </p:spPr>
      </p:pic>
      <p:pic>
        <p:nvPicPr>
          <p:cNvPr id="806931" name="Picture 19">
            <a:extLst>
              <a:ext uri="{FF2B5EF4-FFF2-40B4-BE49-F238E27FC236}">
                <a16:creationId xmlns:a16="http://schemas.microsoft.com/office/drawing/2014/main" id="{19B7AA3C-22FF-4624-B419-BEB2014D92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400" y="1587500"/>
            <a:ext cx="38100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6932" name="Text Box 20">
            <a:extLst>
              <a:ext uri="{FF2B5EF4-FFF2-40B4-BE49-F238E27FC236}">
                <a16:creationId xmlns:a16="http://schemas.microsoft.com/office/drawing/2014/main" id="{D7BE677B-0C95-4D8F-86DD-0ABBA518EAE6}"/>
              </a:ext>
            </a:extLst>
          </p:cNvPr>
          <p:cNvSpPr txBox="1">
            <a:spLocks noChangeArrowheads="1"/>
          </p:cNvSpPr>
          <p:nvPr/>
        </p:nvSpPr>
        <p:spPr bwMode="auto">
          <a:xfrm>
            <a:off x="6156325" y="2805114"/>
            <a:ext cx="1841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endParaRPr lang="en-US" altLang="en-US" sz="3000">
              <a:solidFill>
                <a:srgbClr val="000099"/>
              </a:solidFill>
              <a:latin typeface="VAGRounded BT" pitchFamily="34" charset="0"/>
            </a:endParaRPr>
          </a:p>
        </p:txBody>
      </p:sp>
      <p:sp>
        <p:nvSpPr>
          <p:cNvPr id="806933" name="Text Box 21">
            <a:extLst>
              <a:ext uri="{FF2B5EF4-FFF2-40B4-BE49-F238E27FC236}">
                <a16:creationId xmlns:a16="http://schemas.microsoft.com/office/drawing/2014/main" id="{F309DC3B-09F2-40B9-8221-0613F1166AB8}"/>
              </a:ext>
            </a:extLst>
          </p:cNvPr>
          <p:cNvSpPr txBox="1">
            <a:spLocks noChangeArrowheads="1"/>
          </p:cNvSpPr>
          <p:nvPr/>
        </p:nvSpPr>
        <p:spPr bwMode="auto">
          <a:xfrm>
            <a:off x="4267200" y="1338263"/>
            <a:ext cx="838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lIns="91429" tIns="45715" rIns="91429" bIns="45715">
            <a:spAutoFit/>
          </a:bodyPr>
          <a:lstStyle>
            <a:lvl1pPr>
              <a:defRPr>
                <a:solidFill>
                  <a:schemeClr val="tx1"/>
                </a:solidFill>
                <a:latin typeface="Arial" panose="020B0604020202020204" pitchFamily="34" charset="0"/>
              </a:defRPr>
            </a:lvl1pPr>
            <a:lvl2pPr marL="455613">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pPr>
            <a:r>
              <a:rPr lang="en-US" altLang="en-US" sz="1900" b="1">
                <a:solidFill>
                  <a:srgbClr val="339933"/>
                </a:solidFill>
                <a:effectLst>
                  <a:outerShdw blurRad="38100" dist="38100" dir="2700000" algn="tl">
                    <a:srgbClr val="C0C0C0"/>
                  </a:outerShdw>
                </a:effectLst>
                <a:cs typeface="Times New Roman" panose="02020603050405020304" pitchFamily="18" charset="0"/>
              </a:rPr>
              <a:t>K(</a:t>
            </a:r>
            <a:r>
              <a:rPr lang="en-US" altLang="en-US" sz="1900" b="1">
                <a:solidFill>
                  <a:srgbClr val="339933"/>
                </a:solidFill>
                <a:effectLst>
                  <a:outerShdw blurRad="38100" dist="38100" dir="2700000" algn="tl">
                    <a:srgbClr val="C0C0C0"/>
                  </a:outerShdw>
                </a:effectLst>
                <a:latin typeface="Symbol" panose="05050102010706020507" pitchFamily="18" charset="2"/>
                <a:cs typeface="Times New Roman" panose="02020603050405020304" pitchFamily="18" charset="0"/>
              </a:rPr>
              <a:t>q</a:t>
            </a:r>
            <a:r>
              <a:rPr lang="en-US" altLang="en-US" sz="1900" b="1">
                <a:solidFill>
                  <a:srgbClr val="339933"/>
                </a:solidFill>
                <a:effectLst>
                  <a:outerShdw blurRad="38100" dist="38100" dir="2700000" algn="tl">
                    <a:srgbClr val="C0C0C0"/>
                  </a:outerShdw>
                </a:effectLst>
                <a:cs typeface="Times New Roman" panose="02020603050405020304" pitchFamily="18" charset="0"/>
              </a:rPr>
              <a:t>)</a:t>
            </a:r>
          </a:p>
        </p:txBody>
      </p:sp>
      <p:pic>
        <p:nvPicPr>
          <p:cNvPr id="806934" name="Picture 22">
            <a:extLst>
              <a:ext uri="{FF2B5EF4-FFF2-40B4-BE49-F238E27FC236}">
                <a16:creationId xmlns:a16="http://schemas.microsoft.com/office/drawing/2014/main" id="{03E058E6-7224-45F6-81CC-1E1D299900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4087814"/>
            <a:ext cx="4662488" cy="269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06935" name="Group 23">
            <a:extLst>
              <a:ext uri="{FF2B5EF4-FFF2-40B4-BE49-F238E27FC236}">
                <a16:creationId xmlns:a16="http://schemas.microsoft.com/office/drawing/2014/main" id="{7B32FDFD-ACF4-4343-BEAD-6A4845060F59}"/>
              </a:ext>
            </a:extLst>
          </p:cNvPr>
          <p:cNvGrpSpPr>
            <a:grpSpLocks/>
          </p:cNvGrpSpPr>
          <p:nvPr/>
        </p:nvGrpSpPr>
        <p:grpSpPr bwMode="auto">
          <a:xfrm>
            <a:off x="7315200" y="4648200"/>
            <a:ext cx="2986088" cy="762000"/>
            <a:chOff x="1383" y="4752"/>
            <a:chExt cx="1881" cy="480"/>
          </a:xfrm>
        </p:grpSpPr>
        <p:sp>
          <p:nvSpPr>
            <p:cNvPr id="806936" name="Rectangle 24">
              <a:extLst>
                <a:ext uri="{FF2B5EF4-FFF2-40B4-BE49-F238E27FC236}">
                  <a16:creationId xmlns:a16="http://schemas.microsoft.com/office/drawing/2014/main" id="{BC13A65B-8BE4-4A5F-9824-ED3FA55FB762}"/>
                </a:ext>
              </a:extLst>
            </p:cNvPr>
            <p:cNvSpPr>
              <a:spLocks noChangeArrowheads="1"/>
            </p:cNvSpPr>
            <p:nvPr/>
          </p:nvSpPr>
          <p:spPr bwMode="auto">
            <a:xfrm>
              <a:off x="1383" y="4752"/>
              <a:ext cx="1881" cy="48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806937" name="Object 25">
              <a:extLst>
                <a:ext uri="{FF2B5EF4-FFF2-40B4-BE49-F238E27FC236}">
                  <a16:creationId xmlns:a16="http://schemas.microsoft.com/office/drawing/2014/main" id="{E94A69FF-BE86-4C14-B645-D4FE03DCF918}"/>
                </a:ext>
              </a:extLst>
            </p:cNvPr>
            <p:cNvGraphicFramePr>
              <a:graphicFrameLocks noChangeAspect="1"/>
            </p:cNvGraphicFramePr>
            <p:nvPr/>
          </p:nvGraphicFramePr>
          <p:xfrm>
            <a:off x="1440" y="4752"/>
            <a:ext cx="1756" cy="471"/>
          </p:xfrm>
          <a:graphic>
            <a:graphicData uri="http://schemas.openxmlformats.org/presentationml/2006/ole">
              <mc:AlternateContent xmlns:mc="http://schemas.openxmlformats.org/markup-compatibility/2006">
                <mc:Choice xmlns:v="urn:schemas-microsoft-com:vml" Requires="v">
                  <p:oleObj spid="_x0000_s15369" name="Equation" r:id="rId7" imgW="1739880" imgH="469800" progId="Equation.3">
                    <p:embed/>
                  </p:oleObj>
                </mc:Choice>
                <mc:Fallback>
                  <p:oleObj name="Equation" r:id="rId7" imgW="1739880" imgH="469800" progId="Equation.3">
                    <p:embed/>
                    <p:pic>
                      <p:nvPicPr>
                        <p:cNvPr id="806937" name="Object 25">
                          <a:extLst>
                            <a:ext uri="{FF2B5EF4-FFF2-40B4-BE49-F238E27FC236}">
                              <a16:creationId xmlns:a16="http://schemas.microsoft.com/office/drawing/2014/main" id="{E94A69FF-BE86-4C14-B645-D4FE03DCF9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0" y="4752"/>
                          <a:ext cx="1756" cy="4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06938" name="Text Box 26">
            <a:extLst>
              <a:ext uri="{FF2B5EF4-FFF2-40B4-BE49-F238E27FC236}">
                <a16:creationId xmlns:a16="http://schemas.microsoft.com/office/drawing/2014/main" id="{B6688F22-FE5C-4F2B-8D69-485D8CD04805}"/>
              </a:ext>
            </a:extLst>
          </p:cNvPr>
          <p:cNvSpPr txBox="1">
            <a:spLocks noChangeArrowheads="1"/>
          </p:cNvSpPr>
          <p:nvPr/>
        </p:nvSpPr>
        <p:spPr bwMode="auto">
          <a:xfrm>
            <a:off x="8001000" y="1295400"/>
            <a:ext cx="838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lIns="91429" tIns="45715" rIns="91429" bIns="45715">
            <a:spAutoFit/>
          </a:bodyPr>
          <a:lstStyle>
            <a:lvl1pPr>
              <a:defRPr>
                <a:solidFill>
                  <a:schemeClr val="tx1"/>
                </a:solidFill>
                <a:latin typeface="Arial" panose="020B0604020202020204" pitchFamily="34" charset="0"/>
              </a:defRPr>
            </a:lvl1pPr>
            <a:lvl2pPr marL="455613">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pPr>
            <a:r>
              <a:rPr lang="en-US" altLang="en-US" sz="1900" b="1">
                <a:solidFill>
                  <a:srgbClr val="339933"/>
                </a:solidFill>
                <a:effectLst>
                  <a:outerShdw blurRad="38100" dist="38100" dir="2700000" algn="tl">
                    <a:srgbClr val="C0C0C0"/>
                  </a:outerShdw>
                </a:effectLst>
                <a:cs typeface="Times New Roman" panose="02020603050405020304" pitchFamily="18" charset="0"/>
              </a:rPr>
              <a:t>C</a:t>
            </a:r>
            <a:r>
              <a:rPr lang="en-US" altLang="en-US" sz="1900" b="1" baseline="-25000">
                <a:solidFill>
                  <a:srgbClr val="339933"/>
                </a:solidFill>
                <a:effectLst>
                  <a:outerShdw blurRad="38100" dist="38100" dir="2700000" algn="tl">
                    <a:srgbClr val="C0C0C0"/>
                  </a:outerShdw>
                </a:effectLst>
                <a:cs typeface="Times New Roman" panose="02020603050405020304" pitchFamily="18" charset="0"/>
              </a:rPr>
              <a:t>W</a:t>
            </a:r>
            <a:r>
              <a:rPr lang="en-US" altLang="en-US" sz="1900" b="1">
                <a:solidFill>
                  <a:srgbClr val="339933"/>
                </a:solidFill>
                <a:effectLst>
                  <a:outerShdw blurRad="38100" dist="38100" dir="2700000" algn="tl">
                    <a:srgbClr val="C0C0C0"/>
                  </a:outerShdw>
                </a:effectLst>
                <a:cs typeface="Times New Roman" panose="02020603050405020304" pitchFamily="18" charset="0"/>
              </a:rPr>
              <a:t>(</a:t>
            </a:r>
            <a:r>
              <a:rPr lang="en-US" altLang="en-US" sz="1900" b="1">
                <a:solidFill>
                  <a:srgbClr val="339933"/>
                </a:solidFill>
                <a:effectLst>
                  <a:outerShdw blurRad="38100" dist="38100" dir="2700000" algn="tl">
                    <a:srgbClr val="C0C0C0"/>
                  </a:outerShdw>
                </a:effectLst>
                <a:latin typeface="Symbol" panose="05050102010706020507" pitchFamily="18" charset="2"/>
                <a:cs typeface="Times New Roman" panose="02020603050405020304" pitchFamily="18" charset="0"/>
              </a:rPr>
              <a:t>q</a:t>
            </a:r>
            <a:r>
              <a:rPr lang="en-US" altLang="en-US" sz="1900" b="1">
                <a:solidFill>
                  <a:srgbClr val="339933"/>
                </a:solidFill>
                <a:effectLst>
                  <a:outerShdw blurRad="38100" dist="38100" dir="2700000" algn="tl">
                    <a:srgbClr val="C0C0C0"/>
                  </a:outerShdw>
                </a:effectLst>
                <a:cs typeface="Times New Roman" panose="02020603050405020304" pitchFamily="18" charset="0"/>
              </a:rPr>
              <a:t>)</a:t>
            </a:r>
          </a:p>
        </p:txBody>
      </p:sp>
      <p:sp>
        <p:nvSpPr>
          <p:cNvPr id="806939" name="Text Box 27">
            <a:extLst>
              <a:ext uri="{FF2B5EF4-FFF2-40B4-BE49-F238E27FC236}">
                <a16:creationId xmlns:a16="http://schemas.microsoft.com/office/drawing/2014/main" id="{0F64A57E-4865-4B41-A246-7D9CF9368B56}"/>
              </a:ext>
            </a:extLst>
          </p:cNvPr>
          <p:cNvSpPr txBox="1">
            <a:spLocks noChangeArrowheads="1"/>
          </p:cNvSpPr>
          <p:nvPr/>
        </p:nvSpPr>
        <p:spPr bwMode="auto">
          <a:xfrm>
            <a:off x="4648200" y="3810000"/>
            <a:ext cx="838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lIns="91429" tIns="45715" rIns="91429" bIns="45715">
            <a:spAutoFit/>
          </a:bodyPr>
          <a:lstStyle>
            <a:lvl1pPr>
              <a:defRPr>
                <a:solidFill>
                  <a:schemeClr val="tx1"/>
                </a:solidFill>
                <a:latin typeface="Arial" panose="020B0604020202020204" pitchFamily="34" charset="0"/>
              </a:defRPr>
            </a:lvl1pPr>
            <a:lvl2pPr marL="455613">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pPr>
            <a:r>
              <a:rPr lang="en-US" altLang="en-US" sz="1900" b="1">
                <a:solidFill>
                  <a:srgbClr val="339933"/>
                </a:solidFill>
                <a:effectLst>
                  <a:outerShdw blurRad="38100" dist="38100" dir="2700000" algn="tl">
                    <a:srgbClr val="C0C0C0"/>
                  </a:outerShdw>
                </a:effectLst>
                <a:cs typeface="Times New Roman" panose="02020603050405020304" pitchFamily="18" charset="0"/>
              </a:rPr>
              <a:t>D(</a:t>
            </a:r>
            <a:r>
              <a:rPr lang="en-US" altLang="en-US" sz="1900" b="1">
                <a:solidFill>
                  <a:srgbClr val="339933"/>
                </a:solidFill>
                <a:effectLst>
                  <a:outerShdw blurRad="38100" dist="38100" dir="2700000" algn="tl">
                    <a:srgbClr val="C0C0C0"/>
                  </a:outerShdw>
                </a:effectLst>
                <a:latin typeface="Symbol" panose="05050102010706020507" pitchFamily="18" charset="2"/>
                <a:cs typeface="Times New Roman" panose="02020603050405020304" pitchFamily="18" charset="0"/>
              </a:rPr>
              <a:t>q</a:t>
            </a:r>
            <a:r>
              <a:rPr lang="en-US" altLang="en-US" sz="1900" b="1">
                <a:solidFill>
                  <a:srgbClr val="339933"/>
                </a:solidFill>
                <a:effectLst>
                  <a:outerShdw blurRad="38100" dist="38100" dir="2700000" algn="tl">
                    <a:srgbClr val="C0C0C0"/>
                  </a:outerShdw>
                </a:effectLst>
                <a:cs typeface="Times New Roman" panose="02020603050405020304"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a:extLst>
              <a:ext uri="{FF2B5EF4-FFF2-40B4-BE49-F238E27FC236}">
                <a16:creationId xmlns:a16="http://schemas.microsoft.com/office/drawing/2014/main" id="{DA6FF89D-B683-4CFF-A9D7-EB84D2126687}"/>
              </a:ext>
            </a:extLst>
          </p:cNvPr>
          <p:cNvSpPr>
            <a:spLocks noGrp="1" noChangeArrowheads="1"/>
          </p:cNvSpPr>
          <p:nvPr>
            <p:ph type="title"/>
          </p:nvPr>
        </p:nvSpPr>
        <p:spPr>
          <a:xfrm>
            <a:off x="2286000" y="182564"/>
            <a:ext cx="7772400" cy="579437"/>
          </a:xfrm>
        </p:spPr>
        <p:txBody>
          <a:bodyPr/>
          <a:lstStyle/>
          <a:p>
            <a:r>
              <a:rPr lang="en-US" altLang="en-US" sz="2400"/>
              <a:t>Boltzmann transformation for horizontal flow</a:t>
            </a:r>
          </a:p>
        </p:txBody>
      </p:sp>
      <p:sp>
        <p:nvSpPr>
          <p:cNvPr id="808963" name="Rectangle 3">
            <a:extLst>
              <a:ext uri="{FF2B5EF4-FFF2-40B4-BE49-F238E27FC236}">
                <a16:creationId xmlns:a16="http://schemas.microsoft.com/office/drawing/2014/main" id="{39935327-DD72-41B6-9806-DDCBB46A967C}"/>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4" name="Rectangle 4">
            <a:extLst>
              <a:ext uri="{FF2B5EF4-FFF2-40B4-BE49-F238E27FC236}">
                <a16:creationId xmlns:a16="http://schemas.microsoft.com/office/drawing/2014/main" id="{61D100D6-8976-4E19-A09F-8192E2E631DD}"/>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5" name="Rectangle 5">
            <a:extLst>
              <a:ext uri="{FF2B5EF4-FFF2-40B4-BE49-F238E27FC236}">
                <a16:creationId xmlns:a16="http://schemas.microsoft.com/office/drawing/2014/main" id="{711156F7-E604-4D98-9796-2171D8616D2A}"/>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6" name="Rectangle 6">
            <a:extLst>
              <a:ext uri="{FF2B5EF4-FFF2-40B4-BE49-F238E27FC236}">
                <a16:creationId xmlns:a16="http://schemas.microsoft.com/office/drawing/2014/main" id="{F3F6A796-5705-4595-B53A-19C6A866CA51}"/>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7" name="Rectangle 7">
            <a:extLst>
              <a:ext uri="{FF2B5EF4-FFF2-40B4-BE49-F238E27FC236}">
                <a16:creationId xmlns:a16="http://schemas.microsoft.com/office/drawing/2014/main" id="{98A7B800-2247-4634-9FA4-28AD7420D700}"/>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8" name="Rectangle 8">
            <a:extLst>
              <a:ext uri="{FF2B5EF4-FFF2-40B4-BE49-F238E27FC236}">
                <a16:creationId xmlns:a16="http://schemas.microsoft.com/office/drawing/2014/main" id="{F775E358-0DF4-4B3F-8EA5-FA4CC824BB3C}"/>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69" name="Rectangle 9">
            <a:extLst>
              <a:ext uri="{FF2B5EF4-FFF2-40B4-BE49-F238E27FC236}">
                <a16:creationId xmlns:a16="http://schemas.microsoft.com/office/drawing/2014/main" id="{F295E9F1-98DC-481F-AA44-5AD4E5C3BFE8}"/>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0" name="Rectangle 10">
            <a:extLst>
              <a:ext uri="{FF2B5EF4-FFF2-40B4-BE49-F238E27FC236}">
                <a16:creationId xmlns:a16="http://schemas.microsoft.com/office/drawing/2014/main" id="{322F7843-3C47-4BC4-BE16-4908A9774A78}"/>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1" name="Rectangle 11">
            <a:extLst>
              <a:ext uri="{FF2B5EF4-FFF2-40B4-BE49-F238E27FC236}">
                <a16:creationId xmlns:a16="http://schemas.microsoft.com/office/drawing/2014/main" id="{8920B6EE-DEB3-4A16-B396-939F22B3F4D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2" name="Rectangle 12">
            <a:extLst>
              <a:ext uri="{FF2B5EF4-FFF2-40B4-BE49-F238E27FC236}">
                <a16:creationId xmlns:a16="http://schemas.microsoft.com/office/drawing/2014/main" id="{F023C8CC-F953-42E4-9BCB-BA20FE732644}"/>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3" name="Rectangle 13">
            <a:extLst>
              <a:ext uri="{FF2B5EF4-FFF2-40B4-BE49-F238E27FC236}">
                <a16:creationId xmlns:a16="http://schemas.microsoft.com/office/drawing/2014/main" id="{40EC27FA-B790-461F-BE58-AF1E0E3E2F51}"/>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4" name="Rectangle 14">
            <a:extLst>
              <a:ext uri="{FF2B5EF4-FFF2-40B4-BE49-F238E27FC236}">
                <a16:creationId xmlns:a16="http://schemas.microsoft.com/office/drawing/2014/main" id="{29EF3444-8A28-44F8-877D-0733CA68F867}"/>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5" name="Rectangle 15">
            <a:extLst>
              <a:ext uri="{FF2B5EF4-FFF2-40B4-BE49-F238E27FC236}">
                <a16:creationId xmlns:a16="http://schemas.microsoft.com/office/drawing/2014/main" id="{C1795507-FEA3-41C8-886B-AEE55FEA405E}"/>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8976" name="Rectangle 16">
            <a:extLst>
              <a:ext uri="{FF2B5EF4-FFF2-40B4-BE49-F238E27FC236}">
                <a16:creationId xmlns:a16="http://schemas.microsoft.com/office/drawing/2014/main" id="{74BCB1A7-DB80-44C8-B23E-6A16D3BA6C74}"/>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pic>
        <p:nvPicPr>
          <p:cNvPr id="808979" name="Picture 19">
            <a:extLst>
              <a:ext uri="{FF2B5EF4-FFF2-40B4-BE49-F238E27FC236}">
                <a16:creationId xmlns:a16="http://schemas.microsoft.com/office/drawing/2014/main" id="{90613ABA-32E2-48F8-A08A-9B84DFC546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426" y="762000"/>
            <a:ext cx="340677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808980" name="Picture 20">
            <a:extLst>
              <a:ext uri="{FF2B5EF4-FFF2-40B4-BE49-F238E27FC236}">
                <a16:creationId xmlns:a16="http://schemas.microsoft.com/office/drawing/2014/main" id="{5F01973B-EA43-4F71-AB00-C765E859BC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1" y="762000"/>
            <a:ext cx="3540125" cy="4572000"/>
          </a:xfrm>
          <a:prstGeom prst="rect">
            <a:avLst/>
          </a:prstGeom>
          <a:noFill/>
          <a:extLst>
            <a:ext uri="{909E8E84-426E-40DD-AFC4-6F175D3DCCD1}">
              <a14:hiddenFill xmlns:a14="http://schemas.microsoft.com/office/drawing/2010/main">
                <a:solidFill>
                  <a:srgbClr val="FFFFFF"/>
                </a:solidFill>
              </a14:hiddenFill>
            </a:ext>
          </a:extLst>
        </p:spPr>
      </p:pic>
      <p:sp>
        <p:nvSpPr>
          <p:cNvPr id="808981" name="Line 21">
            <a:extLst>
              <a:ext uri="{FF2B5EF4-FFF2-40B4-BE49-F238E27FC236}">
                <a16:creationId xmlns:a16="http://schemas.microsoft.com/office/drawing/2014/main" id="{6F9DB8C8-E429-4060-AED2-D9D6F95BFF74}"/>
              </a:ext>
            </a:extLst>
          </p:cNvPr>
          <p:cNvSpPr>
            <a:spLocks noChangeShapeType="1"/>
          </p:cNvSpPr>
          <p:nvPr/>
        </p:nvSpPr>
        <p:spPr bwMode="auto">
          <a:xfrm>
            <a:off x="5638800" y="2971800"/>
            <a:ext cx="762000" cy="0"/>
          </a:xfrm>
          <a:prstGeom prst="line">
            <a:avLst/>
          </a:prstGeom>
          <a:noFill/>
          <a:ln w="57150">
            <a:solidFill>
              <a:srgbClr val="FF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808982" name="Object 22">
            <a:extLst>
              <a:ext uri="{FF2B5EF4-FFF2-40B4-BE49-F238E27FC236}">
                <a16:creationId xmlns:a16="http://schemas.microsoft.com/office/drawing/2014/main" id="{6D9B6F3B-8F73-45CE-B25E-19C35F86F063}"/>
              </a:ext>
            </a:extLst>
          </p:cNvPr>
          <p:cNvGraphicFramePr>
            <a:graphicFrameLocks noChangeAspect="1"/>
          </p:cNvGraphicFramePr>
          <p:nvPr/>
        </p:nvGraphicFramePr>
        <p:xfrm>
          <a:off x="8305800" y="4267200"/>
          <a:ext cx="1143000" cy="503238"/>
        </p:xfrm>
        <a:graphic>
          <a:graphicData uri="http://schemas.openxmlformats.org/presentationml/2006/ole">
            <mc:AlternateContent xmlns:mc="http://schemas.openxmlformats.org/markup-compatibility/2006">
              <mc:Choice xmlns:v="urn:schemas-microsoft-com:vml" Requires="v">
                <p:oleObj spid="_x0000_s16407" name="Equation" r:id="rId6" imgW="583920" imgH="253800" progId="Equation.3">
                  <p:embed/>
                </p:oleObj>
              </mc:Choice>
              <mc:Fallback>
                <p:oleObj name="Equation" r:id="rId6" imgW="583920" imgH="253800" progId="Equation.3">
                  <p:embed/>
                  <p:pic>
                    <p:nvPicPr>
                      <p:cNvPr id="808982" name="Object 22">
                        <a:extLst>
                          <a:ext uri="{FF2B5EF4-FFF2-40B4-BE49-F238E27FC236}">
                            <a16:creationId xmlns:a16="http://schemas.microsoft.com/office/drawing/2014/main" id="{6D9B6F3B-8F73-45CE-B25E-19C35F86F0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05800" y="4267200"/>
                        <a:ext cx="1143000" cy="503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8983" name="Object 23">
            <a:extLst>
              <a:ext uri="{FF2B5EF4-FFF2-40B4-BE49-F238E27FC236}">
                <a16:creationId xmlns:a16="http://schemas.microsoft.com/office/drawing/2014/main" id="{0C7EE959-67E4-4CAF-9648-20169A964CA9}"/>
              </a:ext>
            </a:extLst>
          </p:cNvPr>
          <p:cNvGraphicFramePr>
            <a:graphicFrameLocks noChangeAspect="1"/>
          </p:cNvGraphicFramePr>
          <p:nvPr/>
        </p:nvGraphicFramePr>
        <p:xfrm>
          <a:off x="4419600" y="5105400"/>
          <a:ext cx="2667000" cy="762000"/>
        </p:xfrm>
        <a:graphic>
          <a:graphicData uri="http://schemas.openxmlformats.org/presentationml/2006/ole">
            <mc:AlternateContent xmlns:mc="http://schemas.openxmlformats.org/markup-compatibility/2006">
              <mc:Choice xmlns:v="urn:schemas-microsoft-com:vml" Requires="v">
                <p:oleObj spid="_x0000_s16408" name="Equation" r:id="rId8" imgW="1485720" imgH="419040" progId="Equation.3">
                  <p:embed/>
                </p:oleObj>
              </mc:Choice>
              <mc:Fallback>
                <p:oleObj name="Equation" r:id="rId8" imgW="1485720" imgH="419040" progId="Equation.3">
                  <p:embed/>
                  <p:pic>
                    <p:nvPicPr>
                      <p:cNvPr id="808983" name="Object 23">
                        <a:extLst>
                          <a:ext uri="{FF2B5EF4-FFF2-40B4-BE49-F238E27FC236}">
                            <a16:creationId xmlns:a16="http://schemas.microsoft.com/office/drawing/2014/main" id="{0C7EE959-67E4-4CAF-9648-20169A964C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9600" y="5105400"/>
                        <a:ext cx="2667000" cy="762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8985" name="Object 25">
            <a:extLst>
              <a:ext uri="{FF2B5EF4-FFF2-40B4-BE49-F238E27FC236}">
                <a16:creationId xmlns:a16="http://schemas.microsoft.com/office/drawing/2014/main" id="{7D791747-73E3-422E-8927-5A1D4DFF794B}"/>
              </a:ext>
            </a:extLst>
          </p:cNvPr>
          <p:cNvGraphicFramePr>
            <a:graphicFrameLocks noChangeAspect="1"/>
          </p:cNvGraphicFramePr>
          <p:nvPr/>
        </p:nvGraphicFramePr>
        <p:xfrm>
          <a:off x="3429000" y="5943601"/>
          <a:ext cx="5257800" cy="709613"/>
        </p:xfrm>
        <a:graphic>
          <a:graphicData uri="http://schemas.openxmlformats.org/presentationml/2006/ole">
            <mc:AlternateContent xmlns:mc="http://schemas.openxmlformats.org/markup-compatibility/2006">
              <mc:Choice xmlns:v="urn:schemas-microsoft-com:vml" Requires="v">
                <p:oleObj spid="_x0000_s16409" name="Equation" r:id="rId10" imgW="3238200" imgH="431640" progId="Equation.3">
                  <p:embed/>
                </p:oleObj>
              </mc:Choice>
              <mc:Fallback>
                <p:oleObj name="Equation" r:id="rId10" imgW="3238200" imgH="431640" progId="Equation.3">
                  <p:embed/>
                  <p:pic>
                    <p:nvPicPr>
                      <p:cNvPr id="808985" name="Object 25">
                        <a:extLst>
                          <a:ext uri="{FF2B5EF4-FFF2-40B4-BE49-F238E27FC236}">
                            <a16:creationId xmlns:a16="http://schemas.microsoft.com/office/drawing/2014/main" id="{7D791747-73E3-422E-8927-5A1D4DFF794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29000" y="5943601"/>
                        <a:ext cx="5257800" cy="7096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1033" name="Picture 25">
            <a:extLst>
              <a:ext uri="{FF2B5EF4-FFF2-40B4-BE49-F238E27FC236}">
                <a16:creationId xmlns:a16="http://schemas.microsoft.com/office/drawing/2014/main" id="{DA6E62B2-B0A9-417E-8D4B-3FFE0CCF6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1" y="1828801"/>
            <a:ext cx="5648325" cy="365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1010" name="Rectangle 2">
            <a:extLst>
              <a:ext uri="{FF2B5EF4-FFF2-40B4-BE49-F238E27FC236}">
                <a16:creationId xmlns:a16="http://schemas.microsoft.com/office/drawing/2014/main" id="{DE251DD0-E92F-46B3-B819-C2F953C852A9}"/>
              </a:ext>
            </a:extLst>
          </p:cNvPr>
          <p:cNvSpPr>
            <a:spLocks noGrp="1" noChangeArrowheads="1"/>
          </p:cNvSpPr>
          <p:nvPr>
            <p:ph type="title"/>
          </p:nvPr>
        </p:nvSpPr>
        <p:spPr>
          <a:xfrm>
            <a:off x="2286000" y="182564"/>
            <a:ext cx="7772400" cy="579437"/>
          </a:xfrm>
        </p:spPr>
        <p:txBody>
          <a:bodyPr/>
          <a:lstStyle/>
          <a:p>
            <a:r>
              <a:rPr lang="en-US" altLang="en-US" sz="2400"/>
              <a:t>ODE for Unsaturated Nonsteady Horizontal Flow</a:t>
            </a:r>
          </a:p>
        </p:txBody>
      </p:sp>
      <p:sp>
        <p:nvSpPr>
          <p:cNvPr id="811011" name="Rectangle 3">
            <a:extLst>
              <a:ext uri="{FF2B5EF4-FFF2-40B4-BE49-F238E27FC236}">
                <a16:creationId xmlns:a16="http://schemas.microsoft.com/office/drawing/2014/main" id="{CE53D0CE-52CB-436F-8EF9-8A15C3260C5E}"/>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2" name="Rectangle 4">
            <a:extLst>
              <a:ext uri="{FF2B5EF4-FFF2-40B4-BE49-F238E27FC236}">
                <a16:creationId xmlns:a16="http://schemas.microsoft.com/office/drawing/2014/main" id="{FCCCF2F3-1771-4E7D-B6E5-17EECE28F5AE}"/>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3" name="Rectangle 5">
            <a:extLst>
              <a:ext uri="{FF2B5EF4-FFF2-40B4-BE49-F238E27FC236}">
                <a16:creationId xmlns:a16="http://schemas.microsoft.com/office/drawing/2014/main" id="{9653977D-C2AE-449D-9061-24E0F3BE2149}"/>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4" name="Rectangle 6">
            <a:extLst>
              <a:ext uri="{FF2B5EF4-FFF2-40B4-BE49-F238E27FC236}">
                <a16:creationId xmlns:a16="http://schemas.microsoft.com/office/drawing/2014/main" id="{0A9C9C21-A61F-464C-95CB-D2B8636D1C31}"/>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5" name="Rectangle 7">
            <a:extLst>
              <a:ext uri="{FF2B5EF4-FFF2-40B4-BE49-F238E27FC236}">
                <a16:creationId xmlns:a16="http://schemas.microsoft.com/office/drawing/2014/main" id="{2F9E1AF3-C6B5-4E4D-841F-AA1E68B8E5A9}"/>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6" name="Rectangle 8">
            <a:extLst>
              <a:ext uri="{FF2B5EF4-FFF2-40B4-BE49-F238E27FC236}">
                <a16:creationId xmlns:a16="http://schemas.microsoft.com/office/drawing/2014/main" id="{986F59DE-E39B-4074-8324-A606AED7ACEC}"/>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7" name="Rectangle 9">
            <a:extLst>
              <a:ext uri="{FF2B5EF4-FFF2-40B4-BE49-F238E27FC236}">
                <a16:creationId xmlns:a16="http://schemas.microsoft.com/office/drawing/2014/main" id="{918CD4FE-033A-4766-A5D5-6E72CA33EF3A}"/>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8" name="Rectangle 10">
            <a:extLst>
              <a:ext uri="{FF2B5EF4-FFF2-40B4-BE49-F238E27FC236}">
                <a16:creationId xmlns:a16="http://schemas.microsoft.com/office/drawing/2014/main" id="{6C043137-A893-40F4-92C9-C9C8FFACE58A}"/>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19" name="Rectangle 11">
            <a:extLst>
              <a:ext uri="{FF2B5EF4-FFF2-40B4-BE49-F238E27FC236}">
                <a16:creationId xmlns:a16="http://schemas.microsoft.com/office/drawing/2014/main" id="{CD48CBA6-A6EC-43BB-90E8-D1F5982D830C}"/>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20" name="Rectangle 12">
            <a:extLst>
              <a:ext uri="{FF2B5EF4-FFF2-40B4-BE49-F238E27FC236}">
                <a16:creationId xmlns:a16="http://schemas.microsoft.com/office/drawing/2014/main" id="{2FB37286-A7DB-43E7-A6DC-1DEEC9849954}"/>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21" name="Rectangle 13">
            <a:extLst>
              <a:ext uri="{FF2B5EF4-FFF2-40B4-BE49-F238E27FC236}">
                <a16:creationId xmlns:a16="http://schemas.microsoft.com/office/drawing/2014/main" id="{CDB4CE06-DEE5-46EB-B075-A0E12130D484}"/>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22" name="Rectangle 14">
            <a:extLst>
              <a:ext uri="{FF2B5EF4-FFF2-40B4-BE49-F238E27FC236}">
                <a16:creationId xmlns:a16="http://schemas.microsoft.com/office/drawing/2014/main" id="{F1CEC333-60DB-4642-96E2-BF76F37CDA71}"/>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23" name="Rectangle 15">
            <a:extLst>
              <a:ext uri="{FF2B5EF4-FFF2-40B4-BE49-F238E27FC236}">
                <a16:creationId xmlns:a16="http://schemas.microsoft.com/office/drawing/2014/main" id="{162FC21E-3268-4C6E-A16C-D799266A4575}"/>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1024" name="Rectangle 16">
            <a:extLst>
              <a:ext uri="{FF2B5EF4-FFF2-40B4-BE49-F238E27FC236}">
                <a16:creationId xmlns:a16="http://schemas.microsoft.com/office/drawing/2014/main" id="{8A08A6AE-BBB0-4F9D-9891-3BF9BA5B3FF3}"/>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11030" name="Object 22">
            <a:extLst>
              <a:ext uri="{FF2B5EF4-FFF2-40B4-BE49-F238E27FC236}">
                <a16:creationId xmlns:a16="http://schemas.microsoft.com/office/drawing/2014/main" id="{F2BFF28D-A2E6-4C68-9378-0EBFB00782D9}"/>
              </a:ext>
            </a:extLst>
          </p:cNvPr>
          <p:cNvGraphicFramePr>
            <a:graphicFrameLocks noChangeAspect="1"/>
          </p:cNvGraphicFramePr>
          <p:nvPr>
            <p:extLst>
              <p:ext uri="{D42A27DB-BD31-4B8C-83A1-F6EECF244321}">
                <p14:modId xmlns:p14="http://schemas.microsoft.com/office/powerpoint/2010/main" val="1415390163"/>
              </p:ext>
            </p:extLst>
          </p:nvPr>
        </p:nvGraphicFramePr>
        <p:xfrm>
          <a:off x="1109133" y="1692804"/>
          <a:ext cx="2971800" cy="831850"/>
        </p:xfrm>
        <a:graphic>
          <a:graphicData uri="http://schemas.openxmlformats.org/presentationml/2006/ole">
            <mc:AlternateContent xmlns:mc="http://schemas.openxmlformats.org/markup-compatibility/2006">
              <mc:Choice xmlns:v="urn:schemas-microsoft-com:vml" Requires="v">
                <p:oleObj spid="_x0000_s17424" name="Equation" r:id="rId5" imgW="1562040" imgH="431640" progId="Equation.3">
                  <p:embed/>
                </p:oleObj>
              </mc:Choice>
              <mc:Fallback>
                <p:oleObj name="Equation" r:id="rId5" imgW="1562040" imgH="431640" progId="Equation.3">
                  <p:embed/>
                  <p:pic>
                    <p:nvPicPr>
                      <p:cNvPr id="811030" name="Object 22">
                        <a:extLst>
                          <a:ext uri="{FF2B5EF4-FFF2-40B4-BE49-F238E27FC236}">
                            <a16:creationId xmlns:a16="http://schemas.microsoft.com/office/drawing/2014/main" id="{F2BFF28D-A2E6-4C68-9378-0EBFB00782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9133" y="1692804"/>
                        <a:ext cx="2971800" cy="8318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1031" name="Object 23">
            <a:extLst>
              <a:ext uri="{FF2B5EF4-FFF2-40B4-BE49-F238E27FC236}">
                <a16:creationId xmlns:a16="http://schemas.microsoft.com/office/drawing/2014/main" id="{AD4916D8-9801-4B26-9161-1F650A913615}"/>
              </a:ext>
            </a:extLst>
          </p:cNvPr>
          <p:cNvGraphicFramePr>
            <a:graphicFrameLocks noChangeAspect="1"/>
          </p:cNvGraphicFramePr>
          <p:nvPr>
            <p:extLst>
              <p:ext uri="{D42A27DB-BD31-4B8C-83A1-F6EECF244321}">
                <p14:modId xmlns:p14="http://schemas.microsoft.com/office/powerpoint/2010/main" val="3666200944"/>
              </p:ext>
            </p:extLst>
          </p:nvPr>
        </p:nvGraphicFramePr>
        <p:xfrm>
          <a:off x="916516" y="4080934"/>
          <a:ext cx="3562350" cy="777875"/>
        </p:xfrm>
        <a:graphic>
          <a:graphicData uri="http://schemas.openxmlformats.org/presentationml/2006/ole">
            <mc:AlternateContent xmlns:mc="http://schemas.openxmlformats.org/markup-compatibility/2006">
              <mc:Choice xmlns:v="urn:schemas-microsoft-com:vml" Requires="v">
                <p:oleObj spid="_x0000_s17425" name="Equation" r:id="rId7" imgW="2120760" imgH="457200" progId="Equation.3">
                  <p:embed/>
                </p:oleObj>
              </mc:Choice>
              <mc:Fallback>
                <p:oleObj name="Equation" r:id="rId7" imgW="2120760" imgH="457200" progId="Equation.3">
                  <p:embed/>
                  <p:pic>
                    <p:nvPicPr>
                      <p:cNvPr id="811031" name="Object 23">
                        <a:extLst>
                          <a:ext uri="{FF2B5EF4-FFF2-40B4-BE49-F238E27FC236}">
                            <a16:creationId xmlns:a16="http://schemas.microsoft.com/office/drawing/2014/main" id="{AD4916D8-9801-4B26-9161-1F650A9136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6516" y="4080934"/>
                        <a:ext cx="3562350" cy="7778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1032" name="Text Box 24">
            <a:extLst>
              <a:ext uri="{FF2B5EF4-FFF2-40B4-BE49-F238E27FC236}">
                <a16:creationId xmlns:a16="http://schemas.microsoft.com/office/drawing/2014/main" id="{935D1E05-7F99-467F-B775-5C69F92EAC7D}"/>
              </a:ext>
            </a:extLst>
          </p:cNvPr>
          <p:cNvSpPr txBox="1">
            <a:spLocks noChangeArrowheads="1"/>
          </p:cNvSpPr>
          <p:nvPr/>
        </p:nvSpPr>
        <p:spPr bwMode="auto">
          <a:xfrm>
            <a:off x="897466" y="3066211"/>
            <a:ext cx="35814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u="sng" dirty="0">
                <a:solidFill>
                  <a:srgbClr val="CC0000"/>
                </a:solidFill>
                <a:effectLst>
                  <a:outerShdw blurRad="38100" dist="38100" dir="2700000" algn="tl">
                    <a:srgbClr val="C0C0C0"/>
                  </a:outerShdw>
                </a:effectLst>
              </a:rPr>
              <a:t>Analytical solution with constant diffusivity D(</a:t>
            </a:r>
            <a:r>
              <a:rPr lang="en-US" altLang="en-US" sz="1900" b="1" u="sng" dirty="0">
                <a:solidFill>
                  <a:srgbClr val="CC0000"/>
                </a:solidFill>
                <a:effectLst>
                  <a:outerShdw blurRad="38100" dist="38100" dir="2700000" algn="tl">
                    <a:srgbClr val="C0C0C0"/>
                  </a:outerShdw>
                </a:effectLst>
                <a:latin typeface="Symbol" panose="05050102010706020507" pitchFamily="18" charset="2"/>
              </a:rPr>
              <a:t>q</a:t>
            </a:r>
            <a:r>
              <a:rPr lang="en-US" altLang="en-US" sz="1900" b="1" u="sng" dirty="0">
                <a:solidFill>
                  <a:srgbClr val="CC0000"/>
                </a:solidFill>
                <a:effectLst>
                  <a:outerShdw blurRad="38100" dist="38100" dir="2700000" algn="tl">
                    <a:srgbClr val="C0C0C0"/>
                  </a:outerShdw>
                </a:effectLst>
              </a:rPr>
              <a: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a:extLst>
              <a:ext uri="{FF2B5EF4-FFF2-40B4-BE49-F238E27FC236}">
                <a16:creationId xmlns:a16="http://schemas.microsoft.com/office/drawing/2014/main" id="{79AA4CE8-6162-4F19-81A8-204B07E2885A}"/>
              </a:ext>
            </a:extLst>
          </p:cNvPr>
          <p:cNvSpPr>
            <a:spLocks noGrp="1" noChangeArrowheads="1"/>
          </p:cNvSpPr>
          <p:nvPr>
            <p:ph type="title"/>
          </p:nvPr>
        </p:nvSpPr>
        <p:spPr>
          <a:xfrm>
            <a:off x="2286000" y="182564"/>
            <a:ext cx="7772400" cy="579437"/>
          </a:xfrm>
        </p:spPr>
        <p:txBody>
          <a:bodyPr/>
          <a:lstStyle/>
          <a:p>
            <a:r>
              <a:rPr lang="en-US" altLang="en-US"/>
              <a:t>Diffusivity Form of the Richards Equation</a:t>
            </a:r>
          </a:p>
        </p:txBody>
      </p:sp>
      <p:sp>
        <p:nvSpPr>
          <p:cNvPr id="792579" name="Rectangle 3">
            <a:extLst>
              <a:ext uri="{FF2B5EF4-FFF2-40B4-BE49-F238E27FC236}">
                <a16:creationId xmlns:a16="http://schemas.microsoft.com/office/drawing/2014/main" id="{5BCF5206-90AF-4EAF-ACA2-BDC1213C307E}"/>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0" name="Rectangle 4">
            <a:extLst>
              <a:ext uri="{FF2B5EF4-FFF2-40B4-BE49-F238E27FC236}">
                <a16:creationId xmlns:a16="http://schemas.microsoft.com/office/drawing/2014/main" id="{001C4B04-C170-470C-832F-A1A678044F62}"/>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1" name="Rectangle 5">
            <a:extLst>
              <a:ext uri="{FF2B5EF4-FFF2-40B4-BE49-F238E27FC236}">
                <a16:creationId xmlns:a16="http://schemas.microsoft.com/office/drawing/2014/main" id="{87FEC417-2097-4657-AEA3-C024FC9A37B9}"/>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2" name="Rectangle 6">
            <a:extLst>
              <a:ext uri="{FF2B5EF4-FFF2-40B4-BE49-F238E27FC236}">
                <a16:creationId xmlns:a16="http://schemas.microsoft.com/office/drawing/2014/main" id="{25A23531-9CC7-4BB8-B98C-0AA0B792FF55}"/>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3" name="Rectangle 7">
            <a:extLst>
              <a:ext uri="{FF2B5EF4-FFF2-40B4-BE49-F238E27FC236}">
                <a16:creationId xmlns:a16="http://schemas.microsoft.com/office/drawing/2014/main" id="{FF8799EA-ADF5-4A4C-B7FE-1FC888163881}"/>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4" name="Rectangle 8">
            <a:extLst>
              <a:ext uri="{FF2B5EF4-FFF2-40B4-BE49-F238E27FC236}">
                <a16:creationId xmlns:a16="http://schemas.microsoft.com/office/drawing/2014/main" id="{0C66DEC8-4D77-438F-9239-58E83771412D}"/>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5" name="Rectangle 9">
            <a:extLst>
              <a:ext uri="{FF2B5EF4-FFF2-40B4-BE49-F238E27FC236}">
                <a16:creationId xmlns:a16="http://schemas.microsoft.com/office/drawing/2014/main" id="{330C7C81-D4FB-48FE-AA9A-72C04B4DC2A2}"/>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6" name="Rectangle 10">
            <a:extLst>
              <a:ext uri="{FF2B5EF4-FFF2-40B4-BE49-F238E27FC236}">
                <a16:creationId xmlns:a16="http://schemas.microsoft.com/office/drawing/2014/main" id="{C4C4272B-2902-4D80-847D-4D34715F75D3}"/>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7" name="Rectangle 11">
            <a:extLst>
              <a:ext uri="{FF2B5EF4-FFF2-40B4-BE49-F238E27FC236}">
                <a16:creationId xmlns:a16="http://schemas.microsoft.com/office/drawing/2014/main" id="{DDB46016-2BC0-48D2-B8B1-804BFDE95964}"/>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8" name="Rectangle 12">
            <a:extLst>
              <a:ext uri="{FF2B5EF4-FFF2-40B4-BE49-F238E27FC236}">
                <a16:creationId xmlns:a16="http://schemas.microsoft.com/office/drawing/2014/main" id="{A68D06FF-DCB2-408A-A6F1-4967AC4C3736}"/>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89" name="Rectangle 13">
            <a:extLst>
              <a:ext uri="{FF2B5EF4-FFF2-40B4-BE49-F238E27FC236}">
                <a16:creationId xmlns:a16="http://schemas.microsoft.com/office/drawing/2014/main" id="{202EB962-C8DB-4D41-9977-7A0D940D26AA}"/>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90" name="Rectangle 14">
            <a:extLst>
              <a:ext uri="{FF2B5EF4-FFF2-40B4-BE49-F238E27FC236}">
                <a16:creationId xmlns:a16="http://schemas.microsoft.com/office/drawing/2014/main" id="{273F77B5-1E02-4CDE-8EF5-0E244BBA928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91" name="Rectangle 15">
            <a:extLst>
              <a:ext uri="{FF2B5EF4-FFF2-40B4-BE49-F238E27FC236}">
                <a16:creationId xmlns:a16="http://schemas.microsoft.com/office/drawing/2014/main" id="{5F0F4C4C-D0A9-4BB5-B0E9-F04B7D50D98D}"/>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92" name="Rectangle 16">
            <a:extLst>
              <a:ext uri="{FF2B5EF4-FFF2-40B4-BE49-F238E27FC236}">
                <a16:creationId xmlns:a16="http://schemas.microsoft.com/office/drawing/2014/main" id="{7B270058-A26B-4161-955E-F5065E354CBB}"/>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2593" name="Text Box 17">
            <a:extLst>
              <a:ext uri="{FF2B5EF4-FFF2-40B4-BE49-F238E27FC236}">
                <a16:creationId xmlns:a16="http://schemas.microsoft.com/office/drawing/2014/main" id="{790B7427-9142-459B-8B57-C115D27BC1FF}"/>
              </a:ext>
            </a:extLst>
          </p:cNvPr>
          <p:cNvSpPr txBox="1">
            <a:spLocks noChangeArrowheads="1"/>
          </p:cNvSpPr>
          <p:nvPr/>
        </p:nvSpPr>
        <p:spPr bwMode="auto">
          <a:xfrm>
            <a:off x="863601" y="1752600"/>
            <a:ext cx="10397066"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It should be applied only to homogeneous soils, where there is a unique relation between h and </a:t>
            </a:r>
            <a:r>
              <a:rPr lang="en-US" altLang="en-US" sz="1900" b="1" dirty="0">
                <a:effectLst>
                  <a:outerShdw blurRad="38100" dist="38100" dir="2700000" algn="tl">
                    <a:srgbClr val="C0C0C0"/>
                  </a:outerShdw>
                </a:effectLst>
                <a:latin typeface="Symbol" panose="05050102010706020507" pitchFamily="18" charset="2"/>
              </a:rPr>
              <a:t>q</a:t>
            </a:r>
            <a:r>
              <a:rPr lang="en-US" altLang="en-US" sz="1900" b="1" dirty="0">
                <a:effectLst>
                  <a:outerShdw blurRad="38100" dist="38100" dir="2700000" algn="tl">
                    <a:srgbClr val="C0C0C0"/>
                  </a:outerShdw>
                </a:effectLst>
              </a:rPr>
              <a:t>, neglecting hysteresis, and to describe horizontal flow where there is no gravitational component.</a:t>
            </a:r>
          </a:p>
        </p:txBody>
      </p:sp>
      <p:sp>
        <p:nvSpPr>
          <p:cNvPr id="792594" name="Rectangle 18">
            <a:extLst>
              <a:ext uri="{FF2B5EF4-FFF2-40B4-BE49-F238E27FC236}">
                <a16:creationId xmlns:a16="http://schemas.microsoft.com/office/drawing/2014/main" id="{AB58BBE2-F536-48C0-9BBD-0095451A357B}"/>
              </a:ext>
            </a:extLst>
          </p:cNvPr>
          <p:cNvSpPr>
            <a:spLocks noChangeArrowheads="1"/>
          </p:cNvSpPr>
          <p:nvPr/>
        </p:nvSpPr>
        <p:spPr bwMode="auto">
          <a:xfrm>
            <a:off x="2514599" y="930276"/>
            <a:ext cx="7323667" cy="669925"/>
          </a:xfrm>
          <a:prstGeom prst="rect">
            <a:avLst/>
          </a:prstGeom>
          <a:solidFill>
            <a:srgbClr val="FFFFCC"/>
          </a:solidFill>
          <a:ln w="15875">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2595" name="Text Box 19">
            <a:extLst>
              <a:ext uri="{FF2B5EF4-FFF2-40B4-BE49-F238E27FC236}">
                <a16:creationId xmlns:a16="http://schemas.microsoft.com/office/drawing/2014/main" id="{F6A3FBA4-A4C3-49E6-80C3-CA5E5BD399AB}"/>
              </a:ext>
            </a:extLst>
          </p:cNvPr>
          <p:cNvSpPr txBox="1">
            <a:spLocks noChangeArrowheads="1"/>
          </p:cNvSpPr>
          <p:nvPr/>
        </p:nvSpPr>
        <p:spPr bwMode="auto">
          <a:xfrm>
            <a:off x="2675466" y="930338"/>
            <a:ext cx="7162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b="1">
                <a:solidFill>
                  <a:srgbClr val="CC0000"/>
                </a:solidFill>
              </a:rPr>
              <a:t>Special care is required when applying the diffusivity form of the Richards equation!!</a:t>
            </a:r>
          </a:p>
        </p:txBody>
      </p:sp>
      <p:grpSp>
        <p:nvGrpSpPr>
          <p:cNvPr id="792596" name="Group 20">
            <a:extLst>
              <a:ext uri="{FF2B5EF4-FFF2-40B4-BE49-F238E27FC236}">
                <a16:creationId xmlns:a16="http://schemas.microsoft.com/office/drawing/2014/main" id="{30BC4D62-A44D-44DB-BEB9-4439E544AAAD}"/>
              </a:ext>
            </a:extLst>
          </p:cNvPr>
          <p:cNvGrpSpPr>
            <a:grpSpLocks/>
          </p:cNvGrpSpPr>
          <p:nvPr/>
        </p:nvGrpSpPr>
        <p:grpSpPr bwMode="auto">
          <a:xfrm>
            <a:off x="2438400" y="3303588"/>
            <a:ext cx="5334000" cy="2487612"/>
            <a:chOff x="432" y="2640"/>
            <a:chExt cx="4080" cy="1998"/>
          </a:xfrm>
        </p:grpSpPr>
        <p:pic>
          <p:nvPicPr>
            <p:cNvPr id="792597" name="Picture 21">
              <a:extLst>
                <a:ext uri="{FF2B5EF4-FFF2-40B4-BE49-F238E27FC236}">
                  <a16:creationId xmlns:a16="http://schemas.microsoft.com/office/drawing/2014/main" id="{5055939D-16B4-4182-B5F9-72E800E2B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640"/>
              <a:ext cx="4080" cy="1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92598" name="Freeform 22">
              <a:extLst>
                <a:ext uri="{FF2B5EF4-FFF2-40B4-BE49-F238E27FC236}">
                  <a16:creationId xmlns:a16="http://schemas.microsoft.com/office/drawing/2014/main" id="{D2CFD225-057D-41FF-9C60-8BC1E39F178D}"/>
                </a:ext>
              </a:extLst>
            </p:cNvPr>
            <p:cNvSpPr>
              <a:spLocks/>
            </p:cNvSpPr>
            <p:nvPr/>
          </p:nvSpPr>
          <p:spPr bwMode="auto">
            <a:xfrm>
              <a:off x="664" y="2896"/>
              <a:ext cx="1488" cy="1344"/>
            </a:xfrm>
            <a:custGeom>
              <a:avLst/>
              <a:gdLst>
                <a:gd name="T0" fmla="*/ 0 w 1488"/>
                <a:gd name="T1" fmla="*/ 0 h 1344"/>
                <a:gd name="T2" fmla="*/ 384 w 1488"/>
                <a:gd name="T3" fmla="*/ 288 h 1344"/>
                <a:gd name="T4" fmla="*/ 672 w 1488"/>
                <a:gd name="T5" fmla="*/ 672 h 1344"/>
                <a:gd name="T6" fmla="*/ 1056 w 1488"/>
                <a:gd name="T7" fmla="*/ 960 h 1344"/>
                <a:gd name="T8" fmla="*/ 1488 w 1488"/>
                <a:gd name="T9" fmla="*/ 1344 h 1344"/>
              </a:gdLst>
              <a:ahLst/>
              <a:cxnLst>
                <a:cxn ang="0">
                  <a:pos x="T0" y="T1"/>
                </a:cxn>
                <a:cxn ang="0">
                  <a:pos x="T2" y="T3"/>
                </a:cxn>
                <a:cxn ang="0">
                  <a:pos x="T4" y="T5"/>
                </a:cxn>
                <a:cxn ang="0">
                  <a:pos x="T6" y="T7"/>
                </a:cxn>
                <a:cxn ang="0">
                  <a:pos x="T8" y="T9"/>
                </a:cxn>
              </a:cxnLst>
              <a:rect l="0" t="0" r="r" b="b"/>
              <a:pathLst>
                <a:path w="1488" h="1344">
                  <a:moveTo>
                    <a:pt x="0" y="0"/>
                  </a:moveTo>
                  <a:cubicBezTo>
                    <a:pt x="136" y="88"/>
                    <a:pt x="272" y="176"/>
                    <a:pt x="384" y="288"/>
                  </a:cubicBezTo>
                  <a:cubicBezTo>
                    <a:pt x="496" y="400"/>
                    <a:pt x="560" y="560"/>
                    <a:pt x="672" y="672"/>
                  </a:cubicBezTo>
                  <a:cubicBezTo>
                    <a:pt x="784" y="784"/>
                    <a:pt x="920" y="848"/>
                    <a:pt x="1056" y="960"/>
                  </a:cubicBezTo>
                  <a:cubicBezTo>
                    <a:pt x="1192" y="1072"/>
                    <a:pt x="1340" y="1208"/>
                    <a:pt x="1488" y="1344"/>
                  </a:cubicBezTo>
                </a:path>
              </a:pathLst>
            </a:custGeom>
            <a:noFill/>
            <a:ln w="508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792599" name="Freeform 23">
              <a:extLst>
                <a:ext uri="{FF2B5EF4-FFF2-40B4-BE49-F238E27FC236}">
                  <a16:creationId xmlns:a16="http://schemas.microsoft.com/office/drawing/2014/main" id="{F6DF31B7-CE0B-49A1-8B75-5FC07DD53468}"/>
                </a:ext>
              </a:extLst>
            </p:cNvPr>
            <p:cNvSpPr>
              <a:spLocks/>
            </p:cNvSpPr>
            <p:nvPr/>
          </p:nvSpPr>
          <p:spPr bwMode="auto">
            <a:xfrm>
              <a:off x="2976" y="2880"/>
              <a:ext cx="576" cy="816"/>
            </a:xfrm>
            <a:custGeom>
              <a:avLst/>
              <a:gdLst>
                <a:gd name="T0" fmla="*/ 0 w 480"/>
                <a:gd name="T1" fmla="*/ 0 h 816"/>
                <a:gd name="T2" fmla="*/ 144 w 480"/>
                <a:gd name="T3" fmla="*/ 288 h 816"/>
                <a:gd name="T4" fmla="*/ 336 w 480"/>
                <a:gd name="T5" fmla="*/ 480 h 816"/>
                <a:gd name="T6" fmla="*/ 432 w 480"/>
                <a:gd name="T7" fmla="*/ 624 h 816"/>
                <a:gd name="T8" fmla="*/ 480 w 480"/>
                <a:gd name="T9" fmla="*/ 816 h 816"/>
              </a:gdLst>
              <a:ahLst/>
              <a:cxnLst>
                <a:cxn ang="0">
                  <a:pos x="T0" y="T1"/>
                </a:cxn>
                <a:cxn ang="0">
                  <a:pos x="T2" y="T3"/>
                </a:cxn>
                <a:cxn ang="0">
                  <a:pos x="T4" y="T5"/>
                </a:cxn>
                <a:cxn ang="0">
                  <a:pos x="T6" y="T7"/>
                </a:cxn>
                <a:cxn ang="0">
                  <a:pos x="T8" y="T9"/>
                </a:cxn>
              </a:cxnLst>
              <a:rect l="0" t="0" r="r" b="b"/>
              <a:pathLst>
                <a:path w="480" h="816">
                  <a:moveTo>
                    <a:pt x="0" y="0"/>
                  </a:moveTo>
                  <a:cubicBezTo>
                    <a:pt x="44" y="104"/>
                    <a:pt x="88" y="208"/>
                    <a:pt x="144" y="288"/>
                  </a:cubicBezTo>
                  <a:cubicBezTo>
                    <a:pt x="200" y="368"/>
                    <a:pt x="288" y="424"/>
                    <a:pt x="336" y="480"/>
                  </a:cubicBezTo>
                  <a:cubicBezTo>
                    <a:pt x="384" y="536"/>
                    <a:pt x="408" y="568"/>
                    <a:pt x="432" y="624"/>
                  </a:cubicBezTo>
                  <a:cubicBezTo>
                    <a:pt x="456" y="680"/>
                    <a:pt x="468" y="748"/>
                    <a:pt x="480" y="816"/>
                  </a:cubicBezTo>
                </a:path>
              </a:pathLst>
            </a:custGeom>
            <a:noFill/>
            <a:ln w="508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792600" name="Freeform 24">
              <a:extLst>
                <a:ext uri="{FF2B5EF4-FFF2-40B4-BE49-F238E27FC236}">
                  <a16:creationId xmlns:a16="http://schemas.microsoft.com/office/drawing/2014/main" id="{CD24C3EE-62FA-42A6-A702-538C257D90DF}"/>
                </a:ext>
              </a:extLst>
            </p:cNvPr>
            <p:cNvSpPr>
              <a:spLocks/>
            </p:cNvSpPr>
            <p:nvPr/>
          </p:nvSpPr>
          <p:spPr bwMode="auto">
            <a:xfrm>
              <a:off x="3984" y="3696"/>
              <a:ext cx="480" cy="576"/>
            </a:xfrm>
            <a:custGeom>
              <a:avLst/>
              <a:gdLst>
                <a:gd name="T0" fmla="*/ 0 w 576"/>
                <a:gd name="T1" fmla="*/ 0 h 576"/>
                <a:gd name="T2" fmla="*/ 192 w 576"/>
                <a:gd name="T3" fmla="*/ 240 h 576"/>
                <a:gd name="T4" fmla="*/ 432 w 576"/>
                <a:gd name="T5" fmla="*/ 384 h 576"/>
                <a:gd name="T6" fmla="*/ 576 w 576"/>
                <a:gd name="T7" fmla="*/ 576 h 576"/>
              </a:gdLst>
              <a:ahLst/>
              <a:cxnLst>
                <a:cxn ang="0">
                  <a:pos x="T0" y="T1"/>
                </a:cxn>
                <a:cxn ang="0">
                  <a:pos x="T2" y="T3"/>
                </a:cxn>
                <a:cxn ang="0">
                  <a:pos x="T4" y="T5"/>
                </a:cxn>
                <a:cxn ang="0">
                  <a:pos x="T6" y="T7"/>
                </a:cxn>
              </a:cxnLst>
              <a:rect l="0" t="0" r="r" b="b"/>
              <a:pathLst>
                <a:path w="576" h="576">
                  <a:moveTo>
                    <a:pt x="0" y="0"/>
                  </a:moveTo>
                  <a:cubicBezTo>
                    <a:pt x="60" y="88"/>
                    <a:pt x="120" y="176"/>
                    <a:pt x="192" y="240"/>
                  </a:cubicBezTo>
                  <a:cubicBezTo>
                    <a:pt x="264" y="304"/>
                    <a:pt x="368" y="328"/>
                    <a:pt x="432" y="384"/>
                  </a:cubicBezTo>
                  <a:cubicBezTo>
                    <a:pt x="496" y="440"/>
                    <a:pt x="552" y="544"/>
                    <a:pt x="576" y="576"/>
                  </a:cubicBezTo>
                </a:path>
              </a:pathLst>
            </a:custGeom>
            <a:noFill/>
            <a:ln w="508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pSp>
      <p:sp>
        <p:nvSpPr>
          <p:cNvPr id="792601" name="Text Box 25">
            <a:extLst>
              <a:ext uri="{FF2B5EF4-FFF2-40B4-BE49-F238E27FC236}">
                <a16:creationId xmlns:a16="http://schemas.microsoft.com/office/drawing/2014/main" id="{F8F46045-00B1-40D8-A57F-B1C2E3B67320}"/>
              </a:ext>
            </a:extLst>
          </p:cNvPr>
          <p:cNvSpPr txBox="1">
            <a:spLocks noChangeArrowheads="1"/>
          </p:cNvSpPr>
          <p:nvPr/>
        </p:nvSpPr>
        <p:spPr bwMode="auto">
          <a:xfrm>
            <a:off x="2667000" y="5791201"/>
            <a:ext cx="2438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600" b="1"/>
              <a:t>Matric potential is continuous across layers</a:t>
            </a:r>
          </a:p>
        </p:txBody>
      </p:sp>
      <p:sp>
        <p:nvSpPr>
          <p:cNvPr id="792602" name="Text Box 26">
            <a:extLst>
              <a:ext uri="{FF2B5EF4-FFF2-40B4-BE49-F238E27FC236}">
                <a16:creationId xmlns:a16="http://schemas.microsoft.com/office/drawing/2014/main" id="{134905C5-E62E-4DA1-AF71-04BB5FF1500B}"/>
              </a:ext>
            </a:extLst>
          </p:cNvPr>
          <p:cNvSpPr txBox="1">
            <a:spLocks noChangeArrowheads="1"/>
          </p:cNvSpPr>
          <p:nvPr/>
        </p:nvSpPr>
        <p:spPr bwMode="auto">
          <a:xfrm>
            <a:off x="5486400" y="5803900"/>
            <a:ext cx="24384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600" b="1"/>
              <a:t>Water Content is discontinuous across layers</a:t>
            </a:r>
          </a:p>
        </p:txBody>
      </p:sp>
      <p:sp>
        <p:nvSpPr>
          <p:cNvPr id="792603" name="Text Box 27">
            <a:extLst>
              <a:ext uri="{FF2B5EF4-FFF2-40B4-BE49-F238E27FC236}">
                <a16:creationId xmlns:a16="http://schemas.microsoft.com/office/drawing/2014/main" id="{B8966BC5-1F0C-498C-9AC3-C0B3488B8D3E}"/>
              </a:ext>
            </a:extLst>
          </p:cNvPr>
          <p:cNvSpPr txBox="1">
            <a:spLocks noChangeArrowheads="1"/>
          </p:cNvSpPr>
          <p:nvPr/>
        </p:nvSpPr>
        <p:spPr bwMode="auto">
          <a:xfrm>
            <a:off x="2438400" y="2753226"/>
            <a:ext cx="419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1900" b="1" u="sng" dirty="0">
                <a:solidFill>
                  <a:srgbClr val="CC0000"/>
                </a:solidFill>
              </a:rPr>
              <a:t>What happens in layered soils?</a:t>
            </a:r>
          </a:p>
        </p:txBody>
      </p:sp>
      <p:sp>
        <p:nvSpPr>
          <p:cNvPr id="792604" name="Text Box 28">
            <a:extLst>
              <a:ext uri="{FF2B5EF4-FFF2-40B4-BE49-F238E27FC236}">
                <a16:creationId xmlns:a16="http://schemas.microsoft.com/office/drawing/2014/main" id="{AA593541-7DBE-4624-8BEC-62FA8B235CC0}"/>
              </a:ext>
            </a:extLst>
          </p:cNvPr>
          <p:cNvSpPr txBox="1">
            <a:spLocks noChangeArrowheads="1"/>
          </p:cNvSpPr>
          <p:nvPr/>
        </p:nvSpPr>
        <p:spPr bwMode="auto">
          <a:xfrm>
            <a:off x="8001000" y="3429001"/>
            <a:ext cx="2667000" cy="1992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a:solidFill>
                  <a:srgbClr val="CC0000"/>
                </a:solidFill>
                <a:effectLst>
                  <a:outerShdw blurRad="38100" dist="38100" dir="2700000" algn="tl">
                    <a:srgbClr val="C0C0C0"/>
                  </a:outerShdw>
                </a:effectLst>
              </a:rPr>
              <a:t>We cannot apply diffusivity form of Richards equation!!</a:t>
            </a:r>
          </a:p>
          <a:p>
            <a:pPr eaLnBrk="0" hangingPunct="0">
              <a:spcBef>
                <a:spcPct val="50000"/>
              </a:spcBef>
              <a:buClr>
                <a:srgbClr val="FF0066"/>
              </a:buClr>
            </a:pPr>
            <a:r>
              <a:rPr lang="en-US" altLang="en-US" sz="1900" b="1">
                <a:effectLst>
                  <a:outerShdw blurRad="38100" dist="38100" dir="2700000" algn="tl">
                    <a:srgbClr val="C0C0C0"/>
                  </a:outerShdw>
                </a:effectLst>
              </a:rPr>
              <a:t>(the derivative </a:t>
            </a:r>
            <a:r>
              <a:rPr lang="en-US" altLang="en-US" sz="1900" b="1">
                <a:effectLst>
                  <a:outerShdw blurRad="38100" dist="38100" dir="2700000" algn="tl">
                    <a:srgbClr val="C0C0C0"/>
                  </a:outerShdw>
                </a:effectLst>
                <a:sym typeface="Symbol" panose="05050102010706020507" pitchFamily="18" charset="2"/>
              </a:rPr>
              <a:t></a:t>
            </a:r>
            <a:r>
              <a:rPr lang="en-US" altLang="en-US" sz="1900" b="1">
                <a:effectLst>
                  <a:outerShdw blurRad="38100" dist="38100" dir="2700000" algn="tl">
                    <a:srgbClr val="C0C0C0"/>
                  </a:outerShdw>
                </a:effectLst>
                <a:latin typeface="Symbol" panose="05050102010706020507" pitchFamily="18" charset="2"/>
                <a:sym typeface="Symbol" panose="05050102010706020507" pitchFamily="18" charset="2"/>
              </a:rPr>
              <a:t>q</a:t>
            </a:r>
            <a:r>
              <a:rPr lang="en-US" altLang="en-US" sz="1900" b="1">
                <a:effectLst>
                  <a:outerShdw blurRad="38100" dist="38100" dir="2700000" algn="tl">
                    <a:srgbClr val="C0C0C0"/>
                  </a:outerShdw>
                </a:effectLst>
                <a:sym typeface="Symbol" panose="05050102010706020507" pitchFamily="18" charset="2"/>
              </a:rPr>
              <a:t>/x is not defined across the discontinuity)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a:extLst>
              <a:ext uri="{FF2B5EF4-FFF2-40B4-BE49-F238E27FC236}">
                <a16:creationId xmlns:a16="http://schemas.microsoft.com/office/drawing/2014/main" id="{41454E9E-F12D-4CE1-A406-447B34BCDF76}"/>
              </a:ext>
            </a:extLst>
          </p:cNvPr>
          <p:cNvSpPr>
            <a:spLocks noGrp="1" noChangeArrowheads="1"/>
          </p:cNvSpPr>
          <p:nvPr>
            <p:ph type="title"/>
          </p:nvPr>
        </p:nvSpPr>
        <p:spPr>
          <a:xfrm>
            <a:off x="2286000" y="182564"/>
            <a:ext cx="7772400" cy="579437"/>
          </a:xfrm>
        </p:spPr>
        <p:txBody>
          <a:bodyPr/>
          <a:lstStyle/>
          <a:p>
            <a:r>
              <a:rPr lang="en-US" altLang="en-US"/>
              <a:t>Diffusivity Form of the Richards Equation</a:t>
            </a:r>
          </a:p>
        </p:txBody>
      </p:sp>
      <p:sp>
        <p:nvSpPr>
          <p:cNvPr id="794627" name="Rectangle 3">
            <a:extLst>
              <a:ext uri="{FF2B5EF4-FFF2-40B4-BE49-F238E27FC236}">
                <a16:creationId xmlns:a16="http://schemas.microsoft.com/office/drawing/2014/main" id="{94B651E3-0BE4-4666-95A3-EF2EFB306702}"/>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28" name="Rectangle 4">
            <a:extLst>
              <a:ext uri="{FF2B5EF4-FFF2-40B4-BE49-F238E27FC236}">
                <a16:creationId xmlns:a16="http://schemas.microsoft.com/office/drawing/2014/main" id="{9F552517-67ED-44F4-8544-ACFD58BC4C2A}"/>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29" name="Rectangle 5">
            <a:extLst>
              <a:ext uri="{FF2B5EF4-FFF2-40B4-BE49-F238E27FC236}">
                <a16:creationId xmlns:a16="http://schemas.microsoft.com/office/drawing/2014/main" id="{52BFA570-7CB2-486C-8EE0-E240938E84B0}"/>
              </a:ext>
            </a:extLst>
          </p:cNvPr>
          <p:cNvSpPr>
            <a:spLocks noChangeArrowheads="1"/>
          </p:cNvSpPr>
          <p:nvPr/>
        </p:nvSpPr>
        <p:spPr bwMode="auto">
          <a:xfrm>
            <a:off x="1524001" y="31697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0" name="Rectangle 6">
            <a:extLst>
              <a:ext uri="{FF2B5EF4-FFF2-40B4-BE49-F238E27FC236}">
                <a16:creationId xmlns:a16="http://schemas.microsoft.com/office/drawing/2014/main" id="{93762DE9-43C1-4CA3-9C05-0A7EB2910930}"/>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1" name="Rectangle 7">
            <a:extLst>
              <a:ext uri="{FF2B5EF4-FFF2-40B4-BE49-F238E27FC236}">
                <a16:creationId xmlns:a16="http://schemas.microsoft.com/office/drawing/2014/main" id="{CCB55B5E-E8ED-4F41-A369-73474F08159A}"/>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2" name="Rectangle 8">
            <a:extLst>
              <a:ext uri="{FF2B5EF4-FFF2-40B4-BE49-F238E27FC236}">
                <a16:creationId xmlns:a16="http://schemas.microsoft.com/office/drawing/2014/main" id="{5D7CD151-80DE-4DB5-B7E2-2DB7E9156C46}"/>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3" name="Rectangle 9">
            <a:extLst>
              <a:ext uri="{FF2B5EF4-FFF2-40B4-BE49-F238E27FC236}">
                <a16:creationId xmlns:a16="http://schemas.microsoft.com/office/drawing/2014/main" id="{FCA166BA-0695-4246-94C9-8FD1E779A0A8}"/>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4" name="Rectangle 10">
            <a:extLst>
              <a:ext uri="{FF2B5EF4-FFF2-40B4-BE49-F238E27FC236}">
                <a16:creationId xmlns:a16="http://schemas.microsoft.com/office/drawing/2014/main" id="{0E90BA0A-9BD2-43A7-A1AE-AAB0E58F7420}"/>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5" name="Rectangle 11">
            <a:extLst>
              <a:ext uri="{FF2B5EF4-FFF2-40B4-BE49-F238E27FC236}">
                <a16:creationId xmlns:a16="http://schemas.microsoft.com/office/drawing/2014/main" id="{3B779F46-591E-4DB3-A690-44A668796255}"/>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6" name="Rectangle 12">
            <a:extLst>
              <a:ext uri="{FF2B5EF4-FFF2-40B4-BE49-F238E27FC236}">
                <a16:creationId xmlns:a16="http://schemas.microsoft.com/office/drawing/2014/main" id="{F4D546A2-D601-43B8-BA47-53A87FA9B52D}"/>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7" name="Rectangle 13">
            <a:extLst>
              <a:ext uri="{FF2B5EF4-FFF2-40B4-BE49-F238E27FC236}">
                <a16:creationId xmlns:a16="http://schemas.microsoft.com/office/drawing/2014/main" id="{0BFA51F1-E97C-47D0-A279-821A15FE4772}"/>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8" name="Rectangle 14">
            <a:extLst>
              <a:ext uri="{FF2B5EF4-FFF2-40B4-BE49-F238E27FC236}">
                <a16:creationId xmlns:a16="http://schemas.microsoft.com/office/drawing/2014/main" id="{7B5C3AFA-D00C-4627-872F-02631A5B9DD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39" name="Rectangle 15">
            <a:extLst>
              <a:ext uri="{FF2B5EF4-FFF2-40B4-BE49-F238E27FC236}">
                <a16:creationId xmlns:a16="http://schemas.microsoft.com/office/drawing/2014/main" id="{EBBD4987-344D-4E4E-A701-AE0C974C983D}"/>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40" name="Rectangle 16">
            <a:extLst>
              <a:ext uri="{FF2B5EF4-FFF2-40B4-BE49-F238E27FC236}">
                <a16:creationId xmlns:a16="http://schemas.microsoft.com/office/drawing/2014/main" id="{F93DA63A-7A17-4A58-A742-60B3A800D8DB}"/>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94641" name="Text Box 17">
            <a:extLst>
              <a:ext uri="{FF2B5EF4-FFF2-40B4-BE49-F238E27FC236}">
                <a16:creationId xmlns:a16="http://schemas.microsoft.com/office/drawing/2014/main" id="{E58829DB-423D-4CEE-B471-E1D0641CED51}"/>
              </a:ext>
            </a:extLst>
          </p:cNvPr>
          <p:cNvSpPr txBox="1">
            <a:spLocks noChangeArrowheads="1"/>
          </p:cNvSpPr>
          <p:nvPr/>
        </p:nvSpPr>
        <p:spPr bwMode="auto">
          <a:xfrm>
            <a:off x="1401232" y="1359222"/>
            <a:ext cx="9266767"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dirty="0">
                <a:solidFill>
                  <a:srgbClr val="CC0000"/>
                </a:solidFill>
                <a:effectLst>
                  <a:outerShdw blurRad="38100" dist="38100" dir="2700000" algn="tl">
                    <a:srgbClr val="C0C0C0"/>
                  </a:outerShdw>
                </a:effectLst>
              </a:rPr>
              <a:t>The diffusivity form of Richards equation is applicable:</a:t>
            </a:r>
          </a:p>
          <a:p>
            <a:pPr eaLnBrk="0" hangingPunct="0">
              <a:spcBef>
                <a:spcPct val="50000"/>
              </a:spcBef>
              <a:buClr>
                <a:srgbClr val="CC0000"/>
              </a:buClr>
            </a:pPr>
            <a:r>
              <a:rPr lang="en-US" altLang="en-US" sz="1900" b="1" dirty="0">
                <a:effectLst>
                  <a:outerShdw blurRad="38100" dist="38100" dir="2700000" algn="tl">
                    <a:srgbClr val="C0C0C0"/>
                  </a:outerShdw>
                </a:effectLst>
              </a:rPr>
              <a:t>In homogenous soils for conditions where the vertical gravitational component is very small in comparison with matric influences (translated into a water content "gradient"). </a:t>
            </a:r>
          </a:p>
          <a:p>
            <a:pPr eaLnBrk="0" hangingPunct="0">
              <a:spcBef>
                <a:spcPct val="50000"/>
              </a:spcBef>
              <a:buClr>
                <a:srgbClr val="CC0000"/>
              </a:buClr>
            </a:pPr>
            <a:r>
              <a:rPr lang="en-US" altLang="en-US" sz="1900" b="1" u="sng" dirty="0">
                <a:solidFill>
                  <a:srgbClr val="CC0000"/>
                </a:solidFill>
                <a:effectLst>
                  <a:outerShdw blurRad="38100" dist="38100" dir="2700000" algn="tl">
                    <a:srgbClr val="C0C0C0"/>
                  </a:outerShdw>
                </a:effectLst>
              </a:rPr>
              <a:t>Examples:</a:t>
            </a:r>
          </a:p>
        </p:txBody>
      </p:sp>
      <p:sp>
        <p:nvSpPr>
          <p:cNvPr id="794642" name="Text Box 18">
            <a:extLst>
              <a:ext uri="{FF2B5EF4-FFF2-40B4-BE49-F238E27FC236}">
                <a16:creationId xmlns:a16="http://schemas.microsoft.com/office/drawing/2014/main" id="{0482ED9E-965A-45B1-956F-D7D3A180C66F}"/>
              </a:ext>
            </a:extLst>
          </p:cNvPr>
          <p:cNvSpPr txBox="1">
            <a:spLocks noChangeArrowheads="1"/>
          </p:cNvSpPr>
          <p:nvPr/>
        </p:nvSpPr>
        <p:spPr bwMode="auto">
          <a:xfrm>
            <a:off x="2514600" y="3181350"/>
            <a:ext cx="72390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marL="292100" indent="-2921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R"/>
            </a:pPr>
            <a:r>
              <a:rPr lang="en-US" altLang="en-US" sz="1900" b="1">
                <a:effectLst>
                  <a:outerShdw blurRad="38100" dist="38100" dir="2700000" algn="tl">
                    <a:srgbClr val="C0C0C0"/>
                  </a:outerShdw>
                </a:effectLst>
              </a:rPr>
              <a:t>Early phases of infiltration into relatively dry soil,</a:t>
            </a:r>
          </a:p>
          <a:p>
            <a:pPr eaLnBrk="0" hangingPunct="0">
              <a:spcBef>
                <a:spcPct val="50000"/>
              </a:spcBef>
              <a:buClr>
                <a:srgbClr val="CC0000"/>
              </a:buClr>
              <a:buFontTx/>
              <a:buAutoNum type="arabicParenR"/>
            </a:pPr>
            <a:r>
              <a:rPr lang="en-US" altLang="en-US" sz="1900" b="1">
                <a:effectLst>
                  <a:outerShdw blurRad="38100" dist="38100" dir="2700000" algn="tl">
                    <a:srgbClr val="C0C0C0"/>
                  </a:outerShdw>
                </a:effectLst>
              </a:rPr>
              <a:t>Evaporation of water from the soil surface.</a:t>
            </a:r>
          </a:p>
        </p:txBody>
      </p:sp>
      <p:sp>
        <p:nvSpPr>
          <p:cNvPr id="794643" name="Text Box 19">
            <a:extLst>
              <a:ext uri="{FF2B5EF4-FFF2-40B4-BE49-F238E27FC236}">
                <a16:creationId xmlns:a16="http://schemas.microsoft.com/office/drawing/2014/main" id="{73A24D6B-B407-4D50-BD54-688CBAD9A223}"/>
              </a:ext>
            </a:extLst>
          </p:cNvPr>
          <p:cNvSpPr txBox="1">
            <a:spLocks noChangeArrowheads="1"/>
          </p:cNvSpPr>
          <p:nvPr/>
        </p:nvSpPr>
        <p:spPr bwMode="auto">
          <a:xfrm>
            <a:off x="1524001" y="4501622"/>
            <a:ext cx="9190567"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For special cases the diffusivity may be assumed as constant over a small range of water content.</a:t>
            </a:r>
          </a:p>
          <a:p>
            <a:pPr eaLnBrk="0" hangingPunct="0">
              <a:spcBef>
                <a:spcPct val="50000"/>
              </a:spcBef>
              <a:buClr>
                <a:srgbClr val="FF0066"/>
              </a:buClr>
            </a:pPr>
            <a:r>
              <a:rPr lang="en-US" altLang="en-US" sz="1900" b="1" dirty="0">
                <a:effectLst>
                  <a:outerShdw blurRad="38100" dist="38100" dir="2700000" algn="tl">
                    <a:srgbClr val="C0C0C0"/>
                  </a:outerShdw>
                </a:effectLst>
              </a:rPr>
              <a:t>This facilitates analytical solutions of the Richards equation. </a:t>
            </a:r>
            <a:endParaRPr lang="en-US" altLang="en-US" sz="1900" b="1" u="sng" dirty="0">
              <a:effectLst>
                <a:outerShdw blurRad="38100" dist="38100" dir="2700000" algn="tl">
                  <a:srgbClr val="C0C0C0"/>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0770" name="Picture 2">
            <a:extLst>
              <a:ext uri="{FF2B5EF4-FFF2-40B4-BE49-F238E27FC236}">
                <a16:creationId xmlns:a16="http://schemas.microsoft.com/office/drawing/2014/main" id="{79EE992A-62D3-4F70-98B2-7D090B65100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505701" y="1350596"/>
            <a:ext cx="3622675" cy="4343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00771" name="Rectangle 3">
            <a:extLst>
              <a:ext uri="{FF2B5EF4-FFF2-40B4-BE49-F238E27FC236}">
                <a16:creationId xmlns:a16="http://schemas.microsoft.com/office/drawing/2014/main" id="{D0FA21C7-2625-43F3-B67F-C06CBA5C4F89}"/>
              </a:ext>
            </a:extLst>
          </p:cNvPr>
          <p:cNvSpPr>
            <a:spLocks noGrp="1" noChangeArrowheads="1"/>
          </p:cNvSpPr>
          <p:nvPr>
            <p:ph type="title"/>
          </p:nvPr>
        </p:nvSpPr>
        <p:spPr>
          <a:xfrm>
            <a:off x="2286000" y="182564"/>
            <a:ext cx="7772400" cy="579437"/>
          </a:xfrm>
        </p:spPr>
        <p:txBody>
          <a:bodyPr/>
          <a:lstStyle/>
          <a:p>
            <a:r>
              <a:rPr lang="en-US" altLang="en-US"/>
              <a:t>Numerical Solutions of Richards Equation </a:t>
            </a:r>
          </a:p>
        </p:txBody>
      </p:sp>
      <p:sp>
        <p:nvSpPr>
          <p:cNvPr id="800772" name="Rectangle 4">
            <a:extLst>
              <a:ext uri="{FF2B5EF4-FFF2-40B4-BE49-F238E27FC236}">
                <a16:creationId xmlns:a16="http://schemas.microsoft.com/office/drawing/2014/main" id="{B6C9CBED-FAD2-4043-9611-F22BEEBA14D6}"/>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3" name="Rectangle 5">
            <a:extLst>
              <a:ext uri="{FF2B5EF4-FFF2-40B4-BE49-F238E27FC236}">
                <a16:creationId xmlns:a16="http://schemas.microsoft.com/office/drawing/2014/main" id="{E2AFC5BC-ACC5-4AC7-A4D0-3D6FFE98383A}"/>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4" name="Rectangle 6">
            <a:extLst>
              <a:ext uri="{FF2B5EF4-FFF2-40B4-BE49-F238E27FC236}">
                <a16:creationId xmlns:a16="http://schemas.microsoft.com/office/drawing/2014/main" id="{11C63CCD-2DF4-43D3-BEE8-F57D31C7B7D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5" name="Rectangle 7">
            <a:extLst>
              <a:ext uri="{FF2B5EF4-FFF2-40B4-BE49-F238E27FC236}">
                <a16:creationId xmlns:a16="http://schemas.microsoft.com/office/drawing/2014/main" id="{88DF37E2-1719-40F1-A06C-8E1521B1EA38}"/>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6" name="Rectangle 8">
            <a:extLst>
              <a:ext uri="{FF2B5EF4-FFF2-40B4-BE49-F238E27FC236}">
                <a16:creationId xmlns:a16="http://schemas.microsoft.com/office/drawing/2014/main" id="{07217759-727D-4019-9D78-A8D8051282E5}"/>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7" name="Rectangle 9">
            <a:extLst>
              <a:ext uri="{FF2B5EF4-FFF2-40B4-BE49-F238E27FC236}">
                <a16:creationId xmlns:a16="http://schemas.microsoft.com/office/drawing/2014/main" id="{1A74837B-030D-4804-95E5-FB0A0B94EA04}"/>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8" name="Rectangle 10">
            <a:extLst>
              <a:ext uri="{FF2B5EF4-FFF2-40B4-BE49-F238E27FC236}">
                <a16:creationId xmlns:a16="http://schemas.microsoft.com/office/drawing/2014/main" id="{178BF203-F1BD-43EA-8860-8C93161C7226}"/>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79" name="Rectangle 11">
            <a:extLst>
              <a:ext uri="{FF2B5EF4-FFF2-40B4-BE49-F238E27FC236}">
                <a16:creationId xmlns:a16="http://schemas.microsoft.com/office/drawing/2014/main" id="{4A03959C-8743-4ED4-938E-7C42BC47EDFA}"/>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0" name="Rectangle 12">
            <a:extLst>
              <a:ext uri="{FF2B5EF4-FFF2-40B4-BE49-F238E27FC236}">
                <a16:creationId xmlns:a16="http://schemas.microsoft.com/office/drawing/2014/main" id="{02475E4D-354A-4754-A220-750C5CE1ABAD}"/>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1" name="Rectangle 13">
            <a:extLst>
              <a:ext uri="{FF2B5EF4-FFF2-40B4-BE49-F238E27FC236}">
                <a16:creationId xmlns:a16="http://schemas.microsoft.com/office/drawing/2014/main" id="{B77989A0-565B-4279-B032-0B7C4035A4D9}"/>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2" name="Rectangle 14">
            <a:extLst>
              <a:ext uri="{FF2B5EF4-FFF2-40B4-BE49-F238E27FC236}">
                <a16:creationId xmlns:a16="http://schemas.microsoft.com/office/drawing/2014/main" id="{9D54B431-9C9A-4080-AF4A-69344EBFBC39}"/>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3" name="Rectangle 15">
            <a:extLst>
              <a:ext uri="{FF2B5EF4-FFF2-40B4-BE49-F238E27FC236}">
                <a16:creationId xmlns:a16="http://schemas.microsoft.com/office/drawing/2014/main" id="{4890018E-3C22-41A8-ADFF-72B01B1322BE}"/>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4" name="Rectangle 16">
            <a:extLst>
              <a:ext uri="{FF2B5EF4-FFF2-40B4-BE49-F238E27FC236}">
                <a16:creationId xmlns:a16="http://schemas.microsoft.com/office/drawing/2014/main" id="{1CAC44D0-6C02-41B7-88F3-C9C1310AC501}"/>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0787" name="Text Box 19">
            <a:extLst>
              <a:ext uri="{FF2B5EF4-FFF2-40B4-BE49-F238E27FC236}">
                <a16:creationId xmlns:a16="http://schemas.microsoft.com/office/drawing/2014/main" id="{F09ECF21-6487-427F-A50F-7BE793EDF1BD}"/>
              </a:ext>
            </a:extLst>
          </p:cNvPr>
          <p:cNvSpPr txBox="1">
            <a:spLocks noChangeArrowheads="1"/>
          </p:cNvSpPr>
          <p:nvPr/>
        </p:nvSpPr>
        <p:spPr bwMode="auto">
          <a:xfrm>
            <a:off x="241300" y="1591735"/>
            <a:ext cx="6760633" cy="3861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228600" indent="-2286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lnSpc>
                <a:spcPct val="120000"/>
              </a:lnSpc>
              <a:spcBef>
                <a:spcPct val="50000"/>
              </a:spcBef>
              <a:buClr>
                <a:srgbClr val="FF3300"/>
              </a:buClr>
              <a:buFont typeface="Arial" panose="020B0604020202020204" pitchFamily="34" charset="0"/>
              <a:buChar char="●"/>
            </a:pPr>
            <a:r>
              <a:rPr lang="en-US" altLang="en-US" sz="1900" b="1" dirty="0">
                <a:effectLst>
                  <a:outerShdw blurRad="38100" dist="38100" dir="2700000" algn="tl">
                    <a:srgbClr val="C0C0C0"/>
                  </a:outerShdw>
                </a:effectLst>
              </a:rPr>
              <a:t>The high degree of nonlinearity in the coefficients of the Richards equation for unsaturated flow makes it impractical to obtain analytical solutions.</a:t>
            </a:r>
          </a:p>
          <a:p>
            <a:pPr eaLnBrk="0" hangingPunct="0">
              <a:lnSpc>
                <a:spcPct val="120000"/>
              </a:lnSpc>
              <a:spcBef>
                <a:spcPct val="50000"/>
              </a:spcBef>
              <a:buClr>
                <a:srgbClr val="FF3300"/>
              </a:buClr>
              <a:buFont typeface="Arial" panose="020B0604020202020204" pitchFamily="34" charset="0"/>
              <a:buChar char="●"/>
            </a:pPr>
            <a:r>
              <a:rPr lang="en-US" altLang="en-US" sz="1900" b="1" dirty="0">
                <a:effectLst>
                  <a:outerShdw blurRad="38100" dist="38100" dir="2700000" algn="tl">
                    <a:srgbClr val="C0C0C0"/>
                  </a:outerShdw>
                </a:effectLst>
              </a:rPr>
              <a:t>It might be considered as one of the most challenging equations in environmental physics (considerably different than flow of heat or electricity).</a:t>
            </a:r>
          </a:p>
          <a:p>
            <a:pPr eaLnBrk="0" hangingPunct="0">
              <a:lnSpc>
                <a:spcPct val="120000"/>
              </a:lnSpc>
              <a:spcBef>
                <a:spcPct val="50000"/>
              </a:spcBef>
              <a:buClr>
                <a:srgbClr val="FF3300"/>
              </a:buClr>
              <a:buFont typeface="Arial" panose="020B0604020202020204" pitchFamily="34" charset="0"/>
              <a:buChar char="●"/>
            </a:pPr>
            <a:r>
              <a:rPr lang="en-US" altLang="en-US" sz="1900" b="1" dirty="0">
                <a:effectLst>
                  <a:outerShdw blurRad="38100" dist="38100" dir="2700000" algn="tl">
                    <a:srgbClr val="C0C0C0"/>
                  </a:outerShdw>
                </a:effectLst>
              </a:rPr>
              <a:t>Except for a few special cases, obtaining solutions to practical flow problems represented by the Richards equation is feasible by means of successive numerical approximations, generally using computers.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3058" name="Picture 2">
            <a:extLst>
              <a:ext uri="{FF2B5EF4-FFF2-40B4-BE49-F238E27FC236}">
                <a16:creationId xmlns:a16="http://schemas.microsoft.com/office/drawing/2014/main" id="{D31DDEF8-E5BA-4077-A669-E2BEF18F167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7032626" y="1367367"/>
            <a:ext cx="4194175" cy="5029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3059" name="Rectangle 3">
            <a:extLst>
              <a:ext uri="{FF2B5EF4-FFF2-40B4-BE49-F238E27FC236}">
                <a16:creationId xmlns:a16="http://schemas.microsoft.com/office/drawing/2014/main" id="{47329D0C-B9A0-4CF2-8EB0-A6DCBC07F57B}"/>
              </a:ext>
            </a:extLst>
          </p:cNvPr>
          <p:cNvSpPr>
            <a:spLocks noGrp="1" noChangeArrowheads="1"/>
          </p:cNvSpPr>
          <p:nvPr>
            <p:ph type="title"/>
          </p:nvPr>
        </p:nvSpPr>
        <p:spPr>
          <a:xfrm>
            <a:off x="2209800" y="228600"/>
            <a:ext cx="7772400" cy="579438"/>
          </a:xfrm>
        </p:spPr>
        <p:txBody>
          <a:bodyPr/>
          <a:lstStyle/>
          <a:p>
            <a:r>
              <a:rPr lang="en-US" altLang="en-US"/>
              <a:t>Numerical Solutions of Richards Equation </a:t>
            </a:r>
          </a:p>
        </p:txBody>
      </p:sp>
      <p:sp>
        <p:nvSpPr>
          <p:cNvPr id="813060" name="Rectangle 4">
            <a:extLst>
              <a:ext uri="{FF2B5EF4-FFF2-40B4-BE49-F238E27FC236}">
                <a16:creationId xmlns:a16="http://schemas.microsoft.com/office/drawing/2014/main" id="{6E015044-02FD-4B3E-B732-30EC82D30330}"/>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1" name="Rectangle 5">
            <a:extLst>
              <a:ext uri="{FF2B5EF4-FFF2-40B4-BE49-F238E27FC236}">
                <a16:creationId xmlns:a16="http://schemas.microsoft.com/office/drawing/2014/main" id="{68DFF03C-1DD9-4B52-9FFA-838035E87348}"/>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2" name="Rectangle 6">
            <a:extLst>
              <a:ext uri="{FF2B5EF4-FFF2-40B4-BE49-F238E27FC236}">
                <a16:creationId xmlns:a16="http://schemas.microsoft.com/office/drawing/2014/main" id="{D94447F8-5F00-4355-ADCF-34423C846F7F}"/>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3" name="Rectangle 7">
            <a:extLst>
              <a:ext uri="{FF2B5EF4-FFF2-40B4-BE49-F238E27FC236}">
                <a16:creationId xmlns:a16="http://schemas.microsoft.com/office/drawing/2014/main" id="{3FC86624-F2AC-47E0-B2F1-D93B295F8935}"/>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4" name="Rectangle 8">
            <a:extLst>
              <a:ext uri="{FF2B5EF4-FFF2-40B4-BE49-F238E27FC236}">
                <a16:creationId xmlns:a16="http://schemas.microsoft.com/office/drawing/2014/main" id="{0952EFF0-4B93-4C1A-841F-7B862F3EB316}"/>
              </a:ext>
            </a:extLst>
          </p:cNvPr>
          <p:cNvSpPr>
            <a:spLocks noChangeArrowheads="1"/>
          </p:cNvSpPr>
          <p:nvPr/>
        </p:nvSpPr>
        <p:spPr bwMode="auto">
          <a:xfrm>
            <a:off x="1524001" y="3091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5" name="Rectangle 9">
            <a:extLst>
              <a:ext uri="{FF2B5EF4-FFF2-40B4-BE49-F238E27FC236}">
                <a16:creationId xmlns:a16="http://schemas.microsoft.com/office/drawing/2014/main" id="{D4843DAF-49C8-4420-B374-444BE19B4B15}"/>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6" name="Rectangle 10">
            <a:extLst>
              <a:ext uri="{FF2B5EF4-FFF2-40B4-BE49-F238E27FC236}">
                <a16:creationId xmlns:a16="http://schemas.microsoft.com/office/drawing/2014/main" id="{2B306AE3-7B21-49C8-A71B-5D03583BAFF1}"/>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7" name="Rectangle 11">
            <a:extLst>
              <a:ext uri="{FF2B5EF4-FFF2-40B4-BE49-F238E27FC236}">
                <a16:creationId xmlns:a16="http://schemas.microsoft.com/office/drawing/2014/main" id="{FFFB2368-23D8-49D5-940A-E0E21F63848E}"/>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8" name="Rectangle 12">
            <a:extLst>
              <a:ext uri="{FF2B5EF4-FFF2-40B4-BE49-F238E27FC236}">
                <a16:creationId xmlns:a16="http://schemas.microsoft.com/office/drawing/2014/main" id="{F3477B38-2FBC-4A24-94F4-F0817583C338}"/>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69" name="Rectangle 13">
            <a:extLst>
              <a:ext uri="{FF2B5EF4-FFF2-40B4-BE49-F238E27FC236}">
                <a16:creationId xmlns:a16="http://schemas.microsoft.com/office/drawing/2014/main" id="{80C5B532-2BD1-45B1-B96C-44D7291F0861}"/>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70" name="Rectangle 14">
            <a:extLst>
              <a:ext uri="{FF2B5EF4-FFF2-40B4-BE49-F238E27FC236}">
                <a16:creationId xmlns:a16="http://schemas.microsoft.com/office/drawing/2014/main" id="{E8106D7C-01B6-48EF-ADC8-A2D7CFED1433}"/>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71" name="Rectangle 15">
            <a:extLst>
              <a:ext uri="{FF2B5EF4-FFF2-40B4-BE49-F238E27FC236}">
                <a16:creationId xmlns:a16="http://schemas.microsoft.com/office/drawing/2014/main" id="{237F9DC7-7894-4E1A-9E05-9D5E85FB1F44}"/>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72" name="Rectangle 16">
            <a:extLst>
              <a:ext uri="{FF2B5EF4-FFF2-40B4-BE49-F238E27FC236}">
                <a16:creationId xmlns:a16="http://schemas.microsoft.com/office/drawing/2014/main" id="{44E10A61-8061-4917-88CA-1F43593FAC1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13073" name="Text Box 17">
            <a:extLst>
              <a:ext uri="{FF2B5EF4-FFF2-40B4-BE49-F238E27FC236}">
                <a16:creationId xmlns:a16="http://schemas.microsoft.com/office/drawing/2014/main" id="{F1896159-43E8-4058-94CF-5A2D691BB801}"/>
              </a:ext>
            </a:extLst>
          </p:cNvPr>
          <p:cNvSpPr txBox="1">
            <a:spLocks noChangeArrowheads="1"/>
          </p:cNvSpPr>
          <p:nvPr/>
        </p:nvSpPr>
        <p:spPr bwMode="auto">
          <a:xfrm>
            <a:off x="1943100" y="808038"/>
            <a:ext cx="800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dirty="0">
                <a:solidFill>
                  <a:srgbClr val="CC0000"/>
                </a:solidFill>
                <a:effectLst>
                  <a:outerShdw blurRad="38100" dist="38100" dir="2700000" algn="tl">
                    <a:srgbClr val="C0C0C0"/>
                  </a:outerShdw>
                </a:effectLst>
              </a:rPr>
              <a:t>Numerical Approximations (Finite Difference Method) are based on:</a:t>
            </a:r>
          </a:p>
        </p:txBody>
      </p:sp>
      <p:sp>
        <p:nvSpPr>
          <p:cNvPr id="813074" name="Text Box 18">
            <a:extLst>
              <a:ext uri="{FF2B5EF4-FFF2-40B4-BE49-F238E27FC236}">
                <a16:creationId xmlns:a16="http://schemas.microsoft.com/office/drawing/2014/main" id="{E2F2F973-1331-4FF8-845D-96E38D792099}"/>
              </a:ext>
            </a:extLst>
          </p:cNvPr>
          <p:cNvSpPr txBox="1">
            <a:spLocks noChangeArrowheads="1"/>
          </p:cNvSpPr>
          <p:nvPr/>
        </p:nvSpPr>
        <p:spPr bwMode="auto">
          <a:xfrm>
            <a:off x="520700" y="1600201"/>
            <a:ext cx="595630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buFontTx/>
              <a:buAutoNum type="arabicParenR"/>
            </a:pPr>
            <a:r>
              <a:rPr lang="en-US" altLang="en-US" b="1" dirty="0">
                <a:effectLst>
                  <a:outerShdw blurRad="38100" dist="38100" dir="2700000" algn="tl">
                    <a:srgbClr val="C0C0C0"/>
                  </a:outerShdw>
                </a:effectLst>
              </a:rPr>
              <a:t>Discretization of the flow domain into a grid: "layers" for one dimensional flow or a mesh for two-dimensional flow.</a:t>
            </a:r>
          </a:p>
          <a:p>
            <a:pPr eaLnBrk="0" hangingPunct="0">
              <a:spcBef>
                <a:spcPct val="50000"/>
              </a:spcBef>
              <a:buClr>
                <a:srgbClr val="CC0000"/>
              </a:buClr>
              <a:buFontTx/>
              <a:buAutoNum type="arabicParenR"/>
            </a:pPr>
            <a:r>
              <a:rPr lang="en-US" altLang="en-US" b="1" dirty="0">
                <a:effectLst>
                  <a:outerShdw blurRad="38100" dist="38100" dir="2700000" algn="tl">
                    <a:srgbClr val="C0C0C0"/>
                  </a:outerShdw>
                </a:effectLst>
              </a:rPr>
              <a:t>Discretization of the continuous partial differential equation into a series of approximated difference equations, one for each of the spatial nodes.</a:t>
            </a:r>
          </a:p>
          <a:p>
            <a:pPr eaLnBrk="0" hangingPunct="0">
              <a:spcBef>
                <a:spcPct val="50000"/>
              </a:spcBef>
              <a:buClr>
                <a:srgbClr val="CC0000"/>
              </a:buClr>
              <a:buFontTx/>
              <a:buAutoNum type="arabicParenR"/>
            </a:pPr>
            <a:r>
              <a:rPr lang="en-US" altLang="en-US" b="1" dirty="0">
                <a:effectLst>
                  <a:outerShdw blurRad="38100" dist="38100" dir="2700000" algn="tl">
                    <a:srgbClr val="C0C0C0"/>
                  </a:outerShdw>
                </a:effectLst>
              </a:rPr>
              <a:t>Application of </a:t>
            </a:r>
            <a:r>
              <a:rPr lang="en-US" altLang="en-US" b="1" i="1" dirty="0">
                <a:effectLst>
                  <a:outerShdw blurRad="38100" dist="38100" dir="2700000" algn="tl">
                    <a:srgbClr val="C0C0C0"/>
                  </a:outerShdw>
                </a:effectLst>
              </a:rPr>
              <a:t>initial and boundary conditions</a:t>
            </a:r>
            <a:r>
              <a:rPr lang="en-US" altLang="en-US" dirty="0">
                <a:effectLst>
                  <a:outerShdw blurRad="38100" dist="38100" dir="2700000" algn="tl">
                    <a:srgbClr val="C0C0C0"/>
                  </a:outerShdw>
                </a:effectLst>
              </a:rPr>
              <a:t>.</a:t>
            </a:r>
            <a:endParaRPr lang="en-US" altLang="en-US" b="1" dirty="0">
              <a:effectLst>
                <a:outerShdw blurRad="38100" dist="38100" dir="2700000" algn="tl">
                  <a:srgbClr val="C0C0C0"/>
                </a:outerShdw>
              </a:effectLst>
            </a:endParaRPr>
          </a:p>
          <a:p>
            <a:pPr eaLnBrk="0" hangingPunct="0">
              <a:spcBef>
                <a:spcPct val="50000"/>
              </a:spcBef>
              <a:buClr>
                <a:srgbClr val="CC0000"/>
              </a:buClr>
              <a:buFontTx/>
              <a:buAutoNum type="arabicParenR"/>
            </a:pPr>
            <a:r>
              <a:rPr lang="en-US" altLang="en-US" b="1" dirty="0">
                <a:effectLst>
                  <a:outerShdw blurRad="38100" dist="38100" dir="2700000" algn="tl">
                    <a:srgbClr val="C0C0C0"/>
                  </a:outerShdw>
                </a:effectLst>
              </a:rPr>
              <a:t>Formulation of the problem into a computer code which is able to solve the equations for the entire flow domain at various time steps.</a:t>
            </a:r>
          </a:p>
        </p:txBody>
      </p:sp>
      <p:sp>
        <p:nvSpPr>
          <p:cNvPr id="813076" name="Oval 20">
            <a:extLst>
              <a:ext uri="{FF2B5EF4-FFF2-40B4-BE49-F238E27FC236}">
                <a16:creationId xmlns:a16="http://schemas.microsoft.com/office/drawing/2014/main" id="{375A5585-01A6-435F-A385-336337C360A6}"/>
              </a:ext>
            </a:extLst>
          </p:cNvPr>
          <p:cNvSpPr>
            <a:spLocks noChangeArrowheads="1"/>
          </p:cNvSpPr>
          <p:nvPr/>
        </p:nvSpPr>
        <p:spPr bwMode="auto">
          <a:xfrm>
            <a:off x="8137526" y="3643842"/>
            <a:ext cx="98425" cy="101600"/>
          </a:xfrm>
          <a:prstGeom prst="ellipse">
            <a:avLst/>
          </a:prstGeom>
          <a:solidFill>
            <a:srgbClr val="FF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3077" name="AutoShape 21">
            <a:extLst>
              <a:ext uri="{FF2B5EF4-FFF2-40B4-BE49-F238E27FC236}">
                <a16:creationId xmlns:a16="http://schemas.microsoft.com/office/drawing/2014/main" id="{6DD192B1-558F-47BF-BAEC-C273D0BDB0D9}"/>
              </a:ext>
            </a:extLst>
          </p:cNvPr>
          <p:cNvSpPr>
            <a:spLocks/>
          </p:cNvSpPr>
          <p:nvPr/>
        </p:nvSpPr>
        <p:spPr bwMode="auto">
          <a:xfrm rot="16200000">
            <a:off x="8385175" y="3605742"/>
            <a:ext cx="76200" cy="381000"/>
          </a:xfrm>
          <a:prstGeom prst="leftBrace">
            <a:avLst>
              <a:gd name="adj1" fmla="val 41667"/>
              <a:gd name="adj2" fmla="val 50000"/>
            </a:avLst>
          </a:prstGeom>
          <a:noFill/>
          <a:ln w="952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813079" name="Object 23">
            <a:extLst>
              <a:ext uri="{FF2B5EF4-FFF2-40B4-BE49-F238E27FC236}">
                <a16:creationId xmlns:a16="http://schemas.microsoft.com/office/drawing/2014/main" id="{7AF26C6C-D7AA-43E6-8FB1-97DFC79F5F08}"/>
              </a:ext>
            </a:extLst>
          </p:cNvPr>
          <p:cNvGraphicFramePr>
            <a:graphicFrameLocks noChangeAspect="1"/>
          </p:cNvGraphicFramePr>
          <p:nvPr>
            <p:extLst>
              <p:ext uri="{D42A27DB-BD31-4B8C-83A1-F6EECF244321}">
                <p14:modId xmlns:p14="http://schemas.microsoft.com/office/powerpoint/2010/main" val="1261145378"/>
              </p:ext>
            </p:extLst>
          </p:nvPr>
        </p:nvGraphicFramePr>
        <p:xfrm>
          <a:off x="9144000" y="4180418"/>
          <a:ext cx="457200" cy="320675"/>
        </p:xfrm>
        <a:graphic>
          <a:graphicData uri="http://schemas.openxmlformats.org/presentationml/2006/ole">
            <mc:AlternateContent xmlns:mc="http://schemas.openxmlformats.org/markup-compatibility/2006">
              <mc:Choice xmlns:v="urn:schemas-microsoft-com:vml" Requires="v">
                <p:oleObj spid="_x0000_s20496" name="Equation" r:id="rId5" imgW="596880" imgH="419040" progId="Equation.3">
                  <p:embed/>
                </p:oleObj>
              </mc:Choice>
              <mc:Fallback>
                <p:oleObj name="Equation" r:id="rId5" imgW="596880" imgH="419040" progId="Equation.3">
                  <p:embed/>
                  <p:pic>
                    <p:nvPicPr>
                      <p:cNvPr id="813079" name="Object 23">
                        <a:extLst>
                          <a:ext uri="{FF2B5EF4-FFF2-40B4-BE49-F238E27FC236}">
                            <a16:creationId xmlns:a16="http://schemas.microsoft.com/office/drawing/2014/main" id="{7AF26C6C-D7AA-43E6-8FB1-97DFC79F5F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0" y="4180418"/>
                        <a:ext cx="457200" cy="320675"/>
                      </a:xfrm>
                      <a:prstGeom prst="rect">
                        <a:avLst/>
                      </a:prstGeom>
                      <a:noFill/>
                      <a:ln w="158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3080" name="Arc 24">
            <a:extLst>
              <a:ext uri="{FF2B5EF4-FFF2-40B4-BE49-F238E27FC236}">
                <a16:creationId xmlns:a16="http://schemas.microsoft.com/office/drawing/2014/main" id="{C336F843-F110-4C9F-8C75-36D8CDACF70B}"/>
              </a:ext>
            </a:extLst>
          </p:cNvPr>
          <p:cNvSpPr>
            <a:spLocks/>
          </p:cNvSpPr>
          <p:nvPr/>
        </p:nvSpPr>
        <p:spPr bwMode="auto">
          <a:xfrm flipH="1" flipV="1">
            <a:off x="8480425" y="3805767"/>
            <a:ext cx="762000" cy="457200"/>
          </a:xfrm>
          <a:custGeom>
            <a:avLst/>
            <a:gdLst>
              <a:gd name="G0" fmla="+- 0 0 0"/>
              <a:gd name="G1" fmla="+- 21348 0 0"/>
              <a:gd name="G2" fmla="+- 21600 0 0"/>
              <a:gd name="T0" fmla="*/ 3290 w 21600"/>
              <a:gd name="T1" fmla="*/ 0 h 21348"/>
              <a:gd name="T2" fmla="*/ 21600 w 21600"/>
              <a:gd name="T3" fmla="*/ 21348 h 21348"/>
              <a:gd name="T4" fmla="*/ 0 w 21600"/>
              <a:gd name="T5" fmla="*/ 21348 h 21348"/>
            </a:gdLst>
            <a:ahLst/>
            <a:cxnLst>
              <a:cxn ang="0">
                <a:pos x="T0" y="T1"/>
              </a:cxn>
              <a:cxn ang="0">
                <a:pos x="T2" y="T3"/>
              </a:cxn>
              <a:cxn ang="0">
                <a:pos x="T4" y="T5"/>
              </a:cxn>
            </a:cxnLst>
            <a:rect l="0" t="0" r="r" b="b"/>
            <a:pathLst>
              <a:path w="21600" h="21348" fill="none" extrusionOk="0">
                <a:moveTo>
                  <a:pt x="3289" y="0"/>
                </a:moveTo>
                <a:cubicBezTo>
                  <a:pt x="13824" y="1623"/>
                  <a:pt x="21600" y="10688"/>
                  <a:pt x="21600" y="21348"/>
                </a:cubicBezTo>
              </a:path>
              <a:path w="21600" h="21348" stroke="0" extrusionOk="0">
                <a:moveTo>
                  <a:pt x="3289" y="0"/>
                </a:moveTo>
                <a:cubicBezTo>
                  <a:pt x="13824" y="1623"/>
                  <a:pt x="21600" y="10688"/>
                  <a:pt x="21600" y="21348"/>
                </a:cubicBezTo>
                <a:lnTo>
                  <a:pt x="0" y="21348"/>
                </a:lnTo>
                <a:close/>
              </a:path>
            </a:pathLst>
          </a:custGeom>
          <a:noFill/>
          <a:ln w="15875">
            <a:solidFill>
              <a:srgbClr val="FF0000"/>
            </a:solidFill>
            <a:round/>
            <a:headEnd type="none" w="lg" len="lg"/>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3081" name="AutoShape 25">
            <a:extLst>
              <a:ext uri="{FF2B5EF4-FFF2-40B4-BE49-F238E27FC236}">
                <a16:creationId xmlns:a16="http://schemas.microsoft.com/office/drawing/2014/main" id="{F3AB0DB7-E52E-4D0D-BB7E-CCDCCEF48F1D}"/>
              </a:ext>
            </a:extLst>
          </p:cNvPr>
          <p:cNvSpPr>
            <a:spLocks/>
          </p:cNvSpPr>
          <p:nvPr/>
        </p:nvSpPr>
        <p:spPr bwMode="auto">
          <a:xfrm>
            <a:off x="8023225" y="3231092"/>
            <a:ext cx="101600" cy="914400"/>
          </a:xfrm>
          <a:prstGeom prst="leftBrace">
            <a:avLst>
              <a:gd name="adj1" fmla="val 75000"/>
              <a:gd name="adj2" fmla="val 50000"/>
            </a:avLst>
          </a:prstGeom>
          <a:noFill/>
          <a:ln w="952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3082" name="Arc 26">
            <a:extLst>
              <a:ext uri="{FF2B5EF4-FFF2-40B4-BE49-F238E27FC236}">
                <a16:creationId xmlns:a16="http://schemas.microsoft.com/office/drawing/2014/main" id="{0E3CE5AA-5847-4EE8-9DE9-C1B252B1F547}"/>
              </a:ext>
            </a:extLst>
          </p:cNvPr>
          <p:cNvSpPr>
            <a:spLocks/>
          </p:cNvSpPr>
          <p:nvPr/>
        </p:nvSpPr>
        <p:spPr bwMode="auto">
          <a:xfrm rot="4969540" flipH="1" flipV="1">
            <a:off x="7489825" y="3881967"/>
            <a:ext cx="762000" cy="457200"/>
          </a:xfrm>
          <a:custGeom>
            <a:avLst/>
            <a:gdLst>
              <a:gd name="G0" fmla="+- 0 0 0"/>
              <a:gd name="G1" fmla="+- 21348 0 0"/>
              <a:gd name="G2" fmla="+- 21600 0 0"/>
              <a:gd name="T0" fmla="*/ 3290 w 21600"/>
              <a:gd name="T1" fmla="*/ 0 h 21348"/>
              <a:gd name="T2" fmla="*/ 21600 w 21600"/>
              <a:gd name="T3" fmla="*/ 21348 h 21348"/>
              <a:gd name="T4" fmla="*/ 0 w 21600"/>
              <a:gd name="T5" fmla="*/ 21348 h 21348"/>
            </a:gdLst>
            <a:ahLst/>
            <a:cxnLst>
              <a:cxn ang="0">
                <a:pos x="T0" y="T1"/>
              </a:cxn>
              <a:cxn ang="0">
                <a:pos x="T2" y="T3"/>
              </a:cxn>
              <a:cxn ang="0">
                <a:pos x="T4" y="T5"/>
              </a:cxn>
            </a:cxnLst>
            <a:rect l="0" t="0" r="r" b="b"/>
            <a:pathLst>
              <a:path w="21600" h="21348" fill="none" extrusionOk="0">
                <a:moveTo>
                  <a:pt x="3289" y="0"/>
                </a:moveTo>
                <a:cubicBezTo>
                  <a:pt x="13824" y="1623"/>
                  <a:pt x="21600" y="10688"/>
                  <a:pt x="21600" y="21348"/>
                </a:cubicBezTo>
              </a:path>
              <a:path w="21600" h="21348" stroke="0" extrusionOk="0">
                <a:moveTo>
                  <a:pt x="3289" y="0"/>
                </a:moveTo>
                <a:cubicBezTo>
                  <a:pt x="13824" y="1623"/>
                  <a:pt x="21600" y="10688"/>
                  <a:pt x="21600" y="21348"/>
                </a:cubicBezTo>
                <a:lnTo>
                  <a:pt x="0" y="21348"/>
                </a:lnTo>
                <a:close/>
              </a:path>
            </a:pathLst>
          </a:custGeom>
          <a:noFill/>
          <a:ln w="15875">
            <a:solidFill>
              <a:srgbClr val="FF0000"/>
            </a:solidFill>
            <a:round/>
            <a:headEnd type="none" w="lg" len="lg"/>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813083" name="Object 27">
            <a:extLst>
              <a:ext uri="{FF2B5EF4-FFF2-40B4-BE49-F238E27FC236}">
                <a16:creationId xmlns:a16="http://schemas.microsoft.com/office/drawing/2014/main" id="{C808AD86-FE93-4A61-85B7-BA81CC311477}"/>
              </a:ext>
            </a:extLst>
          </p:cNvPr>
          <p:cNvGraphicFramePr>
            <a:graphicFrameLocks noChangeAspect="1"/>
          </p:cNvGraphicFramePr>
          <p:nvPr>
            <p:extLst>
              <p:ext uri="{D42A27DB-BD31-4B8C-83A1-F6EECF244321}">
                <p14:modId xmlns:p14="http://schemas.microsoft.com/office/powerpoint/2010/main" val="2642760444"/>
              </p:ext>
            </p:extLst>
          </p:nvPr>
        </p:nvGraphicFramePr>
        <p:xfrm>
          <a:off x="6727825" y="4415368"/>
          <a:ext cx="2071688" cy="447675"/>
        </p:xfrm>
        <a:graphic>
          <a:graphicData uri="http://schemas.openxmlformats.org/presentationml/2006/ole">
            <mc:AlternateContent xmlns:mc="http://schemas.openxmlformats.org/markup-compatibility/2006">
              <mc:Choice xmlns:v="urn:schemas-microsoft-com:vml" Requires="v">
                <p:oleObj spid="_x0000_s20497" name="Equation" r:id="rId7" imgW="2705040" imgH="583920" progId="Equation.3">
                  <p:embed/>
                </p:oleObj>
              </mc:Choice>
              <mc:Fallback>
                <p:oleObj name="Equation" r:id="rId7" imgW="2705040" imgH="583920" progId="Equation.3">
                  <p:embed/>
                  <p:pic>
                    <p:nvPicPr>
                      <p:cNvPr id="813083" name="Object 27">
                        <a:extLst>
                          <a:ext uri="{FF2B5EF4-FFF2-40B4-BE49-F238E27FC236}">
                            <a16:creationId xmlns:a16="http://schemas.microsoft.com/office/drawing/2014/main" id="{C808AD86-FE93-4A61-85B7-BA81CC3114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27825" y="4415368"/>
                        <a:ext cx="2071688" cy="447675"/>
                      </a:xfrm>
                      <a:prstGeom prst="rect">
                        <a:avLst/>
                      </a:prstGeom>
                      <a:noFill/>
                      <a:ln w="158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a:extLst>
              <a:ext uri="{FF2B5EF4-FFF2-40B4-BE49-F238E27FC236}">
                <a16:creationId xmlns:a16="http://schemas.microsoft.com/office/drawing/2014/main" id="{9C2E0F73-FE06-43D3-89C9-93440B41875F}"/>
              </a:ext>
            </a:extLst>
          </p:cNvPr>
          <p:cNvSpPr>
            <a:spLocks noGrp="1" noChangeArrowheads="1"/>
          </p:cNvSpPr>
          <p:nvPr>
            <p:ph type="title"/>
          </p:nvPr>
        </p:nvSpPr>
        <p:spPr/>
        <p:txBody>
          <a:bodyPr/>
          <a:lstStyle/>
          <a:p>
            <a:r>
              <a:rPr lang="en-US" altLang="en-US"/>
              <a:t>Numerical Solutions of Richards Equation </a:t>
            </a:r>
          </a:p>
        </p:txBody>
      </p:sp>
      <p:sp>
        <p:nvSpPr>
          <p:cNvPr id="802819" name="Rectangle 3">
            <a:extLst>
              <a:ext uri="{FF2B5EF4-FFF2-40B4-BE49-F238E27FC236}">
                <a16:creationId xmlns:a16="http://schemas.microsoft.com/office/drawing/2014/main" id="{420D479E-4BB2-4A01-B531-D0C3FB177A26}"/>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0" name="Rectangle 4">
            <a:extLst>
              <a:ext uri="{FF2B5EF4-FFF2-40B4-BE49-F238E27FC236}">
                <a16:creationId xmlns:a16="http://schemas.microsoft.com/office/drawing/2014/main" id="{E5518B30-B39B-438E-A815-51CC9C1EC9BC}"/>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1" name="Rectangle 5">
            <a:extLst>
              <a:ext uri="{FF2B5EF4-FFF2-40B4-BE49-F238E27FC236}">
                <a16:creationId xmlns:a16="http://schemas.microsoft.com/office/drawing/2014/main" id="{E35D55BB-3848-4B75-A005-8D92F39BCCE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2" name="Rectangle 6">
            <a:extLst>
              <a:ext uri="{FF2B5EF4-FFF2-40B4-BE49-F238E27FC236}">
                <a16:creationId xmlns:a16="http://schemas.microsoft.com/office/drawing/2014/main" id="{F6CF44DE-B268-42A7-8FD1-1DB494F6B581}"/>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3" name="Rectangle 7">
            <a:extLst>
              <a:ext uri="{FF2B5EF4-FFF2-40B4-BE49-F238E27FC236}">
                <a16:creationId xmlns:a16="http://schemas.microsoft.com/office/drawing/2014/main" id="{32616A38-BFDE-4927-B256-0C66254AB1D1}"/>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4" name="Rectangle 8">
            <a:extLst>
              <a:ext uri="{FF2B5EF4-FFF2-40B4-BE49-F238E27FC236}">
                <a16:creationId xmlns:a16="http://schemas.microsoft.com/office/drawing/2014/main" id="{FCE66DA9-4DCB-4D28-99F9-6E253E1B5EF8}"/>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5" name="Rectangle 9">
            <a:extLst>
              <a:ext uri="{FF2B5EF4-FFF2-40B4-BE49-F238E27FC236}">
                <a16:creationId xmlns:a16="http://schemas.microsoft.com/office/drawing/2014/main" id="{2E25E256-2DCC-4157-A3CA-7B962042DD00}"/>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6" name="Rectangle 10">
            <a:extLst>
              <a:ext uri="{FF2B5EF4-FFF2-40B4-BE49-F238E27FC236}">
                <a16:creationId xmlns:a16="http://schemas.microsoft.com/office/drawing/2014/main" id="{63AFCDC4-6B0A-4F7C-B1CC-F71DE42BA479}"/>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7" name="Rectangle 11">
            <a:extLst>
              <a:ext uri="{FF2B5EF4-FFF2-40B4-BE49-F238E27FC236}">
                <a16:creationId xmlns:a16="http://schemas.microsoft.com/office/drawing/2014/main" id="{D4A648C9-CCD6-4D8C-B2BA-0A754B8553ED}"/>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8" name="Rectangle 12">
            <a:extLst>
              <a:ext uri="{FF2B5EF4-FFF2-40B4-BE49-F238E27FC236}">
                <a16:creationId xmlns:a16="http://schemas.microsoft.com/office/drawing/2014/main" id="{988AB82E-A355-4408-A221-B4C0BE1BACE0}"/>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29" name="Rectangle 13">
            <a:extLst>
              <a:ext uri="{FF2B5EF4-FFF2-40B4-BE49-F238E27FC236}">
                <a16:creationId xmlns:a16="http://schemas.microsoft.com/office/drawing/2014/main" id="{EE701445-88A5-44D6-A393-8FC273568CB9}"/>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30" name="Rectangle 14">
            <a:extLst>
              <a:ext uri="{FF2B5EF4-FFF2-40B4-BE49-F238E27FC236}">
                <a16:creationId xmlns:a16="http://schemas.microsoft.com/office/drawing/2014/main" id="{A2E4E1D1-D260-4BBF-8E52-A3BFE778BAC2}"/>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31" name="Rectangle 15">
            <a:extLst>
              <a:ext uri="{FF2B5EF4-FFF2-40B4-BE49-F238E27FC236}">
                <a16:creationId xmlns:a16="http://schemas.microsoft.com/office/drawing/2014/main" id="{B9A9EF23-2E57-4DB3-BE78-179F405E61F2}"/>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2832" name="Text Box 16">
            <a:extLst>
              <a:ext uri="{FF2B5EF4-FFF2-40B4-BE49-F238E27FC236}">
                <a16:creationId xmlns:a16="http://schemas.microsoft.com/office/drawing/2014/main" id="{BB2BE7F8-1A5D-4684-B14D-5A3777D617C1}"/>
              </a:ext>
            </a:extLst>
          </p:cNvPr>
          <p:cNvSpPr txBox="1">
            <a:spLocks noChangeArrowheads="1"/>
          </p:cNvSpPr>
          <p:nvPr/>
        </p:nvSpPr>
        <p:spPr bwMode="auto">
          <a:xfrm>
            <a:off x="2214034" y="1443567"/>
            <a:ext cx="800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dirty="0">
                <a:solidFill>
                  <a:srgbClr val="CC0000"/>
                </a:solidFill>
                <a:effectLst>
                  <a:outerShdw blurRad="38100" dist="38100" dir="2700000" algn="tl">
                    <a:srgbClr val="C0C0C0"/>
                  </a:outerShdw>
                </a:effectLst>
              </a:rPr>
              <a:t>Example: A Numerical Approximation to the Richards Equation </a:t>
            </a:r>
          </a:p>
        </p:txBody>
      </p:sp>
      <p:sp>
        <p:nvSpPr>
          <p:cNvPr id="802833" name="Text Box 17">
            <a:extLst>
              <a:ext uri="{FF2B5EF4-FFF2-40B4-BE49-F238E27FC236}">
                <a16:creationId xmlns:a16="http://schemas.microsoft.com/office/drawing/2014/main" id="{4A38CB14-52B3-4A54-99EF-F8FE594596A0}"/>
              </a:ext>
            </a:extLst>
          </p:cNvPr>
          <p:cNvSpPr txBox="1">
            <a:spLocks noChangeArrowheads="1"/>
          </p:cNvSpPr>
          <p:nvPr/>
        </p:nvSpPr>
        <p:spPr bwMode="auto">
          <a:xfrm>
            <a:off x="453220" y="1984375"/>
            <a:ext cx="11590359" cy="3285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Find a numerical approximation to changes in water content with time under vertical unsaturated and </a:t>
            </a:r>
            <a:r>
              <a:rPr lang="en-US" altLang="en-US" sz="1900" b="1" dirty="0" err="1">
                <a:effectLst>
                  <a:outerShdw blurRad="38100" dist="38100" dir="2700000" algn="tl">
                    <a:srgbClr val="C0C0C0"/>
                  </a:outerShdw>
                </a:effectLst>
              </a:rPr>
              <a:t>nonsteady</a:t>
            </a:r>
            <a:r>
              <a:rPr lang="en-US" altLang="en-US" sz="1900" b="1" dirty="0">
                <a:effectLst>
                  <a:outerShdw blurRad="38100" dist="38100" dir="2700000" algn="tl">
                    <a:srgbClr val="C0C0C0"/>
                  </a:outerShdw>
                </a:effectLst>
              </a:rPr>
              <a:t> flow into a soil with a known initial water content, and known hydraulic functions </a:t>
            </a:r>
            <a:r>
              <a:rPr lang="en-US" altLang="en-US" sz="1900" b="1" dirty="0">
                <a:solidFill>
                  <a:srgbClr val="CC0000"/>
                </a:solidFill>
                <a:effectLst>
                  <a:outerShdw blurRad="38100" dist="38100" dir="2700000" algn="tl">
                    <a:srgbClr val="C0C0C0"/>
                  </a:outerShdw>
                </a:effectLst>
                <a:latin typeface="Symbol" panose="05050102010706020507" pitchFamily="18" charset="2"/>
              </a:rPr>
              <a:t>q</a:t>
            </a:r>
            <a:r>
              <a:rPr lang="en-US" altLang="en-US" sz="1900" b="1" dirty="0">
                <a:solidFill>
                  <a:srgbClr val="CC0000"/>
                </a:solidFill>
                <a:effectLst>
                  <a:outerShdw blurRad="38100" dist="38100" dir="2700000" algn="tl">
                    <a:srgbClr val="C0C0C0"/>
                  </a:outerShdw>
                </a:effectLst>
              </a:rPr>
              <a:t>(</a:t>
            </a:r>
            <a:r>
              <a:rPr lang="en-US" altLang="en-US" sz="1900" b="1" dirty="0">
                <a:solidFill>
                  <a:srgbClr val="CC0000"/>
                </a:solidFill>
                <a:effectLst>
                  <a:outerShdw blurRad="38100" dist="38100" dir="2700000" algn="tl">
                    <a:srgbClr val="C0C0C0"/>
                  </a:outerShdw>
                </a:effectLst>
                <a:latin typeface="Symbol" panose="05050102010706020507" pitchFamily="18" charset="2"/>
              </a:rPr>
              <a:t>y</a:t>
            </a:r>
            <a:r>
              <a:rPr lang="en-US" altLang="en-US" sz="1900" b="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 and </a:t>
            </a:r>
            <a:r>
              <a:rPr lang="en-US" altLang="en-US" sz="1900" b="1" dirty="0">
                <a:solidFill>
                  <a:srgbClr val="CC0000"/>
                </a:solidFill>
                <a:effectLst>
                  <a:outerShdw blurRad="38100" dist="38100" dir="2700000" algn="tl">
                    <a:srgbClr val="C0C0C0"/>
                  </a:outerShdw>
                </a:effectLst>
              </a:rPr>
              <a:t>K(</a:t>
            </a:r>
            <a:r>
              <a:rPr lang="en-US" altLang="en-US" sz="1900" b="1" dirty="0">
                <a:solidFill>
                  <a:srgbClr val="CC0000"/>
                </a:solidFill>
                <a:effectLst>
                  <a:outerShdw blurRad="38100" dist="38100" dir="2700000" algn="tl">
                    <a:srgbClr val="C0C0C0"/>
                  </a:outerShdw>
                </a:effectLst>
                <a:latin typeface="Symbol" panose="05050102010706020507" pitchFamily="18" charset="2"/>
              </a:rPr>
              <a:t>y</a:t>
            </a:r>
            <a:r>
              <a:rPr lang="en-US" altLang="en-US" sz="1900" b="1" dirty="0">
                <a:solidFill>
                  <a:srgbClr val="CC0000"/>
                </a:solidFill>
                <a:effectLst>
                  <a:outerShdw blurRad="38100" dist="38100" dir="2700000" algn="tl">
                    <a:srgbClr val="C0C0C0"/>
                  </a:outerShdw>
                </a:effectLst>
              </a:rPr>
              <a:t>)</a:t>
            </a:r>
            <a:r>
              <a:rPr lang="en-US" altLang="en-US" sz="1900" b="1" dirty="0">
                <a:effectLst>
                  <a:outerShdw blurRad="38100" dist="38100" dir="2700000" algn="tl">
                    <a:srgbClr val="C0C0C0"/>
                  </a:outerShdw>
                </a:effectLst>
              </a:rPr>
              <a:t>.</a:t>
            </a:r>
          </a:p>
          <a:p>
            <a:pPr eaLnBrk="0" hangingPunct="0">
              <a:spcBef>
                <a:spcPct val="50000"/>
              </a:spcBef>
              <a:buClr>
                <a:srgbClr val="FF0066"/>
              </a:buClr>
            </a:pPr>
            <a:r>
              <a:rPr lang="en-US" altLang="en-US" sz="1900" b="1" u="sng" dirty="0">
                <a:solidFill>
                  <a:srgbClr val="CC0000"/>
                </a:solidFill>
                <a:effectLst>
                  <a:outerShdw blurRad="38100" dist="38100" dir="2700000" algn="tl">
                    <a:srgbClr val="C0C0C0"/>
                  </a:outerShdw>
                </a:effectLst>
              </a:rPr>
              <a:t>Solution:</a:t>
            </a:r>
            <a:r>
              <a:rPr lang="en-US" altLang="en-US" sz="1900" b="1" dirty="0">
                <a:effectLst>
                  <a:outerShdw blurRad="38100" dist="38100" dir="2700000" algn="tl">
                    <a:srgbClr val="C0C0C0"/>
                  </a:outerShdw>
                </a:effectLst>
              </a:rPr>
              <a:t> We first discretize the soil profile (the spatial domain) into units of </a:t>
            </a:r>
            <a:r>
              <a:rPr lang="en-US" altLang="en-US" sz="1900" b="1" dirty="0" err="1">
                <a:solidFill>
                  <a:srgbClr val="CC0000"/>
                </a:solidFill>
                <a:effectLst>
                  <a:outerShdw blurRad="38100" dist="38100" dir="2700000" algn="tl">
                    <a:srgbClr val="C0C0C0"/>
                  </a:outerShdw>
                </a:effectLst>
                <a:latin typeface="Symbol" panose="05050102010706020507" pitchFamily="18" charset="2"/>
              </a:rPr>
              <a:t>D</a:t>
            </a:r>
            <a:r>
              <a:rPr lang="en-US" altLang="en-US" sz="1900" b="1" dirty="0" err="1">
                <a:solidFill>
                  <a:srgbClr val="CC0000"/>
                </a:solidFill>
                <a:effectLst>
                  <a:outerShdw blurRad="38100" dist="38100" dir="2700000" algn="tl">
                    <a:srgbClr val="C0C0C0"/>
                  </a:outerShdw>
                </a:effectLst>
              </a:rPr>
              <a:t>z</a:t>
            </a:r>
            <a:r>
              <a:rPr lang="en-US" altLang="en-US" sz="1900" b="1" dirty="0">
                <a:effectLst>
                  <a:outerShdw blurRad="38100" dist="38100" dir="2700000" algn="tl">
                    <a:srgbClr val="C0C0C0"/>
                  </a:outerShdw>
                </a:effectLst>
              </a:rPr>
              <a:t>, and the time into units of </a:t>
            </a:r>
            <a:r>
              <a:rPr lang="en-US" altLang="en-US" sz="1900" b="1" dirty="0">
                <a:solidFill>
                  <a:srgbClr val="CC0000"/>
                </a:solidFill>
                <a:effectLst>
                  <a:outerShdw blurRad="38100" dist="38100" dir="2700000" algn="tl">
                    <a:srgbClr val="C0C0C0"/>
                  </a:outerShdw>
                </a:effectLst>
                <a:latin typeface="Symbol" panose="05050102010706020507" pitchFamily="18" charset="2"/>
              </a:rPr>
              <a:t>D</a:t>
            </a:r>
            <a:r>
              <a:rPr lang="en-US" altLang="en-US" sz="1900" b="1" dirty="0">
                <a:solidFill>
                  <a:srgbClr val="CC0000"/>
                </a:solidFill>
                <a:effectLst>
                  <a:outerShdw blurRad="38100" dist="38100" dir="2700000" algn="tl">
                    <a:srgbClr val="C0C0C0"/>
                  </a:outerShdw>
                </a:effectLst>
              </a:rPr>
              <a:t>t</a:t>
            </a:r>
            <a:r>
              <a:rPr lang="en-US" altLang="en-US" sz="1900" b="1" dirty="0">
                <a:effectLst>
                  <a:outerShdw blurRad="38100" dist="38100" dir="2700000" algn="tl">
                    <a:srgbClr val="C0C0C0"/>
                  </a:outerShdw>
                </a:effectLst>
              </a:rPr>
              <a:t>. We denote the water content at the </a:t>
            </a:r>
            <a:r>
              <a:rPr lang="en-US" altLang="en-US" sz="1900" b="1" dirty="0" err="1">
                <a:effectLst>
                  <a:outerShdw blurRad="38100" dist="38100" dir="2700000" algn="tl">
                    <a:srgbClr val="C0C0C0"/>
                  </a:outerShdw>
                </a:effectLst>
              </a:rPr>
              <a:t>i-th</a:t>
            </a:r>
            <a:r>
              <a:rPr lang="en-US" altLang="en-US" sz="1900" b="1" dirty="0">
                <a:effectLst>
                  <a:outerShdw blurRad="38100" dist="38100" dir="2700000" algn="tl">
                    <a:srgbClr val="C0C0C0"/>
                  </a:outerShdw>
                </a:effectLst>
              </a:rPr>
              <a:t> depth increment and at the j-</a:t>
            </a:r>
            <a:r>
              <a:rPr lang="en-US" altLang="en-US" sz="1900" b="1" dirty="0" err="1">
                <a:effectLst>
                  <a:outerShdw blurRad="38100" dist="38100" dir="2700000" algn="tl">
                    <a:srgbClr val="C0C0C0"/>
                  </a:outerShdw>
                </a:effectLst>
              </a:rPr>
              <a:t>th</a:t>
            </a:r>
            <a:r>
              <a:rPr lang="en-US" altLang="en-US" sz="1900" b="1" dirty="0">
                <a:effectLst>
                  <a:outerShdw blurRad="38100" dist="38100" dir="2700000" algn="tl">
                    <a:srgbClr val="C0C0C0"/>
                  </a:outerShdw>
                </a:effectLst>
              </a:rPr>
              <a:t> time step as </a:t>
            </a:r>
            <a:r>
              <a:rPr lang="en-US" altLang="en-US" sz="1900" b="1" dirty="0" err="1">
                <a:solidFill>
                  <a:srgbClr val="CC0000"/>
                </a:solidFill>
                <a:effectLst>
                  <a:outerShdw blurRad="38100" dist="38100" dir="2700000" algn="tl">
                    <a:srgbClr val="C0C0C0"/>
                  </a:outerShdw>
                </a:effectLst>
                <a:latin typeface="Symbol" panose="05050102010706020507" pitchFamily="18" charset="2"/>
              </a:rPr>
              <a:t>q</a:t>
            </a:r>
            <a:r>
              <a:rPr lang="en-US" altLang="en-US" sz="1900" b="1" baseline="-25000" dirty="0" err="1">
                <a:solidFill>
                  <a:srgbClr val="CC0000"/>
                </a:solidFill>
                <a:effectLst>
                  <a:outerShdw blurRad="38100" dist="38100" dir="2700000" algn="tl">
                    <a:srgbClr val="C0C0C0"/>
                  </a:outerShdw>
                </a:effectLst>
              </a:rPr>
              <a:t>i</a:t>
            </a:r>
            <a:r>
              <a:rPr lang="en-US" altLang="en-US" sz="1900" b="1" baseline="30000" dirty="0" err="1">
                <a:solidFill>
                  <a:srgbClr val="CC0000"/>
                </a:solidFill>
                <a:effectLst>
                  <a:outerShdw blurRad="38100" dist="38100" dir="2700000" algn="tl">
                    <a:srgbClr val="C0C0C0"/>
                  </a:outerShdw>
                </a:effectLst>
              </a:rPr>
              <a:t>j</a:t>
            </a:r>
            <a:r>
              <a:rPr lang="en-US" altLang="en-US" sz="1900" b="1" dirty="0">
                <a:effectLst>
                  <a:outerShdw blurRad="38100" dist="38100" dir="2700000" algn="tl">
                    <a:srgbClr val="C0C0C0"/>
                  </a:outerShdw>
                </a:effectLst>
              </a:rPr>
              <a:t>; similarly we express the corresponding matric head as </a:t>
            </a:r>
            <a:r>
              <a:rPr lang="en-US" altLang="en-US" sz="1900" b="1" dirty="0" err="1">
                <a:solidFill>
                  <a:srgbClr val="CC0000"/>
                </a:solidFill>
                <a:effectLst>
                  <a:outerShdw blurRad="38100" dist="38100" dir="2700000" algn="tl">
                    <a:srgbClr val="C0C0C0"/>
                  </a:outerShdw>
                </a:effectLst>
              </a:rPr>
              <a:t>h</a:t>
            </a:r>
            <a:r>
              <a:rPr lang="en-US" altLang="en-US" sz="1900" b="1" baseline="-25000" dirty="0" err="1">
                <a:solidFill>
                  <a:srgbClr val="CC0000"/>
                </a:solidFill>
                <a:effectLst>
                  <a:outerShdw blurRad="38100" dist="38100" dir="2700000" algn="tl">
                    <a:srgbClr val="C0C0C0"/>
                  </a:outerShdw>
                </a:effectLst>
              </a:rPr>
              <a:t>i</a:t>
            </a:r>
            <a:r>
              <a:rPr lang="en-US" altLang="en-US" sz="1900" b="1" baseline="30000" dirty="0" err="1">
                <a:solidFill>
                  <a:srgbClr val="CC0000"/>
                </a:solidFill>
                <a:effectLst>
                  <a:outerShdw blurRad="38100" dist="38100" dir="2700000" algn="tl">
                    <a:srgbClr val="C0C0C0"/>
                  </a:outerShdw>
                </a:effectLst>
              </a:rPr>
              <a:t>j</a:t>
            </a:r>
            <a:r>
              <a:rPr lang="en-US" altLang="en-US" sz="1900" b="1" baseline="30000" dirty="0">
                <a:solidFill>
                  <a:srgbClr val="CC0000"/>
                </a:solidFill>
                <a:effectLst>
                  <a:outerShdw blurRad="38100" dist="38100" dir="2700000" algn="tl">
                    <a:srgbClr val="C0C0C0"/>
                  </a:outerShdw>
                </a:effectLst>
              </a:rPr>
              <a:t> </a:t>
            </a:r>
            <a:r>
              <a:rPr lang="en-US" altLang="en-US" sz="1900" b="1" dirty="0">
                <a:effectLst>
                  <a:outerShdw blurRad="38100" dist="38100" dir="2700000" algn="tl">
                    <a:srgbClr val="C0C0C0"/>
                  </a:outerShdw>
                </a:effectLst>
              </a:rPr>
              <a:t>(see graph previous slide) </a:t>
            </a:r>
            <a:br>
              <a:rPr lang="en-US" altLang="en-US" sz="1900" b="1" dirty="0">
                <a:effectLst>
                  <a:outerShdw blurRad="38100" dist="38100" dir="2700000" algn="tl">
                    <a:srgbClr val="C0C0C0"/>
                  </a:outerShdw>
                </a:effectLst>
              </a:rPr>
            </a:br>
            <a:br>
              <a:rPr lang="en-US" altLang="en-US" sz="800" b="1" dirty="0">
                <a:solidFill>
                  <a:srgbClr val="0033CC"/>
                </a:solidFill>
                <a:effectLst>
                  <a:outerShdw blurRad="38100" dist="38100" dir="2700000" algn="tl">
                    <a:srgbClr val="C0C0C0"/>
                  </a:outerShdw>
                </a:effectLst>
              </a:rPr>
            </a:br>
            <a:r>
              <a:rPr lang="en-US" altLang="en-US" sz="1900" b="1" dirty="0">
                <a:effectLst>
                  <a:outerShdw blurRad="38100" dist="38100" dir="2700000" algn="tl">
                    <a:srgbClr val="C0C0C0"/>
                  </a:outerShdw>
                </a:effectLst>
              </a:rPr>
              <a:t>The hydraulic conductivity, which is a function of the matric head (or of the water content), relates transfer between two soil layers and thus must be averaged to represent both layers as: </a:t>
            </a:r>
            <a:r>
              <a:rPr lang="en-US" altLang="en-US" sz="1900" b="1" dirty="0">
                <a:solidFill>
                  <a:srgbClr val="CC0000"/>
                </a:solidFill>
                <a:effectLst>
                  <a:outerShdw blurRad="38100" dist="38100" dir="2700000" algn="tl">
                    <a:srgbClr val="C0C0C0"/>
                  </a:outerShdw>
                </a:effectLst>
              </a:rPr>
              <a:t>K([</a:t>
            </a:r>
            <a:r>
              <a:rPr lang="en-US" altLang="en-US" sz="1900" b="1" dirty="0" err="1">
                <a:solidFill>
                  <a:srgbClr val="CC0000"/>
                </a:solidFill>
                <a:effectLst>
                  <a:outerShdw blurRad="38100" dist="38100" dir="2700000" algn="tl">
                    <a:srgbClr val="C0C0C0"/>
                  </a:outerShdw>
                </a:effectLst>
              </a:rPr>
              <a:t>h</a:t>
            </a:r>
            <a:r>
              <a:rPr lang="en-US" altLang="en-US" sz="1900" b="1" baseline="-25000" dirty="0" err="1">
                <a:solidFill>
                  <a:srgbClr val="CC0000"/>
                </a:solidFill>
                <a:effectLst>
                  <a:outerShdw blurRad="38100" dist="38100" dir="2700000" algn="tl">
                    <a:srgbClr val="C0C0C0"/>
                  </a:outerShdw>
                </a:effectLst>
              </a:rPr>
              <a:t>i</a:t>
            </a:r>
            <a:r>
              <a:rPr lang="en-US" altLang="en-US" sz="1900" b="1" baseline="30000" dirty="0" err="1">
                <a:solidFill>
                  <a:srgbClr val="CC0000"/>
                </a:solidFill>
                <a:effectLst>
                  <a:outerShdw blurRad="38100" dist="38100" dir="2700000" algn="tl">
                    <a:srgbClr val="C0C0C0"/>
                  </a:outerShdw>
                </a:effectLst>
              </a:rPr>
              <a:t>j</a:t>
            </a:r>
            <a:r>
              <a:rPr lang="en-US" altLang="en-US" sz="1900" b="1" dirty="0">
                <a:solidFill>
                  <a:srgbClr val="CC0000"/>
                </a:solidFill>
                <a:effectLst>
                  <a:outerShdw blurRad="38100" dist="38100" dir="2700000" algn="tl">
                    <a:srgbClr val="C0C0C0"/>
                  </a:outerShdw>
                </a:effectLst>
              </a:rPr>
              <a:t> + h</a:t>
            </a:r>
            <a:r>
              <a:rPr lang="en-US" altLang="en-US" sz="1900" b="1" baseline="30000" dirty="0">
                <a:solidFill>
                  <a:srgbClr val="CC0000"/>
                </a:solidFill>
                <a:effectLst>
                  <a:outerShdw blurRad="38100" dist="38100" dir="2700000" algn="tl">
                    <a:srgbClr val="C0C0C0"/>
                  </a:outerShdw>
                </a:effectLst>
              </a:rPr>
              <a:t>j</a:t>
            </a:r>
            <a:r>
              <a:rPr lang="en-US" altLang="en-US" sz="1900" b="1" baseline="-25000" dirty="0">
                <a:solidFill>
                  <a:srgbClr val="CC0000"/>
                </a:solidFill>
                <a:effectLst>
                  <a:outerShdw blurRad="38100" dist="38100" dir="2700000" algn="tl">
                    <a:srgbClr val="C0C0C0"/>
                  </a:outerShdw>
                </a:effectLst>
              </a:rPr>
              <a:t>i+1</a:t>
            </a:r>
            <a:r>
              <a:rPr lang="en-US" altLang="en-US" sz="1900" b="1" dirty="0">
                <a:solidFill>
                  <a:srgbClr val="CC0000"/>
                </a:solidFill>
                <a:effectLst>
                  <a:outerShdw blurRad="38100" dist="38100" dir="2700000" algn="tl">
                    <a:srgbClr val="C0C0C0"/>
                  </a:outerShdw>
                </a:effectLst>
              </a:rPr>
              <a:t>]/2) = K</a:t>
            </a:r>
            <a:r>
              <a:rPr lang="en-US" altLang="en-US" sz="1900" b="1" baseline="30000" dirty="0">
                <a:solidFill>
                  <a:srgbClr val="CC0000"/>
                </a:solidFill>
                <a:effectLst>
                  <a:outerShdw blurRad="38100" dist="38100" dir="2700000" algn="tl">
                    <a:srgbClr val="C0C0C0"/>
                  </a:outerShdw>
                </a:effectLst>
              </a:rPr>
              <a:t>j</a:t>
            </a:r>
            <a:r>
              <a:rPr lang="en-US" altLang="en-US" sz="1900" b="1" baseline="-25000" dirty="0">
                <a:solidFill>
                  <a:srgbClr val="CC0000"/>
                </a:solidFill>
                <a:effectLst>
                  <a:outerShdw blurRad="38100" dist="38100" dir="2700000" algn="tl">
                    <a:srgbClr val="C0C0C0"/>
                  </a:outerShdw>
                </a:effectLst>
              </a:rPr>
              <a:t>i+1</a:t>
            </a:r>
            <a:r>
              <a:rPr lang="en-US" altLang="en-US" sz="1900" b="1" dirty="0">
                <a:solidFill>
                  <a:srgbClr val="CC0000"/>
                </a:solidFill>
                <a:effectLst>
                  <a:outerShdw blurRad="38100" dist="38100" dir="2700000" algn="tl">
                    <a:srgbClr val="C0C0C0"/>
                  </a:outerShdw>
                </a:effectLst>
              </a:rPr>
              <a:t>/2</a:t>
            </a:r>
            <a:r>
              <a:rPr lang="en-US" altLang="en-US" sz="1900" b="1" dirty="0">
                <a:effectLst>
                  <a:outerShdw blurRad="38100" dist="38100" dir="2700000" algn="tl">
                    <a:srgbClr val="C0C0C0"/>
                  </a:outerShdw>
                </a:effectLst>
              </a:rPr>
              <a:t>. The resulting numerical approximation for Buckingham-Darcy’s law for vertical flow is then given by:</a:t>
            </a:r>
          </a:p>
        </p:txBody>
      </p:sp>
      <p:graphicFrame>
        <p:nvGraphicFramePr>
          <p:cNvPr id="802834" name="Object 18">
            <a:extLst>
              <a:ext uri="{FF2B5EF4-FFF2-40B4-BE49-F238E27FC236}">
                <a16:creationId xmlns:a16="http://schemas.microsoft.com/office/drawing/2014/main" id="{B433ED2A-36D5-4AE8-819E-414D282C846C}"/>
              </a:ext>
            </a:extLst>
          </p:cNvPr>
          <p:cNvGraphicFramePr>
            <a:graphicFrameLocks noGrp="1" noChangeAspect="1"/>
          </p:cNvGraphicFramePr>
          <p:nvPr>
            <p:ph idx="1"/>
            <p:extLst>
              <p:ext uri="{D42A27DB-BD31-4B8C-83A1-F6EECF244321}">
                <p14:modId xmlns:p14="http://schemas.microsoft.com/office/powerpoint/2010/main" val="279765221"/>
              </p:ext>
            </p:extLst>
          </p:nvPr>
        </p:nvGraphicFramePr>
        <p:xfrm>
          <a:off x="2628900" y="5387975"/>
          <a:ext cx="7315200" cy="708025"/>
        </p:xfrm>
        <a:graphic>
          <a:graphicData uri="http://schemas.openxmlformats.org/presentationml/2006/ole">
            <mc:AlternateContent xmlns:mc="http://schemas.openxmlformats.org/markup-compatibility/2006">
              <mc:Choice xmlns:v="urn:schemas-microsoft-com:vml" Requires="v">
                <p:oleObj spid="_x0000_s21513" name="Equation" r:id="rId4" imgW="5638800" imgH="546100" progId="Equation.3">
                  <p:embed/>
                </p:oleObj>
              </mc:Choice>
              <mc:Fallback>
                <p:oleObj name="Equation" r:id="rId4" imgW="5638800" imgH="546100" progId="Equation.3">
                  <p:embed/>
                  <p:pic>
                    <p:nvPicPr>
                      <p:cNvPr id="802834" name="Object 18">
                        <a:extLst>
                          <a:ext uri="{FF2B5EF4-FFF2-40B4-BE49-F238E27FC236}">
                            <a16:creationId xmlns:a16="http://schemas.microsoft.com/office/drawing/2014/main" id="{B433ED2A-36D5-4AE8-819E-414D282C84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8900" y="5387975"/>
                        <a:ext cx="73152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a:extLst>
              <a:ext uri="{FF2B5EF4-FFF2-40B4-BE49-F238E27FC236}">
                <a16:creationId xmlns:a16="http://schemas.microsoft.com/office/drawing/2014/main" id="{2479D376-7694-4D75-8D08-A9FA50ABB6D0}"/>
              </a:ext>
            </a:extLst>
          </p:cNvPr>
          <p:cNvSpPr>
            <a:spLocks noGrp="1" noChangeArrowheads="1"/>
          </p:cNvSpPr>
          <p:nvPr>
            <p:ph type="title"/>
          </p:nvPr>
        </p:nvSpPr>
        <p:spPr/>
        <p:txBody>
          <a:bodyPr/>
          <a:lstStyle/>
          <a:p>
            <a:r>
              <a:rPr lang="en-US" altLang="en-US"/>
              <a:t>Numerical Solutions of Richards Equation </a:t>
            </a:r>
          </a:p>
        </p:txBody>
      </p:sp>
      <p:sp>
        <p:nvSpPr>
          <p:cNvPr id="804867" name="Rectangle 3">
            <a:extLst>
              <a:ext uri="{FF2B5EF4-FFF2-40B4-BE49-F238E27FC236}">
                <a16:creationId xmlns:a16="http://schemas.microsoft.com/office/drawing/2014/main" id="{83CC2F1B-D42C-4EA9-9987-94CC6CE342C0}"/>
              </a:ext>
            </a:extLst>
          </p:cNvPr>
          <p:cNvSpPr>
            <a:spLocks noChangeArrowheads="1"/>
          </p:cNvSpPr>
          <p:nvPr/>
        </p:nvSpPr>
        <p:spPr bwMode="auto">
          <a:xfrm>
            <a:off x="1524001" y="2909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68" name="Rectangle 4">
            <a:extLst>
              <a:ext uri="{FF2B5EF4-FFF2-40B4-BE49-F238E27FC236}">
                <a16:creationId xmlns:a16="http://schemas.microsoft.com/office/drawing/2014/main" id="{FADFC48C-C2FD-4219-9882-935531C68B26}"/>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69" name="Rectangle 5">
            <a:extLst>
              <a:ext uri="{FF2B5EF4-FFF2-40B4-BE49-F238E27FC236}">
                <a16:creationId xmlns:a16="http://schemas.microsoft.com/office/drawing/2014/main" id="{18DF1F19-ECB2-4F57-A8E1-3DE3E076C508}"/>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0" name="Rectangle 6">
            <a:extLst>
              <a:ext uri="{FF2B5EF4-FFF2-40B4-BE49-F238E27FC236}">
                <a16:creationId xmlns:a16="http://schemas.microsoft.com/office/drawing/2014/main" id="{2C4E9319-C2A5-4BC8-BCD2-DEA41E83993D}"/>
              </a:ext>
            </a:extLst>
          </p:cNvPr>
          <p:cNvSpPr>
            <a:spLocks noChangeArrowheads="1"/>
          </p:cNvSpPr>
          <p:nvPr/>
        </p:nvSpPr>
        <p:spPr bwMode="auto">
          <a:xfrm>
            <a:off x="1524001" y="30665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1" name="Rectangle 7">
            <a:extLst>
              <a:ext uri="{FF2B5EF4-FFF2-40B4-BE49-F238E27FC236}">
                <a16:creationId xmlns:a16="http://schemas.microsoft.com/office/drawing/2014/main" id="{562EC42A-E12D-4706-93AA-0D29EF4A69F7}"/>
              </a:ext>
            </a:extLst>
          </p:cNvPr>
          <p:cNvSpPr>
            <a:spLocks noChangeArrowheads="1"/>
          </p:cNvSpPr>
          <p:nvPr/>
        </p:nvSpPr>
        <p:spPr bwMode="auto">
          <a:xfrm>
            <a:off x="1524001" y="30760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2" name="Rectangle 8">
            <a:extLst>
              <a:ext uri="{FF2B5EF4-FFF2-40B4-BE49-F238E27FC236}">
                <a16:creationId xmlns:a16="http://schemas.microsoft.com/office/drawing/2014/main" id="{54529340-7DE3-4754-9537-F1C19024AE48}"/>
              </a:ext>
            </a:extLst>
          </p:cNvPr>
          <p:cNvSpPr>
            <a:spLocks noChangeArrowheads="1"/>
          </p:cNvSpPr>
          <p:nvPr/>
        </p:nvSpPr>
        <p:spPr bwMode="auto">
          <a:xfrm>
            <a:off x="1524001" y="3036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3" name="Rectangle 9">
            <a:extLst>
              <a:ext uri="{FF2B5EF4-FFF2-40B4-BE49-F238E27FC236}">
                <a16:creationId xmlns:a16="http://schemas.microsoft.com/office/drawing/2014/main" id="{ED072213-7565-46D4-92DF-A699A8D9C34B}"/>
              </a:ext>
            </a:extLst>
          </p:cNvPr>
          <p:cNvSpPr>
            <a:spLocks noChangeArrowheads="1"/>
          </p:cNvSpPr>
          <p:nvPr/>
        </p:nvSpPr>
        <p:spPr bwMode="auto">
          <a:xfrm>
            <a:off x="1524001" y="2998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4" name="Rectangle 10">
            <a:extLst>
              <a:ext uri="{FF2B5EF4-FFF2-40B4-BE49-F238E27FC236}">
                <a16:creationId xmlns:a16="http://schemas.microsoft.com/office/drawing/2014/main" id="{DB034DB9-DA87-42C8-92AA-2C9154F0775F}"/>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5" name="Rectangle 11">
            <a:extLst>
              <a:ext uri="{FF2B5EF4-FFF2-40B4-BE49-F238E27FC236}">
                <a16:creationId xmlns:a16="http://schemas.microsoft.com/office/drawing/2014/main" id="{57DC0175-F5A0-410D-837D-0C02E5CE62C7}"/>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6" name="Rectangle 12">
            <a:extLst>
              <a:ext uri="{FF2B5EF4-FFF2-40B4-BE49-F238E27FC236}">
                <a16:creationId xmlns:a16="http://schemas.microsoft.com/office/drawing/2014/main" id="{D0027B55-62B6-48FE-B352-2397D6D5EDC4}"/>
              </a:ext>
            </a:extLst>
          </p:cNvPr>
          <p:cNvSpPr>
            <a:spLocks noChangeArrowheads="1"/>
          </p:cNvSpPr>
          <p:nvPr/>
        </p:nvSpPr>
        <p:spPr bwMode="auto">
          <a:xfrm>
            <a:off x="1524001" y="30982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7" name="Rectangle 13">
            <a:extLst>
              <a:ext uri="{FF2B5EF4-FFF2-40B4-BE49-F238E27FC236}">
                <a16:creationId xmlns:a16="http://schemas.microsoft.com/office/drawing/2014/main" id="{45059A47-5A41-47CE-A70D-EA8B7D141CF9}"/>
              </a:ext>
            </a:extLst>
          </p:cNvPr>
          <p:cNvSpPr>
            <a:spLocks noChangeArrowheads="1"/>
          </p:cNvSpPr>
          <p:nvPr/>
        </p:nvSpPr>
        <p:spPr bwMode="auto">
          <a:xfrm>
            <a:off x="1524001" y="2983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8" name="Rectangle 14">
            <a:extLst>
              <a:ext uri="{FF2B5EF4-FFF2-40B4-BE49-F238E27FC236}">
                <a16:creationId xmlns:a16="http://schemas.microsoft.com/office/drawing/2014/main" id="{0037C8BF-8930-421B-81EB-EB38C5A80387}"/>
              </a:ext>
            </a:extLst>
          </p:cNvPr>
          <p:cNvSpPr>
            <a:spLocks noChangeArrowheads="1"/>
          </p:cNvSpPr>
          <p:nvPr/>
        </p:nvSpPr>
        <p:spPr bwMode="auto">
          <a:xfrm>
            <a:off x="1524001" y="30522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79" name="Rectangle 15">
            <a:extLst>
              <a:ext uri="{FF2B5EF4-FFF2-40B4-BE49-F238E27FC236}">
                <a16:creationId xmlns:a16="http://schemas.microsoft.com/office/drawing/2014/main" id="{64EA8839-9C65-4AFB-8473-D65FDA4EBB7E}"/>
              </a:ext>
            </a:extLst>
          </p:cNvPr>
          <p:cNvSpPr>
            <a:spLocks noChangeArrowheads="1"/>
          </p:cNvSpPr>
          <p:nvPr/>
        </p:nvSpPr>
        <p:spPr bwMode="auto">
          <a:xfrm>
            <a:off x="1524001" y="308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804880" name="Text Box 16">
            <a:extLst>
              <a:ext uri="{FF2B5EF4-FFF2-40B4-BE49-F238E27FC236}">
                <a16:creationId xmlns:a16="http://schemas.microsoft.com/office/drawing/2014/main" id="{A4AB513A-C9B5-45A3-8F7E-96E0F499A445}"/>
              </a:ext>
            </a:extLst>
          </p:cNvPr>
          <p:cNvSpPr txBox="1">
            <a:spLocks noChangeArrowheads="1"/>
          </p:cNvSpPr>
          <p:nvPr/>
        </p:nvSpPr>
        <p:spPr bwMode="auto">
          <a:xfrm>
            <a:off x="1524001" y="1170172"/>
            <a:ext cx="800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CC0000"/>
              </a:buClr>
            </a:pPr>
            <a:r>
              <a:rPr lang="en-US" altLang="en-US" sz="1900" b="1" u="sng" dirty="0">
                <a:solidFill>
                  <a:srgbClr val="CC0000"/>
                </a:solidFill>
                <a:effectLst>
                  <a:outerShdw blurRad="38100" dist="38100" dir="2700000" algn="tl">
                    <a:srgbClr val="C0C0C0"/>
                  </a:outerShdw>
                </a:effectLst>
              </a:rPr>
              <a:t>Example – continued:</a:t>
            </a:r>
          </a:p>
        </p:txBody>
      </p:sp>
      <p:sp>
        <p:nvSpPr>
          <p:cNvPr id="804881" name="Text Box 17">
            <a:extLst>
              <a:ext uri="{FF2B5EF4-FFF2-40B4-BE49-F238E27FC236}">
                <a16:creationId xmlns:a16="http://schemas.microsoft.com/office/drawing/2014/main" id="{46AC2C4B-35CB-4B16-8D3C-73430CF6031E}"/>
              </a:ext>
            </a:extLst>
          </p:cNvPr>
          <p:cNvSpPr txBox="1">
            <a:spLocks noChangeArrowheads="1"/>
          </p:cNvSpPr>
          <p:nvPr/>
        </p:nvSpPr>
        <p:spPr bwMode="auto">
          <a:xfrm>
            <a:off x="1397001" y="1537678"/>
            <a:ext cx="10193866"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Combining terms and rearranging allows us to solve for the only unknown in this equation, which is </a:t>
            </a:r>
            <a:r>
              <a:rPr lang="en-US" altLang="en-US" sz="1900" b="1" dirty="0">
                <a:effectLst>
                  <a:outerShdw blurRad="38100" dist="38100" dir="2700000" algn="tl">
                    <a:srgbClr val="C0C0C0"/>
                  </a:outerShdw>
                </a:effectLst>
                <a:latin typeface="Symbol" panose="05050102010706020507" pitchFamily="18" charset="2"/>
              </a:rPr>
              <a:t>q</a:t>
            </a:r>
            <a:r>
              <a:rPr lang="en-US" altLang="en-US" sz="1900" b="1" baseline="-25000" dirty="0">
                <a:effectLst>
                  <a:outerShdw blurRad="38100" dist="38100" dir="2700000" algn="tl">
                    <a:srgbClr val="C0C0C0"/>
                  </a:outerShdw>
                </a:effectLst>
              </a:rPr>
              <a:t>i</a:t>
            </a:r>
            <a:r>
              <a:rPr lang="en-US" altLang="en-US" sz="1900" b="1" baseline="30000" dirty="0">
                <a:effectLst>
                  <a:outerShdw blurRad="38100" dist="38100" dir="2700000" algn="tl">
                    <a:srgbClr val="C0C0C0"/>
                  </a:outerShdw>
                </a:effectLst>
              </a:rPr>
              <a:t>j</a:t>
            </a:r>
            <a:r>
              <a:rPr lang="en-US" altLang="en-US" sz="1900" b="1" dirty="0">
                <a:effectLst>
                  <a:outerShdw blurRad="38100" dist="38100" dir="2700000" algn="tl">
                    <a:srgbClr val="C0C0C0"/>
                  </a:outerShdw>
                </a:effectLst>
              </a:rPr>
              <a:t>+1, the water content for the </a:t>
            </a:r>
            <a:r>
              <a:rPr lang="en-US" altLang="en-US" sz="1900" b="1" dirty="0" err="1">
                <a:effectLst>
                  <a:outerShdw blurRad="38100" dist="38100" dir="2700000" algn="tl">
                    <a:srgbClr val="C0C0C0"/>
                  </a:outerShdw>
                </a:effectLst>
              </a:rPr>
              <a:t>i-th</a:t>
            </a:r>
            <a:r>
              <a:rPr lang="en-US" altLang="en-US" sz="1900" b="1" dirty="0">
                <a:effectLst>
                  <a:outerShdw blurRad="38100" dist="38100" dir="2700000" algn="tl">
                    <a:srgbClr val="C0C0C0"/>
                  </a:outerShdw>
                </a:effectLst>
              </a:rPr>
              <a:t> depth increment at the next (future) time step:</a:t>
            </a:r>
          </a:p>
        </p:txBody>
      </p:sp>
      <p:graphicFrame>
        <p:nvGraphicFramePr>
          <p:cNvPr id="804882" name="Object 18">
            <a:extLst>
              <a:ext uri="{FF2B5EF4-FFF2-40B4-BE49-F238E27FC236}">
                <a16:creationId xmlns:a16="http://schemas.microsoft.com/office/drawing/2014/main" id="{2BCB3A86-D29B-42D6-81A9-39F08781D0A7}"/>
              </a:ext>
            </a:extLst>
          </p:cNvPr>
          <p:cNvGraphicFramePr>
            <a:graphicFrameLocks noGrp="1" noChangeAspect="1"/>
          </p:cNvGraphicFramePr>
          <p:nvPr>
            <p:ph idx="1"/>
            <p:extLst>
              <p:ext uri="{D42A27DB-BD31-4B8C-83A1-F6EECF244321}">
                <p14:modId xmlns:p14="http://schemas.microsoft.com/office/powerpoint/2010/main" val="1771754860"/>
              </p:ext>
            </p:extLst>
          </p:nvPr>
        </p:nvGraphicFramePr>
        <p:xfrm>
          <a:off x="2171700" y="2831306"/>
          <a:ext cx="7848600" cy="839787"/>
        </p:xfrm>
        <a:graphic>
          <a:graphicData uri="http://schemas.openxmlformats.org/presentationml/2006/ole">
            <mc:AlternateContent xmlns:mc="http://schemas.openxmlformats.org/markup-compatibility/2006">
              <mc:Choice xmlns:v="urn:schemas-microsoft-com:vml" Requires="v">
                <p:oleObj spid="_x0000_s22537" name="Equation" r:id="rId4" imgW="4152900" imgH="444500" progId="Equation.3">
                  <p:embed/>
                </p:oleObj>
              </mc:Choice>
              <mc:Fallback>
                <p:oleObj name="Equation" r:id="rId4" imgW="4152900" imgH="444500" progId="Equation.3">
                  <p:embed/>
                  <p:pic>
                    <p:nvPicPr>
                      <p:cNvPr id="804882" name="Object 18">
                        <a:extLst>
                          <a:ext uri="{FF2B5EF4-FFF2-40B4-BE49-F238E27FC236}">
                            <a16:creationId xmlns:a16="http://schemas.microsoft.com/office/drawing/2014/main" id="{2BCB3A86-D29B-42D6-81A9-39F08781D0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1700" y="2831306"/>
                        <a:ext cx="7848600" cy="839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4883" name="Text Box 19">
            <a:extLst>
              <a:ext uri="{FF2B5EF4-FFF2-40B4-BE49-F238E27FC236}">
                <a16:creationId xmlns:a16="http://schemas.microsoft.com/office/drawing/2014/main" id="{3F57F7D0-AACD-41DB-A581-BCE334253D16}"/>
              </a:ext>
            </a:extLst>
          </p:cNvPr>
          <p:cNvSpPr txBox="1">
            <a:spLocks noChangeArrowheads="1"/>
          </p:cNvSpPr>
          <p:nvPr/>
        </p:nvSpPr>
        <p:spPr bwMode="auto">
          <a:xfrm>
            <a:off x="1583268" y="4204759"/>
            <a:ext cx="8915399"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CC3300"/>
                  </a:outerShdw>
                </a:effectLst>
              </a14:hiddenEffects>
            </a:ext>
          </a:extLst>
        </p:spPr>
        <p:txBody>
          <a:bodyPr wrap="square">
            <a:spAutoFit/>
          </a:bodyPr>
          <a:lstStyle>
            <a:lvl1pPr>
              <a:defRPr>
                <a:solidFill>
                  <a:schemeClr val="tx1"/>
                </a:solidFill>
                <a:latin typeface="Arial" panose="020B0604020202020204" pitchFamily="34" charset="0"/>
              </a:defRPr>
            </a:lvl1pPr>
            <a:lvl2pPr marL="1016000" indent="-495300">
              <a:defRPr>
                <a:solidFill>
                  <a:schemeClr val="tx1"/>
                </a:solidFill>
                <a:latin typeface="Arial" panose="020B0604020202020204" pitchFamily="34" charset="0"/>
              </a:defRPr>
            </a:lvl2pPr>
            <a:lvl3pPr marL="1625600" indent="-495300">
              <a:defRPr>
                <a:solidFill>
                  <a:schemeClr val="tx1"/>
                </a:solidFill>
                <a:latin typeface="Arial" panose="020B0604020202020204" pitchFamily="34" charset="0"/>
              </a:defRPr>
            </a:lvl3pPr>
            <a:lvl4pPr marL="2235200" indent="-495300">
              <a:defRPr>
                <a:solidFill>
                  <a:schemeClr val="tx1"/>
                </a:solidFill>
                <a:latin typeface="Arial" panose="020B0604020202020204" pitchFamily="34" charset="0"/>
              </a:defRPr>
            </a:lvl4pPr>
            <a:lvl5pPr marL="2844800" indent="-495300">
              <a:defRPr>
                <a:solidFill>
                  <a:schemeClr val="tx1"/>
                </a:solidFill>
                <a:latin typeface="Arial" panose="020B0604020202020204" pitchFamily="34" charset="0"/>
              </a:defRPr>
            </a:lvl5pPr>
            <a:lvl6pPr marL="3302000" indent="-495300" fontAlgn="base">
              <a:spcBef>
                <a:spcPct val="0"/>
              </a:spcBef>
              <a:spcAft>
                <a:spcPct val="0"/>
              </a:spcAft>
              <a:defRPr>
                <a:solidFill>
                  <a:schemeClr val="tx1"/>
                </a:solidFill>
                <a:latin typeface="Arial" panose="020B0604020202020204" pitchFamily="34" charset="0"/>
              </a:defRPr>
            </a:lvl6pPr>
            <a:lvl7pPr marL="3759200" indent="-495300" fontAlgn="base">
              <a:spcBef>
                <a:spcPct val="0"/>
              </a:spcBef>
              <a:spcAft>
                <a:spcPct val="0"/>
              </a:spcAft>
              <a:defRPr>
                <a:solidFill>
                  <a:schemeClr val="tx1"/>
                </a:solidFill>
                <a:latin typeface="Arial" panose="020B0604020202020204" pitchFamily="34" charset="0"/>
              </a:defRPr>
            </a:lvl7pPr>
            <a:lvl8pPr marL="4216400" indent="-495300" fontAlgn="base">
              <a:spcBef>
                <a:spcPct val="0"/>
              </a:spcBef>
              <a:spcAft>
                <a:spcPct val="0"/>
              </a:spcAft>
              <a:defRPr>
                <a:solidFill>
                  <a:schemeClr val="tx1"/>
                </a:solidFill>
                <a:latin typeface="Arial" panose="020B0604020202020204" pitchFamily="34" charset="0"/>
              </a:defRPr>
            </a:lvl8pPr>
            <a:lvl9pPr marL="4673600" indent="-495300"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
                <a:srgbClr val="FF0066"/>
              </a:buClr>
            </a:pPr>
            <a:r>
              <a:rPr lang="en-US" altLang="en-US" sz="1900" b="1" dirty="0">
                <a:effectLst>
                  <a:outerShdw blurRad="38100" dist="38100" dir="2700000" algn="tl">
                    <a:srgbClr val="C0C0C0"/>
                  </a:outerShdw>
                </a:effectLst>
              </a:rPr>
              <a:t>Because this is a discrete approximation of a continuous process, increments </a:t>
            </a:r>
            <a:r>
              <a:rPr lang="en-US" altLang="en-US" sz="1900" b="1" dirty="0" err="1">
                <a:effectLst>
                  <a:outerShdw blurRad="38100" dist="38100" dir="2700000" algn="tl">
                    <a:srgbClr val="C0C0C0"/>
                  </a:outerShdw>
                </a:effectLst>
                <a:latin typeface="Symbol" panose="05050102010706020507" pitchFamily="18" charset="2"/>
              </a:rPr>
              <a:t>D</a:t>
            </a:r>
            <a:r>
              <a:rPr lang="en-US" altLang="en-US" sz="1900" b="1" dirty="0" err="1">
                <a:effectLst>
                  <a:outerShdw blurRad="38100" dist="38100" dir="2700000" algn="tl">
                    <a:srgbClr val="C0C0C0"/>
                  </a:outerShdw>
                </a:effectLst>
              </a:rPr>
              <a:t>z</a:t>
            </a:r>
            <a:r>
              <a:rPr lang="en-US" altLang="en-US" sz="1900" b="1" dirty="0">
                <a:effectLst>
                  <a:outerShdw blurRad="38100" dist="38100" dir="2700000" algn="tl">
                    <a:srgbClr val="C0C0C0"/>
                  </a:outerShdw>
                </a:effectLst>
              </a:rPr>
              <a:t> and </a:t>
            </a:r>
            <a:r>
              <a:rPr lang="en-US" altLang="en-US" sz="1900" b="1" dirty="0">
                <a:effectLst>
                  <a:outerShdw blurRad="38100" dist="38100" dir="2700000" algn="tl">
                    <a:srgbClr val="C0C0C0"/>
                  </a:outerShdw>
                </a:effectLst>
                <a:latin typeface="Symbol" panose="05050102010706020507" pitchFamily="18" charset="2"/>
              </a:rPr>
              <a:t>D</a:t>
            </a:r>
            <a:r>
              <a:rPr lang="en-US" altLang="en-US" sz="1900" b="1" dirty="0">
                <a:effectLst>
                  <a:outerShdw blurRad="38100" dist="38100" dir="2700000" algn="tl">
                    <a:srgbClr val="C0C0C0"/>
                  </a:outerShdw>
                </a:effectLst>
              </a:rPr>
              <a:t>t should be kept small. In addition, initial soil water contents with respect to depth and the conditions at the boundaries of the flow domain need to be specified.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662E336-0B8C-4C1F-AC87-3F43B93E9224}"/>
              </a:ext>
            </a:extLst>
          </p:cNvPr>
          <p:cNvSpPr txBox="1"/>
          <p:nvPr/>
        </p:nvSpPr>
        <p:spPr>
          <a:xfrm>
            <a:off x="4927601" y="3098800"/>
            <a:ext cx="1921933" cy="584775"/>
          </a:xfrm>
          <a:prstGeom prst="rect">
            <a:avLst/>
          </a:prstGeom>
          <a:noFill/>
        </p:spPr>
        <p:txBody>
          <a:bodyPr wrap="square" rtlCol="0">
            <a:spAutoFit/>
          </a:bodyPr>
          <a:lstStyle/>
          <a:p>
            <a:r>
              <a:rPr lang="fr-CA" sz="3200" dirty="0"/>
              <a:t>HYDRUS</a:t>
            </a:r>
            <a:endParaRPr lang="en-US" dirty="0"/>
          </a:p>
        </p:txBody>
      </p:sp>
    </p:spTree>
    <p:extLst>
      <p:ext uri="{BB962C8B-B14F-4D97-AF65-F5344CB8AC3E}">
        <p14:creationId xmlns:p14="http://schemas.microsoft.com/office/powerpoint/2010/main" val="4285533459"/>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_fixed.potx" id="{9A9BE078-57A7-48B2-9D33-8EFC365D262A}" vid="{66905093-CF97-471D-A25F-2AFDA55216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{7557D8E0-19A5-45BD-AB43-B4FF5D63F0EB}tf10001108_win32</Template>
  <TotalTime>191</TotalTime>
  <Words>1908</Words>
  <Application>Microsoft Office PowerPoint</Application>
  <PresentationFormat>Widescreen</PresentationFormat>
  <Paragraphs>147</Paragraphs>
  <Slides>32</Slides>
  <Notes>25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0" baseType="lpstr">
      <vt:lpstr>Arial</vt:lpstr>
      <vt:lpstr>Calibri</vt:lpstr>
      <vt:lpstr>Segoe UI</vt:lpstr>
      <vt:lpstr>Segoe UI Light</vt:lpstr>
      <vt:lpstr>Symbol</vt:lpstr>
      <vt:lpstr>VAGRounded BT</vt:lpstr>
      <vt:lpstr>WelcomeDoc</vt:lpstr>
      <vt:lpstr>Equation</vt:lpstr>
      <vt:lpstr>Flow in unsaturated porous media</vt:lpstr>
      <vt:lpstr>Steady flow </vt:lpstr>
      <vt:lpstr>Unsaturated hydraulic conductivity </vt:lpstr>
      <vt:lpstr>Unsaturated hydraulic conductivity </vt:lpstr>
      <vt:lpstr>Unsaturated hydraulic conductivity </vt:lpstr>
      <vt:lpstr>PowerPoint Presentation</vt:lpstr>
      <vt:lpstr>Steady State Unsaturated Flow</vt:lpstr>
      <vt:lpstr>Steady State Unsaturated Flow</vt:lpstr>
      <vt:lpstr>Steady State Unsaturated Flow</vt:lpstr>
      <vt:lpstr>Steady State Unsaturated Flow</vt:lpstr>
      <vt:lpstr>Steady State Unsaturated Flow - Example</vt:lpstr>
      <vt:lpstr>Steady State Unsaturated Flow - Example</vt:lpstr>
      <vt:lpstr>Steady State Unsaturated Flow - Example</vt:lpstr>
      <vt:lpstr>Steady State Unsaturated Flow - Example</vt:lpstr>
      <vt:lpstr>Unsteady and Unsaturated Flow –The Richards Equation</vt:lpstr>
      <vt:lpstr>Unsaturated Nonsteady Flow</vt:lpstr>
      <vt:lpstr>The Richards Equation</vt:lpstr>
      <vt:lpstr>Unsaturated Nonsteady Flow – Richards Equation</vt:lpstr>
      <vt:lpstr>Unsaturated &amp; Unsteady Horizontal Flow</vt:lpstr>
      <vt:lpstr>Unsaturated Nonsteady Horizontal Flow</vt:lpstr>
      <vt:lpstr>Unsaturated Nonsteady Horizontal Flow</vt:lpstr>
      <vt:lpstr>Unsaturated Nonsteady Horizontal Flow</vt:lpstr>
      <vt:lpstr>Unsaturated Nonsteady Horizontal Flow</vt:lpstr>
      <vt:lpstr>Boltzmann transformation for horizontal flow</vt:lpstr>
      <vt:lpstr>ODE for Unsaturated Nonsteady Horizontal Flow</vt:lpstr>
      <vt:lpstr>Diffusivity Form of the Richards Equation</vt:lpstr>
      <vt:lpstr>Diffusivity Form of the Richards Equation</vt:lpstr>
      <vt:lpstr>Numerical Solutions of Richards Equation </vt:lpstr>
      <vt:lpstr>Numerical Solutions of Richards Equation </vt:lpstr>
      <vt:lpstr>Numerical Solutions of Richards Equation </vt:lpstr>
      <vt:lpstr>Numerical Solutions of Richards Equation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 in unsaturated porous media</dc:title>
  <dc:creator>Silvio José Gumiere</dc:creator>
  <cp:keywords/>
  <cp:lastModifiedBy>Silvio José Gumiere</cp:lastModifiedBy>
  <cp:revision>10</cp:revision>
  <dcterms:created xsi:type="dcterms:W3CDTF">2021-11-27T09:56:39Z</dcterms:created>
  <dcterms:modified xsi:type="dcterms:W3CDTF">2021-12-09T08:37:46Z</dcterms:modified>
  <cp:version/>
</cp:coreProperties>
</file>