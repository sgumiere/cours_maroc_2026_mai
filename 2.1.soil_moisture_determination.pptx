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0" r:id="rId1"/>
  </p:sldMasterIdLst>
  <p:handoutMasterIdLst>
    <p:handoutMasterId r:id="rId42"/>
  </p:handoutMasterIdLst>
  <p:sldIdLst>
    <p:sldId id="382" r:id="rId2"/>
    <p:sldId id="383" r:id="rId3"/>
    <p:sldId id="384" r:id="rId4"/>
    <p:sldId id="439" r:id="rId5"/>
    <p:sldId id="437" r:id="rId6"/>
    <p:sldId id="385" r:id="rId7"/>
    <p:sldId id="441" r:id="rId8"/>
    <p:sldId id="386" r:id="rId9"/>
    <p:sldId id="387" r:id="rId10"/>
    <p:sldId id="440" r:id="rId11"/>
    <p:sldId id="447" r:id="rId12"/>
    <p:sldId id="418" r:id="rId13"/>
    <p:sldId id="419" r:id="rId14"/>
    <p:sldId id="446" r:id="rId15"/>
    <p:sldId id="420" r:id="rId16"/>
    <p:sldId id="436" r:id="rId17"/>
    <p:sldId id="435" r:id="rId18"/>
    <p:sldId id="422" r:id="rId19"/>
    <p:sldId id="423" r:id="rId20"/>
    <p:sldId id="424" r:id="rId21"/>
    <p:sldId id="434" r:id="rId22"/>
    <p:sldId id="427" r:id="rId23"/>
    <p:sldId id="428" r:id="rId24"/>
    <p:sldId id="429" r:id="rId25"/>
    <p:sldId id="430" r:id="rId26"/>
    <p:sldId id="431" r:id="rId27"/>
    <p:sldId id="432" r:id="rId28"/>
    <p:sldId id="433" r:id="rId29"/>
    <p:sldId id="392" r:id="rId30"/>
    <p:sldId id="417" r:id="rId31"/>
    <p:sldId id="389" r:id="rId32"/>
    <p:sldId id="415" r:id="rId33"/>
    <p:sldId id="393" r:id="rId34"/>
    <p:sldId id="445" r:id="rId35"/>
    <p:sldId id="262" r:id="rId36"/>
    <p:sldId id="263" r:id="rId37"/>
    <p:sldId id="284" r:id="rId38"/>
    <p:sldId id="285" r:id="rId39"/>
    <p:sldId id="444" r:id="rId40"/>
    <p:sldId id="443" r:id="rId41"/>
  </p:sldIdLst>
  <p:sldSz cx="9144000" cy="6858000" type="screen4x3"/>
  <p:notesSz cx="7315200" cy="9601200"/>
  <p:embeddedFontLst>
    <p:embeddedFont>
      <p:font typeface="Calibri" panose="020F0502020204030204" pitchFamily="34" charset="0"/>
      <p:regular r:id="rId43"/>
      <p:bold r:id="rId44"/>
      <p:italic r:id="rId45"/>
      <p:boldItalic r:id="rId46"/>
    </p:embeddedFont>
    <p:embeddedFont>
      <p:font typeface="Comic Sans MS" panose="030F0702030302020204" pitchFamily="66" charset="0"/>
      <p:regular r:id="rId47"/>
      <p:bold r:id="rId48"/>
      <p:italic r:id="rId49"/>
      <p:boldItalic r:id="rId50"/>
    </p:embeddedFont>
    <p:embeddedFont>
      <p:font typeface="CommonBullets" panose="020B0604020202020204"/>
      <p:regular r:id="rId51"/>
    </p:embeddedFont>
    <p:embeddedFont>
      <p:font typeface="Verdana" panose="020B0604030504040204" pitchFamily="34" charset="0"/>
      <p:regular r:id="rId52"/>
      <p:bold r:id="rId53"/>
      <p:italic r:id="rId54"/>
      <p:boldItalic r:id="rId55"/>
    </p:embeddedFont>
  </p:embeddedFontLst>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a:srgbClr val="B2B2B2"/>
    <a:srgbClr val="969696"/>
    <a:srgbClr val="808080"/>
    <a:srgbClr val="5F5F5F"/>
    <a:srgbClr val="0000FF"/>
    <a:srgbClr val="FFCC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6" autoAdjust="0"/>
    <p:restoredTop sz="92280" autoAdjust="0"/>
  </p:normalViewPr>
  <p:slideViewPr>
    <p:cSldViewPr>
      <p:cViewPr varScale="1">
        <p:scale>
          <a:sx n="74" d="100"/>
          <a:sy n="74" d="100"/>
        </p:scale>
        <p:origin x="1376" y="5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wmf"/><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emf"/><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1374176-3C79-49D7-904D-E4141C491025}"/>
              </a:ext>
            </a:extLst>
          </p:cNvPr>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51" tIns="47425" rIns="94851" bIns="47425" numCol="1" anchor="t" anchorCtr="0" compatLnSpc="1">
            <a:prstTxWarp prst="textNoShape">
              <a:avLst/>
            </a:prstTxWarp>
          </a:bodyPr>
          <a:lstStyle>
            <a:lvl1pPr defTabSz="947738">
              <a:defRPr sz="1200"/>
            </a:lvl1pPr>
          </a:lstStyle>
          <a:p>
            <a:endParaRPr lang="en-US" altLang="en-US"/>
          </a:p>
        </p:txBody>
      </p:sp>
      <p:sp>
        <p:nvSpPr>
          <p:cNvPr id="139267" name="Rectangle 3">
            <a:extLst>
              <a:ext uri="{FF2B5EF4-FFF2-40B4-BE49-F238E27FC236}">
                <a16:creationId xmlns:a16="http://schemas.microsoft.com/office/drawing/2014/main" id="{6DA35F5A-4C58-479C-B060-E65AD2806B25}"/>
              </a:ext>
            </a:extLst>
          </p:cNvPr>
          <p:cNvSpPr>
            <a:spLocks noGrp="1" noChangeArrowheads="1"/>
          </p:cNvSpPr>
          <p:nvPr>
            <p:ph type="dt" sz="quarter" idx="1"/>
          </p:nvPr>
        </p:nvSpPr>
        <p:spPr bwMode="auto">
          <a:xfrm>
            <a:off x="4143375"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51" tIns="47425" rIns="94851" bIns="47425" numCol="1" anchor="t" anchorCtr="0" compatLnSpc="1">
            <a:prstTxWarp prst="textNoShape">
              <a:avLst/>
            </a:prstTxWarp>
          </a:bodyPr>
          <a:lstStyle>
            <a:lvl1pPr algn="r" defTabSz="947738">
              <a:defRPr sz="1200"/>
            </a:lvl1pPr>
          </a:lstStyle>
          <a:p>
            <a:endParaRPr lang="en-US" altLang="en-US"/>
          </a:p>
        </p:txBody>
      </p:sp>
      <p:sp>
        <p:nvSpPr>
          <p:cNvPr id="139268" name="Rectangle 4">
            <a:extLst>
              <a:ext uri="{FF2B5EF4-FFF2-40B4-BE49-F238E27FC236}">
                <a16:creationId xmlns:a16="http://schemas.microsoft.com/office/drawing/2014/main" id="{9DE8C9A6-A9D1-4355-AB9A-62D38C83C2C8}"/>
              </a:ext>
            </a:extLst>
          </p:cNvPr>
          <p:cNvSpPr>
            <a:spLocks noGrp="1" noChangeArrowheads="1"/>
          </p:cNvSpPr>
          <p:nvPr>
            <p:ph type="ftr" sz="quarter" idx="2"/>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51" tIns="47425" rIns="94851" bIns="47425" numCol="1" anchor="b" anchorCtr="0" compatLnSpc="1">
            <a:prstTxWarp prst="textNoShape">
              <a:avLst/>
            </a:prstTxWarp>
          </a:bodyPr>
          <a:lstStyle>
            <a:lvl1pPr defTabSz="947738">
              <a:defRPr sz="1200"/>
            </a:lvl1pPr>
          </a:lstStyle>
          <a:p>
            <a:endParaRPr lang="en-US" altLang="en-US"/>
          </a:p>
        </p:txBody>
      </p:sp>
      <p:sp>
        <p:nvSpPr>
          <p:cNvPr id="139269" name="Rectangle 5">
            <a:extLst>
              <a:ext uri="{FF2B5EF4-FFF2-40B4-BE49-F238E27FC236}">
                <a16:creationId xmlns:a16="http://schemas.microsoft.com/office/drawing/2014/main" id="{AE8838DC-2B6D-44AC-A5BF-E3BA56569576}"/>
              </a:ext>
            </a:extLst>
          </p:cNvPr>
          <p:cNvSpPr>
            <a:spLocks noGrp="1" noChangeArrowheads="1"/>
          </p:cNvSpPr>
          <p:nvPr>
            <p:ph type="sldNum" sz="quarter" idx="3"/>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51" tIns="47425" rIns="94851" bIns="47425" numCol="1" anchor="b" anchorCtr="0" compatLnSpc="1">
            <a:prstTxWarp prst="textNoShape">
              <a:avLst/>
            </a:prstTxWarp>
          </a:bodyPr>
          <a:lstStyle>
            <a:lvl1pPr algn="r" defTabSz="947738">
              <a:defRPr sz="1200"/>
            </a:lvl1pPr>
          </a:lstStyle>
          <a:p>
            <a:fld id="{67BAB2C9-CCB1-43FC-82AA-2151E0AEFCC8}"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3367" name="Rectangle 7">
            <a:extLst>
              <a:ext uri="{FF2B5EF4-FFF2-40B4-BE49-F238E27FC236}">
                <a16:creationId xmlns:a16="http://schemas.microsoft.com/office/drawing/2014/main" id="{B73E2F98-9504-448A-82F9-7E9D0741424D}"/>
              </a:ext>
            </a:extLst>
          </p:cNvPr>
          <p:cNvSpPr>
            <a:spLocks noGrp="1" noChangeArrowheads="1"/>
          </p:cNvSpPr>
          <p:nvPr>
            <p:ph type="ctrTitle"/>
          </p:nvPr>
        </p:nvSpPr>
        <p:spPr>
          <a:xfrm>
            <a:off x="685800" y="920750"/>
            <a:ext cx="8458200" cy="914400"/>
          </a:xfrm>
        </p:spPr>
        <p:txBody>
          <a:bodyPr/>
          <a:lstStyle>
            <a:lvl1pPr algn="ctr">
              <a:defRPr sz="3600"/>
            </a:lvl1pPr>
          </a:lstStyle>
          <a:p>
            <a:pPr lvl="0"/>
            <a:r>
              <a:rPr lang="en-US" alt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182E9-048D-4EDC-B23A-1AA6667ED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AE7B25-A0AF-4811-B674-22DE7BF0F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5296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1DBA-8383-4D9D-B5FC-ED7D6EAF5D8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1D1B7D-B7D1-4407-B8CD-6A035B0B1DE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109109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FB29-256C-4A1A-96C5-0E5FA8D144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0C1A5-1099-471F-B587-A13A440F1AD4}"/>
              </a:ext>
            </a:extLst>
          </p:cNvPr>
          <p:cNvSpPr>
            <a:spLocks noGrp="1"/>
          </p:cNvSpPr>
          <p:nvPr>
            <p:ph sz="half" idx="1"/>
          </p:nvPr>
        </p:nvSpPr>
        <p:spPr>
          <a:xfrm>
            <a:off x="685800" y="838200"/>
            <a:ext cx="39243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9449A1-C0DA-4E6D-9108-605242AA318B}"/>
              </a:ext>
            </a:extLst>
          </p:cNvPr>
          <p:cNvSpPr>
            <a:spLocks noGrp="1"/>
          </p:cNvSpPr>
          <p:nvPr>
            <p:ph sz="half" idx="2"/>
          </p:nvPr>
        </p:nvSpPr>
        <p:spPr>
          <a:xfrm>
            <a:off x="4762500" y="838200"/>
            <a:ext cx="39243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0129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D86E-0ECC-4954-8C27-EAB6470EFD6B}"/>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83A3C0-59A2-4011-BD5D-A1505FC79FA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3F9C7A-2A50-4AB8-BC8B-5234552CFCF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FFACB6-BF88-4516-9C20-AC2E77ED114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1A1BED-5241-4D82-9F61-D9F24848AD8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760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1C02-7AEE-4AEC-B795-AD70D2E2CEC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7648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205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2001C-9D3A-4DEA-8E6C-15D3280DCA0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4A00DC-EB2A-47E6-BDA0-AF314F09C78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17DC3-E98F-4D94-A510-366A1C8F45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02796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87331-B6B7-4316-8E2C-0C13BF48EB4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96ED5B-3B95-480E-BA85-CF0A352678C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5A58F2-0209-45F5-B53B-93EFE9CA26A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263672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6F45A-AC48-4D0E-AE90-55E2825061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F00D74-040C-4A34-BC6B-1A5D5A9CE3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7191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47913B-67BF-48B6-BA34-F2B7A7388E7E}"/>
              </a:ext>
            </a:extLst>
          </p:cNvPr>
          <p:cNvSpPr>
            <a:spLocks noGrp="1"/>
          </p:cNvSpPr>
          <p:nvPr>
            <p:ph type="title" orient="vert"/>
          </p:nvPr>
        </p:nvSpPr>
        <p:spPr>
          <a:xfrm>
            <a:off x="6686550" y="152400"/>
            <a:ext cx="2000250" cy="64770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8EEB01-557E-4A9E-AFB5-2944DA7F4543}"/>
              </a:ext>
            </a:extLst>
          </p:cNvPr>
          <p:cNvSpPr>
            <a:spLocks noGrp="1"/>
          </p:cNvSpPr>
          <p:nvPr>
            <p:ph type="body" orient="vert" idx="1"/>
          </p:nvPr>
        </p:nvSpPr>
        <p:spPr>
          <a:xfrm>
            <a:off x="685800" y="152400"/>
            <a:ext cx="584835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408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0DD3-7E30-40DE-9F9B-15E6172706C7}"/>
              </a:ext>
            </a:extLst>
          </p:cNvPr>
          <p:cNvSpPr>
            <a:spLocks noGrp="1"/>
          </p:cNvSpPr>
          <p:nvPr>
            <p:ph type="title"/>
          </p:nvPr>
        </p:nvSpPr>
        <p:spPr>
          <a:xfrm>
            <a:off x="914400" y="152400"/>
            <a:ext cx="7772400" cy="579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338810C-949C-4E11-808A-046476E24F2E}"/>
              </a:ext>
            </a:extLst>
          </p:cNvPr>
          <p:cNvSpPr>
            <a:spLocks noGrp="1"/>
          </p:cNvSpPr>
          <p:nvPr>
            <p:ph sz="half" idx="1"/>
          </p:nvPr>
        </p:nvSpPr>
        <p:spPr>
          <a:xfrm>
            <a:off x="685800" y="838200"/>
            <a:ext cx="39243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64A5F2-CDA2-442B-80A5-2B5ECB6F7CF4}"/>
              </a:ext>
            </a:extLst>
          </p:cNvPr>
          <p:cNvSpPr>
            <a:spLocks noGrp="1"/>
          </p:cNvSpPr>
          <p:nvPr>
            <p:ph sz="quarter" idx="2"/>
          </p:nvPr>
        </p:nvSpPr>
        <p:spPr>
          <a:xfrm>
            <a:off x="4762500" y="8382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37E9CF80-4743-4B30-AB13-83CD4BA2BC23}"/>
              </a:ext>
            </a:extLst>
          </p:cNvPr>
          <p:cNvSpPr>
            <a:spLocks noGrp="1"/>
          </p:cNvSpPr>
          <p:nvPr>
            <p:ph sz="quarter" idx="3"/>
          </p:nvPr>
        </p:nvSpPr>
        <p:spPr>
          <a:xfrm>
            <a:off x="4762500" y="38100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7135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B340-0DB3-4244-98F3-EC9F7BC0D601}"/>
              </a:ext>
            </a:extLst>
          </p:cNvPr>
          <p:cNvSpPr>
            <a:spLocks noGrp="1"/>
          </p:cNvSpPr>
          <p:nvPr>
            <p:ph type="title" sz="quarter"/>
          </p:nvPr>
        </p:nvSpPr>
        <p:spPr>
          <a:xfrm>
            <a:off x="914400" y="152400"/>
            <a:ext cx="7772400" cy="579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DB179C8-85CF-486F-AD96-BEE9758FA7AF}"/>
              </a:ext>
            </a:extLst>
          </p:cNvPr>
          <p:cNvSpPr>
            <a:spLocks noGrp="1"/>
          </p:cNvSpPr>
          <p:nvPr>
            <p:ph sz="quarter" idx="1"/>
          </p:nvPr>
        </p:nvSpPr>
        <p:spPr>
          <a:xfrm>
            <a:off x="685800" y="8382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8CC789-F211-4980-892D-5C9FABE19F98}"/>
              </a:ext>
            </a:extLst>
          </p:cNvPr>
          <p:cNvSpPr>
            <a:spLocks noGrp="1"/>
          </p:cNvSpPr>
          <p:nvPr>
            <p:ph sz="quarter" idx="2"/>
          </p:nvPr>
        </p:nvSpPr>
        <p:spPr>
          <a:xfrm>
            <a:off x="4762500" y="8382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C6EFC4B8-947E-4EDB-95A1-4206E219E850}"/>
              </a:ext>
            </a:extLst>
          </p:cNvPr>
          <p:cNvSpPr>
            <a:spLocks noGrp="1"/>
          </p:cNvSpPr>
          <p:nvPr>
            <p:ph sz="quarter" idx="3"/>
          </p:nvPr>
        </p:nvSpPr>
        <p:spPr>
          <a:xfrm>
            <a:off x="685800" y="38100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E680A3FC-2760-46CD-AE43-29A4B490CE85}"/>
              </a:ext>
            </a:extLst>
          </p:cNvPr>
          <p:cNvSpPr>
            <a:spLocks noGrp="1"/>
          </p:cNvSpPr>
          <p:nvPr>
            <p:ph sz="quarter" idx="4"/>
          </p:nvPr>
        </p:nvSpPr>
        <p:spPr>
          <a:xfrm>
            <a:off x="4762500" y="3810000"/>
            <a:ext cx="3924300" cy="281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2225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2340" name="Rectangle 4">
            <a:extLst>
              <a:ext uri="{FF2B5EF4-FFF2-40B4-BE49-F238E27FC236}">
                <a16:creationId xmlns:a16="http://schemas.microsoft.com/office/drawing/2014/main" id="{DA38C79A-C36E-4BDC-B5B4-7DC19E8D749A}"/>
              </a:ext>
            </a:extLst>
          </p:cNvPr>
          <p:cNvSpPr>
            <a:spLocks noGrp="1" noChangeArrowheads="1"/>
          </p:cNvSpPr>
          <p:nvPr>
            <p:ph type="body" idx="1"/>
          </p:nvPr>
        </p:nvSpPr>
        <p:spPr bwMode="auto">
          <a:xfrm>
            <a:off x="685800" y="838200"/>
            <a:ext cx="80010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text styles to edit Master</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2341" name="Rectangle 5">
            <a:extLst>
              <a:ext uri="{FF2B5EF4-FFF2-40B4-BE49-F238E27FC236}">
                <a16:creationId xmlns:a16="http://schemas.microsoft.com/office/drawing/2014/main" id="{8A881BF8-F817-418F-A258-7351928BA49B}"/>
              </a:ext>
            </a:extLst>
          </p:cNvPr>
          <p:cNvSpPr>
            <a:spLocks noChangeArrowheads="1"/>
          </p:cNvSpPr>
          <p:nvPr/>
        </p:nvSpPr>
        <p:spPr bwMode="auto">
          <a:xfrm>
            <a:off x="762000" y="735013"/>
            <a:ext cx="7924800" cy="26987"/>
          </a:xfrm>
          <a:prstGeom prst="rect">
            <a:avLst/>
          </a:prstGeom>
          <a:gradFill rotWithShape="1">
            <a:gsLst>
              <a:gs pos="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2343" name="Rectangle 7">
            <a:extLst>
              <a:ext uri="{FF2B5EF4-FFF2-40B4-BE49-F238E27FC236}">
                <a16:creationId xmlns:a16="http://schemas.microsoft.com/office/drawing/2014/main" id="{CBB6D766-82E3-492C-B4A5-1DE149F208FF}"/>
              </a:ext>
            </a:extLst>
          </p:cNvPr>
          <p:cNvSpPr>
            <a:spLocks noGrp="1" noChangeArrowheads="1"/>
          </p:cNvSpPr>
          <p:nvPr>
            <p:ph type="title"/>
          </p:nvPr>
        </p:nvSpPr>
        <p:spPr bwMode="auto">
          <a:xfrm>
            <a:off x="914400" y="152400"/>
            <a:ext cx="7772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l" rtl="0" fontAlgn="base">
        <a:spcBef>
          <a:spcPct val="0"/>
        </a:spcBef>
        <a:spcAft>
          <a:spcPct val="0"/>
        </a:spcAft>
        <a:defRPr sz="3200" b="1" kern="1200">
          <a:solidFill>
            <a:srgbClr val="336633"/>
          </a:solidFill>
          <a:latin typeface="+mj-lt"/>
          <a:ea typeface="+mj-ea"/>
          <a:cs typeface="+mj-cs"/>
        </a:defRPr>
      </a:lvl1pPr>
      <a:lvl2pPr algn="l" rtl="0" fontAlgn="base">
        <a:spcBef>
          <a:spcPct val="0"/>
        </a:spcBef>
        <a:spcAft>
          <a:spcPct val="0"/>
        </a:spcAft>
        <a:defRPr sz="3200" b="1">
          <a:solidFill>
            <a:srgbClr val="336633"/>
          </a:solidFill>
          <a:latin typeface="Arial" panose="020B0604020202020204" pitchFamily="34" charset="0"/>
        </a:defRPr>
      </a:lvl2pPr>
      <a:lvl3pPr algn="l" rtl="0" fontAlgn="base">
        <a:spcBef>
          <a:spcPct val="0"/>
        </a:spcBef>
        <a:spcAft>
          <a:spcPct val="0"/>
        </a:spcAft>
        <a:defRPr sz="3200" b="1">
          <a:solidFill>
            <a:srgbClr val="336633"/>
          </a:solidFill>
          <a:latin typeface="Arial" panose="020B0604020202020204" pitchFamily="34" charset="0"/>
        </a:defRPr>
      </a:lvl3pPr>
      <a:lvl4pPr algn="l" rtl="0" fontAlgn="base">
        <a:spcBef>
          <a:spcPct val="0"/>
        </a:spcBef>
        <a:spcAft>
          <a:spcPct val="0"/>
        </a:spcAft>
        <a:defRPr sz="3200" b="1">
          <a:solidFill>
            <a:srgbClr val="336633"/>
          </a:solidFill>
          <a:latin typeface="Arial" panose="020B0604020202020204" pitchFamily="34" charset="0"/>
        </a:defRPr>
      </a:lvl4pPr>
      <a:lvl5pPr algn="l" rtl="0" fontAlgn="base">
        <a:spcBef>
          <a:spcPct val="0"/>
        </a:spcBef>
        <a:spcAft>
          <a:spcPct val="0"/>
        </a:spcAft>
        <a:defRPr sz="3200" b="1">
          <a:solidFill>
            <a:srgbClr val="336633"/>
          </a:solidFill>
          <a:latin typeface="Arial" panose="020B0604020202020204" pitchFamily="34" charset="0"/>
        </a:defRPr>
      </a:lvl5pPr>
      <a:lvl6pPr marL="457200" algn="l" rtl="0" fontAlgn="base">
        <a:spcBef>
          <a:spcPct val="0"/>
        </a:spcBef>
        <a:spcAft>
          <a:spcPct val="0"/>
        </a:spcAft>
        <a:defRPr sz="3200" b="1">
          <a:solidFill>
            <a:srgbClr val="336633"/>
          </a:solidFill>
          <a:latin typeface="Arial" panose="020B0604020202020204" pitchFamily="34" charset="0"/>
        </a:defRPr>
      </a:lvl6pPr>
      <a:lvl7pPr marL="914400" algn="l" rtl="0" fontAlgn="base">
        <a:spcBef>
          <a:spcPct val="0"/>
        </a:spcBef>
        <a:spcAft>
          <a:spcPct val="0"/>
        </a:spcAft>
        <a:defRPr sz="3200" b="1">
          <a:solidFill>
            <a:srgbClr val="336633"/>
          </a:solidFill>
          <a:latin typeface="Arial" panose="020B0604020202020204" pitchFamily="34" charset="0"/>
        </a:defRPr>
      </a:lvl7pPr>
      <a:lvl8pPr marL="1371600" algn="l" rtl="0" fontAlgn="base">
        <a:spcBef>
          <a:spcPct val="0"/>
        </a:spcBef>
        <a:spcAft>
          <a:spcPct val="0"/>
        </a:spcAft>
        <a:defRPr sz="3200" b="1">
          <a:solidFill>
            <a:srgbClr val="336633"/>
          </a:solidFill>
          <a:latin typeface="Arial" panose="020B0604020202020204" pitchFamily="34" charset="0"/>
        </a:defRPr>
      </a:lvl8pPr>
      <a:lvl9pPr marL="1828800" algn="l" rtl="0" fontAlgn="base">
        <a:spcBef>
          <a:spcPct val="0"/>
        </a:spcBef>
        <a:spcAft>
          <a:spcPct val="0"/>
        </a:spcAft>
        <a:defRPr sz="3200" b="1">
          <a:solidFill>
            <a:srgbClr val="336633"/>
          </a:solidFill>
          <a:latin typeface="Arial" panose="020B0604020202020204" pitchFamily="34" charset="0"/>
        </a:defRPr>
      </a:lvl9pPr>
    </p:titleStyle>
    <p:bodyStyle>
      <a:lvl1pPr marL="225425" indent="-225425" algn="l" rtl="0" fontAlgn="base">
        <a:spcBef>
          <a:spcPct val="0"/>
        </a:spcBef>
        <a:spcAft>
          <a:spcPct val="80000"/>
        </a:spcAft>
        <a:buSzPct val="125000"/>
        <a:buChar char="•"/>
        <a:defRPr sz="1600" b="1" kern="1200">
          <a:solidFill>
            <a:schemeClr val="tx1"/>
          </a:solidFill>
          <a:latin typeface="+mn-lt"/>
          <a:ea typeface="+mn-ea"/>
          <a:cs typeface="+mn-cs"/>
        </a:defRPr>
      </a:lvl1pPr>
      <a:lvl2pPr marL="742950" indent="-285750" algn="l" rtl="0" fontAlgn="base">
        <a:spcBef>
          <a:spcPct val="20000"/>
        </a:spcBef>
        <a:spcAft>
          <a:spcPct val="0"/>
        </a:spcAft>
        <a:buFont typeface="Wingdings" panose="05000000000000000000" pitchFamily="2" charset="2"/>
        <a:buChar char="§"/>
        <a:defRPr sz="1600" b="1" kern="1200">
          <a:solidFill>
            <a:schemeClr val="tx1"/>
          </a:solidFill>
          <a:latin typeface="+mn-lt"/>
          <a:ea typeface="+mn-ea"/>
          <a:cs typeface="+mn-cs"/>
        </a:defRPr>
      </a:lvl2pPr>
      <a:lvl3pPr marL="1143000" indent="-228600" algn="l" rtl="0" fontAlgn="base">
        <a:spcBef>
          <a:spcPct val="20000"/>
        </a:spcBef>
        <a:spcAft>
          <a:spcPct val="0"/>
        </a:spcAft>
        <a:buSzPct val="80000"/>
        <a:buChar char="o"/>
        <a:defRPr sz="1600" b="1" kern="1200">
          <a:solidFill>
            <a:schemeClr val="tx1"/>
          </a:solidFill>
          <a:latin typeface="+mn-lt"/>
          <a:ea typeface="+mn-ea"/>
          <a:cs typeface="+mn-cs"/>
        </a:defRPr>
      </a:lvl3pPr>
      <a:lvl4pPr marL="1600200" indent="-228600" algn="l" rtl="0" fontAlgn="base">
        <a:spcBef>
          <a:spcPct val="20000"/>
        </a:spcBef>
        <a:spcAft>
          <a:spcPct val="0"/>
        </a:spcAft>
        <a:buSzPct val="60000"/>
        <a:buFont typeface="Wingdings" panose="05000000000000000000" pitchFamily="2" charset="2"/>
        <a:buChar char="q"/>
        <a:defRPr sz="1600" b="1" kern="1200">
          <a:solidFill>
            <a:schemeClr val="tx1"/>
          </a:solidFill>
          <a:latin typeface="+mn-lt"/>
          <a:ea typeface="+mn-ea"/>
          <a:cs typeface="+mn-cs"/>
        </a:defRPr>
      </a:lvl4pPr>
      <a:lvl5pPr marL="2057400" indent="-228600" algn="l" rtl="0" fontAlgn="base">
        <a:spcBef>
          <a:spcPct val="20000"/>
        </a:spcBef>
        <a:spcAft>
          <a:spcPct val="0"/>
        </a:spcAft>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9.emf"/><Relationship Id="rId4"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image" Target="../media/image23.emf"/><Relationship Id="rId4"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6.emf"/><Relationship Id="rId4"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8.wmf"/><Relationship Id="rId4"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31.wmf"/><Relationship Id="rId5" Type="http://schemas.openxmlformats.org/officeDocument/2006/relationships/oleObject" Target="../embeddings/oleObject14.bin"/><Relationship Id="rId4" Type="http://schemas.openxmlformats.org/officeDocument/2006/relationships/image" Target="../media/image30.wmf"/><Relationship Id="rId9" Type="http://schemas.openxmlformats.org/officeDocument/2006/relationships/image" Target="../media/image33.jpeg"/></Relationships>
</file>

<file path=ppt/slides/_rels/slide25.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35.emf"/><Relationship Id="rId5" Type="http://schemas.openxmlformats.org/officeDocument/2006/relationships/oleObject" Target="../embeddings/oleObject17.bin"/><Relationship Id="rId4" Type="http://schemas.openxmlformats.org/officeDocument/2006/relationships/image" Target="../media/image34.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37.wmf"/></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wm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image" Target="../media/image49.png"/><Relationship Id="rId7" Type="http://schemas.openxmlformats.org/officeDocument/2006/relationships/image" Target="../media/image53.emf"/><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emf"/></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2">
            <a:extLst>
              <a:ext uri="{FF2B5EF4-FFF2-40B4-BE49-F238E27FC236}">
                <a16:creationId xmlns:a16="http://schemas.microsoft.com/office/drawing/2014/main" id="{3EAFAE40-2DEB-4B36-A9D1-2556C0530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76400"/>
            <a:ext cx="1506538" cy="3695700"/>
          </a:xfrm>
          <a:prstGeom prst="rect">
            <a:avLst/>
          </a:prstGeom>
          <a:noFill/>
          <a:extLst>
            <a:ext uri="{909E8E84-426E-40DD-AFC4-6F175D3DCCD1}">
              <a14:hiddenFill xmlns:a14="http://schemas.microsoft.com/office/drawing/2010/main">
                <a:solidFill>
                  <a:srgbClr val="FFFFFF"/>
                </a:solidFill>
              </a14:hiddenFill>
            </a:ext>
          </a:extLst>
        </p:spPr>
      </p:pic>
      <p:sp>
        <p:nvSpPr>
          <p:cNvPr id="308227" name="Rectangle 3">
            <a:extLst>
              <a:ext uri="{FF2B5EF4-FFF2-40B4-BE49-F238E27FC236}">
                <a16:creationId xmlns:a16="http://schemas.microsoft.com/office/drawing/2014/main" id="{E3CCCEDA-7084-4914-9042-EB727A5EFEAB}"/>
              </a:ext>
            </a:extLst>
          </p:cNvPr>
          <p:cNvSpPr>
            <a:spLocks noGrp="1" noChangeArrowheads="1"/>
          </p:cNvSpPr>
          <p:nvPr>
            <p:ph type="ctrTitle"/>
          </p:nvPr>
        </p:nvSpPr>
        <p:spPr>
          <a:xfrm>
            <a:off x="457200" y="457200"/>
            <a:ext cx="8229600" cy="914400"/>
          </a:xfrm>
        </p:spPr>
        <p:txBody>
          <a:bodyPr/>
          <a:lstStyle/>
          <a:p>
            <a:r>
              <a:rPr lang="en-US" altLang="en-US" sz="3200" dirty="0"/>
              <a:t>Characterization of the Soil Liquid Phase </a:t>
            </a:r>
          </a:p>
        </p:txBody>
      </p:sp>
      <p:pic>
        <p:nvPicPr>
          <p:cNvPr id="308228" name="Picture 4">
            <a:extLst>
              <a:ext uri="{FF2B5EF4-FFF2-40B4-BE49-F238E27FC236}">
                <a16:creationId xmlns:a16="http://schemas.microsoft.com/office/drawing/2014/main" id="{287484EB-6E2F-40B4-B6C2-670C30FD0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99" t="3334" r="2499" b="3334"/>
          <a:stretch>
            <a:fillRect/>
          </a:stretch>
        </p:blipFill>
        <p:spPr bwMode="auto">
          <a:xfrm>
            <a:off x="4114800" y="2209800"/>
            <a:ext cx="394652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334EB68B-2182-4E65-84CA-F80CC5D86906}"/>
              </a:ext>
            </a:extLst>
          </p:cNvPr>
          <p:cNvSpPr>
            <a:spLocks noGrp="1" noChangeArrowheads="1"/>
          </p:cNvSpPr>
          <p:nvPr>
            <p:ph type="title"/>
          </p:nvPr>
        </p:nvSpPr>
        <p:spPr>
          <a:xfrm>
            <a:off x="609600" y="182563"/>
            <a:ext cx="7772400" cy="579437"/>
          </a:xfrm>
        </p:spPr>
        <p:txBody>
          <a:bodyPr/>
          <a:lstStyle/>
          <a:p>
            <a:r>
              <a:rPr lang="en-US" altLang="en-US" sz="2800"/>
              <a:t>Characterization of the soil liquid phase</a:t>
            </a:r>
          </a:p>
        </p:txBody>
      </p:sp>
      <p:sp>
        <p:nvSpPr>
          <p:cNvPr id="309251" name="Rectangle 3">
            <a:extLst>
              <a:ext uri="{FF2B5EF4-FFF2-40B4-BE49-F238E27FC236}">
                <a16:creationId xmlns:a16="http://schemas.microsoft.com/office/drawing/2014/main" id="{E4B09EF5-F855-4E91-8128-633D5197B13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2" name="Rectangle 4">
            <a:extLst>
              <a:ext uri="{FF2B5EF4-FFF2-40B4-BE49-F238E27FC236}">
                <a16:creationId xmlns:a16="http://schemas.microsoft.com/office/drawing/2014/main" id="{219E2C86-D7D4-458D-B2E2-AC5C3AC442C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3" name="Rectangle 5">
            <a:extLst>
              <a:ext uri="{FF2B5EF4-FFF2-40B4-BE49-F238E27FC236}">
                <a16:creationId xmlns:a16="http://schemas.microsoft.com/office/drawing/2014/main" id="{D153B243-7AB3-429A-BDD6-264473004CB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4" name="Rectangle 6">
            <a:extLst>
              <a:ext uri="{FF2B5EF4-FFF2-40B4-BE49-F238E27FC236}">
                <a16:creationId xmlns:a16="http://schemas.microsoft.com/office/drawing/2014/main" id="{B5770846-4DB7-4324-BE2D-BF45F7398239}"/>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5" name="Rectangle 7">
            <a:extLst>
              <a:ext uri="{FF2B5EF4-FFF2-40B4-BE49-F238E27FC236}">
                <a16:creationId xmlns:a16="http://schemas.microsoft.com/office/drawing/2014/main" id="{87CD2D39-F364-4758-8DE5-E6B0248583E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6" name="Rectangle 8">
            <a:extLst>
              <a:ext uri="{FF2B5EF4-FFF2-40B4-BE49-F238E27FC236}">
                <a16:creationId xmlns:a16="http://schemas.microsoft.com/office/drawing/2014/main" id="{D296AD45-4B89-4BB9-A5DA-B678C4C5E15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7" name="Rectangle 9">
            <a:extLst>
              <a:ext uri="{FF2B5EF4-FFF2-40B4-BE49-F238E27FC236}">
                <a16:creationId xmlns:a16="http://schemas.microsoft.com/office/drawing/2014/main" id="{18A1352B-2BD2-4322-941B-577AD928462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8" name="Rectangle 10">
            <a:extLst>
              <a:ext uri="{FF2B5EF4-FFF2-40B4-BE49-F238E27FC236}">
                <a16:creationId xmlns:a16="http://schemas.microsoft.com/office/drawing/2014/main" id="{467EA515-EAA1-41DF-B6E4-7B6E8D3D981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59" name="Rectangle 11">
            <a:extLst>
              <a:ext uri="{FF2B5EF4-FFF2-40B4-BE49-F238E27FC236}">
                <a16:creationId xmlns:a16="http://schemas.microsoft.com/office/drawing/2014/main" id="{C45E0BE5-2E89-441C-A18F-582B204B4040}"/>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0" name="Rectangle 12">
            <a:extLst>
              <a:ext uri="{FF2B5EF4-FFF2-40B4-BE49-F238E27FC236}">
                <a16:creationId xmlns:a16="http://schemas.microsoft.com/office/drawing/2014/main" id="{53802E51-B9A8-4861-9F90-11E2882CDAE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1" name="Rectangle 13">
            <a:extLst>
              <a:ext uri="{FF2B5EF4-FFF2-40B4-BE49-F238E27FC236}">
                <a16:creationId xmlns:a16="http://schemas.microsoft.com/office/drawing/2014/main" id="{DC05C729-E108-4280-9750-8F4F1FC405A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2" name="Rectangle 14">
            <a:extLst>
              <a:ext uri="{FF2B5EF4-FFF2-40B4-BE49-F238E27FC236}">
                <a16:creationId xmlns:a16="http://schemas.microsoft.com/office/drawing/2014/main" id="{C283BAE1-B4E4-4BE9-A50A-70A0B3974E5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3" name="Rectangle 15">
            <a:extLst>
              <a:ext uri="{FF2B5EF4-FFF2-40B4-BE49-F238E27FC236}">
                <a16:creationId xmlns:a16="http://schemas.microsoft.com/office/drawing/2014/main" id="{7E0D42D9-F7B5-43BB-825D-2C4EF6971AE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4" name="Rectangle 16">
            <a:extLst>
              <a:ext uri="{FF2B5EF4-FFF2-40B4-BE49-F238E27FC236}">
                <a16:creationId xmlns:a16="http://schemas.microsoft.com/office/drawing/2014/main" id="{3C91E896-9276-428C-8722-370CC8C34A43}"/>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5" name="Rectangle 17">
            <a:extLst>
              <a:ext uri="{FF2B5EF4-FFF2-40B4-BE49-F238E27FC236}">
                <a16:creationId xmlns:a16="http://schemas.microsoft.com/office/drawing/2014/main" id="{941278A6-2FE9-42AA-B169-C3BFE094F3FF}"/>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6" name="Rectangle 18">
            <a:extLst>
              <a:ext uri="{FF2B5EF4-FFF2-40B4-BE49-F238E27FC236}">
                <a16:creationId xmlns:a16="http://schemas.microsoft.com/office/drawing/2014/main" id="{B45BF74A-7A29-4D3E-BF89-EF9F0F551A65}"/>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7" name="Rectangle 19">
            <a:extLst>
              <a:ext uri="{FF2B5EF4-FFF2-40B4-BE49-F238E27FC236}">
                <a16:creationId xmlns:a16="http://schemas.microsoft.com/office/drawing/2014/main" id="{E352A943-B290-48CE-AEAD-61B4EBC068EF}"/>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68" name="Rectangle 20">
            <a:extLst>
              <a:ext uri="{FF2B5EF4-FFF2-40B4-BE49-F238E27FC236}">
                <a16:creationId xmlns:a16="http://schemas.microsoft.com/office/drawing/2014/main" id="{0C97D1A3-6DF4-435A-892E-7F5B57CFD610}"/>
              </a:ext>
            </a:extLst>
          </p:cNvPr>
          <p:cNvSpPr>
            <a:spLocks noChangeArrowheads="1"/>
          </p:cNvSpPr>
          <p:nvPr/>
        </p:nvSpPr>
        <p:spPr bwMode="auto">
          <a:xfrm>
            <a:off x="457200" y="990600"/>
            <a:ext cx="8458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4163" indent="-284163">
              <a:defRPr>
                <a:solidFill>
                  <a:schemeClr val="tx1"/>
                </a:solidFill>
                <a:latin typeface="Arial" panose="020B0604020202020204" pitchFamily="34" charset="0"/>
              </a:defRPr>
            </a:lvl1pPr>
            <a:lvl2pPr marL="803275" indent="-282575">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Char char="!"/>
            </a:pPr>
            <a:r>
              <a:rPr lang="en-US" altLang="en-US" sz="2400">
                <a:latin typeface="Comic Sans MS" panose="030F0702030302020204" pitchFamily="66" charset="0"/>
                <a:cs typeface="Times New Roman" panose="02020603050405020304" pitchFamily="18" charset="0"/>
              </a:rPr>
              <a:t>The two most important attributes of the soil liquid phase are:</a:t>
            </a:r>
          </a:p>
          <a:p>
            <a:pPr lvl="1">
              <a:spcBef>
                <a:spcPct val="20000"/>
              </a:spcBef>
              <a:spcAft>
                <a:spcPct val="20000"/>
              </a:spcAft>
              <a:buClr>
                <a:srgbClr val="FF3300"/>
              </a:buClr>
              <a:buSzPct val="125000"/>
              <a:buFontTx/>
              <a:buChar char="•"/>
            </a:pPr>
            <a:r>
              <a:rPr lang="en-US" altLang="en-US" sz="2400">
                <a:solidFill>
                  <a:srgbClr val="CC0000"/>
                </a:solidFill>
                <a:latin typeface="Comic Sans MS" panose="030F0702030302020204" pitchFamily="66" charset="0"/>
                <a:cs typeface="Times New Roman" panose="02020603050405020304" pitchFamily="18" charset="0"/>
              </a:rPr>
              <a:t>The amount of water in a soil (soil water content)</a:t>
            </a:r>
          </a:p>
          <a:p>
            <a:pPr lvl="1">
              <a:spcBef>
                <a:spcPct val="20000"/>
              </a:spcBef>
              <a:spcAft>
                <a:spcPct val="20000"/>
              </a:spcAft>
              <a:buClr>
                <a:srgbClr val="FF3300"/>
              </a:buClr>
              <a:buSzPct val="125000"/>
              <a:buFontTx/>
              <a:buChar char="•"/>
            </a:pPr>
            <a:r>
              <a:rPr lang="en-US" altLang="en-US" sz="2400">
                <a:solidFill>
                  <a:srgbClr val="CC0000"/>
                </a:solidFill>
                <a:latin typeface="Comic Sans MS" panose="030F0702030302020204" pitchFamily="66" charset="0"/>
                <a:cs typeface="Times New Roman" panose="02020603050405020304" pitchFamily="18" charset="0"/>
              </a:rPr>
              <a:t>The forces by which water is held in a soil matrix (matric potential)</a:t>
            </a:r>
          </a:p>
          <a:p>
            <a:pPr>
              <a:spcBef>
                <a:spcPct val="20000"/>
              </a:spcBef>
              <a:spcAft>
                <a:spcPct val="20000"/>
              </a:spcAft>
              <a:buClr>
                <a:srgbClr val="FF3300"/>
              </a:buClr>
              <a:buFont typeface="CommonBullets" pitchFamily="34" charset="2"/>
              <a:buChar char="!"/>
            </a:pPr>
            <a:r>
              <a:rPr lang="en-US" altLang="en-US" sz="2400">
                <a:latin typeface="Comic Sans MS" panose="030F0702030302020204" pitchFamily="66" charset="0"/>
                <a:cs typeface="Times New Roman" panose="02020603050405020304" pitchFamily="18" charset="0"/>
              </a:rPr>
              <a:t>These two attributes are related through the </a:t>
            </a:r>
            <a:r>
              <a:rPr lang="en-US" altLang="en-US" u="sng">
                <a:latin typeface="Comic Sans MS" panose="030F0702030302020204" pitchFamily="66" charset="0"/>
                <a:cs typeface="Times New Roman" panose="02020603050405020304" pitchFamily="18" charset="0"/>
              </a:rPr>
              <a:t>SOIL WATER CHARACTERISTIC </a:t>
            </a:r>
            <a:r>
              <a:rPr lang="en-US" altLang="en-US" u="sng">
                <a:solidFill>
                  <a:srgbClr val="CC0000"/>
                </a:solidFill>
                <a:latin typeface="Comic Sans MS" panose="030F0702030302020204" pitchFamily="66" charset="0"/>
                <a:cs typeface="Times New Roman" panose="02020603050405020304" pitchFamily="18" charset="0"/>
              </a:rPr>
              <a:t>(SWC</a:t>
            </a:r>
            <a:r>
              <a:rPr lang="en-US" altLang="en-US">
                <a:solidFill>
                  <a:srgbClr val="CC0000"/>
                </a:solidFill>
                <a:latin typeface="Comic Sans MS" panose="030F0702030302020204" pitchFamily="66" charset="0"/>
                <a:cs typeface="Times New Roman" panose="02020603050405020304" pitchFamily="18" charset="0"/>
              </a:rPr>
              <a:t>) </a:t>
            </a:r>
            <a:r>
              <a:rPr lang="en-US" altLang="en-US" sz="2400">
                <a:latin typeface="Comic Sans MS" panose="030F0702030302020204" pitchFamily="66" charset="0"/>
                <a:cs typeface="Times New Roman" panose="02020603050405020304" pitchFamily="18" charset="0"/>
              </a:rPr>
              <a:t>a highly nonlinear function.</a:t>
            </a:r>
          </a:p>
        </p:txBody>
      </p:sp>
      <p:sp>
        <p:nvSpPr>
          <p:cNvPr id="309269" name="Rectangle 21">
            <a:extLst>
              <a:ext uri="{FF2B5EF4-FFF2-40B4-BE49-F238E27FC236}">
                <a16:creationId xmlns:a16="http://schemas.microsoft.com/office/drawing/2014/main" id="{BA2B9403-6329-461D-A014-594CC70A442C}"/>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70" name="Rectangle 22">
            <a:extLst>
              <a:ext uri="{FF2B5EF4-FFF2-40B4-BE49-F238E27FC236}">
                <a16:creationId xmlns:a16="http://schemas.microsoft.com/office/drawing/2014/main" id="{6A5155A8-E9FF-4519-AFE7-509138EF6C0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71" name="Rectangle 23">
            <a:extLst>
              <a:ext uri="{FF2B5EF4-FFF2-40B4-BE49-F238E27FC236}">
                <a16:creationId xmlns:a16="http://schemas.microsoft.com/office/drawing/2014/main" id="{23D514A3-611D-4C90-88F3-1B86479A03E1}"/>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9272" name="Rectangle 24">
            <a:extLst>
              <a:ext uri="{FF2B5EF4-FFF2-40B4-BE49-F238E27FC236}">
                <a16:creationId xmlns:a16="http://schemas.microsoft.com/office/drawing/2014/main" id="{97894EE9-336C-434D-A4C8-A265EB5B3129}"/>
              </a:ext>
            </a:extLst>
          </p:cNvPr>
          <p:cNvSpPr>
            <a:spLocks noChangeArrowheads="1"/>
          </p:cNvSpPr>
          <p:nvPr/>
        </p:nvSpPr>
        <p:spPr bwMode="auto">
          <a:xfrm>
            <a:off x="609600" y="4724400"/>
            <a:ext cx="85344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lnSpc>
                <a:spcPct val="110000"/>
              </a:lnSpc>
              <a:spcBef>
                <a:spcPct val="20000"/>
              </a:spcBef>
              <a:spcAft>
                <a:spcPct val="20000"/>
              </a:spcAft>
              <a:buClr>
                <a:srgbClr val="FF3300"/>
              </a:buClr>
              <a:buFont typeface="CommonBullets" pitchFamily="34" charset="2"/>
              <a:buNone/>
            </a:pPr>
            <a:r>
              <a:rPr lang="en-US" altLang="en-US" b="1">
                <a:cs typeface="Times New Roman" panose="02020603050405020304" pitchFamily="18" charset="0"/>
              </a:rPr>
              <a:t>Changes in soil water content and matric potential effect many soil transport and mechanical properties, such as (1) ability to transfer liquid and gases; (2) mechanical properties such as soil strength, compactibility, penetrability, and bulk density in swelling soils.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FF369B76-A786-43E1-AE34-95FEFE12F3E0}"/>
              </a:ext>
            </a:extLst>
          </p:cNvPr>
          <p:cNvSpPr>
            <a:spLocks noGrp="1" noChangeArrowheads="1"/>
          </p:cNvSpPr>
          <p:nvPr>
            <p:ph type="title"/>
          </p:nvPr>
        </p:nvSpPr>
        <p:spPr>
          <a:xfrm>
            <a:off x="838200" y="152400"/>
            <a:ext cx="7772400" cy="579438"/>
          </a:xfrm>
        </p:spPr>
        <p:txBody>
          <a:bodyPr/>
          <a:lstStyle/>
          <a:p>
            <a:r>
              <a:rPr lang="en-US" altLang="en-US" sz="2800"/>
              <a:t>Soil Water Content – Measurement Methods</a:t>
            </a:r>
          </a:p>
        </p:txBody>
      </p:sp>
      <p:graphicFrame>
        <p:nvGraphicFramePr>
          <p:cNvPr id="310275" name="Object 3">
            <a:extLst>
              <a:ext uri="{FF2B5EF4-FFF2-40B4-BE49-F238E27FC236}">
                <a16:creationId xmlns:a16="http://schemas.microsoft.com/office/drawing/2014/main" id="{91E260F7-83CB-4E78-A13B-5D143858C30C}"/>
              </a:ext>
            </a:extLst>
          </p:cNvPr>
          <p:cNvGraphicFramePr>
            <a:graphicFrameLocks noGrp="1" noChangeAspect="1"/>
          </p:cNvGraphicFramePr>
          <p:nvPr>
            <p:ph sz="half" idx="1"/>
          </p:nvPr>
        </p:nvGraphicFramePr>
        <p:xfrm>
          <a:off x="1524000" y="2017713"/>
          <a:ext cx="6216650" cy="673100"/>
        </p:xfrm>
        <a:graphic>
          <a:graphicData uri="http://schemas.openxmlformats.org/presentationml/2006/ole">
            <mc:AlternateContent xmlns:mc="http://schemas.openxmlformats.org/markup-compatibility/2006">
              <mc:Choice xmlns:v="urn:schemas-microsoft-com:vml" Requires="v">
                <p:oleObj spid="_x0000_s310316" name="Equation" r:id="rId3" imgW="3873240" imgH="419040" progId="Equation.3">
                  <p:embed/>
                </p:oleObj>
              </mc:Choice>
              <mc:Fallback>
                <p:oleObj name="Equation" r:id="rId3" imgW="3873240" imgH="4190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017713"/>
                        <a:ext cx="6216650"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0276" name="Object 4">
            <a:extLst>
              <a:ext uri="{FF2B5EF4-FFF2-40B4-BE49-F238E27FC236}">
                <a16:creationId xmlns:a16="http://schemas.microsoft.com/office/drawing/2014/main" id="{FC9C9F6A-4C74-476F-A128-A69233A096D7}"/>
              </a:ext>
            </a:extLst>
          </p:cNvPr>
          <p:cNvGraphicFramePr>
            <a:graphicFrameLocks noGrp="1" noChangeAspect="1"/>
          </p:cNvGraphicFramePr>
          <p:nvPr>
            <p:ph sz="quarter" idx="2"/>
          </p:nvPr>
        </p:nvGraphicFramePr>
        <p:xfrm>
          <a:off x="2209800" y="3863975"/>
          <a:ext cx="4725988" cy="1089025"/>
        </p:xfrm>
        <a:graphic>
          <a:graphicData uri="http://schemas.openxmlformats.org/presentationml/2006/ole">
            <mc:AlternateContent xmlns:mc="http://schemas.openxmlformats.org/markup-compatibility/2006">
              <mc:Choice xmlns:v="urn:schemas-microsoft-com:vml" Requires="v">
                <p:oleObj spid="_x0000_s310317" name="Equation" r:id="rId5" imgW="2920680" imgH="672840" progId="Equation.3">
                  <p:embed/>
                </p:oleObj>
              </mc:Choice>
              <mc:Fallback>
                <p:oleObj name="Equation" r:id="rId5" imgW="2920680" imgH="67284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863975"/>
                        <a:ext cx="4725988"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0277" name="Rectangle 5">
            <a:extLst>
              <a:ext uri="{FF2B5EF4-FFF2-40B4-BE49-F238E27FC236}">
                <a16:creationId xmlns:a16="http://schemas.microsoft.com/office/drawing/2014/main" id="{3540F763-D0C5-4BD7-A63D-70440F0DF2E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78" name="Rectangle 6">
            <a:extLst>
              <a:ext uri="{FF2B5EF4-FFF2-40B4-BE49-F238E27FC236}">
                <a16:creationId xmlns:a16="http://schemas.microsoft.com/office/drawing/2014/main" id="{30378253-900D-4E7C-B3E5-CCDE9810F96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79" name="Rectangle 7">
            <a:extLst>
              <a:ext uri="{FF2B5EF4-FFF2-40B4-BE49-F238E27FC236}">
                <a16:creationId xmlns:a16="http://schemas.microsoft.com/office/drawing/2014/main" id="{41DB8CB0-9117-4E42-AF6C-45DE1B6DECB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0" name="Rectangle 8">
            <a:extLst>
              <a:ext uri="{FF2B5EF4-FFF2-40B4-BE49-F238E27FC236}">
                <a16:creationId xmlns:a16="http://schemas.microsoft.com/office/drawing/2014/main" id="{9EAFDEFB-1DAB-4D41-8D6F-62540E86E21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1" name="Rectangle 9">
            <a:extLst>
              <a:ext uri="{FF2B5EF4-FFF2-40B4-BE49-F238E27FC236}">
                <a16:creationId xmlns:a16="http://schemas.microsoft.com/office/drawing/2014/main" id="{28BDFF01-080C-4346-BA4D-37B7F577651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2" name="Rectangle 10">
            <a:extLst>
              <a:ext uri="{FF2B5EF4-FFF2-40B4-BE49-F238E27FC236}">
                <a16:creationId xmlns:a16="http://schemas.microsoft.com/office/drawing/2014/main" id="{72F1C9FA-42C6-4C81-A509-C642E1936BA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3" name="Rectangle 11">
            <a:extLst>
              <a:ext uri="{FF2B5EF4-FFF2-40B4-BE49-F238E27FC236}">
                <a16:creationId xmlns:a16="http://schemas.microsoft.com/office/drawing/2014/main" id="{9F5F7169-F053-4240-8957-92E714E2B1B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4" name="Rectangle 12">
            <a:extLst>
              <a:ext uri="{FF2B5EF4-FFF2-40B4-BE49-F238E27FC236}">
                <a16:creationId xmlns:a16="http://schemas.microsoft.com/office/drawing/2014/main" id="{DC903B94-E34F-44A8-B78D-B50323169C2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5" name="Rectangle 13">
            <a:extLst>
              <a:ext uri="{FF2B5EF4-FFF2-40B4-BE49-F238E27FC236}">
                <a16:creationId xmlns:a16="http://schemas.microsoft.com/office/drawing/2014/main" id="{C3D8EAEA-8DAC-4C78-8220-42CE85143661}"/>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6" name="Rectangle 14">
            <a:extLst>
              <a:ext uri="{FF2B5EF4-FFF2-40B4-BE49-F238E27FC236}">
                <a16:creationId xmlns:a16="http://schemas.microsoft.com/office/drawing/2014/main" id="{043A071D-FD67-42D8-B21A-F85A9147C85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7" name="Rectangle 15">
            <a:extLst>
              <a:ext uri="{FF2B5EF4-FFF2-40B4-BE49-F238E27FC236}">
                <a16:creationId xmlns:a16="http://schemas.microsoft.com/office/drawing/2014/main" id="{492BC5B0-20E5-458A-9486-9E22F97DC6B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8" name="Rectangle 16">
            <a:extLst>
              <a:ext uri="{FF2B5EF4-FFF2-40B4-BE49-F238E27FC236}">
                <a16:creationId xmlns:a16="http://schemas.microsoft.com/office/drawing/2014/main" id="{491BDDFB-DCED-494B-8135-F364162B2D6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89" name="Rectangle 17">
            <a:extLst>
              <a:ext uri="{FF2B5EF4-FFF2-40B4-BE49-F238E27FC236}">
                <a16:creationId xmlns:a16="http://schemas.microsoft.com/office/drawing/2014/main" id="{A28CEBAD-4CC8-4B51-A721-8795D41AA67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0" name="Rectangle 18">
            <a:extLst>
              <a:ext uri="{FF2B5EF4-FFF2-40B4-BE49-F238E27FC236}">
                <a16:creationId xmlns:a16="http://schemas.microsoft.com/office/drawing/2014/main" id="{AB6597C1-0E36-4D27-BE72-E65295EB39EC}"/>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1" name="Rectangle 19">
            <a:extLst>
              <a:ext uri="{FF2B5EF4-FFF2-40B4-BE49-F238E27FC236}">
                <a16:creationId xmlns:a16="http://schemas.microsoft.com/office/drawing/2014/main" id="{30EA7773-4CD8-4DEC-B7B3-075DB9D4F97E}"/>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2" name="Rectangle 20">
            <a:extLst>
              <a:ext uri="{FF2B5EF4-FFF2-40B4-BE49-F238E27FC236}">
                <a16:creationId xmlns:a16="http://schemas.microsoft.com/office/drawing/2014/main" id="{D7CE4926-DDD7-4CF0-9D3B-C0BE39690808}"/>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3" name="Rectangle 21">
            <a:extLst>
              <a:ext uri="{FF2B5EF4-FFF2-40B4-BE49-F238E27FC236}">
                <a16:creationId xmlns:a16="http://schemas.microsoft.com/office/drawing/2014/main" id="{65B33FAB-BA34-4262-AE49-E408EC4DB178}"/>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4" name="Rectangle 22">
            <a:extLst>
              <a:ext uri="{FF2B5EF4-FFF2-40B4-BE49-F238E27FC236}">
                <a16:creationId xmlns:a16="http://schemas.microsoft.com/office/drawing/2014/main" id="{CE7B23F2-102E-4E69-AA3C-9243C4E0801C}"/>
              </a:ext>
            </a:extLst>
          </p:cNvPr>
          <p:cNvSpPr>
            <a:spLocks noChangeArrowheads="1"/>
          </p:cNvSpPr>
          <p:nvPr/>
        </p:nvSpPr>
        <p:spPr bwMode="auto">
          <a:xfrm>
            <a:off x="806450" y="914400"/>
            <a:ext cx="83375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1800" b="1" u="sng">
                <a:cs typeface="Times New Roman" panose="02020603050405020304" pitchFamily="18" charset="0"/>
              </a:rPr>
              <a:t>GRAVIMETRIC WATER CONTENT:</a:t>
            </a:r>
          </a:p>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Samples obtained by digging, augering, or coring are weight (moist sample), and weight again after oven drying (105 </a:t>
            </a:r>
            <a:r>
              <a:rPr lang="en-US" altLang="en-US" sz="1800" b="1" baseline="30000">
                <a:cs typeface="Times New Roman" panose="02020603050405020304" pitchFamily="18" charset="0"/>
              </a:rPr>
              <a:t>o</a:t>
            </a:r>
            <a:r>
              <a:rPr lang="en-US" altLang="en-US" sz="1800" b="1">
                <a:cs typeface="Times New Roman" panose="02020603050405020304" pitchFamily="18" charset="0"/>
              </a:rPr>
              <a:t>C).</a:t>
            </a:r>
          </a:p>
        </p:txBody>
      </p:sp>
      <p:sp>
        <p:nvSpPr>
          <p:cNvPr id="310295" name="Rectangle 23">
            <a:extLst>
              <a:ext uri="{FF2B5EF4-FFF2-40B4-BE49-F238E27FC236}">
                <a16:creationId xmlns:a16="http://schemas.microsoft.com/office/drawing/2014/main" id="{61FE273D-DB0E-4ED7-A95A-4F2FC965FAC0}"/>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6" name="Rectangle 24">
            <a:extLst>
              <a:ext uri="{FF2B5EF4-FFF2-40B4-BE49-F238E27FC236}">
                <a16:creationId xmlns:a16="http://schemas.microsoft.com/office/drawing/2014/main" id="{5D8A224F-90D8-4B21-8828-F5062562FF3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7" name="Rectangle 25">
            <a:extLst>
              <a:ext uri="{FF2B5EF4-FFF2-40B4-BE49-F238E27FC236}">
                <a16:creationId xmlns:a16="http://schemas.microsoft.com/office/drawing/2014/main" id="{3373AB89-FC37-4BB6-B0FB-DB815953A155}"/>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8" name="Rectangle 26">
            <a:extLst>
              <a:ext uri="{FF2B5EF4-FFF2-40B4-BE49-F238E27FC236}">
                <a16:creationId xmlns:a16="http://schemas.microsoft.com/office/drawing/2014/main" id="{1265F67F-980D-46BE-853B-5BEB2EE55EDB}"/>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299" name="Rectangle 27">
            <a:extLst>
              <a:ext uri="{FF2B5EF4-FFF2-40B4-BE49-F238E27FC236}">
                <a16:creationId xmlns:a16="http://schemas.microsoft.com/office/drawing/2014/main" id="{F80F7920-4B31-452B-87EF-CAD0641D7D88}"/>
              </a:ext>
            </a:extLst>
          </p:cNvPr>
          <p:cNvSpPr>
            <a:spLocks noChangeArrowheads="1"/>
          </p:cNvSpPr>
          <p:nvPr/>
        </p:nvSpPr>
        <p:spPr bwMode="auto">
          <a:xfrm>
            <a:off x="806450" y="2898775"/>
            <a:ext cx="8337550"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1800" b="1" u="sng">
                <a:cs typeface="Times New Roman" panose="02020603050405020304" pitchFamily="18" charset="0"/>
              </a:rPr>
              <a:t>VOLUMETRIC WATER CONTENT:</a:t>
            </a:r>
          </a:p>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Samples with known volume (core samples) may be processed the same way as in the gravimetric water content method.</a:t>
            </a:r>
          </a:p>
        </p:txBody>
      </p:sp>
      <p:sp>
        <p:nvSpPr>
          <p:cNvPr id="310300" name="Rectangle 28">
            <a:extLst>
              <a:ext uri="{FF2B5EF4-FFF2-40B4-BE49-F238E27FC236}">
                <a16:creationId xmlns:a16="http://schemas.microsoft.com/office/drawing/2014/main" id="{54666B2E-6E29-4EED-9060-D9FDDD4916E2}"/>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0301" name="Rectangle 29">
            <a:extLst>
              <a:ext uri="{FF2B5EF4-FFF2-40B4-BE49-F238E27FC236}">
                <a16:creationId xmlns:a16="http://schemas.microsoft.com/office/drawing/2014/main" id="{20E2FA92-3A42-46C4-BCDB-0A3A6AAC9CB6}"/>
              </a:ext>
            </a:extLst>
          </p:cNvPr>
          <p:cNvSpPr>
            <a:spLocks noChangeArrowheads="1"/>
          </p:cNvSpPr>
          <p:nvPr/>
        </p:nvSpPr>
        <p:spPr bwMode="auto">
          <a:xfrm>
            <a:off x="806450" y="5108575"/>
            <a:ext cx="833755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The conversion between gravimetric and volumetric water content requires knowledge of the dry bulk density.</a:t>
            </a:r>
          </a:p>
        </p:txBody>
      </p:sp>
      <p:sp>
        <p:nvSpPr>
          <p:cNvPr id="310302" name="Rectangle 30">
            <a:extLst>
              <a:ext uri="{FF2B5EF4-FFF2-40B4-BE49-F238E27FC236}">
                <a16:creationId xmlns:a16="http://schemas.microsoft.com/office/drawing/2014/main" id="{C39FCAD4-9C9E-4CD4-8933-1DDDB296A62E}"/>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10303" name="Object 31">
            <a:extLst>
              <a:ext uri="{FF2B5EF4-FFF2-40B4-BE49-F238E27FC236}">
                <a16:creationId xmlns:a16="http://schemas.microsoft.com/office/drawing/2014/main" id="{7455FD7C-0289-4659-8086-61998D7531FC}"/>
              </a:ext>
            </a:extLst>
          </p:cNvPr>
          <p:cNvGraphicFramePr>
            <a:graphicFrameLocks noGrp="1" noChangeAspect="1"/>
          </p:cNvGraphicFramePr>
          <p:nvPr>
            <p:ph sz="quarter" idx="3"/>
          </p:nvPr>
        </p:nvGraphicFramePr>
        <p:xfrm>
          <a:off x="4110038" y="5857875"/>
          <a:ext cx="1208087" cy="733425"/>
        </p:xfrm>
        <a:graphic>
          <a:graphicData uri="http://schemas.openxmlformats.org/presentationml/2006/ole">
            <mc:AlternateContent xmlns:mc="http://schemas.openxmlformats.org/markup-compatibility/2006">
              <mc:Choice xmlns:v="urn:schemas-microsoft-com:vml" Requires="v">
                <p:oleObj spid="_x0000_s310318" name="Equation" r:id="rId7" imgW="711000" imgH="431640" progId="Equation.3">
                  <p:embed/>
                </p:oleObj>
              </mc:Choice>
              <mc:Fallback>
                <p:oleObj name="Equation" r:id="rId7" imgW="711000" imgH="43164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0038" y="5857875"/>
                        <a:ext cx="1208087"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a:extLst>
              <a:ext uri="{FF2B5EF4-FFF2-40B4-BE49-F238E27FC236}">
                <a16:creationId xmlns:a16="http://schemas.microsoft.com/office/drawing/2014/main" id="{3E35B234-7B6D-4AD1-8A9C-DCB8B2B8FBAE}"/>
              </a:ext>
            </a:extLst>
          </p:cNvPr>
          <p:cNvSpPr>
            <a:spLocks noGrp="1" noChangeArrowheads="1"/>
          </p:cNvSpPr>
          <p:nvPr>
            <p:ph type="title"/>
          </p:nvPr>
        </p:nvSpPr>
        <p:spPr>
          <a:xfrm>
            <a:off x="571500" y="168275"/>
            <a:ext cx="8478838" cy="579438"/>
          </a:xfrm>
        </p:spPr>
        <p:txBody>
          <a:bodyPr/>
          <a:lstStyle/>
          <a:p>
            <a:r>
              <a:rPr lang="en-US" altLang="en-US" sz="2800">
                <a:latin typeface="Comic Sans MS" panose="030F0702030302020204" pitchFamily="66" charset="0"/>
              </a:rPr>
              <a:t>Soil water content – Gravimetric determination</a:t>
            </a:r>
          </a:p>
        </p:txBody>
      </p:sp>
      <p:sp>
        <p:nvSpPr>
          <p:cNvPr id="391171" name="Rectangle 3">
            <a:extLst>
              <a:ext uri="{FF2B5EF4-FFF2-40B4-BE49-F238E27FC236}">
                <a16:creationId xmlns:a16="http://schemas.microsoft.com/office/drawing/2014/main" id="{7CB8D954-7D7E-4245-A38F-C8F18F73214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2" name="Rectangle 4">
            <a:extLst>
              <a:ext uri="{FF2B5EF4-FFF2-40B4-BE49-F238E27FC236}">
                <a16:creationId xmlns:a16="http://schemas.microsoft.com/office/drawing/2014/main" id="{665F9ECE-BB83-466B-824F-C0A1836BEB5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3" name="Rectangle 5">
            <a:extLst>
              <a:ext uri="{FF2B5EF4-FFF2-40B4-BE49-F238E27FC236}">
                <a16:creationId xmlns:a16="http://schemas.microsoft.com/office/drawing/2014/main" id="{8969B76B-0768-411E-AA50-2DFA6CFF35B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4" name="Rectangle 6">
            <a:extLst>
              <a:ext uri="{FF2B5EF4-FFF2-40B4-BE49-F238E27FC236}">
                <a16:creationId xmlns:a16="http://schemas.microsoft.com/office/drawing/2014/main" id="{AF7173EB-3B65-4EB4-AB3B-B255F3E62F4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5" name="Rectangle 7">
            <a:extLst>
              <a:ext uri="{FF2B5EF4-FFF2-40B4-BE49-F238E27FC236}">
                <a16:creationId xmlns:a16="http://schemas.microsoft.com/office/drawing/2014/main" id="{52ADD694-296E-4A81-98AE-238920B5427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6" name="Rectangle 8">
            <a:extLst>
              <a:ext uri="{FF2B5EF4-FFF2-40B4-BE49-F238E27FC236}">
                <a16:creationId xmlns:a16="http://schemas.microsoft.com/office/drawing/2014/main" id="{9AAF03C1-821B-4467-9819-5F67430BC8D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7" name="Rectangle 9">
            <a:extLst>
              <a:ext uri="{FF2B5EF4-FFF2-40B4-BE49-F238E27FC236}">
                <a16:creationId xmlns:a16="http://schemas.microsoft.com/office/drawing/2014/main" id="{187B58B9-A6A1-4260-AED2-987D5888CFF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8" name="Rectangle 10">
            <a:extLst>
              <a:ext uri="{FF2B5EF4-FFF2-40B4-BE49-F238E27FC236}">
                <a16:creationId xmlns:a16="http://schemas.microsoft.com/office/drawing/2014/main" id="{391F617F-3BA2-482B-82B7-A8928E0AB8C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79" name="Rectangle 11">
            <a:extLst>
              <a:ext uri="{FF2B5EF4-FFF2-40B4-BE49-F238E27FC236}">
                <a16:creationId xmlns:a16="http://schemas.microsoft.com/office/drawing/2014/main" id="{4A19A8A6-351C-494A-9C04-0B39CAB22D9C}"/>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0" name="Rectangle 12">
            <a:extLst>
              <a:ext uri="{FF2B5EF4-FFF2-40B4-BE49-F238E27FC236}">
                <a16:creationId xmlns:a16="http://schemas.microsoft.com/office/drawing/2014/main" id="{D9CB0D18-B640-4669-8B91-79E54156E51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1" name="Rectangle 13">
            <a:extLst>
              <a:ext uri="{FF2B5EF4-FFF2-40B4-BE49-F238E27FC236}">
                <a16:creationId xmlns:a16="http://schemas.microsoft.com/office/drawing/2014/main" id="{862B7F17-B9CB-4F8F-A045-1A12E86E0C7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2" name="Rectangle 14">
            <a:extLst>
              <a:ext uri="{FF2B5EF4-FFF2-40B4-BE49-F238E27FC236}">
                <a16:creationId xmlns:a16="http://schemas.microsoft.com/office/drawing/2014/main" id="{D7D3937F-E707-4A1B-9E12-1060B92F62C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3" name="Rectangle 15">
            <a:extLst>
              <a:ext uri="{FF2B5EF4-FFF2-40B4-BE49-F238E27FC236}">
                <a16:creationId xmlns:a16="http://schemas.microsoft.com/office/drawing/2014/main" id="{03D7CB87-F4F8-4183-99E5-35817E59445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4" name="Rectangle 16">
            <a:extLst>
              <a:ext uri="{FF2B5EF4-FFF2-40B4-BE49-F238E27FC236}">
                <a16:creationId xmlns:a16="http://schemas.microsoft.com/office/drawing/2014/main" id="{8E1C08E9-82B6-41FA-A5C4-FC0155175AB9}"/>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5" name="Rectangle 17">
            <a:extLst>
              <a:ext uri="{FF2B5EF4-FFF2-40B4-BE49-F238E27FC236}">
                <a16:creationId xmlns:a16="http://schemas.microsoft.com/office/drawing/2014/main" id="{0A6CB899-BBE1-4D1C-A001-ECF32029D9B8}"/>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6" name="Rectangle 18">
            <a:extLst>
              <a:ext uri="{FF2B5EF4-FFF2-40B4-BE49-F238E27FC236}">
                <a16:creationId xmlns:a16="http://schemas.microsoft.com/office/drawing/2014/main" id="{84224A0A-B5D6-43F8-B898-35C5947965C4}"/>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7" name="Rectangle 19">
            <a:extLst>
              <a:ext uri="{FF2B5EF4-FFF2-40B4-BE49-F238E27FC236}">
                <a16:creationId xmlns:a16="http://schemas.microsoft.com/office/drawing/2014/main" id="{BBE0B187-F288-426E-86F7-EAA5DBF98D54}"/>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8" name="Rectangle 20">
            <a:extLst>
              <a:ext uri="{FF2B5EF4-FFF2-40B4-BE49-F238E27FC236}">
                <a16:creationId xmlns:a16="http://schemas.microsoft.com/office/drawing/2014/main" id="{91A3C8E6-F662-4C6E-A0F0-8F0B5DBAF292}"/>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89" name="Rectangle 21">
            <a:extLst>
              <a:ext uri="{FF2B5EF4-FFF2-40B4-BE49-F238E27FC236}">
                <a16:creationId xmlns:a16="http://schemas.microsoft.com/office/drawing/2014/main" id="{88D49CC5-20D1-4C5F-AD09-2DF2084A71C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90" name="Rectangle 22">
            <a:extLst>
              <a:ext uri="{FF2B5EF4-FFF2-40B4-BE49-F238E27FC236}">
                <a16:creationId xmlns:a16="http://schemas.microsoft.com/office/drawing/2014/main" id="{307C13AF-6CC8-4BCC-AFD4-B0DC4ED45C76}"/>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91" name="Rectangle 23">
            <a:extLst>
              <a:ext uri="{FF2B5EF4-FFF2-40B4-BE49-F238E27FC236}">
                <a16:creationId xmlns:a16="http://schemas.microsoft.com/office/drawing/2014/main" id="{BD3FE34B-7DFA-48AA-B227-06158C7FB64A}"/>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1192" name="Rectangle 24">
            <a:extLst>
              <a:ext uri="{FF2B5EF4-FFF2-40B4-BE49-F238E27FC236}">
                <a16:creationId xmlns:a16="http://schemas.microsoft.com/office/drawing/2014/main" id="{A7C11734-0C83-4EA7-A1A1-9991BCDB4407}"/>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91194" name="Picture 26">
            <a:extLst>
              <a:ext uri="{FF2B5EF4-FFF2-40B4-BE49-F238E27FC236}">
                <a16:creationId xmlns:a16="http://schemas.microsoft.com/office/drawing/2014/main" id="{C9E03318-C920-4E52-8826-C265F2D51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8077200" cy="548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E356922F-1201-4E12-BE69-1FEDF8F7A392}"/>
              </a:ext>
            </a:extLst>
          </p:cNvPr>
          <p:cNvSpPr>
            <a:spLocks noGrp="1" noChangeArrowheads="1"/>
          </p:cNvSpPr>
          <p:nvPr>
            <p:ph type="title"/>
          </p:nvPr>
        </p:nvSpPr>
        <p:spPr>
          <a:xfrm>
            <a:off x="838200" y="152400"/>
            <a:ext cx="7772400" cy="579438"/>
          </a:xfrm>
        </p:spPr>
        <p:txBody>
          <a:bodyPr/>
          <a:lstStyle/>
          <a:p>
            <a:r>
              <a:rPr lang="en-US" altLang="en-US">
                <a:latin typeface="Comic Sans MS" panose="030F0702030302020204" pitchFamily="66" charset="0"/>
              </a:rPr>
              <a:t>Soil water content – volumetric</a:t>
            </a:r>
          </a:p>
        </p:txBody>
      </p:sp>
      <p:sp>
        <p:nvSpPr>
          <p:cNvPr id="389125" name="Rectangle 5">
            <a:extLst>
              <a:ext uri="{FF2B5EF4-FFF2-40B4-BE49-F238E27FC236}">
                <a16:creationId xmlns:a16="http://schemas.microsoft.com/office/drawing/2014/main" id="{202B6A8A-57E9-4382-BA55-7D69E27C368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26" name="Rectangle 6">
            <a:extLst>
              <a:ext uri="{FF2B5EF4-FFF2-40B4-BE49-F238E27FC236}">
                <a16:creationId xmlns:a16="http://schemas.microsoft.com/office/drawing/2014/main" id="{0A43B810-36FF-4785-B984-22AD89E85C8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27" name="Rectangle 7">
            <a:extLst>
              <a:ext uri="{FF2B5EF4-FFF2-40B4-BE49-F238E27FC236}">
                <a16:creationId xmlns:a16="http://schemas.microsoft.com/office/drawing/2014/main" id="{040AC14C-40AD-4397-B287-FF874A43144B}"/>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28" name="Rectangle 8">
            <a:extLst>
              <a:ext uri="{FF2B5EF4-FFF2-40B4-BE49-F238E27FC236}">
                <a16:creationId xmlns:a16="http://schemas.microsoft.com/office/drawing/2014/main" id="{C7C4D686-6205-40E0-AF9A-16FD90F19A9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29" name="Rectangle 9">
            <a:extLst>
              <a:ext uri="{FF2B5EF4-FFF2-40B4-BE49-F238E27FC236}">
                <a16:creationId xmlns:a16="http://schemas.microsoft.com/office/drawing/2014/main" id="{F5204EAD-9A99-4ADB-8E3C-6F45D79965F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0" name="Rectangle 10">
            <a:extLst>
              <a:ext uri="{FF2B5EF4-FFF2-40B4-BE49-F238E27FC236}">
                <a16:creationId xmlns:a16="http://schemas.microsoft.com/office/drawing/2014/main" id="{185B47EB-E709-4D10-833D-6EEB7739B3C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1" name="Rectangle 11">
            <a:extLst>
              <a:ext uri="{FF2B5EF4-FFF2-40B4-BE49-F238E27FC236}">
                <a16:creationId xmlns:a16="http://schemas.microsoft.com/office/drawing/2014/main" id="{060259A7-7C08-4553-80CC-227398B6D68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2" name="Rectangle 12">
            <a:extLst>
              <a:ext uri="{FF2B5EF4-FFF2-40B4-BE49-F238E27FC236}">
                <a16:creationId xmlns:a16="http://schemas.microsoft.com/office/drawing/2014/main" id="{F6E84C6F-777D-4994-8B39-019A9926364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3" name="Rectangle 13">
            <a:extLst>
              <a:ext uri="{FF2B5EF4-FFF2-40B4-BE49-F238E27FC236}">
                <a16:creationId xmlns:a16="http://schemas.microsoft.com/office/drawing/2014/main" id="{F12DE046-2FB3-4AA1-9433-E4A37BC5A66E}"/>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4" name="Rectangle 14">
            <a:extLst>
              <a:ext uri="{FF2B5EF4-FFF2-40B4-BE49-F238E27FC236}">
                <a16:creationId xmlns:a16="http://schemas.microsoft.com/office/drawing/2014/main" id="{E22593A1-959E-432C-B6C2-1BC52D6A8CB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5" name="Rectangle 15">
            <a:extLst>
              <a:ext uri="{FF2B5EF4-FFF2-40B4-BE49-F238E27FC236}">
                <a16:creationId xmlns:a16="http://schemas.microsoft.com/office/drawing/2014/main" id="{5C1D47F8-1B8D-4B32-B6CC-5EEBECB7E9E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6" name="Rectangle 16">
            <a:extLst>
              <a:ext uri="{FF2B5EF4-FFF2-40B4-BE49-F238E27FC236}">
                <a16:creationId xmlns:a16="http://schemas.microsoft.com/office/drawing/2014/main" id="{7C64BC91-E468-4C5B-B94E-AA2A689EE8A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7" name="Rectangle 17">
            <a:extLst>
              <a:ext uri="{FF2B5EF4-FFF2-40B4-BE49-F238E27FC236}">
                <a16:creationId xmlns:a16="http://schemas.microsoft.com/office/drawing/2014/main" id="{887A5799-C968-446D-AE52-8ED438D1098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8" name="Rectangle 18">
            <a:extLst>
              <a:ext uri="{FF2B5EF4-FFF2-40B4-BE49-F238E27FC236}">
                <a16:creationId xmlns:a16="http://schemas.microsoft.com/office/drawing/2014/main" id="{4375B628-52B8-42B2-87D4-06125E95D605}"/>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39" name="Rectangle 19">
            <a:extLst>
              <a:ext uri="{FF2B5EF4-FFF2-40B4-BE49-F238E27FC236}">
                <a16:creationId xmlns:a16="http://schemas.microsoft.com/office/drawing/2014/main" id="{2FF5CDB2-1D4F-4252-8B0C-248836779053}"/>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0" name="Rectangle 20">
            <a:extLst>
              <a:ext uri="{FF2B5EF4-FFF2-40B4-BE49-F238E27FC236}">
                <a16:creationId xmlns:a16="http://schemas.microsoft.com/office/drawing/2014/main" id="{B9D17E37-BAB4-4004-83CB-4283C1655C51}"/>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1" name="Rectangle 21">
            <a:extLst>
              <a:ext uri="{FF2B5EF4-FFF2-40B4-BE49-F238E27FC236}">
                <a16:creationId xmlns:a16="http://schemas.microsoft.com/office/drawing/2014/main" id="{E0680A4A-4904-4EFD-9717-922981F45E7E}"/>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3" name="Rectangle 23">
            <a:extLst>
              <a:ext uri="{FF2B5EF4-FFF2-40B4-BE49-F238E27FC236}">
                <a16:creationId xmlns:a16="http://schemas.microsoft.com/office/drawing/2014/main" id="{C7016825-A0A4-4600-AD63-82FE8413CB97}"/>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4" name="Rectangle 24">
            <a:extLst>
              <a:ext uri="{FF2B5EF4-FFF2-40B4-BE49-F238E27FC236}">
                <a16:creationId xmlns:a16="http://schemas.microsoft.com/office/drawing/2014/main" id="{F9232EC5-BFDA-49DF-98DD-349792121D1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5" name="Rectangle 25">
            <a:extLst>
              <a:ext uri="{FF2B5EF4-FFF2-40B4-BE49-F238E27FC236}">
                <a16:creationId xmlns:a16="http://schemas.microsoft.com/office/drawing/2014/main" id="{46ED22D1-483C-4513-840C-2AA062BD618F}"/>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46" name="Rectangle 26">
            <a:extLst>
              <a:ext uri="{FF2B5EF4-FFF2-40B4-BE49-F238E27FC236}">
                <a16:creationId xmlns:a16="http://schemas.microsoft.com/office/drawing/2014/main" id="{D7CA960D-0A04-4AF9-A352-447D876E6CBC}"/>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50" name="Rectangle 30">
            <a:extLst>
              <a:ext uri="{FF2B5EF4-FFF2-40B4-BE49-F238E27FC236}">
                <a16:creationId xmlns:a16="http://schemas.microsoft.com/office/drawing/2014/main" id="{982B382A-2DE8-4DF9-AC5D-413AA16E0611}"/>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89152" name="Picture 32">
            <a:extLst>
              <a:ext uri="{FF2B5EF4-FFF2-40B4-BE49-F238E27FC236}">
                <a16:creationId xmlns:a16="http://schemas.microsoft.com/office/drawing/2014/main" id="{B9C99624-8491-4BE9-873E-2CD4C36BA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14400"/>
            <a:ext cx="7467600" cy="552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D364FBAC-C4EB-4800-9F78-8DCF772E5A39}"/>
              </a:ext>
            </a:extLst>
          </p:cNvPr>
          <p:cNvSpPr>
            <a:spLocks noGrp="1" noChangeArrowheads="1"/>
          </p:cNvSpPr>
          <p:nvPr>
            <p:ph type="title"/>
          </p:nvPr>
        </p:nvSpPr>
        <p:spPr>
          <a:xfrm>
            <a:off x="457200" y="152400"/>
            <a:ext cx="8153400" cy="579438"/>
          </a:xfrm>
        </p:spPr>
        <p:txBody>
          <a:bodyPr/>
          <a:lstStyle/>
          <a:p>
            <a:r>
              <a:rPr lang="en-US" altLang="en-US" sz="2800">
                <a:latin typeface="Comic Sans MS" panose="030F0702030302020204" pitchFamily="66" charset="0"/>
              </a:rPr>
              <a:t>Nondestructive methods- Neutron scattering </a:t>
            </a:r>
          </a:p>
        </p:txBody>
      </p:sp>
      <p:sp>
        <p:nvSpPr>
          <p:cNvPr id="311299" name="Rectangle 3">
            <a:extLst>
              <a:ext uri="{FF2B5EF4-FFF2-40B4-BE49-F238E27FC236}">
                <a16:creationId xmlns:a16="http://schemas.microsoft.com/office/drawing/2014/main" id="{571C65BF-B8AC-4A62-B8E6-2519CEB6728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0" name="Rectangle 4">
            <a:extLst>
              <a:ext uri="{FF2B5EF4-FFF2-40B4-BE49-F238E27FC236}">
                <a16:creationId xmlns:a16="http://schemas.microsoft.com/office/drawing/2014/main" id="{BBA0EB7A-21D4-41F8-8622-32C4C0845B0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1" name="Rectangle 5">
            <a:extLst>
              <a:ext uri="{FF2B5EF4-FFF2-40B4-BE49-F238E27FC236}">
                <a16:creationId xmlns:a16="http://schemas.microsoft.com/office/drawing/2014/main" id="{10CDD508-95D9-4590-A37B-324A2351194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2" name="Rectangle 6">
            <a:extLst>
              <a:ext uri="{FF2B5EF4-FFF2-40B4-BE49-F238E27FC236}">
                <a16:creationId xmlns:a16="http://schemas.microsoft.com/office/drawing/2014/main" id="{4A7A64C2-195A-4F41-AAF9-1B9B1106A5F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3" name="Rectangle 7">
            <a:extLst>
              <a:ext uri="{FF2B5EF4-FFF2-40B4-BE49-F238E27FC236}">
                <a16:creationId xmlns:a16="http://schemas.microsoft.com/office/drawing/2014/main" id="{F3473B90-FD6C-4E65-9E2A-2F8E3E35E69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4" name="Rectangle 8">
            <a:extLst>
              <a:ext uri="{FF2B5EF4-FFF2-40B4-BE49-F238E27FC236}">
                <a16:creationId xmlns:a16="http://schemas.microsoft.com/office/drawing/2014/main" id="{0A9DD07A-2D13-4369-816A-FB265C14477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5" name="Rectangle 9">
            <a:extLst>
              <a:ext uri="{FF2B5EF4-FFF2-40B4-BE49-F238E27FC236}">
                <a16:creationId xmlns:a16="http://schemas.microsoft.com/office/drawing/2014/main" id="{7AA917EE-3BDE-4759-BC40-13DE848383E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6" name="Rectangle 10">
            <a:extLst>
              <a:ext uri="{FF2B5EF4-FFF2-40B4-BE49-F238E27FC236}">
                <a16:creationId xmlns:a16="http://schemas.microsoft.com/office/drawing/2014/main" id="{D41FAD02-3C98-4ACC-8065-005813DE2839}"/>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7" name="Rectangle 11">
            <a:extLst>
              <a:ext uri="{FF2B5EF4-FFF2-40B4-BE49-F238E27FC236}">
                <a16:creationId xmlns:a16="http://schemas.microsoft.com/office/drawing/2014/main" id="{42A3E524-2979-4EE8-8834-3FD3F257100B}"/>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8" name="Rectangle 12">
            <a:extLst>
              <a:ext uri="{FF2B5EF4-FFF2-40B4-BE49-F238E27FC236}">
                <a16:creationId xmlns:a16="http://schemas.microsoft.com/office/drawing/2014/main" id="{72BCAB9B-D0D5-4488-BC84-BE20764872C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09" name="Rectangle 13">
            <a:extLst>
              <a:ext uri="{FF2B5EF4-FFF2-40B4-BE49-F238E27FC236}">
                <a16:creationId xmlns:a16="http://schemas.microsoft.com/office/drawing/2014/main" id="{55BE269B-F3CE-4F97-A2B9-CE89EEBDA45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0" name="Rectangle 14">
            <a:extLst>
              <a:ext uri="{FF2B5EF4-FFF2-40B4-BE49-F238E27FC236}">
                <a16:creationId xmlns:a16="http://schemas.microsoft.com/office/drawing/2014/main" id="{7852A9B5-A778-44A3-99B7-B822A6509C3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1" name="Rectangle 15">
            <a:extLst>
              <a:ext uri="{FF2B5EF4-FFF2-40B4-BE49-F238E27FC236}">
                <a16:creationId xmlns:a16="http://schemas.microsoft.com/office/drawing/2014/main" id="{2A3FAE6E-9956-408A-8CE6-DED0D0BFFF7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2" name="Rectangle 16">
            <a:extLst>
              <a:ext uri="{FF2B5EF4-FFF2-40B4-BE49-F238E27FC236}">
                <a16:creationId xmlns:a16="http://schemas.microsoft.com/office/drawing/2014/main" id="{CDD2C37D-2718-42C2-BD4D-31A52B313514}"/>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3" name="Rectangle 17">
            <a:extLst>
              <a:ext uri="{FF2B5EF4-FFF2-40B4-BE49-F238E27FC236}">
                <a16:creationId xmlns:a16="http://schemas.microsoft.com/office/drawing/2014/main" id="{2BF63D44-28CE-4FC7-90C8-2F48D44913F0}"/>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4" name="Rectangle 18">
            <a:extLst>
              <a:ext uri="{FF2B5EF4-FFF2-40B4-BE49-F238E27FC236}">
                <a16:creationId xmlns:a16="http://schemas.microsoft.com/office/drawing/2014/main" id="{6F476558-00E9-4CC2-84E3-1BDF5D23F44F}"/>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5" name="Rectangle 19">
            <a:extLst>
              <a:ext uri="{FF2B5EF4-FFF2-40B4-BE49-F238E27FC236}">
                <a16:creationId xmlns:a16="http://schemas.microsoft.com/office/drawing/2014/main" id="{42940AD4-5EF8-47F3-A041-FA37C7797CD9}"/>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6" name="Rectangle 20">
            <a:extLst>
              <a:ext uri="{FF2B5EF4-FFF2-40B4-BE49-F238E27FC236}">
                <a16:creationId xmlns:a16="http://schemas.microsoft.com/office/drawing/2014/main" id="{6B3D8183-C329-49B3-ACF5-F1E7304B7CD3}"/>
              </a:ext>
            </a:extLst>
          </p:cNvPr>
          <p:cNvSpPr>
            <a:spLocks noChangeArrowheads="1"/>
          </p:cNvSpPr>
          <p:nvPr/>
        </p:nvSpPr>
        <p:spPr bwMode="auto">
          <a:xfrm>
            <a:off x="609600" y="1295400"/>
            <a:ext cx="4724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4163" indent="-284163">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10000"/>
              </a:spcBef>
              <a:spcAft>
                <a:spcPct val="40000"/>
              </a:spcAft>
              <a:buClr>
                <a:srgbClr val="FF3300"/>
              </a:buClr>
              <a:buFont typeface="Arial" panose="020B0604020202020204" pitchFamily="34" charset="0"/>
              <a:buChar char="●"/>
            </a:pPr>
            <a:r>
              <a:rPr lang="en-US" altLang="en-US" b="1">
                <a:cs typeface="Times New Roman" panose="02020603050405020304" pitchFamily="18" charset="0"/>
              </a:rPr>
              <a:t>Neutron Scattering (or Neutron probe) is a widely used field method for repetitive measurement of volumetric soil water content.</a:t>
            </a:r>
          </a:p>
          <a:p>
            <a:pPr>
              <a:spcBef>
                <a:spcPct val="10000"/>
              </a:spcBef>
              <a:spcAft>
                <a:spcPct val="40000"/>
              </a:spcAft>
              <a:buClr>
                <a:srgbClr val="FF3300"/>
              </a:buClr>
              <a:buFont typeface="Arial" panose="020B0604020202020204" pitchFamily="34" charset="0"/>
              <a:buChar char="●"/>
            </a:pPr>
            <a:r>
              <a:rPr lang="en-US" altLang="en-US" b="1">
                <a:cs typeface="Times New Roman" panose="02020603050405020304" pitchFamily="18" charset="0"/>
              </a:rPr>
              <a:t>It is based on the propensity of water molecules to slow down (thermalize) high energy fast neutrons emitted from a radio active source (Americium-241 – Beryllium).</a:t>
            </a:r>
          </a:p>
          <a:p>
            <a:pPr>
              <a:spcBef>
                <a:spcPct val="10000"/>
              </a:spcBef>
              <a:spcAft>
                <a:spcPct val="40000"/>
              </a:spcAft>
              <a:buClr>
                <a:srgbClr val="FF3300"/>
              </a:buClr>
              <a:buFont typeface="Arial" panose="020B0604020202020204" pitchFamily="34" charset="0"/>
              <a:buChar char="●"/>
            </a:pPr>
            <a:r>
              <a:rPr lang="en-US" altLang="en-US" b="1">
                <a:cs typeface="Times New Roman" panose="02020603050405020304" pitchFamily="18" charset="0"/>
              </a:rPr>
              <a:t>Thermalized neutrons are counted by a detector present in the access tube (along with the source).</a:t>
            </a:r>
            <a:br>
              <a:rPr lang="en-US" altLang="en-US" b="1">
                <a:cs typeface="Times New Roman" panose="02020603050405020304" pitchFamily="18" charset="0"/>
              </a:rPr>
            </a:br>
            <a:endParaRPr lang="en-US" altLang="en-US" b="1">
              <a:cs typeface="Times New Roman" panose="02020603050405020304" pitchFamily="18" charset="0"/>
            </a:endParaRPr>
          </a:p>
        </p:txBody>
      </p:sp>
      <p:sp>
        <p:nvSpPr>
          <p:cNvPr id="311317" name="Rectangle 21">
            <a:extLst>
              <a:ext uri="{FF2B5EF4-FFF2-40B4-BE49-F238E27FC236}">
                <a16:creationId xmlns:a16="http://schemas.microsoft.com/office/drawing/2014/main" id="{C4901FAF-A3AD-4733-B9D1-DEF383C78DBA}"/>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8" name="Rectangle 22">
            <a:extLst>
              <a:ext uri="{FF2B5EF4-FFF2-40B4-BE49-F238E27FC236}">
                <a16:creationId xmlns:a16="http://schemas.microsoft.com/office/drawing/2014/main" id="{6576F84E-C3FE-4982-9FCF-A7D70B6159B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19" name="Rectangle 23">
            <a:extLst>
              <a:ext uri="{FF2B5EF4-FFF2-40B4-BE49-F238E27FC236}">
                <a16:creationId xmlns:a16="http://schemas.microsoft.com/office/drawing/2014/main" id="{1113D6BE-4F90-4E9F-B549-219D6AF31A16}"/>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20" name="Rectangle 24">
            <a:extLst>
              <a:ext uri="{FF2B5EF4-FFF2-40B4-BE49-F238E27FC236}">
                <a16:creationId xmlns:a16="http://schemas.microsoft.com/office/drawing/2014/main" id="{276619A9-E20D-47F8-99C3-D53823DB3FDC}"/>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21" name="Rectangle 25">
            <a:extLst>
              <a:ext uri="{FF2B5EF4-FFF2-40B4-BE49-F238E27FC236}">
                <a16:creationId xmlns:a16="http://schemas.microsoft.com/office/drawing/2014/main" id="{E3D4A7AC-93B4-4F26-81EA-DF2B57677EE7}"/>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1322" name="Rectangle 26">
            <a:extLst>
              <a:ext uri="{FF2B5EF4-FFF2-40B4-BE49-F238E27FC236}">
                <a16:creationId xmlns:a16="http://schemas.microsoft.com/office/drawing/2014/main" id="{8479AA50-61FB-469D-B3BB-FBF47DA6C37C}"/>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311323" name="Group 27">
            <a:extLst>
              <a:ext uri="{FF2B5EF4-FFF2-40B4-BE49-F238E27FC236}">
                <a16:creationId xmlns:a16="http://schemas.microsoft.com/office/drawing/2014/main" id="{75FD3080-F3E3-449F-94D5-A072FCFD2589}"/>
              </a:ext>
            </a:extLst>
          </p:cNvPr>
          <p:cNvGrpSpPr>
            <a:grpSpLocks/>
          </p:cNvGrpSpPr>
          <p:nvPr/>
        </p:nvGrpSpPr>
        <p:grpSpPr bwMode="auto">
          <a:xfrm>
            <a:off x="5105400" y="762000"/>
            <a:ext cx="3490913" cy="5702300"/>
            <a:chOff x="3312" y="616"/>
            <a:chExt cx="1948" cy="3592"/>
          </a:xfrm>
        </p:grpSpPr>
        <p:pic>
          <p:nvPicPr>
            <p:cNvPr id="311324" name="Picture 28">
              <a:extLst>
                <a:ext uri="{FF2B5EF4-FFF2-40B4-BE49-F238E27FC236}">
                  <a16:creationId xmlns:a16="http://schemas.microsoft.com/office/drawing/2014/main" id="{FEFAD82D-CB98-4B41-B96F-65F792545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 y="672"/>
              <a:ext cx="1440" cy="3536"/>
            </a:xfrm>
            <a:prstGeom prst="rect">
              <a:avLst/>
            </a:prstGeom>
            <a:noFill/>
            <a:extLst>
              <a:ext uri="{909E8E84-426E-40DD-AFC4-6F175D3DCCD1}">
                <a14:hiddenFill xmlns:a14="http://schemas.microsoft.com/office/drawing/2010/main">
                  <a:solidFill>
                    <a:srgbClr val="FFFFFF"/>
                  </a:solidFill>
                </a14:hiddenFill>
              </a:ext>
            </a:extLst>
          </p:spPr>
        </p:pic>
        <p:sp>
          <p:nvSpPr>
            <p:cNvPr id="311325" name="Line 29">
              <a:extLst>
                <a:ext uri="{FF2B5EF4-FFF2-40B4-BE49-F238E27FC236}">
                  <a16:creationId xmlns:a16="http://schemas.microsoft.com/office/drawing/2014/main" id="{BEF8DC7C-7441-4C77-A54D-EE375A1F7893}"/>
                </a:ext>
              </a:extLst>
            </p:cNvPr>
            <p:cNvSpPr>
              <a:spLocks noChangeAspect="1" noChangeShapeType="1"/>
            </p:cNvSpPr>
            <p:nvPr/>
          </p:nvSpPr>
          <p:spPr bwMode="auto">
            <a:xfrm flipV="1">
              <a:off x="4438" y="2548"/>
              <a:ext cx="239" cy="194"/>
            </a:xfrm>
            <a:prstGeom prst="line">
              <a:avLst/>
            </a:prstGeom>
            <a:noFill/>
            <a:ln w="38100">
              <a:solidFill>
                <a:schemeClr val="accent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6" name="Line 30">
              <a:extLst>
                <a:ext uri="{FF2B5EF4-FFF2-40B4-BE49-F238E27FC236}">
                  <a16:creationId xmlns:a16="http://schemas.microsoft.com/office/drawing/2014/main" id="{D71C3560-1A61-4ED4-85E9-C8B79420DDA8}"/>
                </a:ext>
              </a:extLst>
            </p:cNvPr>
            <p:cNvSpPr>
              <a:spLocks noChangeAspect="1" noChangeShapeType="1"/>
            </p:cNvSpPr>
            <p:nvPr/>
          </p:nvSpPr>
          <p:spPr bwMode="auto">
            <a:xfrm flipV="1">
              <a:off x="4464" y="3658"/>
              <a:ext cx="126" cy="108"/>
            </a:xfrm>
            <a:prstGeom prst="line">
              <a:avLst/>
            </a:prstGeom>
            <a:noFill/>
            <a:ln w="38100">
              <a:solidFill>
                <a:schemeClr val="accent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27" name="Text Box 31">
              <a:extLst>
                <a:ext uri="{FF2B5EF4-FFF2-40B4-BE49-F238E27FC236}">
                  <a16:creationId xmlns:a16="http://schemas.microsoft.com/office/drawing/2014/main" id="{EFB415FA-04B2-4339-B725-36F53854670D}"/>
                </a:ext>
              </a:extLst>
            </p:cNvPr>
            <p:cNvSpPr txBox="1">
              <a:spLocks noChangeAspect="1" noChangeArrowheads="1"/>
            </p:cNvSpPr>
            <p:nvPr/>
          </p:nvSpPr>
          <p:spPr bwMode="auto">
            <a:xfrm>
              <a:off x="4605" y="3648"/>
              <a:ext cx="2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a:solidFill>
                    <a:srgbClr val="0033CC"/>
                  </a:solidFill>
                  <a:effectLst>
                    <a:outerShdw blurRad="38100" dist="38100" dir="2700000" algn="tl">
                      <a:srgbClr val="C0C0C0"/>
                    </a:outerShdw>
                  </a:effectLst>
                </a:rPr>
                <a:t>r</a:t>
              </a:r>
              <a:r>
                <a:rPr lang="en-US" altLang="en-US" sz="2400" b="1" baseline="-25000">
                  <a:solidFill>
                    <a:srgbClr val="0033CC"/>
                  </a:solidFill>
                  <a:effectLst>
                    <a:outerShdw blurRad="38100" dist="38100" dir="2700000" algn="tl">
                      <a:srgbClr val="C0C0C0"/>
                    </a:outerShdw>
                  </a:effectLst>
                </a:rPr>
                <a:t>w</a:t>
              </a:r>
              <a:endParaRPr lang="en-US" altLang="en-US" sz="2400">
                <a:solidFill>
                  <a:srgbClr val="0033CC"/>
                </a:solidFill>
              </a:endParaRPr>
            </a:p>
          </p:txBody>
        </p:sp>
        <p:sp>
          <p:nvSpPr>
            <p:cNvPr id="311328" name="Text Box 32">
              <a:extLst>
                <a:ext uri="{FF2B5EF4-FFF2-40B4-BE49-F238E27FC236}">
                  <a16:creationId xmlns:a16="http://schemas.microsoft.com/office/drawing/2014/main" id="{14624E5B-18B4-419D-A293-CF5AD66E1BC6}"/>
                </a:ext>
              </a:extLst>
            </p:cNvPr>
            <p:cNvSpPr txBox="1">
              <a:spLocks noChangeAspect="1" noChangeArrowheads="1"/>
            </p:cNvSpPr>
            <p:nvPr/>
          </p:nvSpPr>
          <p:spPr bwMode="auto">
            <a:xfrm>
              <a:off x="4656" y="2400"/>
              <a:ext cx="2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a:solidFill>
                    <a:srgbClr val="0033CC"/>
                  </a:solidFill>
                  <a:effectLst>
                    <a:outerShdw blurRad="38100" dist="38100" dir="2700000" algn="tl">
                      <a:srgbClr val="C0C0C0"/>
                    </a:outerShdw>
                  </a:effectLst>
                </a:rPr>
                <a:t>r</a:t>
              </a:r>
              <a:r>
                <a:rPr lang="en-US" altLang="en-US" sz="2400" b="1" baseline="-25000">
                  <a:solidFill>
                    <a:srgbClr val="0033CC"/>
                  </a:solidFill>
                  <a:effectLst>
                    <a:outerShdw blurRad="38100" dist="38100" dir="2700000" algn="tl">
                      <a:srgbClr val="C0C0C0"/>
                    </a:outerShdw>
                  </a:effectLst>
                </a:rPr>
                <a:t>D</a:t>
              </a:r>
              <a:endParaRPr lang="en-US" altLang="en-US" sz="2400">
                <a:solidFill>
                  <a:srgbClr val="0033CC"/>
                </a:solidFill>
              </a:endParaRPr>
            </a:p>
          </p:txBody>
        </p:sp>
        <p:sp>
          <p:nvSpPr>
            <p:cNvPr id="311329" name="Text Box 33">
              <a:extLst>
                <a:ext uri="{FF2B5EF4-FFF2-40B4-BE49-F238E27FC236}">
                  <a16:creationId xmlns:a16="http://schemas.microsoft.com/office/drawing/2014/main" id="{C7CC8D73-2DEC-490C-927F-F559BD99B7F2}"/>
                </a:ext>
              </a:extLst>
            </p:cNvPr>
            <p:cNvSpPr txBox="1">
              <a:spLocks noChangeAspect="1" noChangeArrowheads="1"/>
            </p:cNvSpPr>
            <p:nvPr/>
          </p:nvSpPr>
          <p:spPr bwMode="auto">
            <a:xfrm>
              <a:off x="3696" y="2544"/>
              <a:ext cx="3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a:solidFill>
                    <a:srgbClr val="0033CC"/>
                  </a:solidFill>
                  <a:effectLst>
                    <a:outerShdw blurRad="38100" dist="38100" dir="2700000" algn="tl">
                      <a:srgbClr val="C0C0C0"/>
                    </a:outerShdw>
                  </a:effectLst>
                </a:rPr>
                <a:t>Dry</a:t>
              </a:r>
              <a:endParaRPr lang="en-US" altLang="en-US" sz="2400">
                <a:solidFill>
                  <a:srgbClr val="0033CC"/>
                </a:solidFill>
              </a:endParaRPr>
            </a:p>
          </p:txBody>
        </p:sp>
        <p:sp>
          <p:nvSpPr>
            <p:cNvPr id="311330" name="Text Box 34">
              <a:extLst>
                <a:ext uri="{FF2B5EF4-FFF2-40B4-BE49-F238E27FC236}">
                  <a16:creationId xmlns:a16="http://schemas.microsoft.com/office/drawing/2014/main" id="{36F277EF-FB10-42CF-926B-E9164B66596C}"/>
                </a:ext>
              </a:extLst>
            </p:cNvPr>
            <p:cNvSpPr txBox="1">
              <a:spLocks noChangeAspect="1" noChangeArrowheads="1"/>
            </p:cNvSpPr>
            <p:nvPr/>
          </p:nvSpPr>
          <p:spPr bwMode="auto">
            <a:xfrm>
              <a:off x="3793" y="3669"/>
              <a:ext cx="4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400" b="1">
                  <a:solidFill>
                    <a:srgbClr val="0033CC"/>
                  </a:solidFill>
                  <a:effectLst>
                    <a:outerShdw blurRad="38100" dist="38100" dir="2700000" algn="tl">
                      <a:srgbClr val="C0C0C0"/>
                    </a:outerShdw>
                  </a:effectLst>
                </a:rPr>
                <a:t>Wet</a:t>
              </a:r>
            </a:p>
          </p:txBody>
        </p:sp>
        <p:sp>
          <p:nvSpPr>
            <p:cNvPr id="311331" name="Text Box 35">
              <a:extLst>
                <a:ext uri="{FF2B5EF4-FFF2-40B4-BE49-F238E27FC236}">
                  <a16:creationId xmlns:a16="http://schemas.microsoft.com/office/drawing/2014/main" id="{7CCC8525-CC48-4AC9-BE4D-3CC2C29EB75C}"/>
                </a:ext>
              </a:extLst>
            </p:cNvPr>
            <p:cNvSpPr txBox="1">
              <a:spLocks noChangeAspect="1" noChangeArrowheads="1"/>
            </p:cNvSpPr>
            <p:nvPr/>
          </p:nvSpPr>
          <p:spPr bwMode="auto">
            <a:xfrm>
              <a:off x="4565" y="616"/>
              <a:ext cx="64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b="1">
                  <a:solidFill>
                    <a:srgbClr val="0033CC"/>
                  </a:solidFill>
                  <a:effectLst>
                    <a:outerShdw blurRad="38100" dist="38100" dir="2700000" algn="tl">
                      <a:srgbClr val="C0C0C0"/>
                    </a:outerShdw>
                  </a:effectLst>
                </a:rPr>
                <a:t>Neutron</a:t>
              </a:r>
            </a:p>
            <a:p>
              <a:pPr algn="ctr" eaLnBrk="0" hangingPunct="0"/>
              <a:r>
                <a:rPr lang="en-US" altLang="en-US" b="1">
                  <a:solidFill>
                    <a:srgbClr val="0033CC"/>
                  </a:solidFill>
                  <a:effectLst>
                    <a:outerShdw blurRad="38100" dist="38100" dir="2700000" algn="tl">
                      <a:srgbClr val="C0C0C0"/>
                    </a:outerShdw>
                  </a:effectLst>
                </a:rPr>
                <a:t>Probe</a:t>
              </a:r>
            </a:p>
          </p:txBody>
        </p:sp>
        <p:sp>
          <p:nvSpPr>
            <p:cNvPr id="311332" name="Text Box 36">
              <a:extLst>
                <a:ext uri="{FF2B5EF4-FFF2-40B4-BE49-F238E27FC236}">
                  <a16:creationId xmlns:a16="http://schemas.microsoft.com/office/drawing/2014/main" id="{862536FA-A6A0-4603-BF2C-1A9A188B2C21}"/>
                </a:ext>
              </a:extLst>
            </p:cNvPr>
            <p:cNvSpPr txBox="1">
              <a:spLocks noChangeAspect="1" noChangeArrowheads="1"/>
            </p:cNvSpPr>
            <p:nvPr/>
          </p:nvSpPr>
          <p:spPr bwMode="auto">
            <a:xfrm>
              <a:off x="4660" y="1840"/>
              <a:ext cx="60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b="1">
                  <a:solidFill>
                    <a:srgbClr val="0033CC"/>
                  </a:solidFill>
                  <a:effectLst>
                    <a:outerShdw blurRad="38100" dist="38100" dir="2700000" algn="tl">
                      <a:srgbClr val="C0C0C0"/>
                    </a:outerShdw>
                  </a:effectLst>
                </a:rPr>
                <a:t>Access</a:t>
              </a:r>
            </a:p>
            <a:p>
              <a:pPr algn="ctr" eaLnBrk="0" hangingPunct="0"/>
              <a:r>
                <a:rPr lang="en-US" altLang="en-US" b="1">
                  <a:solidFill>
                    <a:srgbClr val="0033CC"/>
                  </a:solidFill>
                  <a:effectLst>
                    <a:outerShdw blurRad="38100" dist="38100" dir="2700000" algn="tl">
                      <a:srgbClr val="C0C0C0"/>
                    </a:outerShdw>
                  </a:effectLst>
                </a:rPr>
                <a:t>Tube</a:t>
              </a:r>
            </a:p>
          </p:txBody>
        </p:sp>
        <p:sp>
          <p:nvSpPr>
            <p:cNvPr id="311333" name="Line 37">
              <a:extLst>
                <a:ext uri="{FF2B5EF4-FFF2-40B4-BE49-F238E27FC236}">
                  <a16:creationId xmlns:a16="http://schemas.microsoft.com/office/drawing/2014/main" id="{D34B0CF4-4496-428C-ADC9-BD82FDA1BE0D}"/>
                </a:ext>
              </a:extLst>
            </p:cNvPr>
            <p:cNvSpPr>
              <a:spLocks noChangeAspect="1" noChangeShapeType="1"/>
            </p:cNvSpPr>
            <p:nvPr/>
          </p:nvSpPr>
          <p:spPr bwMode="auto">
            <a:xfrm flipH="1">
              <a:off x="4484" y="2062"/>
              <a:ext cx="276" cy="157"/>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4" name="Text Box 38">
              <a:extLst>
                <a:ext uri="{FF2B5EF4-FFF2-40B4-BE49-F238E27FC236}">
                  <a16:creationId xmlns:a16="http://schemas.microsoft.com/office/drawing/2014/main" id="{9ECA2317-A356-48A0-BBED-9160C284DE73}"/>
                </a:ext>
              </a:extLst>
            </p:cNvPr>
            <p:cNvSpPr txBox="1">
              <a:spLocks noChangeAspect="1" noChangeArrowheads="1"/>
            </p:cNvSpPr>
            <p:nvPr/>
          </p:nvSpPr>
          <p:spPr bwMode="auto">
            <a:xfrm>
              <a:off x="3312" y="1584"/>
              <a:ext cx="75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b="1">
                  <a:solidFill>
                    <a:srgbClr val="0033CC"/>
                  </a:solidFill>
                  <a:effectLst>
                    <a:outerShdw blurRad="38100" dist="38100" dir="2700000" algn="tl">
                      <a:srgbClr val="C0C0C0"/>
                    </a:outerShdw>
                  </a:effectLst>
                </a:rPr>
                <a:t>Sphere of</a:t>
              </a:r>
            </a:p>
            <a:p>
              <a:pPr algn="ctr" eaLnBrk="0" hangingPunct="0"/>
              <a:r>
                <a:rPr lang="en-US" altLang="en-US" b="1">
                  <a:solidFill>
                    <a:srgbClr val="0033CC"/>
                  </a:solidFill>
                  <a:effectLst>
                    <a:outerShdw blurRad="38100" dist="38100" dir="2700000" algn="tl">
                      <a:srgbClr val="C0C0C0"/>
                    </a:outerShdw>
                  </a:effectLst>
                </a:rPr>
                <a:t>Influence</a:t>
              </a:r>
            </a:p>
          </p:txBody>
        </p:sp>
        <p:sp>
          <p:nvSpPr>
            <p:cNvPr id="311335" name="Line 39">
              <a:extLst>
                <a:ext uri="{FF2B5EF4-FFF2-40B4-BE49-F238E27FC236}">
                  <a16:creationId xmlns:a16="http://schemas.microsoft.com/office/drawing/2014/main" id="{E88E9E34-0D21-47C0-B59E-7C90F072771A}"/>
                </a:ext>
              </a:extLst>
            </p:cNvPr>
            <p:cNvSpPr>
              <a:spLocks noChangeAspect="1" noChangeShapeType="1"/>
            </p:cNvSpPr>
            <p:nvPr/>
          </p:nvSpPr>
          <p:spPr bwMode="auto">
            <a:xfrm>
              <a:off x="4042" y="2062"/>
              <a:ext cx="193" cy="441"/>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6" name="Text Box 40">
              <a:extLst>
                <a:ext uri="{FF2B5EF4-FFF2-40B4-BE49-F238E27FC236}">
                  <a16:creationId xmlns:a16="http://schemas.microsoft.com/office/drawing/2014/main" id="{5DFA6FCE-B051-4B44-87A5-3D1FC6447B05}"/>
                </a:ext>
              </a:extLst>
            </p:cNvPr>
            <p:cNvSpPr txBox="1">
              <a:spLocks noChangeAspect="1" noChangeArrowheads="1"/>
            </p:cNvSpPr>
            <p:nvPr/>
          </p:nvSpPr>
          <p:spPr bwMode="auto">
            <a:xfrm>
              <a:off x="4368" y="3072"/>
              <a:ext cx="757"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b="1">
                  <a:solidFill>
                    <a:srgbClr val="0033CC"/>
                  </a:solidFill>
                  <a:effectLst>
                    <a:outerShdw blurRad="38100" dist="38100" dir="2700000" algn="tl">
                      <a:srgbClr val="C0C0C0"/>
                    </a:outerShdw>
                  </a:effectLst>
                </a:rPr>
                <a:t>Probe</a:t>
              </a:r>
            </a:p>
            <a:p>
              <a:pPr algn="ctr" eaLnBrk="0" hangingPunct="0"/>
              <a:r>
                <a:rPr lang="en-US" altLang="en-US" sz="1600" b="1">
                  <a:solidFill>
                    <a:srgbClr val="0033CC"/>
                  </a:solidFill>
                  <a:effectLst>
                    <a:outerShdw blurRad="38100" dist="38100" dir="2700000" algn="tl">
                      <a:srgbClr val="C0C0C0"/>
                    </a:outerShdw>
                  </a:effectLst>
                </a:rPr>
                <a:t>(Source and</a:t>
              </a:r>
            </a:p>
            <a:p>
              <a:pPr algn="ctr" eaLnBrk="0" hangingPunct="0"/>
              <a:r>
                <a:rPr lang="en-US" altLang="en-US" sz="1600" b="1">
                  <a:solidFill>
                    <a:srgbClr val="0033CC"/>
                  </a:solidFill>
                  <a:effectLst>
                    <a:outerShdw blurRad="38100" dist="38100" dir="2700000" algn="tl">
                      <a:srgbClr val="C0C0C0"/>
                    </a:outerShdw>
                  </a:effectLst>
                </a:rPr>
                <a:t>Detector)</a:t>
              </a:r>
            </a:p>
          </p:txBody>
        </p:sp>
        <p:sp>
          <p:nvSpPr>
            <p:cNvPr id="311337" name="Line 41">
              <a:extLst>
                <a:ext uri="{FF2B5EF4-FFF2-40B4-BE49-F238E27FC236}">
                  <a16:creationId xmlns:a16="http://schemas.microsoft.com/office/drawing/2014/main" id="{5A6348F7-8C73-469C-BBF0-A622A9E60CCF}"/>
                </a:ext>
              </a:extLst>
            </p:cNvPr>
            <p:cNvSpPr>
              <a:spLocks noChangeAspect="1" noChangeShapeType="1"/>
            </p:cNvSpPr>
            <p:nvPr/>
          </p:nvSpPr>
          <p:spPr bwMode="auto">
            <a:xfrm>
              <a:off x="4440" y="2125"/>
              <a:ext cx="0" cy="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1338" name="Line 42">
              <a:extLst>
                <a:ext uri="{FF2B5EF4-FFF2-40B4-BE49-F238E27FC236}">
                  <a16:creationId xmlns:a16="http://schemas.microsoft.com/office/drawing/2014/main" id="{B62B2FBF-0819-4191-A8FA-E4A5C4E0671C}"/>
                </a:ext>
              </a:extLst>
            </p:cNvPr>
            <p:cNvSpPr>
              <a:spLocks noChangeAspect="1" noChangeShapeType="1"/>
            </p:cNvSpPr>
            <p:nvPr/>
          </p:nvSpPr>
          <p:spPr bwMode="auto">
            <a:xfrm flipH="1" flipV="1">
              <a:off x="4464" y="2784"/>
              <a:ext cx="194" cy="347"/>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3276" name="Group 60">
            <a:extLst>
              <a:ext uri="{FF2B5EF4-FFF2-40B4-BE49-F238E27FC236}">
                <a16:creationId xmlns:a16="http://schemas.microsoft.com/office/drawing/2014/main" id="{4FB3A877-7971-4ED1-8368-2626AB386ABF}"/>
              </a:ext>
            </a:extLst>
          </p:cNvPr>
          <p:cNvGrpSpPr>
            <a:grpSpLocks/>
          </p:cNvGrpSpPr>
          <p:nvPr/>
        </p:nvGrpSpPr>
        <p:grpSpPr bwMode="auto">
          <a:xfrm>
            <a:off x="6629400" y="990600"/>
            <a:ext cx="2270125" cy="4940300"/>
            <a:chOff x="4091" y="536"/>
            <a:chExt cx="1430" cy="3112"/>
          </a:xfrm>
        </p:grpSpPr>
        <p:pic>
          <p:nvPicPr>
            <p:cNvPr id="393261" name="Picture 45">
              <a:extLst>
                <a:ext uri="{FF2B5EF4-FFF2-40B4-BE49-F238E27FC236}">
                  <a16:creationId xmlns:a16="http://schemas.microsoft.com/office/drawing/2014/main" id="{B6FC9C4A-CAF6-4071-A32E-68D9A1D94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1" y="536"/>
              <a:ext cx="1430" cy="3112"/>
            </a:xfrm>
            <a:prstGeom prst="rect">
              <a:avLst/>
            </a:prstGeom>
            <a:noFill/>
            <a:extLst>
              <a:ext uri="{909E8E84-426E-40DD-AFC4-6F175D3DCCD1}">
                <a14:hiddenFill xmlns:a14="http://schemas.microsoft.com/office/drawing/2010/main">
                  <a:solidFill>
                    <a:srgbClr val="FFFFFF"/>
                  </a:solidFill>
                </a14:hiddenFill>
              </a:ext>
            </a:extLst>
          </p:spPr>
        </p:pic>
        <p:sp>
          <p:nvSpPr>
            <p:cNvPr id="393266" name="Text Box 50">
              <a:extLst>
                <a:ext uri="{FF2B5EF4-FFF2-40B4-BE49-F238E27FC236}">
                  <a16:creationId xmlns:a16="http://schemas.microsoft.com/office/drawing/2014/main" id="{D491BFAB-EDF3-41EF-A4C1-6030BBA9F558}"/>
                </a:ext>
              </a:extLst>
            </p:cNvPr>
            <p:cNvSpPr txBox="1">
              <a:spLocks noChangeAspect="1" noChangeArrowheads="1"/>
            </p:cNvSpPr>
            <p:nvPr/>
          </p:nvSpPr>
          <p:spPr bwMode="auto">
            <a:xfrm>
              <a:off x="4128" y="2304"/>
              <a:ext cx="3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b="1">
                  <a:solidFill>
                    <a:srgbClr val="0033CC"/>
                  </a:solidFill>
                  <a:effectLst>
                    <a:outerShdw blurRad="38100" dist="38100" dir="2700000" algn="tl">
                      <a:srgbClr val="C0C0C0"/>
                    </a:outerShdw>
                  </a:effectLst>
                </a:rPr>
                <a:t>Dry</a:t>
              </a:r>
              <a:endParaRPr lang="en-US" altLang="en-US" sz="1800">
                <a:solidFill>
                  <a:srgbClr val="0033CC"/>
                </a:solidFill>
              </a:endParaRPr>
            </a:p>
          </p:txBody>
        </p:sp>
        <p:sp>
          <p:nvSpPr>
            <p:cNvPr id="393267" name="Text Box 51">
              <a:extLst>
                <a:ext uri="{FF2B5EF4-FFF2-40B4-BE49-F238E27FC236}">
                  <a16:creationId xmlns:a16="http://schemas.microsoft.com/office/drawing/2014/main" id="{E1B64507-7489-4CA9-83BA-9C637FD5671B}"/>
                </a:ext>
              </a:extLst>
            </p:cNvPr>
            <p:cNvSpPr txBox="1">
              <a:spLocks noChangeAspect="1" noChangeArrowheads="1"/>
            </p:cNvSpPr>
            <p:nvPr/>
          </p:nvSpPr>
          <p:spPr bwMode="auto">
            <a:xfrm>
              <a:off x="4176" y="3216"/>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800" b="1">
                  <a:solidFill>
                    <a:srgbClr val="0033CC"/>
                  </a:solidFill>
                  <a:effectLst>
                    <a:outerShdw blurRad="38100" dist="38100" dir="2700000" algn="tl">
                      <a:srgbClr val="C0C0C0"/>
                    </a:outerShdw>
                  </a:effectLst>
                </a:rPr>
                <a:t>Wet</a:t>
              </a:r>
            </a:p>
          </p:txBody>
        </p:sp>
        <p:sp>
          <p:nvSpPr>
            <p:cNvPr id="393274" name="Line 58">
              <a:extLst>
                <a:ext uri="{FF2B5EF4-FFF2-40B4-BE49-F238E27FC236}">
                  <a16:creationId xmlns:a16="http://schemas.microsoft.com/office/drawing/2014/main" id="{74D72A4B-7446-4521-B1C2-D587B8807C5A}"/>
                </a:ext>
              </a:extLst>
            </p:cNvPr>
            <p:cNvSpPr>
              <a:spLocks noChangeAspect="1" noChangeShapeType="1"/>
            </p:cNvSpPr>
            <p:nvPr/>
          </p:nvSpPr>
          <p:spPr bwMode="auto">
            <a:xfrm>
              <a:off x="4681" y="1989"/>
              <a:ext cx="0" cy="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93218" name="Rectangle 2">
            <a:extLst>
              <a:ext uri="{FF2B5EF4-FFF2-40B4-BE49-F238E27FC236}">
                <a16:creationId xmlns:a16="http://schemas.microsoft.com/office/drawing/2014/main" id="{6D9D7DD4-78A6-428E-A647-C2B55663E899}"/>
              </a:ext>
            </a:extLst>
          </p:cNvPr>
          <p:cNvSpPr>
            <a:spLocks noGrp="1" noChangeArrowheads="1"/>
          </p:cNvSpPr>
          <p:nvPr>
            <p:ph type="title"/>
          </p:nvPr>
        </p:nvSpPr>
        <p:spPr>
          <a:xfrm>
            <a:off x="728663" y="168275"/>
            <a:ext cx="7772400" cy="579438"/>
          </a:xfrm>
        </p:spPr>
        <p:txBody>
          <a:bodyPr/>
          <a:lstStyle/>
          <a:p>
            <a:r>
              <a:rPr lang="en-US" altLang="en-US" b="0">
                <a:latin typeface="Comic Sans MS" panose="030F0702030302020204" pitchFamily="66" charset="0"/>
              </a:rPr>
              <a:t>Neutron scattering method</a:t>
            </a:r>
          </a:p>
        </p:txBody>
      </p:sp>
      <p:sp>
        <p:nvSpPr>
          <p:cNvPr id="393219" name="Rectangle 3">
            <a:extLst>
              <a:ext uri="{FF2B5EF4-FFF2-40B4-BE49-F238E27FC236}">
                <a16:creationId xmlns:a16="http://schemas.microsoft.com/office/drawing/2014/main" id="{8DCC5B58-DB40-447D-BBE8-41957F5CABB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0" name="Rectangle 4">
            <a:extLst>
              <a:ext uri="{FF2B5EF4-FFF2-40B4-BE49-F238E27FC236}">
                <a16:creationId xmlns:a16="http://schemas.microsoft.com/office/drawing/2014/main" id="{69A943E7-3BB5-47A1-94FF-8B4F83E762C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1" name="Rectangle 5">
            <a:extLst>
              <a:ext uri="{FF2B5EF4-FFF2-40B4-BE49-F238E27FC236}">
                <a16:creationId xmlns:a16="http://schemas.microsoft.com/office/drawing/2014/main" id="{1E9F9614-544F-450E-A43B-F6A5FA23534B}"/>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2" name="Rectangle 6">
            <a:extLst>
              <a:ext uri="{FF2B5EF4-FFF2-40B4-BE49-F238E27FC236}">
                <a16:creationId xmlns:a16="http://schemas.microsoft.com/office/drawing/2014/main" id="{A2F908E0-2C7F-470B-B08E-AE0BAF0A197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3" name="Rectangle 7">
            <a:extLst>
              <a:ext uri="{FF2B5EF4-FFF2-40B4-BE49-F238E27FC236}">
                <a16:creationId xmlns:a16="http://schemas.microsoft.com/office/drawing/2014/main" id="{4567BFE1-E409-4F2B-9674-EE75DEAD120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4" name="Rectangle 8">
            <a:extLst>
              <a:ext uri="{FF2B5EF4-FFF2-40B4-BE49-F238E27FC236}">
                <a16:creationId xmlns:a16="http://schemas.microsoft.com/office/drawing/2014/main" id="{712093A5-CE40-466F-A9D0-D548412CC82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5" name="Rectangle 9">
            <a:extLst>
              <a:ext uri="{FF2B5EF4-FFF2-40B4-BE49-F238E27FC236}">
                <a16:creationId xmlns:a16="http://schemas.microsoft.com/office/drawing/2014/main" id="{C2D26659-7DC6-40C4-9D97-4090F3B75E8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6" name="Rectangle 10">
            <a:extLst>
              <a:ext uri="{FF2B5EF4-FFF2-40B4-BE49-F238E27FC236}">
                <a16:creationId xmlns:a16="http://schemas.microsoft.com/office/drawing/2014/main" id="{2BE997F6-AC0E-4C29-B4FF-A9CAA502741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7" name="Rectangle 11">
            <a:extLst>
              <a:ext uri="{FF2B5EF4-FFF2-40B4-BE49-F238E27FC236}">
                <a16:creationId xmlns:a16="http://schemas.microsoft.com/office/drawing/2014/main" id="{138416EB-E754-467C-BC9F-A9AD77E7D509}"/>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8" name="Rectangle 12">
            <a:extLst>
              <a:ext uri="{FF2B5EF4-FFF2-40B4-BE49-F238E27FC236}">
                <a16:creationId xmlns:a16="http://schemas.microsoft.com/office/drawing/2014/main" id="{4643A738-04CB-4FBE-BE2B-E10E5062D48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29" name="Rectangle 13">
            <a:extLst>
              <a:ext uri="{FF2B5EF4-FFF2-40B4-BE49-F238E27FC236}">
                <a16:creationId xmlns:a16="http://schemas.microsoft.com/office/drawing/2014/main" id="{61E5E9E6-AE6E-4D5B-ACD5-471AA4C1915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0" name="Rectangle 14">
            <a:extLst>
              <a:ext uri="{FF2B5EF4-FFF2-40B4-BE49-F238E27FC236}">
                <a16:creationId xmlns:a16="http://schemas.microsoft.com/office/drawing/2014/main" id="{2BDA40B2-7E07-40D7-87A2-B574C72FF30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1" name="Rectangle 15">
            <a:extLst>
              <a:ext uri="{FF2B5EF4-FFF2-40B4-BE49-F238E27FC236}">
                <a16:creationId xmlns:a16="http://schemas.microsoft.com/office/drawing/2014/main" id="{95DACFC5-D023-4037-9FC1-51CAD188C0B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2" name="Rectangle 16">
            <a:extLst>
              <a:ext uri="{FF2B5EF4-FFF2-40B4-BE49-F238E27FC236}">
                <a16:creationId xmlns:a16="http://schemas.microsoft.com/office/drawing/2014/main" id="{515562E7-363E-44F4-9AE7-D6FB7C26784D}"/>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3" name="Rectangle 17">
            <a:extLst>
              <a:ext uri="{FF2B5EF4-FFF2-40B4-BE49-F238E27FC236}">
                <a16:creationId xmlns:a16="http://schemas.microsoft.com/office/drawing/2014/main" id="{256C9DA6-3D76-459D-BD9A-C4C6806EFFA0}"/>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4" name="Rectangle 18">
            <a:extLst>
              <a:ext uri="{FF2B5EF4-FFF2-40B4-BE49-F238E27FC236}">
                <a16:creationId xmlns:a16="http://schemas.microsoft.com/office/drawing/2014/main" id="{753A519F-ED0C-4238-A97C-CCB8214E6EC9}"/>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5" name="Rectangle 19">
            <a:extLst>
              <a:ext uri="{FF2B5EF4-FFF2-40B4-BE49-F238E27FC236}">
                <a16:creationId xmlns:a16="http://schemas.microsoft.com/office/drawing/2014/main" id="{702F65B9-962B-4BC4-85C8-A9F4AE4C8ABE}"/>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6" name="Rectangle 20">
            <a:extLst>
              <a:ext uri="{FF2B5EF4-FFF2-40B4-BE49-F238E27FC236}">
                <a16:creationId xmlns:a16="http://schemas.microsoft.com/office/drawing/2014/main" id="{66CB3481-A0D5-4904-898F-CC40263C8292}"/>
              </a:ext>
            </a:extLst>
          </p:cNvPr>
          <p:cNvSpPr>
            <a:spLocks noChangeArrowheads="1"/>
          </p:cNvSpPr>
          <p:nvPr/>
        </p:nvSpPr>
        <p:spPr bwMode="auto">
          <a:xfrm>
            <a:off x="228600" y="838200"/>
            <a:ext cx="7010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4163" indent="-284163">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Arial" panose="020B0604020202020204" pitchFamily="34" charset="0"/>
              <a:buChar char="●"/>
            </a:pPr>
            <a:endParaRPr lang="en-US" altLang="en-US" sz="400" b="1">
              <a:cs typeface="Times New Roman" panose="02020603050405020304" pitchFamily="18" charset="0"/>
            </a:endParaRPr>
          </a:p>
          <a:p>
            <a:pPr>
              <a:spcBef>
                <a:spcPct val="20000"/>
              </a:spcBef>
              <a:spcAft>
                <a:spcPct val="20000"/>
              </a:spcAft>
              <a:buClr>
                <a:srgbClr val="FF3300"/>
              </a:buClr>
              <a:buFont typeface="Arial" panose="020B0604020202020204" pitchFamily="34" charset="0"/>
              <a:buChar char="●"/>
            </a:pPr>
            <a:r>
              <a:rPr lang="en-US" altLang="en-US" sz="1800" b="1">
                <a:cs typeface="Times New Roman" panose="02020603050405020304" pitchFamily="18" charset="0"/>
              </a:rPr>
              <a:t>Fast neutrons are emitted radially into the soil and collide with various atomic nuclei. Collisions with most nuclei are virtually elastic with only minor loss of kinetic energy.</a:t>
            </a:r>
            <a:br>
              <a:rPr lang="en-US" altLang="en-US" sz="1800" b="1">
                <a:cs typeface="Times New Roman" panose="02020603050405020304" pitchFamily="18" charset="0"/>
              </a:rPr>
            </a:br>
            <a:endParaRPr lang="en-US" altLang="en-US" sz="400" b="1">
              <a:cs typeface="Times New Roman" panose="02020603050405020304" pitchFamily="18" charset="0"/>
            </a:endParaRPr>
          </a:p>
          <a:p>
            <a:pPr>
              <a:spcBef>
                <a:spcPct val="20000"/>
              </a:spcBef>
              <a:spcAft>
                <a:spcPct val="20000"/>
              </a:spcAft>
              <a:buClr>
                <a:srgbClr val="FF3300"/>
              </a:buClr>
              <a:buFont typeface="Arial" panose="020B0604020202020204" pitchFamily="34" charset="0"/>
              <a:buChar char="●"/>
            </a:pPr>
            <a:r>
              <a:rPr lang="en-US" altLang="en-US" sz="1800" b="1">
                <a:cs typeface="Times New Roman" panose="02020603050405020304" pitchFamily="18" charset="0"/>
              </a:rPr>
              <a:t>Collisions with hydrogen nuclei causes significant loss of kinetic energy and slow down of the fast neutrons (thermalization).</a:t>
            </a:r>
          </a:p>
        </p:txBody>
      </p:sp>
      <p:sp>
        <p:nvSpPr>
          <p:cNvPr id="393237" name="Rectangle 21">
            <a:extLst>
              <a:ext uri="{FF2B5EF4-FFF2-40B4-BE49-F238E27FC236}">
                <a16:creationId xmlns:a16="http://schemas.microsoft.com/office/drawing/2014/main" id="{8D59E60C-923B-4AC5-973C-3BEF116222DD}"/>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8" name="Rectangle 22">
            <a:extLst>
              <a:ext uri="{FF2B5EF4-FFF2-40B4-BE49-F238E27FC236}">
                <a16:creationId xmlns:a16="http://schemas.microsoft.com/office/drawing/2014/main" id="{39400222-FDCD-4F65-A27F-11CF03A36DB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39" name="Rectangle 23">
            <a:extLst>
              <a:ext uri="{FF2B5EF4-FFF2-40B4-BE49-F238E27FC236}">
                <a16:creationId xmlns:a16="http://schemas.microsoft.com/office/drawing/2014/main" id="{69FE4A32-795C-4A34-B22E-CF6DC5956BAC}"/>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40" name="Rectangle 24">
            <a:extLst>
              <a:ext uri="{FF2B5EF4-FFF2-40B4-BE49-F238E27FC236}">
                <a16:creationId xmlns:a16="http://schemas.microsoft.com/office/drawing/2014/main" id="{93CD17A3-4ED7-4754-9EB1-F2E54D2AC1C9}"/>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41" name="Rectangle 25">
            <a:extLst>
              <a:ext uri="{FF2B5EF4-FFF2-40B4-BE49-F238E27FC236}">
                <a16:creationId xmlns:a16="http://schemas.microsoft.com/office/drawing/2014/main" id="{90E7E5C1-AD73-4580-B912-76CD9395DF24}"/>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3242" name="Rectangle 26">
            <a:extLst>
              <a:ext uri="{FF2B5EF4-FFF2-40B4-BE49-F238E27FC236}">
                <a16:creationId xmlns:a16="http://schemas.microsoft.com/office/drawing/2014/main" id="{2CF0C1D2-7FDA-4F5B-9A4B-EFBA4866B92F}"/>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93259" name="Picture 43">
            <a:extLst>
              <a:ext uri="{FF2B5EF4-FFF2-40B4-BE49-F238E27FC236}">
                <a16:creationId xmlns:a16="http://schemas.microsoft.com/office/drawing/2014/main" id="{40026863-60FE-4888-A22D-605A232AC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895600"/>
            <a:ext cx="5029200" cy="36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A562AEA0-5864-4DE1-91CD-0A142A7AB7BE}"/>
              </a:ext>
            </a:extLst>
          </p:cNvPr>
          <p:cNvSpPr>
            <a:spLocks noGrp="1" noChangeArrowheads="1"/>
          </p:cNvSpPr>
          <p:nvPr>
            <p:ph type="title"/>
          </p:nvPr>
        </p:nvSpPr>
        <p:spPr>
          <a:xfrm>
            <a:off x="762000" y="152400"/>
            <a:ext cx="7772400" cy="579438"/>
          </a:xfrm>
        </p:spPr>
        <p:txBody>
          <a:bodyPr/>
          <a:lstStyle/>
          <a:p>
            <a:r>
              <a:rPr lang="en-US" altLang="en-US" sz="2800">
                <a:latin typeface="Comic Sans MS" panose="030F0702030302020204" pitchFamily="66" charset="0"/>
              </a:rPr>
              <a:t>Neutron Scattering Method</a:t>
            </a:r>
          </a:p>
        </p:txBody>
      </p:sp>
      <p:sp>
        <p:nvSpPr>
          <p:cNvPr id="312323" name="Rectangle 3">
            <a:extLst>
              <a:ext uri="{FF2B5EF4-FFF2-40B4-BE49-F238E27FC236}">
                <a16:creationId xmlns:a16="http://schemas.microsoft.com/office/drawing/2014/main" id="{BC15D65B-29D9-4A1A-ABE5-2F0FB6A1859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4" name="Rectangle 4">
            <a:extLst>
              <a:ext uri="{FF2B5EF4-FFF2-40B4-BE49-F238E27FC236}">
                <a16:creationId xmlns:a16="http://schemas.microsoft.com/office/drawing/2014/main" id="{6E15FFE3-B217-4E59-B709-4B467FD0075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5" name="Rectangle 5">
            <a:extLst>
              <a:ext uri="{FF2B5EF4-FFF2-40B4-BE49-F238E27FC236}">
                <a16:creationId xmlns:a16="http://schemas.microsoft.com/office/drawing/2014/main" id="{5C185623-2A16-4FB6-AB57-FE13FFAC696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6" name="Rectangle 6">
            <a:extLst>
              <a:ext uri="{FF2B5EF4-FFF2-40B4-BE49-F238E27FC236}">
                <a16:creationId xmlns:a16="http://schemas.microsoft.com/office/drawing/2014/main" id="{C0672A9B-A295-4875-A1F1-9CBC99E4A9A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7" name="Rectangle 7">
            <a:extLst>
              <a:ext uri="{FF2B5EF4-FFF2-40B4-BE49-F238E27FC236}">
                <a16:creationId xmlns:a16="http://schemas.microsoft.com/office/drawing/2014/main" id="{35C76B95-7FBD-4E51-8A79-9E7E9B3C96B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8" name="Rectangle 8">
            <a:extLst>
              <a:ext uri="{FF2B5EF4-FFF2-40B4-BE49-F238E27FC236}">
                <a16:creationId xmlns:a16="http://schemas.microsoft.com/office/drawing/2014/main" id="{B82764B0-400A-47F0-A574-ECBBF5F7A41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29" name="Rectangle 9">
            <a:extLst>
              <a:ext uri="{FF2B5EF4-FFF2-40B4-BE49-F238E27FC236}">
                <a16:creationId xmlns:a16="http://schemas.microsoft.com/office/drawing/2014/main" id="{C5F30870-CBD5-42F2-A838-4EB4A4306DE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0" name="Rectangle 10">
            <a:extLst>
              <a:ext uri="{FF2B5EF4-FFF2-40B4-BE49-F238E27FC236}">
                <a16:creationId xmlns:a16="http://schemas.microsoft.com/office/drawing/2014/main" id="{A8F5B0F2-B37F-418C-A554-0DE162E6C29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1" name="Rectangle 11">
            <a:extLst>
              <a:ext uri="{FF2B5EF4-FFF2-40B4-BE49-F238E27FC236}">
                <a16:creationId xmlns:a16="http://schemas.microsoft.com/office/drawing/2014/main" id="{33B4A8C3-2558-44BC-BC60-9A6E1D3FD7D2}"/>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2" name="Rectangle 12">
            <a:extLst>
              <a:ext uri="{FF2B5EF4-FFF2-40B4-BE49-F238E27FC236}">
                <a16:creationId xmlns:a16="http://schemas.microsoft.com/office/drawing/2014/main" id="{365E20BC-00EB-4F79-9CD4-18A276EB9F9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3" name="Rectangle 13">
            <a:extLst>
              <a:ext uri="{FF2B5EF4-FFF2-40B4-BE49-F238E27FC236}">
                <a16:creationId xmlns:a16="http://schemas.microsoft.com/office/drawing/2014/main" id="{F18AB325-3195-457F-B7F7-6708AD296D3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4" name="Rectangle 14">
            <a:extLst>
              <a:ext uri="{FF2B5EF4-FFF2-40B4-BE49-F238E27FC236}">
                <a16:creationId xmlns:a16="http://schemas.microsoft.com/office/drawing/2014/main" id="{97D3BF24-D134-4346-940A-3D4E9BC347A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5" name="Rectangle 15">
            <a:extLst>
              <a:ext uri="{FF2B5EF4-FFF2-40B4-BE49-F238E27FC236}">
                <a16:creationId xmlns:a16="http://schemas.microsoft.com/office/drawing/2014/main" id="{594CAF55-FBE9-4205-812B-82CAAB42079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6" name="Rectangle 16">
            <a:extLst>
              <a:ext uri="{FF2B5EF4-FFF2-40B4-BE49-F238E27FC236}">
                <a16:creationId xmlns:a16="http://schemas.microsoft.com/office/drawing/2014/main" id="{B3D1FDF6-4DDA-44B8-A2A4-8D2E65425116}"/>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7" name="Rectangle 17">
            <a:extLst>
              <a:ext uri="{FF2B5EF4-FFF2-40B4-BE49-F238E27FC236}">
                <a16:creationId xmlns:a16="http://schemas.microsoft.com/office/drawing/2014/main" id="{40FCE4A0-86F8-4921-A211-44022A76FE53}"/>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8" name="Rectangle 18">
            <a:extLst>
              <a:ext uri="{FF2B5EF4-FFF2-40B4-BE49-F238E27FC236}">
                <a16:creationId xmlns:a16="http://schemas.microsoft.com/office/drawing/2014/main" id="{08A49A7D-448D-4CFE-821E-17F2BBB06CEB}"/>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39" name="Rectangle 19">
            <a:extLst>
              <a:ext uri="{FF2B5EF4-FFF2-40B4-BE49-F238E27FC236}">
                <a16:creationId xmlns:a16="http://schemas.microsoft.com/office/drawing/2014/main" id="{1023C1D3-A035-4688-9548-6A3B170EA45C}"/>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0" name="Rectangle 20">
            <a:extLst>
              <a:ext uri="{FF2B5EF4-FFF2-40B4-BE49-F238E27FC236}">
                <a16:creationId xmlns:a16="http://schemas.microsoft.com/office/drawing/2014/main" id="{6B1AC0A0-536F-4C8A-AC69-7C808B8F094A}"/>
              </a:ext>
            </a:extLst>
          </p:cNvPr>
          <p:cNvSpPr>
            <a:spLocks noChangeArrowheads="1"/>
          </p:cNvSpPr>
          <p:nvPr/>
        </p:nvSpPr>
        <p:spPr bwMode="auto">
          <a:xfrm>
            <a:off x="806450" y="914400"/>
            <a:ext cx="81089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When the speed of fast neutrons</a:t>
            </a:r>
            <a:r>
              <a:rPr lang="en-US" altLang="en-US" sz="1800" b="1">
                <a:solidFill>
                  <a:srgbClr val="0033CC"/>
                </a:solidFill>
                <a:cs typeface="Times New Roman" panose="02020603050405020304" pitchFamily="18" charset="0"/>
              </a:rPr>
              <a:t> </a:t>
            </a:r>
            <a:r>
              <a:rPr lang="en-US" altLang="en-US" sz="1800" b="1">
                <a:solidFill>
                  <a:srgbClr val="CC0000"/>
                </a:solidFill>
                <a:cs typeface="Times New Roman" panose="02020603050405020304" pitchFamily="18" charset="0"/>
              </a:rPr>
              <a:t>(1600 km/s with corresponding energy of 2-4 MeV)</a:t>
            </a:r>
            <a:r>
              <a:rPr lang="en-US" altLang="en-US" sz="1800" b="1">
                <a:solidFill>
                  <a:srgbClr val="0033CC"/>
                </a:solidFill>
                <a:cs typeface="Times New Roman" panose="02020603050405020304" pitchFamily="18" charset="0"/>
              </a:rPr>
              <a:t> </a:t>
            </a:r>
            <a:r>
              <a:rPr lang="en-US" altLang="en-US" sz="1800" b="1">
                <a:cs typeface="Times New Roman" panose="02020603050405020304" pitchFamily="18" charset="0"/>
              </a:rPr>
              <a:t>diminishes to that of particles at ambient temperature</a:t>
            </a:r>
            <a:r>
              <a:rPr lang="en-US" altLang="en-US" sz="1800" b="1">
                <a:solidFill>
                  <a:srgbClr val="0033CC"/>
                </a:solidFill>
                <a:cs typeface="Times New Roman" panose="02020603050405020304" pitchFamily="18" charset="0"/>
              </a:rPr>
              <a:t> </a:t>
            </a:r>
            <a:r>
              <a:rPr lang="en-US" altLang="en-US" sz="1800" b="1">
                <a:solidFill>
                  <a:srgbClr val="CC0000"/>
                </a:solidFill>
              </a:rPr>
              <a:t>(2.7 km/s with corresponding energy of 0.03 eV)</a:t>
            </a:r>
            <a:r>
              <a:rPr lang="en-US" altLang="en-US" sz="1800">
                <a:solidFill>
                  <a:srgbClr val="0033CC"/>
                </a:solidFill>
              </a:rPr>
              <a:t> </a:t>
            </a:r>
            <a:r>
              <a:rPr lang="en-US" altLang="en-US" sz="1800" b="1"/>
              <a:t>they are called thermalized or slow neutrons.</a:t>
            </a:r>
            <a:br>
              <a:rPr lang="en-US" altLang="en-US" sz="1800" b="1"/>
            </a:br>
            <a:endParaRPr lang="en-US" altLang="en-US" sz="800" b="1"/>
          </a:p>
          <a:p>
            <a:pPr>
              <a:spcBef>
                <a:spcPct val="20000"/>
              </a:spcBef>
              <a:spcAft>
                <a:spcPct val="20000"/>
              </a:spcAft>
              <a:buClr>
                <a:srgbClr val="FF3300"/>
              </a:buClr>
              <a:buFont typeface="CommonBullets" pitchFamily="34" charset="2"/>
              <a:buNone/>
            </a:pPr>
            <a:r>
              <a:rPr lang="en-US" altLang="en-US" sz="1800" b="1"/>
              <a:t>Thermalized neutrons rapidly form a cloud of nearly constant density near the probe, where the flux (number) of slow neutrons is measured by the detector.</a:t>
            </a:r>
            <a:br>
              <a:rPr lang="en-US" altLang="en-US" sz="1800" b="1"/>
            </a:br>
            <a:r>
              <a:rPr lang="en-US" altLang="en-US" sz="800" b="1"/>
              <a:t>    </a:t>
            </a:r>
            <a:endParaRPr lang="en-US" altLang="en-US" sz="800" b="1">
              <a:cs typeface="Times New Roman" panose="02020603050405020304" pitchFamily="18" charset="0"/>
            </a:endParaRPr>
          </a:p>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The number of slow neutrons is proportional to the number of hydrogen nuclei (water content)</a:t>
            </a:r>
            <a:br>
              <a:rPr lang="en-US" altLang="en-US" sz="1800" b="1">
                <a:cs typeface="Times New Roman" panose="02020603050405020304" pitchFamily="18" charset="0"/>
              </a:rPr>
            </a:br>
            <a:endParaRPr lang="en-US" altLang="en-US" sz="800" b="1">
              <a:solidFill>
                <a:srgbClr val="0033CC"/>
              </a:solidFill>
              <a:cs typeface="Times New Roman" panose="02020603050405020304" pitchFamily="18" charset="0"/>
            </a:endParaRPr>
          </a:p>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The sphere of influence about the radiation source can be approximated with:</a:t>
            </a:r>
            <a:endParaRPr lang="en-US" altLang="en-US" sz="1800" b="1">
              <a:solidFill>
                <a:srgbClr val="0033CC"/>
              </a:solidFill>
              <a:cs typeface="Times New Roman" panose="02020603050405020304" pitchFamily="18" charset="0"/>
            </a:endParaRPr>
          </a:p>
        </p:txBody>
      </p:sp>
      <p:sp>
        <p:nvSpPr>
          <p:cNvPr id="312341" name="Rectangle 21">
            <a:extLst>
              <a:ext uri="{FF2B5EF4-FFF2-40B4-BE49-F238E27FC236}">
                <a16:creationId xmlns:a16="http://schemas.microsoft.com/office/drawing/2014/main" id="{9E787D96-2094-4FA6-A74F-2F41D0BF28B7}"/>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2" name="Rectangle 22">
            <a:extLst>
              <a:ext uri="{FF2B5EF4-FFF2-40B4-BE49-F238E27FC236}">
                <a16:creationId xmlns:a16="http://schemas.microsoft.com/office/drawing/2014/main" id="{2A1CDD71-2762-4B60-A029-8D24E81D7A2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3" name="Rectangle 23">
            <a:extLst>
              <a:ext uri="{FF2B5EF4-FFF2-40B4-BE49-F238E27FC236}">
                <a16:creationId xmlns:a16="http://schemas.microsoft.com/office/drawing/2014/main" id="{A664FFEF-87C5-4722-A4AF-B935B1600579}"/>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4" name="Rectangle 24">
            <a:extLst>
              <a:ext uri="{FF2B5EF4-FFF2-40B4-BE49-F238E27FC236}">
                <a16:creationId xmlns:a16="http://schemas.microsoft.com/office/drawing/2014/main" id="{B1F80D1E-798D-4AFF-BFE6-47F8AFD202A8}"/>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5" name="Rectangle 25">
            <a:extLst>
              <a:ext uri="{FF2B5EF4-FFF2-40B4-BE49-F238E27FC236}">
                <a16:creationId xmlns:a16="http://schemas.microsoft.com/office/drawing/2014/main" id="{AC2A310C-320E-478F-B67C-EA3457A1180D}"/>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6" name="Rectangle 26">
            <a:extLst>
              <a:ext uri="{FF2B5EF4-FFF2-40B4-BE49-F238E27FC236}">
                <a16:creationId xmlns:a16="http://schemas.microsoft.com/office/drawing/2014/main" id="{C9493DA3-1B6D-45DC-A52E-18E613194B7B}"/>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2347" name="Rectangle 27">
            <a:extLst>
              <a:ext uri="{FF2B5EF4-FFF2-40B4-BE49-F238E27FC236}">
                <a16:creationId xmlns:a16="http://schemas.microsoft.com/office/drawing/2014/main" id="{46E6CFCA-A6A1-4F2E-BD25-482A965A9AD4}"/>
              </a:ext>
            </a:extLst>
          </p:cNvPr>
          <p:cNvSpPr>
            <a:spLocks noChangeArrowheads="1"/>
          </p:cNvSpPr>
          <p:nvPr/>
        </p:nvSpPr>
        <p:spPr bwMode="auto">
          <a:xfrm>
            <a:off x="0" y="3335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12348" name="Object 28">
            <a:extLst>
              <a:ext uri="{FF2B5EF4-FFF2-40B4-BE49-F238E27FC236}">
                <a16:creationId xmlns:a16="http://schemas.microsoft.com/office/drawing/2014/main" id="{DD52DE2E-70E9-4929-B1F1-0274E8D1320B}"/>
              </a:ext>
            </a:extLst>
          </p:cNvPr>
          <p:cNvGraphicFramePr>
            <a:graphicFrameLocks noChangeAspect="1"/>
          </p:cNvGraphicFramePr>
          <p:nvPr/>
        </p:nvGraphicFramePr>
        <p:xfrm>
          <a:off x="2667000" y="4648200"/>
          <a:ext cx="3962400" cy="803275"/>
        </p:xfrm>
        <a:graphic>
          <a:graphicData uri="http://schemas.openxmlformats.org/presentationml/2006/ole">
            <mc:AlternateContent xmlns:mc="http://schemas.openxmlformats.org/markup-compatibility/2006">
              <mc:Choice xmlns:v="urn:schemas-microsoft-com:vml" Requires="v">
                <p:oleObj spid="_x0000_s312354" name="Equation" r:id="rId3" imgW="1358900" imgH="279400" progId="Equation.3">
                  <p:embed/>
                </p:oleObj>
              </mc:Choice>
              <mc:Fallback>
                <p:oleObj name="Equation" r:id="rId3" imgW="1358900" imgH="279400"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648200"/>
                        <a:ext cx="3962400" cy="80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2349" name="Rectangle 29">
            <a:extLst>
              <a:ext uri="{FF2B5EF4-FFF2-40B4-BE49-F238E27FC236}">
                <a16:creationId xmlns:a16="http://schemas.microsoft.com/office/drawing/2014/main" id="{158ADE4F-8337-4F97-AE0E-8F85584890DA}"/>
              </a:ext>
            </a:extLst>
          </p:cNvPr>
          <p:cNvSpPr>
            <a:spLocks noChangeArrowheads="1"/>
          </p:cNvSpPr>
          <p:nvPr/>
        </p:nvSpPr>
        <p:spPr bwMode="auto">
          <a:xfrm>
            <a:off x="2667000" y="5638800"/>
            <a:ext cx="4419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2400" b="1">
                <a:solidFill>
                  <a:srgbClr val="FF0066"/>
                </a:solidFill>
              </a:rPr>
              <a:t> </a:t>
            </a:r>
            <a:r>
              <a:rPr lang="en-US" altLang="en-US" sz="2400" b="1">
                <a:solidFill>
                  <a:srgbClr val="CC0000"/>
                </a:solidFill>
              </a:rPr>
              <a:t>~ 15 cm in wet soils</a:t>
            </a:r>
          </a:p>
          <a:p>
            <a:pPr>
              <a:spcBef>
                <a:spcPct val="20000"/>
              </a:spcBef>
              <a:spcAft>
                <a:spcPct val="20000"/>
              </a:spcAft>
              <a:buClr>
                <a:srgbClr val="FF3300"/>
              </a:buClr>
              <a:buFont typeface="CommonBullets" pitchFamily="34" charset="2"/>
              <a:buNone/>
            </a:pPr>
            <a:r>
              <a:rPr lang="en-US" altLang="en-US" sz="2400">
                <a:solidFill>
                  <a:srgbClr val="CC0000"/>
                </a:solidFill>
              </a:rPr>
              <a:t> </a:t>
            </a:r>
            <a:r>
              <a:rPr lang="en-US" altLang="en-US" sz="2400" b="1">
                <a:solidFill>
                  <a:srgbClr val="CC0000"/>
                </a:solidFill>
              </a:rPr>
              <a:t>~ 70 cm in very dry soil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a:extLst>
              <a:ext uri="{FF2B5EF4-FFF2-40B4-BE49-F238E27FC236}">
                <a16:creationId xmlns:a16="http://schemas.microsoft.com/office/drawing/2014/main" id="{765FEA3C-FA3B-40D2-80B4-9309B0C6A66D}"/>
              </a:ext>
            </a:extLst>
          </p:cNvPr>
          <p:cNvSpPr>
            <a:spLocks noGrp="1" noChangeArrowheads="1"/>
          </p:cNvSpPr>
          <p:nvPr>
            <p:ph type="title"/>
          </p:nvPr>
        </p:nvSpPr>
        <p:spPr>
          <a:xfrm>
            <a:off x="762000" y="152400"/>
            <a:ext cx="7772400" cy="579438"/>
          </a:xfrm>
        </p:spPr>
        <p:txBody>
          <a:bodyPr/>
          <a:lstStyle/>
          <a:p>
            <a:r>
              <a:rPr lang="en-US" altLang="en-US"/>
              <a:t>Neutron Scattering Method</a:t>
            </a:r>
          </a:p>
        </p:txBody>
      </p:sp>
      <p:sp>
        <p:nvSpPr>
          <p:cNvPr id="313347" name="Rectangle 3">
            <a:extLst>
              <a:ext uri="{FF2B5EF4-FFF2-40B4-BE49-F238E27FC236}">
                <a16:creationId xmlns:a16="http://schemas.microsoft.com/office/drawing/2014/main" id="{449BA54F-89F1-4D23-B1C1-0350ED3CEB5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48" name="Rectangle 4">
            <a:extLst>
              <a:ext uri="{FF2B5EF4-FFF2-40B4-BE49-F238E27FC236}">
                <a16:creationId xmlns:a16="http://schemas.microsoft.com/office/drawing/2014/main" id="{E1AEF37E-A5E3-4E78-9343-1258B331DF3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49" name="Rectangle 5">
            <a:extLst>
              <a:ext uri="{FF2B5EF4-FFF2-40B4-BE49-F238E27FC236}">
                <a16:creationId xmlns:a16="http://schemas.microsoft.com/office/drawing/2014/main" id="{0BDF4C6A-8A9C-432F-8A2E-C14D7F0D4FE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0" name="Rectangle 6">
            <a:extLst>
              <a:ext uri="{FF2B5EF4-FFF2-40B4-BE49-F238E27FC236}">
                <a16:creationId xmlns:a16="http://schemas.microsoft.com/office/drawing/2014/main" id="{6A99CC52-03C2-42DE-A475-8CBC73B62FCF}"/>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1" name="Rectangle 7">
            <a:extLst>
              <a:ext uri="{FF2B5EF4-FFF2-40B4-BE49-F238E27FC236}">
                <a16:creationId xmlns:a16="http://schemas.microsoft.com/office/drawing/2014/main" id="{4F602E66-059B-456D-9D5C-783D32BECCC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2" name="Rectangle 8">
            <a:extLst>
              <a:ext uri="{FF2B5EF4-FFF2-40B4-BE49-F238E27FC236}">
                <a16:creationId xmlns:a16="http://schemas.microsoft.com/office/drawing/2014/main" id="{E31BEF92-8C71-401C-89FA-2E1B0140E5D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3" name="Rectangle 9">
            <a:extLst>
              <a:ext uri="{FF2B5EF4-FFF2-40B4-BE49-F238E27FC236}">
                <a16:creationId xmlns:a16="http://schemas.microsoft.com/office/drawing/2014/main" id="{734E4B32-D357-4AD7-A3D2-7767F59AF2C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4" name="Rectangle 10">
            <a:extLst>
              <a:ext uri="{FF2B5EF4-FFF2-40B4-BE49-F238E27FC236}">
                <a16:creationId xmlns:a16="http://schemas.microsoft.com/office/drawing/2014/main" id="{DECE3762-43A2-4554-ADFE-AFDBAFE25B4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5" name="Rectangle 11">
            <a:extLst>
              <a:ext uri="{FF2B5EF4-FFF2-40B4-BE49-F238E27FC236}">
                <a16:creationId xmlns:a16="http://schemas.microsoft.com/office/drawing/2014/main" id="{7F035360-33F4-4802-AE21-0D5FFB085176}"/>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6" name="Rectangle 12">
            <a:extLst>
              <a:ext uri="{FF2B5EF4-FFF2-40B4-BE49-F238E27FC236}">
                <a16:creationId xmlns:a16="http://schemas.microsoft.com/office/drawing/2014/main" id="{D01FAC43-73FD-4896-B6BC-059459E480D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7" name="Rectangle 13">
            <a:extLst>
              <a:ext uri="{FF2B5EF4-FFF2-40B4-BE49-F238E27FC236}">
                <a16:creationId xmlns:a16="http://schemas.microsoft.com/office/drawing/2014/main" id="{42C544EF-0864-4402-8F94-B4985892122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8" name="Rectangle 14">
            <a:extLst>
              <a:ext uri="{FF2B5EF4-FFF2-40B4-BE49-F238E27FC236}">
                <a16:creationId xmlns:a16="http://schemas.microsoft.com/office/drawing/2014/main" id="{69CB13AD-D437-4B23-B5BA-EBF126E94E2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59" name="Rectangle 15">
            <a:extLst>
              <a:ext uri="{FF2B5EF4-FFF2-40B4-BE49-F238E27FC236}">
                <a16:creationId xmlns:a16="http://schemas.microsoft.com/office/drawing/2014/main" id="{A88AA99D-752A-4230-BCE8-98BB870E0A4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0" name="Rectangle 16">
            <a:extLst>
              <a:ext uri="{FF2B5EF4-FFF2-40B4-BE49-F238E27FC236}">
                <a16:creationId xmlns:a16="http://schemas.microsoft.com/office/drawing/2014/main" id="{92BF208B-CC6B-4C5B-83C0-CE840BB18997}"/>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1" name="Rectangle 17">
            <a:extLst>
              <a:ext uri="{FF2B5EF4-FFF2-40B4-BE49-F238E27FC236}">
                <a16:creationId xmlns:a16="http://schemas.microsoft.com/office/drawing/2014/main" id="{810FD93F-27FB-437E-9F62-E209B1AA7951}"/>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2" name="Rectangle 18">
            <a:extLst>
              <a:ext uri="{FF2B5EF4-FFF2-40B4-BE49-F238E27FC236}">
                <a16:creationId xmlns:a16="http://schemas.microsoft.com/office/drawing/2014/main" id="{7001D54A-EB86-4304-856F-C976F4100941}"/>
              </a:ext>
            </a:extLst>
          </p:cNvPr>
          <p:cNvSpPr>
            <a:spLocks noChangeArrowheads="1"/>
          </p:cNvSpPr>
          <p:nvPr/>
        </p:nvSpPr>
        <p:spPr bwMode="auto">
          <a:xfrm>
            <a:off x="0" y="3090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3" name="Rectangle 19">
            <a:extLst>
              <a:ext uri="{FF2B5EF4-FFF2-40B4-BE49-F238E27FC236}">
                <a16:creationId xmlns:a16="http://schemas.microsoft.com/office/drawing/2014/main" id="{8ECC3995-4ED9-43A7-B785-5E2BE95ABCDC}"/>
              </a:ext>
            </a:extLst>
          </p:cNvPr>
          <p:cNvSpPr>
            <a:spLocks noChangeArrowheads="1"/>
          </p:cNvSpPr>
          <p:nvPr/>
        </p:nvSpPr>
        <p:spPr bwMode="auto">
          <a:xfrm>
            <a:off x="0" y="3081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4" name="Rectangle 20">
            <a:extLst>
              <a:ext uri="{FF2B5EF4-FFF2-40B4-BE49-F238E27FC236}">
                <a16:creationId xmlns:a16="http://schemas.microsoft.com/office/drawing/2014/main" id="{BF03BEAB-3D0F-4B81-AA9E-42E29852691E}"/>
              </a:ext>
            </a:extLst>
          </p:cNvPr>
          <p:cNvSpPr>
            <a:spLocks noChangeArrowheads="1"/>
          </p:cNvSpPr>
          <p:nvPr/>
        </p:nvSpPr>
        <p:spPr bwMode="auto">
          <a:xfrm>
            <a:off x="762000" y="738188"/>
            <a:ext cx="8337550" cy="17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Calibration of the Neutron Probe is necessary to account for background hydrogen sources and other local effects like bulk density.</a:t>
            </a:r>
            <a:br>
              <a:rPr lang="en-US" altLang="en-US" sz="1800" b="1">
                <a:cs typeface="Times New Roman" panose="02020603050405020304" pitchFamily="18" charset="0"/>
              </a:rPr>
            </a:br>
            <a:endParaRPr lang="en-US" altLang="en-US" sz="800" b="1">
              <a:cs typeface="Times New Roman" panose="02020603050405020304" pitchFamily="18" charset="0"/>
            </a:endParaRPr>
          </a:p>
          <a:p>
            <a:pPr>
              <a:spcBef>
                <a:spcPct val="20000"/>
              </a:spcBef>
              <a:spcAft>
                <a:spcPct val="20000"/>
              </a:spcAft>
              <a:buClr>
                <a:srgbClr val="FF3300"/>
              </a:buClr>
              <a:buFont typeface="CommonBullets" pitchFamily="34" charset="2"/>
              <a:buNone/>
            </a:pPr>
            <a:r>
              <a:rPr lang="en-US" altLang="en-US" sz="1800" b="1">
                <a:cs typeface="Times New Roman" panose="02020603050405020304" pitchFamily="18" charset="0"/>
              </a:rPr>
              <a:t>Calibration is achieved by simultaneously measuring soil water content and count ratio CR - ratio of slow neutrons to standard count obtained with the radiation source in the shield. </a:t>
            </a:r>
          </a:p>
        </p:txBody>
      </p:sp>
      <p:sp>
        <p:nvSpPr>
          <p:cNvPr id="313365" name="Rectangle 21">
            <a:extLst>
              <a:ext uri="{FF2B5EF4-FFF2-40B4-BE49-F238E27FC236}">
                <a16:creationId xmlns:a16="http://schemas.microsoft.com/office/drawing/2014/main" id="{A6A1517E-8623-4E3C-9561-4526508C49FA}"/>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6" name="Rectangle 22">
            <a:extLst>
              <a:ext uri="{FF2B5EF4-FFF2-40B4-BE49-F238E27FC236}">
                <a16:creationId xmlns:a16="http://schemas.microsoft.com/office/drawing/2014/main" id="{CC86C6A9-50E8-463B-BF7D-55406CE80A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7" name="Rectangle 23">
            <a:extLst>
              <a:ext uri="{FF2B5EF4-FFF2-40B4-BE49-F238E27FC236}">
                <a16:creationId xmlns:a16="http://schemas.microsoft.com/office/drawing/2014/main" id="{034B15F4-1EBD-4F8B-A252-9D4E06FF7A93}"/>
              </a:ext>
            </a:extLst>
          </p:cNvPr>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8" name="Rectangle 24">
            <a:extLst>
              <a:ext uri="{FF2B5EF4-FFF2-40B4-BE49-F238E27FC236}">
                <a16:creationId xmlns:a16="http://schemas.microsoft.com/office/drawing/2014/main" id="{84A45797-A613-48C0-9FBE-E864CB8DF809}"/>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69" name="Rectangle 25">
            <a:extLst>
              <a:ext uri="{FF2B5EF4-FFF2-40B4-BE49-F238E27FC236}">
                <a16:creationId xmlns:a16="http://schemas.microsoft.com/office/drawing/2014/main" id="{2E7F319C-61EF-4A6F-9FCF-D4BEF1801251}"/>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70" name="Rectangle 26">
            <a:extLst>
              <a:ext uri="{FF2B5EF4-FFF2-40B4-BE49-F238E27FC236}">
                <a16:creationId xmlns:a16="http://schemas.microsoft.com/office/drawing/2014/main" id="{94F2B96F-5A6C-456E-8501-17ED1D50A1DF}"/>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71" name="Rectangle 27">
            <a:extLst>
              <a:ext uri="{FF2B5EF4-FFF2-40B4-BE49-F238E27FC236}">
                <a16:creationId xmlns:a16="http://schemas.microsoft.com/office/drawing/2014/main" id="{F422797D-90D0-4521-A8EA-F47DD379401C}"/>
              </a:ext>
            </a:extLst>
          </p:cNvPr>
          <p:cNvSpPr>
            <a:spLocks noChangeArrowheads="1"/>
          </p:cNvSpPr>
          <p:nvPr/>
        </p:nvSpPr>
        <p:spPr bwMode="auto">
          <a:xfrm>
            <a:off x="0" y="3335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3372" name="Rectangle 28">
            <a:extLst>
              <a:ext uri="{FF2B5EF4-FFF2-40B4-BE49-F238E27FC236}">
                <a16:creationId xmlns:a16="http://schemas.microsoft.com/office/drawing/2014/main" id="{6055F31B-D443-4CBC-AA39-F23990F433B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13375" name="Picture 31">
            <a:extLst>
              <a:ext uri="{FF2B5EF4-FFF2-40B4-BE49-F238E27FC236}">
                <a16:creationId xmlns:a16="http://schemas.microsoft.com/office/drawing/2014/main" id="{27C06B16-CCB1-4828-978C-AF3A342B2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362200"/>
            <a:ext cx="5410200" cy="366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13374" name="Object 30">
            <a:extLst>
              <a:ext uri="{FF2B5EF4-FFF2-40B4-BE49-F238E27FC236}">
                <a16:creationId xmlns:a16="http://schemas.microsoft.com/office/drawing/2014/main" id="{24B4EEA1-5295-48C9-A1BD-5E514D3D3D1D}"/>
              </a:ext>
            </a:extLst>
          </p:cNvPr>
          <p:cNvGraphicFramePr>
            <a:graphicFrameLocks noChangeAspect="1"/>
          </p:cNvGraphicFramePr>
          <p:nvPr/>
        </p:nvGraphicFramePr>
        <p:xfrm>
          <a:off x="2590800" y="5943600"/>
          <a:ext cx="3124200" cy="630238"/>
        </p:xfrm>
        <a:graphic>
          <a:graphicData uri="http://schemas.openxmlformats.org/presentationml/2006/ole">
            <mc:AlternateContent xmlns:mc="http://schemas.openxmlformats.org/markup-compatibility/2006">
              <mc:Choice xmlns:v="urn:schemas-microsoft-com:vml" Requires="v">
                <p:oleObj spid="_x0000_s313381" name="Equation" r:id="rId4" imgW="1130300" imgH="228600" progId="Equation.3">
                  <p:embed/>
                </p:oleObj>
              </mc:Choice>
              <mc:Fallback>
                <p:oleObj name="Equation" r:id="rId4" imgW="1130300" imgH="228600" progId="Equation.3">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943600"/>
                        <a:ext cx="3124200" cy="630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3">
            <a:extLst>
              <a:ext uri="{FF2B5EF4-FFF2-40B4-BE49-F238E27FC236}">
                <a16:creationId xmlns:a16="http://schemas.microsoft.com/office/drawing/2014/main" id="{626F325A-5C33-4C9D-9569-A2CD71871B79}"/>
              </a:ext>
            </a:extLst>
          </p:cNvPr>
          <p:cNvSpPr>
            <a:spLocks noGrp="1" noChangeArrowheads="1"/>
          </p:cNvSpPr>
          <p:nvPr>
            <p:ph type="title" sz="quarter"/>
          </p:nvPr>
        </p:nvSpPr>
        <p:spPr>
          <a:xfrm>
            <a:off x="762000" y="152400"/>
            <a:ext cx="7772400" cy="579438"/>
          </a:xfrm>
        </p:spPr>
        <p:txBody>
          <a:bodyPr/>
          <a:lstStyle/>
          <a:p>
            <a:r>
              <a:rPr lang="en-US" altLang="en-US" b="0">
                <a:latin typeface="Comic Sans MS" panose="030F0702030302020204" pitchFamily="66" charset="0"/>
              </a:rPr>
              <a:t>Instrument and calibration errors</a:t>
            </a:r>
          </a:p>
        </p:txBody>
      </p:sp>
      <p:sp>
        <p:nvSpPr>
          <p:cNvPr id="392196" name="Rectangle 4">
            <a:extLst>
              <a:ext uri="{FF2B5EF4-FFF2-40B4-BE49-F238E27FC236}">
                <a16:creationId xmlns:a16="http://schemas.microsoft.com/office/drawing/2014/main" id="{2D723B0E-8BCE-4E65-964B-AEAC5351331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197" name="Rectangle 5">
            <a:extLst>
              <a:ext uri="{FF2B5EF4-FFF2-40B4-BE49-F238E27FC236}">
                <a16:creationId xmlns:a16="http://schemas.microsoft.com/office/drawing/2014/main" id="{DAE702DE-D37B-4CA8-8DF2-7084A0F2DA8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198" name="Rectangle 6">
            <a:extLst>
              <a:ext uri="{FF2B5EF4-FFF2-40B4-BE49-F238E27FC236}">
                <a16:creationId xmlns:a16="http://schemas.microsoft.com/office/drawing/2014/main" id="{39E69430-A3EB-4481-9FF1-BA6B008C307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199" name="Rectangle 7">
            <a:extLst>
              <a:ext uri="{FF2B5EF4-FFF2-40B4-BE49-F238E27FC236}">
                <a16:creationId xmlns:a16="http://schemas.microsoft.com/office/drawing/2014/main" id="{7B657510-C4E4-4879-BC49-E57184D7120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0" name="Rectangle 8">
            <a:extLst>
              <a:ext uri="{FF2B5EF4-FFF2-40B4-BE49-F238E27FC236}">
                <a16:creationId xmlns:a16="http://schemas.microsoft.com/office/drawing/2014/main" id="{335EE53A-DF71-4A33-81AA-30B13D1D1C8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1" name="Rectangle 9">
            <a:extLst>
              <a:ext uri="{FF2B5EF4-FFF2-40B4-BE49-F238E27FC236}">
                <a16:creationId xmlns:a16="http://schemas.microsoft.com/office/drawing/2014/main" id="{43C42787-A3F1-41EF-BD1F-69534D417DC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2" name="Rectangle 10">
            <a:extLst>
              <a:ext uri="{FF2B5EF4-FFF2-40B4-BE49-F238E27FC236}">
                <a16:creationId xmlns:a16="http://schemas.microsoft.com/office/drawing/2014/main" id="{62C0B1B6-0EF9-46F9-AECB-898F87C96BB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3" name="Rectangle 11">
            <a:extLst>
              <a:ext uri="{FF2B5EF4-FFF2-40B4-BE49-F238E27FC236}">
                <a16:creationId xmlns:a16="http://schemas.microsoft.com/office/drawing/2014/main" id="{3A01C125-7C25-4D37-BFCA-52F48F44997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4" name="Rectangle 12">
            <a:extLst>
              <a:ext uri="{FF2B5EF4-FFF2-40B4-BE49-F238E27FC236}">
                <a16:creationId xmlns:a16="http://schemas.microsoft.com/office/drawing/2014/main" id="{EBEF41DE-B301-4068-9524-5CAA09B66FAC}"/>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5" name="Rectangle 13">
            <a:extLst>
              <a:ext uri="{FF2B5EF4-FFF2-40B4-BE49-F238E27FC236}">
                <a16:creationId xmlns:a16="http://schemas.microsoft.com/office/drawing/2014/main" id="{31FED82D-9F57-4E44-B4A9-564D717951B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6" name="Rectangle 14">
            <a:extLst>
              <a:ext uri="{FF2B5EF4-FFF2-40B4-BE49-F238E27FC236}">
                <a16:creationId xmlns:a16="http://schemas.microsoft.com/office/drawing/2014/main" id="{7BF3BFBF-097E-415F-A8AC-B11E3D7C0D9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7" name="Rectangle 15">
            <a:extLst>
              <a:ext uri="{FF2B5EF4-FFF2-40B4-BE49-F238E27FC236}">
                <a16:creationId xmlns:a16="http://schemas.microsoft.com/office/drawing/2014/main" id="{256FD597-E7CA-4666-9EED-81E67BCB09B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8" name="Rectangle 16">
            <a:extLst>
              <a:ext uri="{FF2B5EF4-FFF2-40B4-BE49-F238E27FC236}">
                <a16:creationId xmlns:a16="http://schemas.microsoft.com/office/drawing/2014/main" id="{F8B2CD45-563F-4DBA-B581-23A96B22D49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09" name="Rectangle 17">
            <a:extLst>
              <a:ext uri="{FF2B5EF4-FFF2-40B4-BE49-F238E27FC236}">
                <a16:creationId xmlns:a16="http://schemas.microsoft.com/office/drawing/2014/main" id="{10C61085-BD79-4025-8DAC-DED0F33B436B}"/>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10" name="Text Box 18">
            <a:extLst>
              <a:ext uri="{FF2B5EF4-FFF2-40B4-BE49-F238E27FC236}">
                <a16:creationId xmlns:a16="http://schemas.microsoft.com/office/drawing/2014/main" id="{3665B2B9-9568-4B68-A690-CC688C74BBDC}"/>
              </a:ext>
            </a:extLst>
          </p:cNvPr>
          <p:cNvSpPr txBox="1">
            <a:spLocks noChangeArrowheads="1"/>
          </p:cNvSpPr>
          <p:nvPr/>
        </p:nvSpPr>
        <p:spPr bwMode="auto">
          <a:xfrm>
            <a:off x="533400" y="838200"/>
            <a:ext cx="8143875"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65100" indent="-1651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buClr>
                <a:srgbClr val="FF3300"/>
              </a:buClr>
              <a:buFont typeface="Arial" panose="020B0604020202020204" pitchFamily="34" charset="0"/>
              <a:buChar char="●"/>
            </a:pPr>
            <a:r>
              <a:rPr lang="en-US" altLang="en-US" sz="1600" b="1"/>
              <a:t>A calibration curve is establish via linear regression - a statistical procedure that assumes linear relationships between two variables enabling prediction of one  (dependent variable) from knowledge of the other (independent variable).</a:t>
            </a:r>
          </a:p>
          <a:p>
            <a:pPr eaLnBrk="0" hangingPunct="0">
              <a:buClr>
                <a:srgbClr val="FF3300"/>
              </a:buClr>
              <a:buFont typeface="Arial" panose="020B0604020202020204" pitchFamily="34" charset="0"/>
              <a:buChar char="●"/>
            </a:pPr>
            <a:endParaRPr lang="en-US" altLang="en-US" sz="1600" b="1"/>
          </a:p>
          <a:p>
            <a:pPr eaLnBrk="0" hangingPunct="0">
              <a:buClr>
                <a:srgbClr val="FF3300"/>
              </a:buClr>
              <a:buFont typeface="Arial" panose="020B0604020202020204" pitchFamily="34" charset="0"/>
              <a:buChar char="●"/>
            </a:pPr>
            <a:endParaRPr lang="en-US" altLang="en-US" sz="1600" b="1"/>
          </a:p>
          <a:p>
            <a:pPr eaLnBrk="0" hangingPunct="0">
              <a:buClr>
                <a:srgbClr val="FF3300"/>
              </a:buClr>
              <a:buFont typeface="Arial" panose="020B0604020202020204" pitchFamily="34" charset="0"/>
              <a:buChar char="●"/>
            </a:pPr>
            <a:endParaRPr lang="en-US" altLang="en-US" sz="1600" b="1"/>
          </a:p>
          <a:p>
            <a:pPr eaLnBrk="0" hangingPunct="0">
              <a:buClr>
                <a:srgbClr val="FF3300"/>
              </a:buClr>
              <a:buFont typeface="Arial" panose="020B0604020202020204" pitchFamily="34" charset="0"/>
              <a:buNone/>
            </a:pPr>
            <a:endParaRPr lang="en-US" altLang="en-US" sz="1600" b="1"/>
          </a:p>
          <a:p>
            <a:pPr eaLnBrk="0" hangingPunct="0">
              <a:buClr>
                <a:srgbClr val="FF3300"/>
              </a:buClr>
              <a:buFont typeface="Arial" panose="020B0604020202020204" pitchFamily="34" charset="0"/>
              <a:buChar char="●"/>
            </a:pPr>
            <a:r>
              <a:rPr lang="en-US" altLang="en-US" sz="1600" b="1"/>
              <a:t>Uncertainty in calibration parameters (a and b) due to errors in gravimetric water content determination, bulk density errors, changes in soil texture, and instrument errors.</a:t>
            </a:r>
          </a:p>
        </p:txBody>
      </p:sp>
      <p:sp>
        <p:nvSpPr>
          <p:cNvPr id="392211" name="Rectangle 19">
            <a:extLst>
              <a:ext uri="{FF2B5EF4-FFF2-40B4-BE49-F238E27FC236}">
                <a16:creationId xmlns:a16="http://schemas.microsoft.com/office/drawing/2014/main" id="{A51ED21E-7578-49FC-A7DB-F808312C6C1A}"/>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2212" name="Rectangle 20">
            <a:extLst>
              <a:ext uri="{FF2B5EF4-FFF2-40B4-BE49-F238E27FC236}">
                <a16:creationId xmlns:a16="http://schemas.microsoft.com/office/drawing/2014/main" id="{E33A0D1E-A55B-4030-AC91-A873E233A554}"/>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92214" name="Object 22">
            <a:extLst>
              <a:ext uri="{FF2B5EF4-FFF2-40B4-BE49-F238E27FC236}">
                <a16:creationId xmlns:a16="http://schemas.microsoft.com/office/drawing/2014/main" id="{50F0B5BE-7960-4AD2-9796-CE89620E0E65}"/>
              </a:ext>
            </a:extLst>
          </p:cNvPr>
          <p:cNvGraphicFramePr>
            <a:graphicFrameLocks noGrp="1" noChangeAspect="1"/>
          </p:cNvGraphicFramePr>
          <p:nvPr>
            <p:ph sz="quarter" idx="1"/>
          </p:nvPr>
        </p:nvGraphicFramePr>
        <p:xfrm>
          <a:off x="3117850" y="2058988"/>
          <a:ext cx="2597150" cy="542925"/>
        </p:xfrm>
        <a:graphic>
          <a:graphicData uri="http://schemas.openxmlformats.org/presentationml/2006/ole">
            <mc:AlternateContent xmlns:mc="http://schemas.openxmlformats.org/markup-compatibility/2006">
              <mc:Choice xmlns:v="urn:schemas-microsoft-com:vml" Requires="v">
                <p:oleObj spid="_x0000_s392238" name="Equation" r:id="rId3" imgW="850680" imgH="177480" progId="Equation.3">
                  <p:embed/>
                </p:oleObj>
              </mc:Choice>
              <mc:Fallback>
                <p:oleObj name="Equation" r:id="rId3" imgW="850680" imgH="17748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7850" y="2058988"/>
                        <a:ext cx="259715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2216" name="Line 24">
            <a:extLst>
              <a:ext uri="{FF2B5EF4-FFF2-40B4-BE49-F238E27FC236}">
                <a16:creationId xmlns:a16="http://schemas.microsoft.com/office/drawing/2014/main" id="{F054F571-F163-478F-9933-EE8E0C379AEA}"/>
              </a:ext>
            </a:extLst>
          </p:cNvPr>
          <p:cNvSpPr>
            <a:spLocks noChangeShapeType="1"/>
          </p:cNvSpPr>
          <p:nvPr/>
        </p:nvSpPr>
        <p:spPr bwMode="auto">
          <a:xfrm>
            <a:off x="2819400" y="1981200"/>
            <a:ext cx="304800" cy="304800"/>
          </a:xfrm>
          <a:prstGeom prst="line">
            <a:avLst/>
          </a:prstGeom>
          <a:noFill/>
          <a:ln w="38100">
            <a:solidFill>
              <a:srgbClr val="CC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92217" name="Text Box 25">
            <a:extLst>
              <a:ext uri="{FF2B5EF4-FFF2-40B4-BE49-F238E27FC236}">
                <a16:creationId xmlns:a16="http://schemas.microsoft.com/office/drawing/2014/main" id="{37609591-1A4A-4154-8053-EF1AFB360BD8}"/>
              </a:ext>
            </a:extLst>
          </p:cNvPr>
          <p:cNvSpPr txBox="1">
            <a:spLocks noChangeArrowheads="1"/>
          </p:cNvSpPr>
          <p:nvPr/>
        </p:nvSpPr>
        <p:spPr bwMode="auto">
          <a:xfrm>
            <a:off x="1762125" y="1676400"/>
            <a:ext cx="2276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800">
                <a:solidFill>
                  <a:srgbClr val="CC0000"/>
                </a:solidFill>
                <a:latin typeface="Comic Sans MS" panose="030F0702030302020204" pitchFamily="66" charset="0"/>
              </a:rPr>
              <a:t>Dependent Variable</a:t>
            </a:r>
          </a:p>
        </p:txBody>
      </p:sp>
      <p:sp>
        <p:nvSpPr>
          <p:cNvPr id="392218" name="Line 26">
            <a:extLst>
              <a:ext uri="{FF2B5EF4-FFF2-40B4-BE49-F238E27FC236}">
                <a16:creationId xmlns:a16="http://schemas.microsoft.com/office/drawing/2014/main" id="{EE4C3271-81F2-4246-99EE-58300CBA2BE9}"/>
              </a:ext>
            </a:extLst>
          </p:cNvPr>
          <p:cNvSpPr>
            <a:spLocks noChangeShapeType="1"/>
          </p:cNvSpPr>
          <p:nvPr/>
        </p:nvSpPr>
        <p:spPr bwMode="auto">
          <a:xfrm flipH="1">
            <a:off x="5715000" y="2057400"/>
            <a:ext cx="685800" cy="319088"/>
          </a:xfrm>
          <a:prstGeom prst="line">
            <a:avLst/>
          </a:prstGeom>
          <a:noFill/>
          <a:ln w="38100">
            <a:solidFill>
              <a:srgbClr val="CC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92219" name="Text Box 27">
            <a:extLst>
              <a:ext uri="{FF2B5EF4-FFF2-40B4-BE49-F238E27FC236}">
                <a16:creationId xmlns:a16="http://schemas.microsoft.com/office/drawing/2014/main" id="{021E00B3-D7C3-493F-BC76-6D07D1DD5C60}"/>
              </a:ext>
            </a:extLst>
          </p:cNvPr>
          <p:cNvSpPr txBox="1">
            <a:spLocks noChangeArrowheads="1"/>
          </p:cNvSpPr>
          <p:nvPr/>
        </p:nvSpPr>
        <p:spPr bwMode="auto">
          <a:xfrm>
            <a:off x="5791200" y="1676400"/>
            <a:ext cx="24907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800">
                <a:solidFill>
                  <a:srgbClr val="CC0000"/>
                </a:solidFill>
                <a:latin typeface="Comic Sans MS" panose="030F0702030302020204" pitchFamily="66" charset="0"/>
              </a:rPr>
              <a:t>Independent Variable</a:t>
            </a:r>
          </a:p>
        </p:txBody>
      </p:sp>
      <p:graphicFrame>
        <p:nvGraphicFramePr>
          <p:cNvPr id="392225" name="Object 33">
            <a:extLst>
              <a:ext uri="{FF2B5EF4-FFF2-40B4-BE49-F238E27FC236}">
                <a16:creationId xmlns:a16="http://schemas.microsoft.com/office/drawing/2014/main" id="{F598D2E7-EB55-4482-B927-6D2C2E9109B5}"/>
              </a:ext>
            </a:extLst>
          </p:cNvPr>
          <p:cNvGraphicFramePr>
            <a:graphicFrameLocks noChangeAspect="1"/>
          </p:cNvGraphicFramePr>
          <p:nvPr/>
        </p:nvGraphicFramePr>
        <p:xfrm>
          <a:off x="609600" y="3352800"/>
          <a:ext cx="3886200" cy="2971800"/>
        </p:xfrm>
        <a:graphic>
          <a:graphicData uri="http://schemas.openxmlformats.org/presentationml/2006/ole">
            <mc:AlternateContent xmlns:mc="http://schemas.openxmlformats.org/markup-compatibility/2006">
              <mc:Choice xmlns:v="urn:schemas-microsoft-com:vml" Requires="v">
                <p:oleObj spid="_x0000_s392239" name="Chart" r:id="rId5" imgW="3647880" imgH="2676240" progId="QuattroPro.Chart.10">
                  <p:embed/>
                </p:oleObj>
              </mc:Choice>
              <mc:Fallback>
                <p:oleObj name="Chart" r:id="rId5" imgW="3647880" imgH="2676240" progId="QuattroPro.Chart.10">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352800"/>
                        <a:ext cx="38862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92229" name="Picture 37">
            <a:extLst>
              <a:ext uri="{FF2B5EF4-FFF2-40B4-BE49-F238E27FC236}">
                <a16:creationId xmlns:a16="http://schemas.microsoft.com/office/drawing/2014/main" id="{C7DCEA67-0702-4AE4-9574-173E95D7E5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3276600"/>
            <a:ext cx="438150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690C6BF9-02D7-46E7-B25E-9E322E82A377}"/>
              </a:ext>
            </a:extLst>
          </p:cNvPr>
          <p:cNvSpPr>
            <a:spLocks noGrp="1" noChangeArrowheads="1"/>
          </p:cNvSpPr>
          <p:nvPr>
            <p:ph type="title" sz="quarter"/>
          </p:nvPr>
        </p:nvSpPr>
        <p:spPr>
          <a:xfrm>
            <a:off x="762000" y="152400"/>
            <a:ext cx="7772400" cy="579438"/>
          </a:xfrm>
        </p:spPr>
        <p:txBody>
          <a:bodyPr/>
          <a:lstStyle/>
          <a:p>
            <a:r>
              <a:rPr lang="en-US" altLang="en-US" sz="2800" b="0">
                <a:latin typeface="Comic Sans MS" panose="030F0702030302020204" pitchFamily="66" charset="0"/>
              </a:rPr>
              <a:t>Limitations of Neutron Scattering Method</a:t>
            </a:r>
          </a:p>
        </p:txBody>
      </p:sp>
      <p:sp>
        <p:nvSpPr>
          <p:cNvPr id="400387" name="Rectangle 3">
            <a:extLst>
              <a:ext uri="{FF2B5EF4-FFF2-40B4-BE49-F238E27FC236}">
                <a16:creationId xmlns:a16="http://schemas.microsoft.com/office/drawing/2014/main" id="{78A45D49-A3AA-4DE2-A08C-51C930B3AE1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88" name="Rectangle 4">
            <a:extLst>
              <a:ext uri="{FF2B5EF4-FFF2-40B4-BE49-F238E27FC236}">
                <a16:creationId xmlns:a16="http://schemas.microsoft.com/office/drawing/2014/main" id="{F09AB77B-CCC3-40FC-B6CA-DC9095F2B4F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89" name="Rectangle 5">
            <a:extLst>
              <a:ext uri="{FF2B5EF4-FFF2-40B4-BE49-F238E27FC236}">
                <a16:creationId xmlns:a16="http://schemas.microsoft.com/office/drawing/2014/main" id="{D9787A03-9CE8-4296-ABE7-20661CD593FF}"/>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0" name="Rectangle 6">
            <a:extLst>
              <a:ext uri="{FF2B5EF4-FFF2-40B4-BE49-F238E27FC236}">
                <a16:creationId xmlns:a16="http://schemas.microsoft.com/office/drawing/2014/main" id="{B9CCCE34-5431-4EBE-9776-0F4C5BFDE68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1" name="Rectangle 7">
            <a:extLst>
              <a:ext uri="{FF2B5EF4-FFF2-40B4-BE49-F238E27FC236}">
                <a16:creationId xmlns:a16="http://schemas.microsoft.com/office/drawing/2014/main" id="{7EE5A70F-62FF-4051-95EC-1A85BE69B40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2" name="Rectangle 8">
            <a:extLst>
              <a:ext uri="{FF2B5EF4-FFF2-40B4-BE49-F238E27FC236}">
                <a16:creationId xmlns:a16="http://schemas.microsoft.com/office/drawing/2014/main" id="{4567C045-258C-4990-991D-3AA4A44841E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3" name="Rectangle 9">
            <a:extLst>
              <a:ext uri="{FF2B5EF4-FFF2-40B4-BE49-F238E27FC236}">
                <a16:creationId xmlns:a16="http://schemas.microsoft.com/office/drawing/2014/main" id="{47CBFEB2-AB7A-40ED-BA61-34A799F31F5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4" name="Rectangle 10">
            <a:extLst>
              <a:ext uri="{FF2B5EF4-FFF2-40B4-BE49-F238E27FC236}">
                <a16:creationId xmlns:a16="http://schemas.microsoft.com/office/drawing/2014/main" id="{59B0FACE-A729-46EE-BE9B-45C03A40699F}"/>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5" name="Rectangle 11">
            <a:extLst>
              <a:ext uri="{FF2B5EF4-FFF2-40B4-BE49-F238E27FC236}">
                <a16:creationId xmlns:a16="http://schemas.microsoft.com/office/drawing/2014/main" id="{6BF04C1D-2E4D-43ED-8535-072C62CBC9D6}"/>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6" name="Rectangle 12">
            <a:extLst>
              <a:ext uri="{FF2B5EF4-FFF2-40B4-BE49-F238E27FC236}">
                <a16:creationId xmlns:a16="http://schemas.microsoft.com/office/drawing/2014/main" id="{9AF1E5B9-4190-4843-8321-A59C54D6D9B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7" name="Rectangle 13">
            <a:extLst>
              <a:ext uri="{FF2B5EF4-FFF2-40B4-BE49-F238E27FC236}">
                <a16:creationId xmlns:a16="http://schemas.microsoft.com/office/drawing/2014/main" id="{2923B373-C408-49AB-AA4A-7996F084533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8" name="Rectangle 14">
            <a:extLst>
              <a:ext uri="{FF2B5EF4-FFF2-40B4-BE49-F238E27FC236}">
                <a16:creationId xmlns:a16="http://schemas.microsoft.com/office/drawing/2014/main" id="{E92A938C-529D-4E11-A374-665D82599B6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399" name="Rectangle 15">
            <a:extLst>
              <a:ext uri="{FF2B5EF4-FFF2-40B4-BE49-F238E27FC236}">
                <a16:creationId xmlns:a16="http://schemas.microsoft.com/office/drawing/2014/main" id="{7B944519-7316-4AB4-B0E2-FE7DD4F1B6F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400" name="Rectangle 16">
            <a:extLst>
              <a:ext uri="{FF2B5EF4-FFF2-40B4-BE49-F238E27FC236}">
                <a16:creationId xmlns:a16="http://schemas.microsoft.com/office/drawing/2014/main" id="{30D40679-5656-4FF1-A66E-FC7C60856D42}"/>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401" name="Text Box 17">
            <a:extLst>
              <a:ext uri="{FF2B5EF4-FFF2-40B4-BE49-F238E27FC236}">
                <a16:creationId xmlns:a16="http://schemas.microsoft.com/office/drawing/2014/main" id="{2809713E-37C9-41A9-8A56-F101166077F5}"/>
              </a:ext>
            </a:extLst>
          </p:cNvPr>
          <p:cNvSpPr txBox="1">
            <a:spLocks noChangeArrowheads="1"/>
          </p:cNvSpPr>
          <p:nvPr/>
        </p:nvSpPr>
        <p:spPr bwMode="auto">
          <a:xfrm>
            <a:off x="914400" y="1066800"/>
            <a:ext cx="769620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1775" indent="-23177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spcAft>
                <a:spcPct val="40000"/>
              </a:spcAft>
              <a:buClr>
                <a:srgbClr val="FF3300"/>
              </a:buClr>
              <a:buFont typeface="Arial" panose="020B0604020202020204" pitchFamily="34" charset="0"/>
              <a:buChar char="●"/>
            </a:pPr>
            <a:r>
              <a:rPr lang="en-US" altLang="en-US" sz="2400" b="1"/>
              <a:t>Radiation hazards</a:t>
            </a:r>
          </a:p>
          <a:p>
            <a:pPr eaLnBrk="0" hangingPunct="0">
              <a:spcAft>
                <a:spcPct val="40000"/>
              </a:spcAft>
              <a:buClr>
                <a:srgbClr val="FF3300"/>
              </a:buClr>
              <a:buFont typeface="Arial" panose="020B0604020202020204" pitchFamily="34" charset="0"/>
              <a:buChar char="●"/>
            </a:pPr>
            <a:r>
              <a:rPr lang="en-US" altLang="en-US" sz="2400" b="1"/>
              <a:t>Requires site specific calibration</a:t>
            </a:r>
          </a:p>
          <a:p>
            <a:pPr eaLnBrk="0" hangingPunct="0">
              <a:spcAft>
                <a:spcPct val="40000"/>
              </a:spcAft>
              <a:buClr>
                <a:srgbClr val="FF3300"/>
              </a:buClr>
              <a:buFont typeface="Arial" panose="020B0604020202020204" pitchFamily="34" charset="0"/>
              <a:buChar char="●"/>
            </a:pPr>
            <a:r>
              <a:rPr lang="en-US" altLang="en-US" sz="2400" b="1"/>
              <a:t>Variable volume of measurement</a:t>
            </a:r>
          </a:p>
          <a:p>
            <a:pPr eaLnBrk="0" hangingPunct="0">
              <a:spcAft>
                <a:spcPct val="40000"/>
              </a:spcAft>
              <a:buClr>
                <a:srgbClr val="FF3300"/>
              </a:buClr>
              <a:buFont typeface="Arial" panose="020B0604020202020204" pitchFamily="34" charset="0"/>
              <a:buChar char="●"/>
            </a:pPr>
            <a:r>
              <a:rPr lang="en-US" altLang="en-US" sz="2400" b="1"/>
              <a:t>Not suitable for near-surface measurements</a:t>
            </a:r>
          </a:p>
          <a:p>
            <a:pPr eaLnBrk="0" hangingPunct="0">
              <a:spcAft>
                <a:spcPct val="40000"/>
              </a:spcAft>
              <a:buClr>
                <a:srgbClr val="FF3300"/>
              </a:buClr>
              <a:buFont typeface="Arial" panose="020B0604020202020204" pitchFamily="34" charset="0"/>
              <a:buChar char="●"/>
            </a:pPr>
            <a:r>
              <a:rPr lang="en-US" altLang="en-US" sz="2400" b="1"/>
              <a:t>Provides “snap shots”, difficult to automate</a:t>
            </a:r>
          </a:p>
          <a:p>
            <a:pPr eaLnBrk="0" hangingPunct="0">
              <a:spcAft>
                <a:spcPct val="40000"/>
              </a:spcAft>
              <a:buClr>
                <a:srgbClr val="FF3300"/>
              </a:buClr>
              <a:buFont typeface="Arial" panose="020B0604020202020204" pitchFamily="34" charset="0"/>
              <a:buChar char="●"/>
            </a:pPr>
            <a:r>
              <a:rPr lang="en-US" altLang="en-US" sz="2400" b="1"/>
              <a:t>Installation and measurements are labor intensive</a:t>
            </a:r>
          </a:p>
          <a:p>
            <a:pPr eaLnBrk="0" hangingPunct="0">
              <a:spcAft>
                <a:spcPct val="40000"/>
              </a:spcAft>
              <a:buClr>
                <a:srgbClr val="FF3300"/>
              </a:buClr>
              <a:buFont typeface="Arial" panose="020B0604020202020204" pitchFamily="34" charset="0"/>
              <a:buChar char="●"/>
            </a:pPr>
            <a:r>
              <a:rPr lang="en-US" altLang="en-US" sz="2400" b="1"/>
              <a:t>Limited accuracy </a:t>
            </a:r>
          </a:p>
        </p:txBody>
      </p:sp>
      <p:sp>
        <p:nvSpPr>
          <p:cNvPr id="400402" name="Rectangle 18">
            <a:extLst>
              <a:ext uri="{FF2B5EF4-FFF2-40B4-BE49-F238E27FC236}">
                <a16:creationId xmlns:a16="http://schemas.microsoft.com/office/drawing/2014/main" id="{0A3102A5-9DCE-4A09-8DD7-10D0CCA8AE0D}"/>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00403" name="Rectangle 19">
            <a:extLst>
              <a:ext uri="{FF2B5EF4-FFF2-40B4-BE49-F238E27FC236}">
                <a16:creationId xmlns:a16="http://schemas.microsoft.com/office/drawing/2014/main" id="{337951E3-C7AF-4444-842B-60F2D4D180D1}"/>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760C7460-6C92-49A1-A0DE-82020A3E55DA}"/>
              </a:ext>
            </a:extLst>
          </p:cNvPr>
          <p:cNvSpPr>
            <a:spLocks noGrp="1" noChangeArrowheads="1"/>
          </p:cNvSpPr>
          <p:nvPr>
            <p:ph type="ctrTitle"/>
          </p:nvPr>
        </p:nvSpPr>
        <p:spPr>
          <a:xfrm>
            <a:off x="609600" y="838200"/>
            <a:ext cx="8534400" cy="914400"/>
          </a:xfrm>
        </p:spPr>
        <p:txBody>
          <a:bodyPr/>
          <a:lstStyle/>
          <a:p>
            <a:r>
              <a:rPr lang="en-US" altLang="en-US">
                <a:latin typeface="Comic Sans MS" panose="030F0702030302020204" pitchFamily="66" charset="0"/>
              </a:rPr>
              <a:t>Time Domain Reflectometry (TDR)</a:t>
            </a:r>
          </a:p>
        </p:txBody>
      </p:sp>
      <p:pic>
        <p:nvPicPr>
          <p:cNvPr id="369667" name="Picture 3">
            <a:extLst>
              <a:ext uri="{FF2B5EF4-FFF2-40B4-BE49-F238E27FC236}">
                <a16:creationId xmlns:a16="http://schemas.microsoft.com/office/drawing/2014/main" id="{7ECE57D6-139F-4953-B885-EA945E0EA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2200"/>
            <a:ext cx="3581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68" name="Picture 4">
            <a:extLst>
              <a:ext uri="{FF2B5EF4-FFF2-40B4-BE49-F238E27FC236}">
                <a16:creationId xmlns:a16="http://schemas.microsoft.com/office/drawing/2014/main" id="{3C8FB8CB-3387-46BC-923B-813265719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743200"/>
            <a:ext cx="38100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69" name="Picture 5">
            <a:extLst>
              <a:ext uri="{FF2B5EF4-FFF2-40B4-BE49-F238E27FC236}">
                <a16:creationId xmlns:a16="http://schemas.microsoft.com/office/drawing/2014/main" id="{243F8C6F-B122-44B6-9B22-004C76ACC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002088"/>
            <a:ext cx="27432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704" name="Picture 16">
            <a:extLst>
              <a:ext uri="{FF2B5EF4-FFF2-40B4-BE49-F238E27FC236}">
                <a16:creationId xmlns:a16="http://schemas.microsoft.com/office/drawing/2014/main" id="{206C1E41-9ACF-4FEB-B956-1619CDC7D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066800"/>
            <a:ext cx="4259263" cy="4267200"/>
          </a:xfrm>
          <a:prstGeom prst="rect">
            <a:avLst/>
          </a:prstGeom>
          <a:noFill/>
          <a:extLst>
            <a:ext uri="{909E8E84-426E-40DD-AFC4-6F175D3DCCD1}">
              <a14:hiddenFill xmlns:a14="http://schemas.microsoft.com/office/drawing/2010/main">
                <a:solidFill>
                  <a:srgbClr val="FFFFFF"/>
                </a:solidFill>
              </a14:hiddenFill>
            </a:ext>
          </a:extLst>
        </p:spPr>
      </p:pic>
      <p:sp>
        <p:nvSpPr>
          <p:cNvPr id="370690" name="Rectangle 2">
            <a:extLst>
              <a:ext uri="{FF2B5EF4-FFF2-40B4-BE49-F238E27FC236}">
                <a16:creationId xmlns:a16="http://schemas.microsoft.com/office/drawing/2014/main" id="{7AD62211-612C-426C-B38C-C5983B710DC4}"/>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70691" name="Rectangle 3">
            <a:extLst>
              <a:ext uri="{FF2B5EF4-FFF2-40B4-BE49-F238E27FC236}">
                <a16:creationId xmlns:a16="http://schemas.microsoft.com/office/drawing/2014/main" id="{9FCB8696-7911-40A6-B267-B341735897F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2" name="Rectangle 4">
            <a:extLst>
              <a:ext uri="{FF2B5EF4-FFF2-40B4-BE49-F238E27FC236}">
                <a16:creationId xmlns:a16="http://schemas.microsoft.com/office/drawing/2014/main" id="{A73701CF-62BA-463A-AB77-35C7D35CD6A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3" name="Rectangle 5">
            <a:extLst>
              <a:ext uri="{FF2B5EF4-FFF2-40B4-BE49-F238E27FC236}">
                <a16:creationId xmlns:a16="http://schemas.microsoft.com/office/drawing/2014/main" id="{493DB528-8D5E-40DB-8113-D7191BA5397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4" name="Rectangle 6">
            <a:extLst>
              <a:ext uri="{FF2B5EF4-FFF2-40B4-BE49-F238E27FC236}">
                <a16:creationId xmlns:a16="http://schemas.microsoft.com/office/drawing/2014/main" id="{27C4CF61-7B3D-405E-B23E-C76C79845BF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5" name="Rectangle 7">
            <a:extLst>
              <a:ext uri="{FF2B5EF4-FFF2-40B4-BE49-F238E27FC236}">
                <a16:creationId xmlns:a16="http://schemas.microsoft.com/office/drawing/2014/main" id="{57BFDBC6-B677-4472-90FF-31BF867CFB7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6" name="Rectangle 8">
            <a:extLst>
              <a:ext uri="{FF2B5EF4-FFF2-40B4-BE49-F238E27FC236}">
                <a16:creationId xmlns:a16="http://schemas.microsoft.com/office/drawing/2014/main" id="{50050817-0D4D-48AA-8533-0C7154C8A55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7" name="Rectangle 9">
            <a:extLst>
              <a:ext uri="{FF2B5EF4-FFF2-40B4-BE49-F238E27FC236}">
                <a16:creationId xmlns:a16="http://schemas.microsoft.com/office/drawing/2014/main" id="{2695C46B-1D99-42CC-9F0A-38BB54F210E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8" name="Rectangle 10">
            <a:extLst>
              <a:ext uri="{FF2B5EF4-FFF2-40B4-BE49-F238E27FC236}">
                <a16:creationId xmlns:a16="http://schemas.microsoft.com/office/drawing/2014/main" id="{0ECFF92B-CE28-44B8-90DE-2F5345B0483B}"/>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699" name="Rectangle 11">
            <a:extLst>
              <a:ext uri="{FF2B5EF4-FFF2-40B4-BE49-F238E27FC236}">
                <a16:creationId xmlns:a16="http://schemas.microsoft.com/office/drawing/2014/main" id="{17A658AF-68F3-4BBB-BDC6-58151C45349A}"/>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700" name="Rectangle 12">
            <a:extLst>
              <a:ext uri="{FF2B5EF4-FFF2-40B4-BE49-F238E27FC236}">
                <a16:creationId xmlns:a16="http://schemas.microsoft.com/office/drawing/2014/main" id="{C7A4AEE5-5B54-433F-925D-BEDFE22B6A5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701" name="Rectangle 13">
            <a:extLst>
              <a:ext uri="{FF2B5EF4-FFF2-40B4-BE49-F238E27FC236}">
                <a16:creationId xmlns:a16="http://schemas.microsoft.com/office/drawing/2014/main" id="{EB057651-09B8-4F7E-ADDC-038ABF51DF5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0703" name="Rectangle 15">
            <a:extLst>
              <a:ext uri="{FF2B5EF4-FFF2-40B4-BE49-F238E27FC236}">
                <a16:creationId xmlns:a16="http://schemas.microsoft.com/office/drawing/2014/main" id="{3607B264-C419-4036-93E1-6F84AA14B730}"/>
              </a:ext>
            </a:extLst>
          </p:cNvPr>
          <p:cNvSpPr>
            <a:spLocks noChangeArrowheads="1"/>
          </p:cNvSpPr>
          <p:nvPr/>
        </p:nvSpPr>
        <p:spPr bwMode="auto">
          <a:xfrm>
            <a:off x="4724400" y="1600200"/>
            <a:ext cx="4103688" cy="2971800"/>
          </a:xfrm>
          <a:prstGeom prst="rect">
            <a:avLst/>
          </a:prstGeom>
          <a:noFill/>
          <a:ln w="190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31775" indent="-231775">
              <a:defRPr>
                <a:solidFill>
                  <a:schemeClr val="tx1"/>
                </a:solidFill>
                <a:latin typeface="Arial" panose="020B0604020202020204" pitchFamily="34" charset="0"/>
              </a:defRPr>
            </a:lvl1pPr>
            <a:lvl2pPr marL="1150938" indent="-457200">
              <a:defRPr>
                <a:solidFill>
                  <a:schemeClr val="tx1"/>
                </a:solidFill>
                <a:latin typeface="Arial" panose="020B0604020202020204" pitchFamily="34" charset="0"/>
              </a:defRPr>
            </a:lvl2pPr>
            <a:lvl3pPr marL="1722438" indent="-457200">
              <a:defRPr>
                <a:solidFill>
                  <a:schemeClr val="tx1"/>
                </a:solidFill>
                <a:latin typeface="Arial" panose="020B0604020202020204" pitchFamily="34" charset="0"/>
              </a:defRPr>
            </a:lvl3pPr>
            <a:lvl4pPr marL="2293938" indent="-457200">
              <a:defRPr>
                <a:solidFill>
                  <a:schemeClr val="tx1"/>
                </a:solidFill>
                <a:latin typeface="Arial" panose="020B0604020202020204" pitchFamily="34" charset="0"/>
              </a:defRPr>
            </a:lvl4pPr>
            <a:lvl5pPr marL="2865438" indent="-457200">
              <a:defRPr>
                <a:solidFill>
                  <a:schemeClr val="tx1"/>
                </a:solidFill>
                <a:latin typeface="Arial" panose="020B0604020202020204" pitchFamily="34" charset="0"/>
              </a:defRPr>
            </a:lvl5pPr>
            <a:lvl6pPr marL="3322638" indent="-457200" fontAlgn="base">
              <a:spcBef>
                <a:spcPct val="0"/>
              </a:spcBef>
              <a:spcAft>
                <a:spcPct val="0"/>
              </a:spcAft>
              <a:defRPr>
                <a:solidFill>
                  <a:schemeClr val="tx1"/>
                </a:solidFill>
                <a:latin typeface="Arial" panose="020B0604020202020204" pitchFamily="34" charset="0"/>
              </a:defRPr>
            </a:lvl6pPr>
            <a:lvl7pPr marL="3779838" indent="-457200" fontAlgn="base">
              <a:spcBef>
                <a:spcPct val="0"/>
              </a:spcBef>
              <a:spcAft>
                <a:spcPct val="0"/>
              </a:spcAft>
              <a:defRPr>
                <a:solidFill>
                  <a:schemeClr val="tx1"/>
                </a:solidFill>
                <a:latin typeface="Arial" panose="020B0604020202020204" pitchFamily="34" charset="0"/>
              </a:defRPr>
            </a:lvl7pPr>
            <a:lvl8pPr marL="4237038" indent="-457200" fontAlgn="base">
              <a:spcBef>
                <a:spcPct val="0"/>
              </a:spcBef>
              <a:spcAft>
                <a:spcPct val="0"/>
              </a:spcAft>
              <a:defRPr>
                <a:solidFill>
                  <a:schemeClr val="tx1"/>
                </a:solidFill>
                <a:latin typeface="Arial" panose="020B0604020202020204" pitchFamily="34" charset="0"/>
              </a:defRPr>
            </a:lvl8pPr>
            <a:lvl9pPr marL="4694238" indent="-457200" fontAlgn="base">
              <a:spcBef>
                <a:spcPct val="0"/>
              </a:spcBef>
              <a:spcAft>
                <a:spcPct val="0"/>
              </a:spcAft>
              <a:defRPr>
                <a:solidFill>
                  <a:schemeClr val="tx1"/>
                </a:solidFill>
                <a:latin typeface="Arial" panose="020B0604020202020204" pitchFamily="34" charset="0"/>
              </a:defRPr>
            </a:lvl9pPr>
          </a:lstStyle>
          <a:p>
            <a:pPr>
              <a:spcAft>
                <a:spcPct val="25000"/>
              </a:spcAft>
              <a:buClr>
                <a:srgbClr val="FF3300"/>
              </a:buClr>
              <a:buFont typeface="CommonBullets" pitchFamily="34" charset="2"/>
              <a:buChar char="!"/>
            </a:pPr>
            <a:r>
              <a:rPr lang="en-US" altLang="en-US" sz="2200">
                <a:latin typeface="Comic Sans MS" panose="030F0702030302020204" pitchFamily="66" charset="0"/>
              </a:rPr>
              <a:t>Time Domain Reflectometry (TDR) is a relatively new technique for measurement of volumetric soil water content using electromagnetic waves propagating along embedded waveguides.</a:t>
            </a:r>
          </a:p>
        </p:txBody>
      </p:sp>
      <p:sp>
        <p:nvSpPr>
          <p:cNvPr id="370705" name="Text Box 17">
            <a:extLst>
              <a:ext uri="{FF2B5EF4-FFF2-40B4-BE49-F238E27FC236}">
                <a16:creationId xmlns:a16="http://schemas.microsoft.com/office/drawing/2014/main" id="{35882337-8705-422C-8FB8-9268C51C8499}"/>
              </a:ext>
            </a:extLst>
          </p:cNvPr>
          <p:cNvSpPr txBox="1">
            <a:spLocks noChangeArrowheads="1"/>
          </p:cNvSpPr>
          <p:nvPr/>
        </p:nvSpPr>
        <p:spPr bwMode="auto">
          <a:xfrm>
            <a:off x="1173163" y="1349375"/>
            <a:ext cx="1889125"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lnSpc>
                <a:spcPct val="80000"/>
              </a:lnSpc>
            </a:pPr>
            <a:r>
              <a:rPr lang="en-US" altLang="en-US" sz="1600" b="1"/>
              <a:t>TDR Cable Tester</a:t>
            </a:r>
          </a:p>
          <a:p>
            <a:pPr algn="ctr" eaLnBrk="0" hangingPunct="0"/>
            <a:r>
              <a:rPr lang="en-US" altLang="en-US" sz="1600" b="1"/>
              <a:t>(Tektronix 1502B)</a:t>
            </a:r>
          </a:p>
        </p:txBody>
      </p:sp>
      <p:sp>
        <p:nvSpPr>
          <p:cNvPr id="370706" name="Text Box 18">
            <a:extLst>
              <a:ext uri="{FF2B5EF4-FFF2-40B4-BE49-F238E27FC236}">
                <a16:creationId xmlns:a16="http://schemas.microsoft.com/office/drawing/2014/main" id="{795CDA0E-A815-44E4-AC57-68966392AAFE}"/>
              </a:ext>
            </a:extLst>
          </p:cNvPr>
          <p:cNvSpPr txBox="1">
            <a:spLocks noChangeArrowheads="1"/>
          </p:cNvSpPr>
          <p:nvPr/>
        </p:nvSpPr>
        <p:spPr bwMode="auto">
          <a:xfrm>
            <a:off x="3000375" y="3478213"/>
            <a:ext cx="773113"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en-US" sz="1800" b="1"/>
              <a:t>3</a:t>
            </a:r>
            <a:r>
              <a:rPr lang="en-US" altLang="en-US" sz="1600" b="1"/>
              <a:t>-Rod</a:t>
            </a:r>
          </a:p>
          <a:p>
            <a:pPr algn="ctr" eaLnBrk="0" hangingPunct="0">
              <a:lnSpc>
                <a:spcPct val="70000"/>
              </a:lnSpc>
            </a:pPr>
            <a:r>
              <a:rPr lang="en-US" altLang="en-US" sz="1600" b="1"/>
              <a:t>Probe</a:t>
            </a:r>
          </a:p>
        </p:txBody>
      </p:sp>
      <p:sp>
        <p:nvSpPr>
          <p:cNvPr id="370707" name="Line 19">
            <a:extLst>
              <a:ext uri="{FF2B5EF4-FFF2-40B4-BE49-F238E27FC236}">
                <a16:creationId xmlns:a16="http://schemas.microsoft.com/office/drawing/2014/main" id="{F76ADDB4-76F4-421B-8185-D948C05C92E2}"/>
              </a:ext>
            </a:extLst>
          </p:cNvPr>
          <p:cNvSpPr>
            <a:spLocks noChangeShapeType="1"/>
          </p:cNvSpPr>
          <p:nvPr/>
        </p:nvSpPr>
        <p:spPr bwMode="auto">
          <a:xfrm flipV="1">
            <a:off x="3757613" y="3252788"/>
            <a:ext cx="419100" cy="290512"/>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708" name="Line 20">
            <a:extLst>
              <a:ext uri="{FF2B5EF4-FFF2-40B4-BE49-F238E27FC236}">
                <a16:creationId xmlns:a16="http://schemas.microsoft.com/office/drawing/2014/main" id="{32894B9E-E2C0-48F1-92E4-09620E492384}"/>
              </a:ext>
            </a:extLst>
          </p:cNvPr>
          <p:cNvSpPr>
            <a:spLocks noChangeShapeType="1"/>
          </p:cNvSpPr>
          <p:nvPr/>
        </p:nvSpPr>
        <p:spPr bwMode="auto">
          <a:xfrm flipH="1">
            <a:off x="2590800" y="3962400"/>
            <a:ext cx="381000" cy="30480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70709" name="Group 21">
            <a:extLst>
              <a:ext uri="{FF2B5EF4-FFF2-40B4-BE49-F238E27FC236}">
                <a16:creationId xmlns:a16="http://schemas.microsoft.com/office/drawing/2014/main" id="{3CBE5B19-7FE9-43CB-85EE-BDA27B5AC2B9}"/>
              </a:ext>
            </a:extLst>
          </p:cNvPr>
          <p:cNvGrpSpPr>
            <a:grpSpLocks/>
          </p:cNvGrpSpPr>
          <p:nvPr/>
        </p:nvGrpSpPr>
        <p:grpSpPr bwMode="auto">
          <a:xfrm rot="362744">
            <a:off x="3616325" y="1873250"/>
            <a:ext cx="222250" cy="112713"/>
            <a:chOff x="2832" y="1440"/>
            <a:chExt cx="240" cy="144"/>
          </a:xfrm>
        </p:grpSpPr>
        <p:sp>
          <p:nvSpPr>
            <p:cNvPr id="370710" name="Line 22">
              <a:extLst>
                <a:ext uri="{FF2B5EF4-FFF2-40B4-BE49-F238E27FC236}">
                  <a16:creationId xmlns:a16="http://schemas.microsoft.com/office/drawing/2014/main" id="{160F71C9-1F48-40BE-9C93-335A6C2B665D}"/>
                </a:ext>
              </a:extLst>
            </p:cNvPr>
            <p:cNvSpPr>
              <a:spLocks noChangeShapeType="1"/>
            </p:cNvSpPr>
            <p:nvPr/>
          </p:nvSpPr>
          <p:spPr bwMode="auto">
            <a:xfrm flipH="1">
              <a:off x="2832" y="1440"/>
              <a:ext cx="192" cy="96"/>
            </a:xfrm>
            <a:prstGeom prst="line">
              <a:avLst/>
            </a:prstGeom>
            <a:noFill/>
            <a:ln w="6350">
              <a:solidFill>
                <a:schemeClr val="tx1"/>
              </a:solidFill>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711" name="Line 23">
              <a:extLst>
                <a:ext uri="{FF2B5EF4-FFF2-40B4-BE49-F238E27FC236}">
                  <a16:creationId xmlns:a16="http://schemas.microsoft.com/office/drawing/2014/main" id="{4CEB3E91-B6E2-4E3D-B282-90EFC78DC5FD}"/>
                </a:ext>
              </a:extLst>
            </p:cNvPr>
            <p:cNvSpPr>
              <a:spLocks noChangeShapeType="1"/>
            </p:cNvSpPr>
            <p:nvPr/>
          </p:nvSpPr>
          <p:spPr bwMode="auto">
            <a:xfrm flipV="1">
              <a:off x="2832" y="1488"/>
              <a:ext cx="240" cy="48"/>
            </a:xfrm>
            <a:prstGeom prst="line">
              <a:avLst/>
            </a:prstGeom>
            <a:noFill/>
            <a:ln w="6350">
              <a:solidFill>
                <a:schemeClr val="tx1"/>
              </a:solidFill>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0712" name="Line 24">
              <a:extLst>
                <a:ext uri="{FF2B5EF4-FFF2-40B4-BE49-F238E27FC236}">
                  <a16:creationId xmlns:a16="http://schemas.microsoft.com/office/drawing/2014/main" id="{A7DC9D6C-5767-4592-BD92-4BD6BEB7665E}"/>
                </a:ext>
              </a:extLst>
            </p:cNvPr>
            <p:cNvSpPr>
              <a:spLocks noChangeShapeType="1"/>
            </p:cNvSpPr>
            <p:nvPr/>
          </p:nvSpPr>
          <p:spPr bwMode="auto">
            <a:xfrm flipH="1">
              <a:off x="2880" y="1488"/>
              <a:ext cx="192" cy="96"/>
            </a:xfrm>
            <a:prstGeom prst="line">
              <a:avLst/>
            </a:prstGeom>
            <a:noFill/>
            <a:ln w="6350">
              <a:solidFill>
                <a:schemeClr val="tx1"/>
              </a:solidFill>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0713" name="Text Box 25">
            <a:extLst>
              <a:ext uri="{FF2B5EF4-FFF2-40B4-BE49-F238E27FC236}">
                <a16:creationId xmlns:a16="http://schemas.microsoft.com/office/drawing/2014/main" id="{AFBC709C-9BD1-4797-9B24-241490857330}"/>
              </a:ext>
            </a:extLst>
          </p:cNvPr>
          <p:cNvSpPr txBox="1">
            <a:spLocks noChangeArrowheads="1"/>
          </p:cNvSpPr>
          <p:nvPr/>
        </p:nvSpPr>
        <p:spPr bwMode="auto">
          <a:xfrm>
            <a:off x="3200400" y="1295400"/>
            <a:ext cx="10699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lnSpc>
                <a:spcPct val="80000"/>
              </a:lnSpc>
            </a:pPr>
            <a:r>
              <a:rPr lang="en-US" altLang="en-US" sz="1400" b="1"/>
              <a:t>BNC</a:t>
            </a:r>
          </a:p>
          <a:p>
            <a:pPr algn="ctr" eaLnBrk="0" hangingPunct="0">
              <a:lnSpc>
                <a:spcPct val="80000"/>
              </a:lnSpc>
            </a:pPr>
            <a:r>
              <a:rPr lang="en-US" altLang="en-US" sz="1400" b="1"/>
              <a:t>Connector</a:t>
            </a:r>
          </a:p>
        </p:txBody>
      </p:sp>
      <p:sp>
        <p:nvSpPr>
          <p:cNvPr id="370714" name="Text Box 26">
            <a:extLst>
              <a:ext uri="{FF2B5EF4-FFF2-40B4-BE49-F238E27FC236}">
                <a16:creationId xmlns:a16="http://schemas.microsoft.com/office/drawing/2014/main" id="{92F4F610-11AD-4784-B37B-E40BA8723E19}"/>
              </a:ext>
            </a:extLst>
          </p:cNvPr>
          <p:cNvSpPr txBox="1">
            <a:spLocks noChangeArrowheads="1"/>
          </p:cNvSpPr>
          <p:nvPr/>
        </p:nvSpPr>
        <p:spPr bwMode="auto">
          <a:xfrm>
            <a:off x="365125" y="1919288"/>
            <a:ext cx="11668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en-US" sz="1600" b="1"/>
              <a:t>Waveform</a:t>
            </a:r>
          </a:p>
        </p:txBody>
      </p:sp>
      <p:sp>
        <p:nvSpPr>
          <p:cNvPr id="370715" name="Line 27">
            <a:extLst>
              <a:ext uri="{FF2B5EF4-FFF2-40B4-BE49-F238E27FC236}">
                <a16:creationId xmlns:a16="http://schemas.microsoft.com/office/drawing/2014/main" id="{46BBD537-FDC0-41F1-9F08-E4ACEDC6CCE4}"/>
              </a:ext>
            </a:extLst>
          </p:cNvPr>
          <p:cNvSpPr>
            <a:spLocks noChangeShapeType="1"/>
          </p:cNvSpPr>
          <p:nvPr/>
        </p:nvSpPr>
        <p:spPr bwMode="auto">
          <a:xfrm>
            <a:off x="1452563" y="2190750"/>
            <a:ext cx="381000" cy="42863"/>
          </a:xfrm>
          <a:prstGeom prst="line">
            <a:avLst/>
          </a:prstGeom>
          <a:noFill/>
          <a:ln w="19050">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A18C850A-AF5F-4B2A-977B-6468772C4C0D}"/>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99363" name="Rectangle 3">
            <a:extLst>
              <a:ext uri="{FF2B5EF4-FFF2-40B4-BE49-F238E27FC236}">
                <a16:creationId xmlns:a16="http://schemas.microsoft.com/office/drawing/2014/main" id="{924EC5CC-0EBE-49BD-A9F9-CFEEDFE9362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4" name="Rectangle 4">
            <a:extLst>
              <a:ext uri="{FF2B5EF4-FFF2-40B4-BE49-F238E27FC236}">
                <a16:creationId xmlns:a16="http://schemas.microsoft.com/office/drawing/2014/main" id="{CF376CE0-F605-4FDF-983D-193C2AA8DFC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5" name="Rectangle 5">
            <a:extLst>
              <a:ext uri="{FF2B5EF4-FFF2-40B4-BE49-F238E27FC236}">
                <a16:creationId xmlns:a16="http://schemas.microsoft.com/office/drawing/2014/main" id="{823625BE-EEF4-46B9-9EAC-0B61ACF8C139}"/>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6" name="Rectangle 6">
            <a:extLst>
              <a:ext uri="{FF2B5EF4-FFF2-40B4-BE49-F238E27FC236}">
                <a16:creationId xmlns:a16="http://schemas.microsoft.com/office/drawing/2014/main" id="{245EBF75-6692-4B44-A01F-291BBEE549AF}"/>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7" name="Rectangle 7">
            <a:extLst>
              <a:ext uri="{FF2B5EF4-FFF2-40B4-BE49-F238E27FC236}">
                <a16:creationId xmlns:a16="http://schemas.microsoft.com/office/drawing/2014/main" id="{D41921EF-3E01-4332-AA0A-B7054041C81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8" name="Rectangle 8">
            <a:extLst>
              <a:ext uri="{FF2B5EF4-FFF2-40B4-BE49-F238E27FC236}">
                <a16:creationId xmlns:a16="http://schemas.microsoft.com/office/drawing/2014/main" id="{C45987CE-5EE3-4B8E-B347-73CE6404DF2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69" name="Rectangle 9">
            <a:extLst>
              <a:ext uri="{FF2B5EF4-FFF2-40B4-BE49-F238E27FC236}">
                <a16:creationId xmlns:a16="http://schemas.microsoft.com/office/drawing/2014/main" id="{61270F10-9B34-4A29-85FC-545B3F00DAC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70" name="Rectangle 10">
            <a:extLst>
              <a:ext uri="{FF2B5EF4-FFF2-40B4-BE49-F238E27FC236}">
                <a16:creationId xmlns:a16="http://schemas.microsoft.com/office/drawing/2014/main" id="{11EA96F9-05FE-48F2-8E57-080565FA7AD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71" name="Rectangle 11">
            <a:extLst>
              <a:ext uri="{FF2B5EF4-FFF2-40B4-BE49-F238E27FC236}">
                <a16:creationId xmlns:a16="http://schemas.microsoft.com/office/drawing/2014/main" id="{D4E79875-896C-4510-A763-E19D923E6286}"/>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72" name="Rectangle 12">
            <a:extLst>
              <a:ext uri="{FF2B5EF4-FFF2-40B4-BE49-F238E27FC236}">
                <a16:creationId xmlns:a16="http://schemas.microsoft.com/office/drawing/2014/main" id="{891030F6-8754-4FFB-9707-B7B40989650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73" name="Rectangle 13">
            <a:extLst>
              <a:ext uri="{FF2B5EF4-FFF2-40B4-BE49-F238E27FC236}">
                <a16:creationId xmlns:a16="http://schemas.microsoft.com/office/drawing/2014/main" id="{40C12AF0-E63F-425C-BF73-56645170324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9374" name="Rectangle 14">
            <a:extLst>
              <a:ext uri="{FF2B5EF4-FFF2-40B4-BE49-F238E27FC236}">
                <a16:creationId xmlns:a16="http://schemas.microsoft.com/office/drawing/2014/main" id="{89C7884D-93C1-4EB2-8156-843A808F5371}"/>
              </a:ext>
            </a:extLst>
          </p:cNvPr>
          <p:cNvSpPr>
            <a:spLocks noChangeArrowheads="1"/>
          </p:cNvSpPr>
          <p:nvPr/>
        </p:nvSpPr>
        <p:spPr bwMode="auto">
          <a:xfrm>
            <a:off x="762000" y="990600"/>
            <a:ext cx="80772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36538" indent="-236538">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Aft>
                <a:spcPct val="25000"/>
              </a:spcAft>
              <a:buClr>
                <a:srgbClr val="FF3300"/>
              </a:buClr>
              <a:buFont typeface="CommonBullets" pitchFamily="34" charset="2"/>
              <a:buNone/>
            </a:pPr>
            <a:r>
              <a:rPr lang="en-US" altLang="en-US" sz="2200" u="sng">
                <a:solidFill>
                  <a:srgbClr val="CC0000"/>
                </a:solidFill>
                <a:latin typeface="Comic Sans MS" panose="030F0702030302020204" pitchFamily="66" charset="0"/>
              </a:rPr>
              <a:t>Advantages</a:t>
            </a:r>
            <a:r>
              <a:rPr lang="en-US" altLang="en-US" sz="2400" u="sng">
                <a:solidFill>
                  <a:srgbClr val="CC0000"/>
                </a:solidFill>
                <a:latin typeface="Comic Sans MS" panose="030F0702030302020204" pitchFamily="66" charset="0"/>
              </a:rPr>
              <a:t>:</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Superior accuracy to within 1-2% of volumetric water content</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Minimal calibration requirements (usually no soil specific calibration necessary)</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No radiation hazard such as associated with neutron probe or gamma ray attenuation techniques</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Excellent spatial and temporal resolution</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Continuous measurements through automation and multiplexing</a:t>
            </a:r>
            <a:br>
              <a:rPr lang="en-US" altLang="en-US">
                <a:latin typeface="Comic Sans MS" panose="030F0702030302020204" pitchFamily="66" charset="0"/>
              </a:rPr>
            </a:br>
            <a:endParaRPr lang="en-US" altLang="en-US">
              <a:latin typeface="Comic Sans MS" panose="030F0702030302020204" pitchFamily="66" charset="0"/>
            </a:endParaRPr>
          </a:p>
          <a:p>
            <a:pPr>
              <a:spcAft>
                <a:spcPct val="25000"/>
              </a:spcAft>
              <a:buClr>
                <a:srgbClr val="FF3300"/>
              </a:buClr>
              <a:buFont typeface="CommonBullets" pitchFamily="34" charset="2"/>
              <a:buNone/>
            </a:pPr>
            <a:r>
              <a:rPr lang="en-US" altLang="en-US" sz="2200" u="sng">
                <a:solidFill>
                  <a:srgbClr val="CC0000"/>
                </a:solidFill>
                <a:latin typeface="Comic Sans MS" panose="030F0702030302020204" pitchFamily="66" charset="0"/>
              </a:rPr>
              <a:t>Limitations</a:t>
            </a:r>
            <a:r>
              <a:rPr lang="en-US" altLang="en-US" sz="2400" u="sng">
                <a:solidFill>
                  <a:srgbClr val="CC0000"/>
                </a:solidFill>
                <a:latin typeface="Comic Sans MS" panose="030F0702030302020204" pitchFamily="66" charset="0"/>
              </a:rPr>
              <a:t>:</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Expensive – typical system costs ~ $4000</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Limited performance in saline soils</a:t>
            </a:r>
          </a:p>
          <a:p>
            <a:pPr>
              <a:spcAft>
                <a:spcPct val="25000"/>
              </a:spcAft>
              <a:buClr>
                <a:srgbClr val="FF3300"/>
              </a:buClr>
              <a:buFont typeface="Symbol" panose="05050102010706020507" pitchFamily="18" charset="2"/>
              <a:buChar char="·"/>
            </a:pPr>
            <a:r>
              <a:rPr lang="en-US" altLang="en-US">
                <a:latin typeface="Comic Sans MS" panose="030F0702030302020204" pitchFamily="66" charset="0"/>
              </a:rPr>
              <a:t>Specialized – no “off the self” systems; requires training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7EEC898F-BFBD-4280-AFD1-C4228170084E}"/>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71715" name="Rectangle 3">
            <a:extLst>
              <a:ext uri="{FF2B5EF4-FFF2-40B4-BE49-F238E27FC236}">
                <a16:creationId xmlns:a16="http://schemas.microsoft.com/office/drawing/2014/main" id="{F23C75C5-35BB-4891-B888-901554AAA01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16" name="Rectangle 4">
            <a:extLst>
              <a:ext uri="{FF2B5EF4-FFF2-40B4-BE49-F238E27FC236}">
                <a16:creationId xmlns:a16="http://schemas.microsoft.com/office/drawing/2014/main" id="{AC8CF936-A439-4CA9-BF4C-DD9934329F7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17" name="Rectangle 5">
            <a:extLst>
              <a:ext uri="{FF2B5EF4-FFF2-40B4-BE49-F238E27FC236}">
                <a16:creationId xmlns:a16="http://schemas.microsoft.com/office/drawing/2014/main" id="{45FD7BAD-B182-4811-AEBE-92B075AC3C1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18" name="Rectangle 6">
            <a:extLst>
              <a:ext uri="{FF2B5EF4-FFF2-40B4-BE49-F238E27FC236}">
                <a16:creationId xmlns:a16="http://schemas.microsoft.com/office/drawing/2014/main" id="{E35FD249-FAD6-4DDF-A7DD-19B1C525E65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19" name="Rectangle 7">
            <a:extLst>
              <a:ext uri="{FF2B5EF4-FFF2-40B4-BE49-F238E27FC236}">
                <a16:creationId xmlns:a16="http://schemas.microsoft.com/office/drawing/2014/main" id="{2D7078F0-A1DA-4732-BD1C-D24BD4502BB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0" name="Rectangle 8">
            <a:extLst>
              <a:ext uri="{FF2B5EF4-FFF2-40B4-BE49-F238E27FC236}">
                <a16:creationId xmlns:a16="http://schemas.microsoft.com/office/drawing/2014/main" id="{A92E8E05-3882-4E0F-9CAF-BAB738473AD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1" name="Rectangle 9">
            <a:extLst>
              <a:ext uri="{FF2B5EF4-FFF2-40B4-BE49-F238E27FC236}">
                <a16:creationId xmlns:a16="http://schemas.microsoft.com/office/drawing/2014/main" id="{B6E19508-9AA6-4325-9B62-48B5FAE53E0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2" name="Rectangle 10">
            <a:extLst>
              <a:ext uri="{FF2B5EF4-FFF2-40B4-BE49-F238E27FC236}">
                <a16:creationId xmlns:a16="http://schemas.microsoft.com/office/drawing/2014/main" id="{3099A5F8-5C92-4A65-B05B-520F12ED83B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3" name="Rectangle 11">
            <a:extLst>
              <a:ext uri="{FF2B5EF4-FFF2-40B4-BE49-F238E27FC236}">
                <a16:creationId xmlns:a16="http://schemas.microsoft.com/office/drawing/2014/main" id="{3A2C6E32-7D56-4632-A69B-D05159CA1DF9}"/>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4" name="Rectangle 12">
            <a:extLst>
              <a:ext uri="{FF2B5EF4-FFF2-40B4-BE49-F238E27FC236}">
                <a16:creationId xmlns:a16="http://schemas.microsoft.com/office/drawing/2014/main" id="{D61E3D5C-2790-4939-9756-C30FD7CD571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5" name="Rectangle 13">
            <a:extLst>
              <a:ext uri="{FF2B5EF4-FFF2-40B4-BE49-F238E27FC236}">
                <a16:creationId xmlns:a16="http://schemas.microsoft.com/office/drawing/2014/main" id="{372EDEF0-2ACE-4F00-81FC-14A8319E147C}"/>
              </a:ext>
            </a:extLst>
          </p:cNvPr>
          <p:cNvSpPr>
            <a:spLocks noChangeArrowheads="1"/>
          </p:cNvSpPr>
          <p:nvPr/>
        </p:nvSpPr>
        <p:spPr bwMode="auto">
          <a:xfrm>
            <a:off x="0" y="358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6" name="Rectangle 14">
            <a:extLst>
              <a:ext uri="{FF2B5EF4-FFF2-40B4-BE49-F238E27FC236}">
                <a16:creationId xmlns:a16="http://schemas.microsoft.com/office/drawing/2014/main" id="{6BA45163-21DA-4B95-8F78-4CF622E5D80B}"/>
              </a:ext>
            </a:extLst>
          </p:cNvPr>
          <p:cNvSpPr>
            <a:spLocks noChangeArrowheads="1"/>
          </p:cNvSpPr>
          <p:nvPr/>
        </p:nvSpPr>
        <p:spPr bwMode="auto">
          <a:xfrm>
            <a:off x="0" y="3481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1727" name="Rectangle 15">
            <a:extLst>
              <a:ext uri="{FF2B5EF4-FFF2-40B4-BE49-F238E27FC236}">
                <a16:creationId xmlns:a16="http://schemas.microsoft.com/office/drawing/2014/main" id="{09D97F93-C7F1-4B6C-B594-1D33266D9D57}"/>
              </a:ext>
            </a:extLst>
          </p:cNvPr>
          <p:cNvSpPr>
            <a:spLocks noChangeArrowheads="1"/>
          </p:cNvSpPr>
          <p:nvPr/>
        </p:nvSpPr>
        <p:spPr bwMode="auto">
          <a:xfrm>
            <a:off x="806450" y="882650"/>
            <a:ext cx="7956550" cy="239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114300" algn="l"/>
                <a:tab pos="228600" algn="l"/>
              </a:tabLst>
              <a:defRPr>
                <a:solidFill>
                  <a:schemeClr val="tx1"/>
                </a:solidFill>
                <a:latin typeface="Arial" panose="020B0604020202020204" pitchFamily="34" charset="0"/>
              </a:defRPr>
            </a:lvl1pPr>
            <a:lvl2pPr marL="977900" indent="-457200">
              <a:tabLst>
                <a:tab pos="114300" algn="l"/>
                <a:tab pos="228600" algn="l"/>
              </a:tabLst>
              <a:defRPr>
                <a:solidFill>
                  <a:schemeClr val="tx1"/>
                </a:solidFill>
                <a:latin typeface="Arial" panose="020B0604020202020204" pitchFamily="34" charset="0"/>
              </a:defRPr>
            </a:lvl2pPr>
            <a:lvl3pPr marL="1549400" indent="-457200">
              <a:tabLst>
                <a:tab pos="114300" algn="l"/>
                <a:tab pos="228600" algn="l"/>
              </a:tabLst>
              <a:defRPr>
                <a:solidFill>
                  <a:schemeClr val="tx1"/>
                </a:solidFill>
                <a:latin typeface="Arial" panose="020B0604020202020204" pitchFamily="34" charset="0"/>
              </a:defRPr>
            </a:lvl3pPr>
            <a:lvl4pPr marL="2120900" indent="-457200">
              <a:tabLst>
                <a:tab pos="114300" algn="l"/>
                <a:tab pos="228600" algn="l"/>
              </a:tabLst>
              <a:defRPr>
                <a:solidFill>
                  <a:schemeClr val="tx1"/>
                </a:solidFill>
                <a:latin typeface="Arial" panose="020B0604020202020204" pitchFamily="34" charset="0"/>
              </a:defRPr>
            </a:lvl4pPr>
            <a:lvl5pPr marL="2692400" indent="-457200">
              <a:tabLst>
                <a:tab pos="114300" algn="l"/>
                <a:tab pos="228600" algn="l"/>
              </a:tabLst>
              <a:defRPr>
                <a:solidFill>
                  <a:schemeClr val="tx1"/>
                </a:solidFill>
                <a:latin typeface="Arial" panose="020B0604020202020204" pitchFamily="34" charset="0"/>
              </a:defRPr>
            </a:lvl5pPr>
            <a:lvl6pPr marL="3149600" indent="-457200" fontAlgn="base">
              <a:spcBef>
                <a:spcPct val="0"/>
              </a:spcBef>
              <a:spcAft>
                <a:spcPct val="0"/>
              </a:spcAft>
              <a:tabLst>
                <a:tab pos="114300" algn="l"/>
                <a:tab pos="228600" algn="l"/>
              </a:tabLst>
              <a:defRPr>
                <a:solidFill>
                  <a:schemeClr val="tx1"/>
                </a:solidFill>
                <a:latin typeface="Arial" panose="020B0604020202020204" pitchFamily="34" charset="0"/>
              </a:defRPr>
            </a:lvl6pPr>
            <a:lvl7pPr marL="3606800" indent="-457200" fontAlgn="base">
              <a:spcBef>
                <a:spcPct val="0"/>
              </a:spcBef>
              <a:spcAft>
                <a:spcPct val="0"/>
              </a:spcAft>
              <a:tabLst>
                <a:tab pos="114300" algn="l"/>
                <a:tab pos="228600" algn="l"/>
              </a:tabLst>
              <a:defRPr>
                <a:solidFill>
                  <a:schemeClr val="tx1"/>
                </a:solidFill>
                <a:latin typeface="Arial" panose="020B0604020202020204" pitchFamily="34" charset="0"/>
              </a:defRPr>
            </a:lvl7pPr>
            <a:lvl8pPr marL="4064000" indent="-457200" fontAlgn="base">
              <a:spcBef>
                <a:spcPct val="0"/>
              </a:spcBef>
              <a:spcAft>
                <a:spcPct val="0"/>
              </a:spcAft>
              <a:tabLst>
                <a:tab pos="114300" algn="l"/>
                <a:tab pos="228600" algn="l"/>
              </a:tabLst>
              <a:defRPr>
                <a:solidFill>
                  <a:schemeClr val="tx1"/>
                </a:solidFill>
                <a:latin typeface="Arial" panose="020B0604020202020204" pitchFamily="34" charset="0"/>
              </a:defRPr>
            </a:lvl8pPr>
            <a:lvl9pPr marL="4521200" indent="-457200" fontAlgn="base">
              <a:spcBef>
                <a:spcPct val="0"/>
              </a:spcBef>
              <a:spcAft>
                <a:spcPct val="0"/>
              </a:spcAft>
              <a:tabLst>
                <a:tab pos="114300" algn="l"/>
                <a:tab pos="228600" algn="l"/>
              </a:tabLs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r>
              <a:rPr lang="en-US" altLang="en-US">
                <a:latin typeface="Comic Sans MS" panose="030F0702030302020204" pitchFamily="66" charset="0"/>
              </a:rPr>
              <a:t>The propagation velocity </a:t>
            </a:r>
            <a:r>
              <a:rPr lang="en-US" altLang="en-US">
                <a:solidFill>
                  <a:srgbClr val="FF3300"/>
                </a:solidFill>
                <a:latin typeface="Comic Sans MS" panose="030F0702030302020204" pitchFamily="66" charset="0"/>
              </a:rPr>
              <a:t>v</a:t>
            </a:r>
            <a:r>
              <a:rPr lang="en-US" altLang="en-US">
                <a:latin typeface="Comic Sans MS" panose="030F0702030302020204" pitchFamily="66" charset="0"/>
              </a:rPr>
              <a:t> of an electromagnetic field along a transmission line (waveguide) of length </a:t>
            </a:r>
            <a:r>
              <a:rPr lang="en-US" altLang="en-US">
                <a:solidFill>
                  <a:srgbClr val="FF3300"/>
                </a:solidFill>
                <a:latin typeface="Comic Sans MS" panose="030F0702030302020204" pitchFamily="66" charset="0"/>
              </a:rPr>
              <a:t>L</a:t>
            </a:r>
            <a:r>
              <a:rPr lang="en-US" altLang="en-US">
                <a:latin typeface="Comic Sans MS" panose="030F0702030302020204" pitchFamily="66" charset="0"/>
              </a:rPr>
              <a:t> embedded in the soil is determined from the time response of the system to a pulse generated by the TDR cable tester.</a:t>
            </a:r>
            <a:br>
              <a:rPr lang="en-US" altLang="en-US">
                <a:latin typeface="Comic Sans MS" panose="030F0702030302020204" pitchFamily="66" charset="0"/>
              </a:rPr>
            </a:br>
            <a:br>
              <a:rPr lang="en-US" altLang="en-US">
                <a:latin typeface="Comic Sans MS" panose="030F0702030302020204" pitchFamily="66" charset="0"/>
              </a:rPr>
            </a:br>
            <a:r>
              <a:rPr lang="en-US" altLang="en-US">
                <a:latin typeface="Comic Sans MS" panose="030F0702030302020204" pitchFamily="66" charset="0"/>
              </a:rPr>
              <a:t>The propagation velocity (</a:t>
            </a:r>
            <a:r>
              <a:rPr lang="en-US" altLang="en-US">
                <a:solidFill>
                  <a:srgbClr val="FF3300"/>
                </a:solidFill>
                <a:latin typeface="Comic Sans MS" panose="030F0702030302020204" pitchFamily="66" charset="0"/>
              </a:rPr>
              <a:t>v=2L/t</a:t>
            </a:r>
            <a:r>
              <a:rPr lang="en-US" altLang="en-US">
                <a:latin typeface="Comic Sans MS" panose="030F0702030302020204" pitchFamily="66" charset="0"/>
              </a:rPr>
              <a:t>) is a function of the soil bulk dielectric constant given by:</a:t>
            </a:r>
            <a:endParaRPr lang="en-US" altLang="en-US">
              <a:latin typeface="Comic Sans MS" panose="030F0702030302020204" pitchFamily="66" charset="0"/>
              <a:cs typeface="Times New Roman" panose="02020603050405020304" pitchFamily="18" charset="0"/>
            </a:endParaRPr>
          </a:p>
        </p:txBody>
      </p:sp>
      <p:sp>
        <p:nvSpPr>
          <p:cNvPr id="371728" name="Rectangle 16">
            <a:extLst>
              <a:ext uri="{FF2B5EF4-FFF2-40B4-BE49-F238E27FC236}">
                <a16:creationId xmlns:a16="http://schemas.microsoft.com/office/drawing/2014/main" id="{3C209D59-B09B-4776-844B-D51EABAB3A5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371729" name="Group 17">
            <a:extLst>
              <a:ext uri="{FF2B5EF4-FFF2-40B4-BE49-F238E27FC236}">
                <a16:creationId xmlns:a16="http://schemas.microsoft.com/office/drawing/2014/main" id="{165BD187-97AA-4A11-832C-938EAC530EB7}"/>
              </a:ext>
            </a:extLst>
          </p:cNvPr>
          <p:cNvGrpSpPr>
            <a:grpSpLocks/>
          </p:cNvGrpSpPr>
          <p:nvPr/>
        </p:nvGrpSpPr>
        <p:grpSpPr bwMode="auto">
          <a:xfrm>
            <a:off x="1366838" y="4389438"/>
            <a:ext cx="6329362" cy="2151062"/>
            <a:chOff x="861" y="2765"/>
            <a:chExt cx="3987" cy="1355"/>
          </a:xfrm>
        </p:grpSpPr>
        <p:pic>
          <p:nvPicPr>
            <p:cNvPr id="371730" name="Picture 18">
              <a:extLst>
                <a:ext uri="{FF2B5EF4-FFF2-40B4-BE49-F238E27FC236}">
                  <a16:creationId xmlns:a16="http://schemas.microsoft.com/office/drawing/2014/main" id="{7703B191-0E84-46A5-A000-0D613C7BCB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2765"/>
              <a:ext cx="3984" cy="1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1731" name="Text Box 19">
              <a:extLst>
                <a:ext uri="{FF2B5EF4-FFF2-40B4-BE49-F238E27FC236}">
                  <a16:creationId xmlns:a16="http://schemas.microsoft.com/office/drawing/2014/main" id="{F794D249-58E1-4A78-9F00-D1FB3C04FEE6}"/>
                </a:ext>
              </a:extLst>
            </p:cNvPr>
            <p:cNvSpPr txBox="1">
              <a:spLocks noChangeArrowheads="1"/>
            </p:cNvSpPr>
            <p:nvPr/>
          </p:nvSpPr>
          <p:spPr bwMode="auto">
            <a:xfrm>
              <a:off x="861" y="3256"/>
              <a:ext cx="1115"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900" b="1">
                  <a:solidFill>
                    <a:srgbClr val="000099"/>
                  </a:solidFill>
                </a:rPr>
                <a:t>Coaxial Cable</a:t>
              </a:r>
            </a:p>
          </p:txBody>
        </p:sp>
        <p:sp>
          <p:nvSpPr>
            <p:cNvPr id="371732" name="Text Box 20">
              <a:extLst>
                <a:ext uri="{FF2B5EF4-FFF2-40B4-BE49-F238E27FC236}">
                  <a16:creationId xmlns:a16="http://schemas.microsoft.com/office/drawing/2014/main" id="{4E1DF1DC-FCF5-4B7E-A754-E541F0AD1590}"/>
                </a:ext>
              </a:extLst>
            </p:cNvPr>
            <p:cNvSpPr txBox="1">
              <a:spLocks noChangeArrowheads="1"/>
            </p:cNvSpPr>
            <p:nvPr/>
          </p:nvSpPr>
          <p:spPr bwMode="auto">
            <a:xfrm>
              <a:off x="2000" y="3784"/>
              <a:ext cx="573"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900" b="1">
                  <a:solidFill>
                    <a:srgbClr val="000099"/>
                  </a:solidFill>
                </a:rPr>
                <a:t>Epoxy</a:t>
              </a:r>
            </a:p>
          </p:txBody>
        </p:sp>
        <p:sp>
          <p:nvSpPr>
            <p:cNvPr id="371733" name="Text Box 21">
              <a:extLst>
                <a:ext uri="{FF2B5EF4-FFF2-40B4-BE49-F238E27FC236}">
                  <a16:creationId xmlns:a16="http://schemas.microsoft.com/office/drawing/2014/main" id="{F3B2C437-7B2E-4A4C-98F6-42A7D78C121C}"/>
                </a:ext>
              </a:extLst>
            </p:cNvPr>
            <p:cNvSpPr txBox="1">
              <a:spLocks noChangeArrowheads="1"/>
            </p:cNvSpPr>
            <p:nvPr/>
          </p:nvSpPr>
          <p:spPr bwMode="auto">
            <a:xfrm>
              <a:off x="2839" y="3880"/>
              <a:ext cx="161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900" b="1">
                  <a:solidFill>
                    <a:srgbClr val="000099"/>
                  </a:solidFill>
                </a:rPr>
                <a:t>Stainless Steel Rods</a:t>
              </a:r>
            </a:p>
          </p:txBody>
        </p:sp>
      </p:grpSp>
      <p:graphicFrame>
        <p:nvGraphicFramePr>
          <p:cNvPr id="371734" name="Object 22">
            <a:extLst>
              <a:ext uri="{FF2B5EF4-FFF2-40B4-BE49-F238E27FC236}">
                <a16:creationId xmlns:a16="http://schemas.microsoft.com/office/drawing/2014/main" id="{F0EA2A17-F4EB-4C92-BB89-3A6BCFD31D7B}"/>
              </a:ext>
            </a:extLst>
          </p:cNvPr>
          <p:cNvGraphicFramePr>
            <a:graphicFrameLocks noChangeAspect="1"/>
          </p:cNvGraphicFramePr>
          <p:nvPr/>
        </p:nvGraphicFramePr>
        <p:xfrm>
          <a:off x="1603375" y="3095625"/>
          <a:ext cx="2605088" cy="1004888"/>
        </p:xfrm>
        <a:graphic>
          <a:graphicData uri="http://schemas.openxmlformats.org/presentationml/2006/ole">
            <mc:AlternateContent xmlns:mc="http://schemas.openxmlformats.org/markup-compatibility/2006">
              <mc:Choice xmlns:v="urn:schemas-microsoft-com:vml" Requires="v">
                <p:oleObj spid="_x0000_s371740" name="Equation" r:id="rId4" imgW="1460500" imgH="558800" progId="Equation.3">
                  <p:embed/>
                </p:oleObj>
              </mc:Choice>
              <mc:Fallback>
                <p:oleObj name="Equation" r:id="rId4" imgW="1460500" imgH="558800" progId="Equation.3">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3375" y="3095625"/>
                        <a:ext cx="2605088" cy="100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1735" name="Text Box 23">
            <a:extLst>
              <a:ext uri="{FF2B5EF4-FFF2-40B4-BE49-F238E27FC236}">
                <a16:creationId xmlns:a16="http://schemas.microsoft.com/office/drawing/2014/main" id="{210970FC-B0E5-4C13-83CB-AFA5F9797607}"/>
              </a:ext>
            </a:extLst>
          </p:cNvPr>
          <p:cNvSpPr txBox="1">
            <a:spLocks noChangeArrowheads="1"/>
          </p:cNvSpPr>
          <p:nvPr/>
        </p:nvSpPr>
        <p:spPr bwMode="auto">
          <a:xfrm>
            <a:off x="4422775" y="3171825"/>
            <a:ext cx="441642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r>
              <a:rPr lang="en-US" altLang="en-US" sz="1400">
                <a:solidFill>
                  <a:srgbClr val="FF0066"/>
                </a:solidFill>
                <a:latin typeface="VAGRounded BT" pitchFamily="34" charset="0"/>
              </a:rPr>
              <a:t>C….	Speed of light, velocity of the electromagnetic wave in vacuum (3x10</a:t>
            </a:r>
            <a:r>
              <a:rPr lang="en-US" altLang="en-US" sz="1400" baseline="30000">
                <a:solidFill>
                  <a:srgbClr val="FF0066"/>
                </a:solidFill>
                <a:latin typeface="VAGRounded BT" pitchFamily="34" charset="0"/>
              </a:rPr>
              <a:t>8</a:t>
            </a:r>
            <a:r>
              <a:rPr lang="en-US" altLang="en-US" sz="1400">
                <a:solidFill>
                  <a:srgbClr val="FF0066"/>
                </a:solidFill>
                <a:latin typeface="VAGRounded BT" pitchFamily="34" charset="0"/>
              </a:rPr>
              <a:t> m/s)</a:t>
            </a:r>
          </a:p>
          <a:p>
            <a:pPr eaLnBrk="0" hangingPunct="0"/>
            <a:r>
              <a:rPr lang="en-US" altLang="en-US" sz="1400">
                <a:solidFill>
                  <a:srgbClr val="FF0066"/>
                </a:solidFill>
                <a:latin typeface="VAGRounded BT" pitchFamily="34" charset="0"/>
              </a:rPr>
              <a:t>t….	travel time of the wave along the waveguide</a:t>
            </a:r>
            <a:br>
              <a:rPr lang="en-US" altLang="en-US" sz="1400">
                <a:solidFill>
                  <a:srgbClr val="FF0066"/>
                </a:solidFill>
                <a:latin typeface="VAGRounded BT" pitchFamily="34" charset="0"/>
              </a:rPr>
            </a:br>
            <a:r>
              <a:rPr lang="en-US" altLang="en-US" sz="1400">
                <a:solidFill>
                  <a:srgbClr val="FF0066"/>
                </a:solidFill>
                <a:latin typeface="VAGRounded BT" pitchFamily="34" charset="0"/>
              </a:rPr>
              <a:t>back and forth (2L)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121EF6BC-B05E-4C13-9535-B574392061C5}"/>
              </a:ext>
            </a:extLst>
          </p:cNvPr>
          <p:cNvSpPr>
            <a:spLocks noChangeArrowheads="1"/>
          </p:cNvSpPr>
          <p:nvPr/>
        </p:nvSpPr>
        <p:spPr bwMode="auto">
          <a:xfrm>
            <a:off x="381000" y="8382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tabLst>
                <a:tab pos="236538" algn="l"/>
              </a:tabLst>
              <a:defRPr>
                <a:solidFill>
                  <a:schemeClr val="tx1"/>
                </a:solidFill>
                <a:latin typeface="Arial" panose="020B0604020202020204" pitchFamily="34" charset="0"/>
              </a:defRPr>
            </a:lvl1pPr>
            <a:lvl2pPr marL="977900" indent="-457200">
              <a:tabLst>
                <a:tab pos="236538" algn="l"/>
              </a:tabLst>
              <a:defRPr>
                <a:solidFill>
                  <a:schemeClr val="tx1"/>
                </a:solidFill>
                <a:latin typeface="Arial" panose="020B0604020202020204" pitchFamily="34" charset="0"/>
              </a:defRPr>
            </a:lvl2pPr>
            <a:lvl3pPr marL="1549400" indent="-457200">
              <a:tabLst>
                <a:tab pos="236538" algn="l"/>
              </a:tabLst>
              <a:defRPr>
                <a:solidFill>
                  <a:schemeClr val="tx1"/>
                </a:solidFill>
                <a:latin typeface="Arial" panose="020B0604020202020204" pitchFamily="34" charset="0"/>
              </a:defRPr>
            </a:lvl3pPr>
            <a:lvl4pPr marL="2120900" indent="-457200">
              <a:tabLst>
                <a:tab pos="236538" algn="l"/>
              </a:tabLst>
              <a:defRPr>
                <a:solidFill>
                  <a:schemeClr val="tx1"/>
                </a:solidFill>
                <a:latin typeface="Arial" panose="020B0604020202020204" pitchFamily="34" charset="0"/>
              </a:defRPr>
            </a:lvl4pPr>
            <a:lvl5pPr marL="2692400" indent="-457200">
              <a:tabLst>
                <a:tab pos="236538" algn="l"/>
              </a:tabLst>
              <a:defRPr>
                <a:solidFill>
                  <a:schemeClr val="tx1"/>
                </a:solidFill>
                <a:latin typeface="Arial" panose="020B0604020202020204" pitchFamily="34" charset="0"/>
              </a:defRPr>
            </a:lvl5pPr>
            <a:lvl6pPr marL="3149600" indent="-457200" fontAlgn="base">
              <a:spcBef>
                <a:spcPct val="0"/>
              </a:spcBef>
              <a:spcAft>
                <a:spcPct val="0"/>
              </a:spcAft>
              <a:tabLst>
                <a:tab pos="236538" algn="l"/>
              </a:tabLst>
              <a:defRPr>
                <a:solidFill>
                  <a:schemeClr val="tx1"/>
                </a:solidFill>
                <a:latin typeface="Arial" panose="020B0604020202020204" pitchFamily="34" charset="0"/>
              </a:defRPr>
            </a:lvl6pPr>
            <a:lvl7pPr marL="3606800" indent="-457200" fontAlgn="base">
              <a:spcBef>
                <a:spcPct val="0"/>
              </a:spcBef>
              <a:spcAft>
                <a:spcPct val="0"/>
              </a:spcAft>
              <a:tabLst>
                <a:tab pos="236538" algn="l"/>
              </a:tabLst>
              <a:defRPr>
                <a:solidFill>
                  <a:schemeClr val="tx1"/>
                </a:solidFill>
                <a:latin typeface="Arial" panose="020B0604020202020204" pitchFamily="34" charset="0"/>
              </a:defRPr>
            </a:lvl7pPr>
            <a:lvl8pPr marL="4064000" indent="-457200" fontAlgn="base">
              <a:spcBef>
                <a:spcPct val="0"/>
              </a:spcBef>
              <a:spcAft>
                <a:spcPct val="0"/>
              </a:spcAft>
              <a:tabLst>
                <a:tab pos="236538" algn="l"/>
              </a:tabLst>
              <a:defRPr>
                <a:solidFill>
                  <a:schemeClr val="tx1"/>
                </a:solidFill>
                <a:latin typeface="Arial" panose="020B0604020202020204" pitchFamily="34" charset="0"/>
              </a:defRPr>
            </a:lvl8pPr>
            <a:lvl9pPr marL="4521200" indent="-457200" fontAlgn="base">
              <a:spcBef>
                <a:spcPct val="0"/>
              </a:spcBef>
              <a:spcAft>
                <a:spcPct val="0"/>
              </a:spcAft>
              <a:tabLst>
                <a:tab pos="236538" algn="l"/>
              </a:tabLs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Char char="!"/>
            </a:pPr>
            <a:r>
              <a:rPr lang="en-US" altLang="en-US" sz="2200">
                <a:latin typeface="Comic Sans MS" panose="030F0702030302020204" pitchFamily="66" charset="0"/>
              </a:rPr>
              <a:t>The dielectric constant </a:t>
            </a:r>
            <a:r>
              <a:rPr lang="en-US" altLang="en-US" sz="2200">
                <a:latin typeface="Symbol" panose="05050102010706020507" pitchFamily="18" charset="2"/>
              </a:rPr>
              <a:t>e</a:t>
            </a:r>
            <a:r>
              <a:rPr lang="en-US" altLang="en-US" sz="2200">
                <a:latin typeface="Comic Sans MS" panose="030F0702030302020204" pitchFamily="66" charset="0"/>
              </a:rPr>
              <a:t> results from interactions between electromagnetic waves and material properties, it determines the relative speed by which an electromagnetic signal travels through a material.</a:t>
            </a:r>
          </a:p>
          <a:p>
            <a:pPr>
              <a:spcBef>
                <a:spcPct val="20000"/>
              </a:spcBef>
              <a:spcAft>
                <a:spcPct val="20000"/>
              </a:spcAft>
              <a:buClr>
                <a:srgbClr val="FF3300"/>
              </a:buClr>
              <a:buFont typeface="CommonBullets" pitchFamily="34" charset="2"/>
              <a:buChar char="!"/>
            </a:pPr>
            <a:r>
              <a:rPr lang="en-US" altLang="en-US" sz="2200">
                <a:solidFill>
                  <a:srgbClr val="FF0066"/>
                </a:solidFill>
                <a:latin typeface="Comic Sans MS" panose="030F0702030302020204" pitchFamily="66" charset="0"/>
              </a:rPr>
              <a:t>Low </a:t>
            </a:r>
            <a:r>
              <a:rPr lang="en-US" altLang="en-US" sz="2200">
                <a:solidFill>
                  <a:srgbClr val="FF0066"/>
                </a:solidFill>
                <a:latin typeface="Symbol" panose="05050102010706020507" pitchFamily="18" charset="2"/>
              </a:rPr>
              <a:t>e</a:t>
            </a:r>
            <a:r>
              <a:rPr lang="en-US" altLang="en-US" sz="2200">
                <a:solidFill>
                  <a:srgbClr val="FF0066"/>
                </a:solidFill>
                <a:latin typeface="Comic Sans MS" panose="030F0702030302020204" pitchFamily="66" charset="0"/>
              </a:rPr>
              <a:t> </a:t>
            </a:r>
            <a:r>
              <a:rPr lang="en-US" altLang="en-US" sz="2200">
                <a:solidFill>
                  <a:srgbClr val="FF0066"/>
                </a:solidFill>
                <a:latin typeface="Comic Sans MS" panose="030F0702030302020204" pitchFamily="66" charset="0"/>
                <a:sym typeface="ZapfDingbats BT" pitchFamily="18" charset="2"/>
              </a:rPr>
              <a:t> rapid signal propagation (fastest </a:t>
            </a:r>
            <a:r>
              <a:rPr lang="en-US" altLang="en-US">
                <a:solidFill>
                  <a:srgbClr val="FF0066"/>
                </a:solidFill>
                <a:latin typeface="Symbol" panose="05050102010706020507" pitchFamily="18" charset="2"/>
              </a:rPr>
              <a:t>e=</a:t>
            </a:r>
            <a:r>
              <a:rPr lang="en-US" altLang="en-US" sz="2200">
                <a:solidFill>
                  <a:srgbClr val="FF0066"/>
                </a:solidFill>
                <a:latin typeface="Comic Sans MS" panose="030F0702030302020204" pitchFamily="66" charset="0"/>
                <a:sym typeface="ZapfDingbats BT" pitchFamily="18" charset="2"/>
              </a:rPr>
              <a:t>1)</a:t>
            </a:r>
          </a:p>
          <a:p>
            <a:pPr>
              <a:spcBef>
                <a:spcPct val="20000"/>
              </a:spcBef>
              <a:spcAft>
                <a:spcPct val="20000"/>
              </a:spcAft>
              <a:buClr>
                <a:srgbClr val="FF3300"/>
              </a:buClr>
              <a:buFont typeface="CommonBullets" pitchFamily="34" charset="2"/>
              <a:buChar char="!"/>
            </a:pPr>
            <a:r>
              <a:rPr lang="en-US" altLang="en-US" sz="2200">
                <a:solidFill>
                  <a:srgbClr val="FF0066"/>
                </a:solidFill>
                <a:latin typeface="Comic Sans MS" panose="030F0702030302020204" pitchFamily="66" charset="0"/>
                <a:sym typeface="ZapfDingbats BT" pitchFamily="18" charset="2"/>
              </a:rPr>
              <a:t> High </a:t>
            </a:r>
            <a:r>
              <a:rPr lang="en-US" altLang="en-US" sz="2200">
                <a:solidFill>
                  <a:srgbClr val="FF0066"/>
                </a:solidFill>
                <a:latin typeface="Symbol" panose="05050102010706020507" pitchFamily="18" charset="2"/>
                <a:sym typeface="ZapfDingbats BT" pitchFamily="18" charset="2"/>
              </a:rPr>
              <a:t>e</a:t>
            </a:r>
            <a:r>
              <a:rPr lang="en-US" altLang="en-US" sz="2200">
                <a:solidFill>
                  <a:srgbClr val="FF0066"/>
                </a:solidFill>
                <a:latin typeface="Comic Sans MS" panose="030F0702030302020204" pitchFamily="66" charset="0"/>
              </a:rPr>
              <a:t> </a:t>
            </a:r>
            <a:r>
              <a:rPr lang="en-US" altLang="en-US" sz="2200">
                <a:solidFill>
                  <a:srgbClr val="FF0066"/>
                </a:solidFill>
                <a:latin typeface="Comic Sans MS" panose="030F0702030302020204" pitchFamily="66" charset="0"/>
                <a:sym typeface="ZapfDingbats BT" pitchFamily="18" charset="2"/>
              </a:rPr>
              <a:t> slow signal propagation</a:t>
            </a:r>
            <a:br>
              <a:rPr lang="en-US" altLang="en-US" sz="2200">
                <a:solidFill>
                  <a:srgbClr val="FF0066"/>
                </a:solidFill>
                <a:latin typeface="Comic Sans MS" panose="030F0702030302020204" pitchFamily="66" charset="0"/>
                <a:sym typeface="ZapfDingbats BT" pitchFamily="18" charset="2"/>
              </a:rPr>
            </a:br>
            <a:endParaRPr lang="en-US" altLang="en-US" sz="2200">
              <a:solidFill>
                <a:srgbClr val="FF0066"/>
              </a:solidFill>
              <a:latin typeface="Comic Sans MS" panose="030F0702030302020204" pitchFamily="66" charset="0"/>
              <a:sym typeface="ZapfDingbats BT" pitchFamily="18" charset="2"/>
            </a:endParaRPr>
          </a:p>
        </p:txBody>
      </p:sp>
      <p:sp>
        <p:nvSpPr>
          <p:cNvPr id="388099" name="Rectangle 3">
            <a:extLst>
              <a:ext uri="{FF2B5EF4-FFF2-40B4-BE49-F238E27FC236}">
                <a16:creationId xmlns:a16="http://schemas.microsoft.com/office/drawing/2014/main" id="{11D11683-08B6-4288-9366-7E49928CDAA2}"/>
              </a:ext>
            </a:extLst>
          </p:cNvPr>
          <p:cNvSpPr>
            <a:spLocks noChangeArrowheads="1"/>
          </p:cNvSpPr>
          <p:nvPr/>
        </p:nvSpPr>
        <p:spPr bwMode="auto">
          <a:xfrm>
            <a:off x="1219200" y="3733800"/>
            <a:ext cx="3581400" cy="12192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spcAft>
                <a:spcPct val="20000"/>
              </a:spcAft>
              <a:buClr>
                <a:srgbClr val="FF3300"/>
              </a:buClr>
              <a:buFont typeface="CommonBullets" pitchFamily="34" charset="2"/>
              <a:buNone/>
            </a:pPr>
            <a:r>
              <a:rPr lang="en-US" altLang="en-US" sz="2200">
                <a:solidFill>
                  <a:srgbClr val="FF0066"/>
                </a:solidFill>
                <a:latin typeface="Comic Sans MS" panose="030F0702030302020204" pitchFamily="66" charset="0"/>
              </a:rPr>
              <a:t>Water  </a:t>
            </a:r>
            <a:r>
              <a:rPr lang="en-US" altLang="en-US" sz="2200">
                <a:solidFill>
                  <a:srgbClr val="FF0066"/>
                </a:solidFill>
                <a:latin typeface="Symbol" panose="05050102010706020507" pitchFamily="18" charset="2"/>
              </a:rPr>
              <a:t>e</a:t>
            </a:r>
            <a:r>
              <a:rPr lang="en-US" altLang="en-US" sz="2200" baseline="-25000">
                <a:solidFill>
                  <a:srgbClr val="FF0066"/>
                </a:solidFill>
                <a:latin typeface="Comic Sans MS" panose="030F0702030302020204" pitchFamily="66" charset="0"/>
              </a:rPr>
              <a:t>w </a:t>
            </a:r>
            <a:r>
              <a:rPr lang="en-US" altLang="en-US" sz="2200">
                <a:solidFill>
                  <a:srgbClr val="FF0066"/>
                </a:solidFill>
                <a:latin typeface="Comic Sans MS" panose="030F0702030302020204" pitchFamily="66" charset="0"/>
                <a:sym typeface="Symbol" panose="05050102010706020507" pitchFamily="18" charset="2"/>
              </a:rPr>
              <a:t>= 81</a:t>
            </a:r>
            <a:br>
              <a:rPr lang="en-US" altLang="en-US" sz="2200">
                <a:solidFill>
                  <a:srgbClr val="FF0066"/>
                </a:solidFill>
                <a:latin typeface="Comic Sans MS" panose="030F0702030302020204" pitchFamily="66" charset="0"/>
                <a:sym typeface="Symbol" panose="05050102010706020507" pitchFamily="18" charset="2"/>
              </a:rPr>
            </a:br>
            <a:r>
              <a:rPr lang="en-US" altLang="en-US" sz="2200">
                <a:solidFill>
                  <a:srgbClr val="FF0066"/>
                </a:solidFill>
                <a:latin typeface="Comic Sans MS" panose="030F0702030302020204" pitchFamily="66" charset="0"/>
                <a:sym typeface="Symbol" panose="05050102010706020507" pitchFamily="18" charset="2"/>
              </a:rPr>
              <a:t>Soil Minerals  </a:t>
            </a:r>
            <a:r>
              <a:rPr lang="en-US" altLang="en-US" sz="2200">
                <a:solidFill>
                  <a:srgbClr val="FF0066"/>
                </a:solidFill>
                <a:latin typeface="Symbol" panose="05050102010706020507" pitchFamily="18" charset="2"/>
                <a:sym typeface="Symbol" panose="05050102010706020507" pitchFamily="18" charset="2"/>
              </a:rPr>
              <a:t>e</a:t>
            </a:r>
            <a:r>
              <a:rPr lang="en-US" altLang="en-US" sz="2200" baseline="-25000">
                <a:solidFill>
                  <a:srgbClr val="FF0066"/>
                </a:solidFill>
                <a:latin typeface="Comic Sans MS" panose="030F0702030302020204" pitchFamily="66" charset="0"/>
                <a:sym typeface="Symbol" panose="05050102010706020507" pitchFamily="18" charset="2"/>
              </a:rPr>
              <a:t>s</a:t>
            </a:r>
            <a:r>
              <a:rPr lang="en-US" altLang="en-US" sz="2200">
                <a:solidFill>
                  <a:srgbClr val="FF0066"/>
                </a:solidFill>
                <a:latin typeface="Comic Sans MS" panose="030F0702030302020204" pitchFamily="66" charset="0"/>
                <a:sym typeface="Symbol" panose="05050102010706020507" pitchFamily="18" charset="2"/>
              </a:rPr>
              <a:t> = 3 to 5</a:t>
            </a:r>
            <a:r>
              <a:rPr lang="en-US" altLang="en-US" sz="2200">
                <a:solidFill>
                  <a:srgbClr val="FF0066"/>
                </a:solidFill>
                <a:latin typeface="Comic Sans MS" panose="030F0702030302020204" pitchFamily="66" charset="0"/>
                <a:sym typeface="ZapfDingbats BT" pitchFamily="18" charset="2"/>
              </a:rPr>
              <a:t> </a:t>
            </a:r>
            <a:br>
              <a:rPr lang="en-US" altLang="en-US" sz="2200">
                <a:solidFill>
                  <a:srgbClr val="FF0066"/>
                </a:solidFill>
                <a:latin typeface="Comic Sans MS" panose="030F0702030302020204" pitchFamily="66" charset="0"/>
                <a:sym typeface="ZapfDingbats BT" pitchFamily="18" charset="2"/>
              </a:rPr>
            </a:br>
            <a:r>
              <a:rPr lang="en-US" altLang="en-US" sz="2200">
                <a:solidFill>
                  <a:srgbClr val="FF0066"/>
                </a:solidFill>
                <a:latin typeface="Comic Sans MS" panose="030F0702030302020204" pitchFamily="66" charset="0"/>
                <a:sym typeface="ZapfDingbats BT" pitchFamily="18" charset="2"/>
              </a:rPr>
              <a:t>Soil Air  </a:t>
            </a:r>
            <a:r>
              <a:rPr lang="en-US" altLang="en-US" sz="2200">
                <a:solidFill>
                  <a:srgbClr val="FF0066"/>
                </a:solidFill>
                <a:latin typeface="Symbol" panose="05050102010706020507" pitchFamily="18" charset="2"/>
                <a:sym typeface="ZapfDingbats BT" pitchFamily="18" charset="2"/>
              </a:rPr>
              <a:t>e</a:t>
            </a:r>
            <a:r>
              <a:rPr lang="en-US" altLang="en-US" sz="2200" baseline="-25000">
                <a:solidFill>
                  <a:srgbClr val="FF0066"/>
                </a:solidFill>
                <a:latin typeface="Comic Sans MS" panose="030F0702030302020204" pitchFamily="66" charset="0"/>
                <a:sym typeface="ZapfDingbats BT" pitchFamily="18" charset="2"/>
              </a:rPr>
              <a:t>a</a:t>
            </a:r>
            <a:r>
              <a:rPr lang="en-US" altLang="en-US" sz="2200">
                <a:solidFill>
                  <a:srgbClr val="FF0066"/>
                </a:solidFill>
                <a:latin typeface="Comic Sans MS" panose="030F0702030302020204" pitchFamily="66" charset="0"/>
                <a:sym typeface="ZapfDingbats BT" pitchFamily="18" charset="2"/>
              </a:rPr>
              <a:t> = 1</a:t>
            </a:r>
            <a:endParaRPr lang="en-US" altLang="en-US"/>
          </a:p>
        </p:txBody>
      </p:sp>
      <p:sp>
        <p:nvSpPr>
          <p:cNvPr id="388100" name="Rectangle 4">
            <a:extLst>
              <a:ext uri="{FF2B5EF4-FFF2-40B4-BE49-F238E27FC236}">
                <a16:creationId xmlns:a16="http://schemas.microsoft.com/office/drawing/2014/main" id="{109AC4C0-1160-4DAF-8F2D-CD9A919AB2DE}"/>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88101" name="Rectangle 5">
            <a:extLst>
              <a:ext uri="{FF2B5EF4-FFF2-40B4-BE49-F238E27FC236}">
                <a16:creationId xmlns:a16="http://schemas.microsoft.com/office/drawing/2014/main" id="{F0226D59-758C-4197-825B-DBC50637569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2" name="Rectangle 6">
            <a:extLst>
              <a:ext uri="{FF2B5EF4-FFF2-40B4-BE49-F238E27FC236}">
                <a16:creationId xmlns:a16="http://schemas.microsoft.com/office/drawing/2014/main" id="{2F4F3703-C79D-4DF4-84BA-25BDD4352AB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3" name="Rectangle 7">
            <a:extLst>
              <a:ext uri="{FF2B5EF4-FFF2-40B4-BE49-F238E27FC236}">
                <a16:creationId xmlns:a16="http://schemas.microsoft.com/office/drawing/2014/main" id="{E08CA8E7-38AE-4AA6-A926-5BD83D801AB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4" name="Rectangle 8">
            <a:extLst>
              <a:ext uri="{FF2B5EF4-FFF2-40B4-BE49-F238E27FC236}">
                <a16:creationId xmlns:a16="http://schemas.microsoft.com/office/drawing/2014/main" id="{E7E2D28C-3C87-43DC-9548-73F28D77755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5" name="Rectangle 9">
            <a:extLst>
              <a:ext uri="{FF2B5EF4-FFF2-40B4-BE49-F238E27FC236}">
                <a16:creationId xmlns:a16="http://schemas.microsoft.com/office/drawing/2014/main" id="{7872F465-77CE-4A0C-9DF9-EB54CF183AF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6" name="Rectangle 10">
            <a:extLst>
              <a:ext uri="{FF2B5EF4-FFF2-40B4-BE49-F238E27FC236}">
                <a16:creationId xmlns:a16="http://schemas.microsoft.com/office/drawing/2014/main" id="{AC20775B-3F30-4880-9128-116D727962A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7" name="Rectangle 11">
            <a:extLst>
              <a:ext uri="{FF2B5EF4-FFF2-40B4-BE49-F238E27FC236}">
                <a16:creationId xmlns:a16="http://schemas.microsoft.com/office/drawing/2014/main" id="{3ABFB352-CDC9-4900-9298-78CF31C5528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8" name="Rectangle 12">
            <a:extLst>
              <a:ext uri="{FF2B5EF4-FFF2-40B4-BE49-F238E27FC236}">
                <a16:creationId xmlns:a16="http://schemas.microsoft.com/office/drawing/2014/main" id="{CB8393E3-BA5C-416B-9F25-8D7560892E4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09" name="Rectangle 13">
            <a:extLst>
              <a:ext uri="{FF2B5EF4-FFF2-40B4-BE49-F238E27FC236}">
                <a16:creationId xmlns:a16="http://schemas.microsoft.com/office/drawing/2014/main" id="{E99526D8-C9BC-43A1-B24D-7E286959969B}"/>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10" name="Rectangle 14">
            <a:extLst>
              <a:ext uri="{FF2B5EF4-FFF2-40B4-BE49-F238E27FC236}">
                <a16:creationId xmlns:a16="http://schemas.microsoft.com/office/drawing/2014/main" id="{47419C8D-A6E7-4805-B843-F08DB8CFB70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11" name="Rectangle 15">
            <a:extLst>
              <a:ext uri="{FF2B5EF4-FFF2-40B4-BE49-F238E27FC236}">
                <a16:creationId xmlns:a16="http://schemas.microsoft.com/office/drawing/2014/main" id="{8B100D71-5266-4D07-BDF8-6EA72C75EFC8}"/>
              </a:ext>
            </a:extLst>
          </p:cNvPr>
          <p:cNvSpPr>
            <a:spLocks noChangeArrowheads="1"/>
          </p:cNvSpPr>
          <p:nvPr/>
        </p:nvSpPr>
        <p:spPr bwMode="auto">
          <a:xfrm>
            <a:off x="0" y="358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12" name="Rectangle 16">
            <a:extLst>
              <a:ext uri="{FF2B5EF4-FFF2-40B4-BE49-F238E27FC236}">
                <a16:creationId xmlns:a16="http://schemas.microsoft.com/office/drawing/2014/main" id="{8DD0D929-BF57-44E1-84E4-90A9492623D1}"/>
              </a:ext>
            </a:extLst>
          </p:cNvPr>
          <p:cNvSpPr>
            <a:spLocks noChangeArrowheads="1"/>
          </p:cNvSpPr>
          <p:nvPr/>
        </p:nvSpPr>
        <p:spPr bwMode="auto">
          <a:xfrm>
            <a:off x="0" y="3481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8113" name="Rectangle 17">
            <a:extLst>
              <a:ext uri="{FF2B5EF4-FFF2-40B4-BE49-F238E27FC236}">
                <a16:creationId xmlns:a16="http://schemas.microsoft.com/office/drawing/2014/main" id="{7F95CE11-ED05-4111-915E-74D93075946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88115" name="Picture 19">
            <a:extLst>
              <a:ext uri="{FF2B5EF4-FFF2-40B4-BE49-F238E27FC236}">
                <a16:creationId xmlns:a16="http://schemas.microsoft.com/office/drawing/2014/main" id="{8E258C83-0FB0-4B00-96F6-5B4E28C0B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971800"/>
            <a:ext cx="3429000" cy="33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C2F16793-8C13-46B8-85C4-32CE14419AAB}"/>
              </a:ext>
            </a:extLst>
          </p:cNvPr>
          <p:cNvSpPr>
            <a:spLocks noChangeArrowheads="1"/>
          </p:cNvSpPr>
          <p:nvPr/>
        </p:nvSpPr>
        <p:spPr bwMode="auto">
          <a:xfrm>
            <a:off x="381000" y="12192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tabLst>
                <a:tab pos="236538" algn="l"/>
              </a:tabLst>
              <a:defRPr>
                <a:solidFill>
                  <a:schemeClr val="tx1"/>
                </a:solidFill>
                <a:latin typeface="Arial" panose="020B0604020202020204" pitchFamily="34" charset="0"/>
              </a:defRPr>
            </a:lvl1pPr>
            <a:lvl2pPr marL="977900" indent="-457200">
              <a:tabLst>
                <a:tab pos="236538" algn="l"/>
              </a:tabLst>
              <a:defRPr>
                <a:solidFill>
                  <a:schemeClr val="tx1"/>
                </a:solidFill>
                <a:latin typeface="Arial" panose="020B0604020202020204" pitchFamily="34" charset="0"/>
              </a:defRPr>
            </a:lvl2pPr>
            <a:lvl3pPr marL="1549400" indent="-457200">
              <a:tabLst>
                <a:tab pos="236538" algn="l"/>
              </a:tabLst>
              <a:defRPr>
                <a:solidFill>
                  <a:schemeClr val="tx1"/>
                </a:solidFill>
                <a:latin typeface="Arial" panose="020B0604020202020204" pitchFamily="34" charset="0"/>
              </a:defRPr>
            </a:lvl3pPr>
            <a:lvl4pPr marL="2120900" indent="-457200">
              <a:tabLst>
                <a:tab pos="236538" algn="l"/>
              </a:tabLst>
              <a:defRPr>
                <a:solidFill>
                  <a:schemeClr val="tx1"/>
                </a:solidFill>
                <a:latin typeface="Arial" panose="020B0604020202020204" pitchFamily="34" charset="0"/>
              </a:defRPr>
            </a:lvl4pPr>
            <a:lvl5pPr marL="2692400" indent="-457200">
              <a:tabLst>
                <a:tab pos="236538" algn="l"/>
              </a:tabLst>
              <a:defRPr>
                <a:solidFill>
                  <a:schemeClr val="tx1"/>
                </a:solidFill>
                <a:latin typeface="Arial" panose="020B0604020202020204" pitchFamily="34" charset="0"/>
              </a:defRPr>
            </a:lvl5pPr>
            <a:lvl6pPr marL="3149600" indent="-457200" fontAlgn="base">
              <a:spcBef>
                <a:spcPct val="0"/>
              </a:spcBef>
              <a:spcAft>
                <a:spcPct val="0"/>
              </a:spcAft>
              <a:tabLst>
                <a:tab pos="236538" algn="l"/>
              </a:tabLst>
              <a:defRPr>
                <a:solidFill>
                  <a:schemeClr val="tx1"/>
                </a:solidFill>
                <a:latin typeface="Arial" panose="020B0604020202020204" pitchFamily="34" charset="0"/>
              </a:defRPr>
            </a:lvl6pPr>
            <a:lvl7pPr marL="3606800" indent="-457200" fontAlgn="base">
              <a:spcBef>
                <a:spcPct val="0"/>
              </a:spcBef>
              <a:spcAft>
                <a:spcPct val="0"/>
              </a:spcAft>
              <a:tabLst>
                <a:tab pos="236538" algn="l"/>
              </a:tabLst>
              <a:defRPr>
                <a:solidFill>
                  <a:schemeClr val="tx1"/>
                </a:solidFill>
                <a:latin typeface="Arial" panose="020B0604020202020204" pitchFamily="34" charset="0"/>
              </a:defRPr>
            </a:lvl7pPr>
            <a:lvl8pPr marL="4064000" indent="-457200" fontAlgn="base">
              <a:spcBef>
                <a:spcPct val="0"/>
              </a:spcBef>
              <a:spcAft>
                <a:spcPct val="0"/>
              </a:spcAft>
              <a:tabLst>
                <a:tab pos="236538" algn="l"/>
              </a:tabLst>
              <a:defRPr>
                <a:solidFill>
                  <a:schemeClr val="tx1"/>
                </a:solidFill>
                <a:latin typeface="Arial" panose="020B0604020202020204" pitchFamily="34" charset="0"/>
              </a:defRPr>
            </a:lvl8pPr>
            <a:lvl9pPr marL="4521200" indent="-457200" fontAlgn="base">
              <a:spcBef>
                <a:spcPct val="0"/>
              </a:spcBef>
              <a:spcAft>
                <a:spcPct val="0"/>
              </a:spcAft>
              <a:tabLst>
                <a:tab pos="236538" algn="l"/>
              </a:tabLs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Char char="!"/>
            </a:pPr>
            <a:r>
              <a:rPr lang="en-US" altLang="en-US" sz="2200">
                <a:solidFill>
                  <a:srgbClr val="FF0066"/>
                </a:solidFill>
                <a:latin typeface="Comic Sans MS" panose="030F0702030302020204" pitchFamily="66" charset="0"/>
              </a:rPr>
              <a:t>Low </a:t>
            </a:r>
            <a:r>
              <a:rPr lang="en-US" altLang="en-US" sz="2200">
                <a:solidFill>
                  <a:srgbClr val="FF0066"/>
                </a:solidFill>
                <a:latin typeface="Symbol" panose="05050102010706020507" pitchFamily="18" charset="2"/>
              </a:rPr>
              <a:t>e</a:t>
            </a:r>
            <a:r>
              <a:rPr lang="en-US" altLang="en-US" sz="2200">
                <a:solidFill>
                  <a:srgbClr val="FF0066"/>
                </a:solidFill>
                <a:latin typeface="Comic Sans MS" panose="030F0702030302020204" pitchFamily="66" charset="0"/>
              </a:rPr>
              <a:t> </a:t>
            </a:r>
            <a:r>
              <a:rPr lang="en-US" altLang="en-US" sz="2200">
                <a:solidFill>
                  <a:srgbClr val="FF0066"/>
                </a:solidFill>
                <a:latin typeface="Comic Sans MS" panose="030F0702030302020204" pitchFamily="66" charset="0"/>
                <a:sym typeface="ZapfDingbats BT" pitchFamily="18" charset="2"/>
              </a:rPr>
              <a:t> rapid signal propagation (fastest </a:t>
            </a:r>
            <a:r>
              <a:rPr lang="en-US" altLang="en-US">
                <a:solidFill>
                  <a:srgbClr val="FF0066"/>
                </a:solidFill>
                <a:latin typeface="Symbol" panose="05050102010706020507" pitchFamily="18" charset="2"/>
              </a:rPr>
              <a:t>e=</a:t>
            </a:r>
            <a:r>
              <a:rPr lang="en-US" altLang="en-US" sz="2200">
                <a:solidFill>
                  <a:srgbClr val="FF0066"/>
                </a:solidFill>
                <a:latin typeface="Comic Sans MS" panose="030F0702030302020204" pitchFamily="66" charset="0"/>
                <a:sym typeface="ZapfDingbats BT" pitchFamily="18" charset="2"/>
              </a:rPr>
              <a:t>1)</a:t>
            </a:r>
          </a:p>
          <a:p>
            <a:pPr>
              <a:spcBef>
                <a:spcPct val="20000"/>
              </a:spcBef>
              <a:spcAft>
                <a:spcPct val="20000"/>
              </a:spcAft>
              <a:buClr>
                <a:srgbClr val="FF3300"/>
              </a:buClr>
              <a:buFont typeface="CommonBullets" pitchFamily="34" charset="2"/>
              <a:buChar char="!"/>
            </a:pPr>
            <a:r>
              <a:rPr lang="en-US" altLang="en-US" sz="2200">
                <a:solidFill>
                  <a:srgbClr val="FF0066"/>
                </a:solidFill>
                <a:latin typeface="Comic Sans MS" panose="030F0702030302020204" pitchFamily="66" charset="0"/>
                <a:sym typeface="ZapfDingbats BT" pitchFamily="18" charset="2"/>
              </a:rPr>
              <a:t> High </a:t>
            </a:r>
            <a:r>
              <a:rPr lang="en-US" altLang="en-US" sz="2200">
                <a:solidFill>
                  <a:srgbClr val="FF0066"/>
                </a:solidFill>
                <a:latin typeface="Symbol" panose="05050102010706020507" pitchFamily="18" charset="2"/>
                <a:sym typeface="ZapfDingbats BT" pitchFamily="18" charset="2"/>
              </a:rPr>
              <a:t>e</a:t>
            </a:r>
            <a:r>
              <a:rPr lang="en-US" altLang="en-US" sz="2200">
                <a:solidFill>
                  <a:srgbClr val="FF0066"/>
                </a:solidFill>
                <a:latin typeface="Comic Sans MS" panose="030F0702030302020204" pitchFamily="66" charset="0"/>
              </a:rPr>
              <a:t> </a:t>
            </a:r>
            <a:r>
              <a:rPr lang="en-US" altLang="en-US" sz="2200">
                <a:solidFill>
                  <a:srgbClr val="FF0066"/>
                </a:solidFill>
                <a:latin typeface="Comic Sans MS" panose="030F0702030302020204" pitchFamily="66" charset="0"/>
                <a:sym typeface="ZapfDingbats BT" pitchFamily="18" charset="2"/>
              </a:rPr>
              <a:t> slow signal propagation</a:t>
            </a:r>
            <a:br>
              <a:rPr lang="en-US" altLang="en-US" sz="2200">
                <a:solidFill>
                  <a:srgbClr val="FF0066"/>
                </a:solidFill>
                <a:latin typeface="Comic Sans MS" panose="030F0702030302020204" pitchFamily="66" charset="0"/>
                <a:sym typeface="ZapfDingbats BT" pitchFamily="18" charset="2"/>
              </a:rPr>
            </a:br>
            <a:endParaRPr lang="en-US" altLang="en-US" sz="2200">
              <a:solidFill>
                <a:srgbClr val="FF0066"/>
              </a:solidFill>
              <a:latin typeface="Comic Sans MS" panose="030F0702030302020204" pitchFamily="66" charset="0"/>
              <a:sym typeface="ZapfDingbats BT" pitchFamily="18" charset="2"/>
            </a:endParaRPr>
          </a:p>
          <a:p>
            <a:pPr>
              <a:spcBef>
                <a:spcPct val="20000"/>
              </a:spcBef>
              <a:spcAft>
                <a:spcPct val="20000"/>
              </a:spcAft>
              <a:buClr>
                <a:srgbClr val="FF3300"/>
              </a:buClr>
              <a:buFont typeface="CommonBullets" pitchFamily="34" charset="2"/>
              <a:buChar char="!"/>
            </a:pPr>
            <a:r>
              <a:rPr lang="en-US" altLang="en-US" sz="2200">
                <a:latin typeface="Comic Sans MS" panose="030F0702030302020204" pitchFamily="66" charset="0"/>
              </a:rPr>
              <a:t>The large disparity between dielectric constant of water and other soil constituents results in dominance of soil bulk dielectric constant </a:t>
            </a:r>
            <a:r>
              <a:rPr lang="en-US" altLang="en-US" sz="2200">
                <a:latin typeface="Symbol" panose="05050102010706020507" pitchFamily="18" charset="2"/>
              </a:rPr>
              <a:t>e</a:t>
            </a:r>
            <a:r>
              <a:rPr lang="en-US" altLang="en-US" sz="2200" baseline="-25000">
                <a:latin typeface="Comic Sans MS" panose="030F0702030302020204" pitchFamily="66" charset="0"/>
              </a:rPr>
              <a:t>b</a:t>
            </a:r>
            <a:r>
              <a:rPr lang="en-US" altLang="en-US" sz="2200">
                <a:latin typeface="Comic Sans MS" panose="030F0702030302020204" pitchFamily="66" charset="0"/>
              </a:rPr>
              <a:t> by the volume fraction of liquid water </a:t>
            </a:r>
            <a:r>
              <a:rPr lang="en-US" altLang="en-US" sz="2200">
                <a:latin typeface="Symbol" panose="05050102010706020507" pitchFamily="18" charset="2"/>
              </a:rPr>
              <a:t>e</a:t>
            </a:r>
            <a:r>
              <a:rPr lang="en-US" altLang="en-US" sz="2200" baseline="-25000">
                <a:latin typeface="Comic Sans MS" panose="030F0702030302020204" pitchFamily="66" charset="0"/>
              </a:rPr>
              <a:t>w</a:t>
            </a:r>
            <a:r>
              <a:rPr lang="en-US" altLang="en-US" sz="2200">
                <a:latin typeface="Comic Sans MS" panose="030F0702030302020204" pitchFamily="66" charset="0"/>
              </a:rPr>
              <a:t> hence dielectric measurements are ideal for soil water content determination.</a:t>
            </a:r>
            <a:br>
              <a:rPr lang="en-US" altLang="en-US" sz="2200" baseline="-25000">
                <a:solidFill>
                  <a:srgbClr val="0033CC"/>
                </a:solidFill>
                <a:latin typeface="Comic Sans MS" panose="030F0702030302020204" pitchFamily="66" charset="0"/>
              </a:rPr>
            </a:br>
            <a:br>
              <a:rPr lang="en-US" altLang="en-US" sz="2200" baseline="-25000">
                <a:solidFill>
                  <a:srgbClr val="0033CC"/>
                </a:solidFill>
                <a:latin typeface="Comic Sans MS" panose="030F0702030302020204" pitchFamily="66" charset="0"/>
              </a:rPr>
            </a:br>
            <a:endParaRPr lang="en-US" altLang="en-US" sz="2200" baseline="-25000">
              <a:solidFill>
                <a:srgbClr val="0033CC"/>
              </a:solidFill>
              <a:latin typeface="Comic Sans MS" panose="030F0702030302020204" pitchFamily="66" charset="0"/>
            </a:endParaRPr>
          </a:p>
        </p:txBody>
      </p:sp>
      <p:sp>
        <p:nvSpPr>
          <p:cNvPr id="387075" name="Rectangle 3">
            <a:extLst>
              <a:ext uri="{FF2B5EF4-FFF2-40B4-BE49-F238E27FC236}">
                <a16:creationId xmlns:a16="http://schemas.microsoft.com/office/drawing/2014/main" id="{7A110F05-604C-41BE-84B4-6B4B43872CE8}"/>
              </a:ext>
            </a:extLst>
          </p:cNvPr>
          <p:cNvSpPr>
            <a:spLocks noChangeArrowheads="1"/>
          </p:cNvSpPr>
          <p:nvPr/>
        </p:nvSpPr>
        <p:spPr bwMode="auto">
          <a:xfrm>
            <a:off x="3124200" y="4953000"/>
            <a:ext cx="3581400" cy="12192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spcAft>
                <a:spcPct val="20000"/>
              </a:spcAft>
              <a:buClr>
                <a:srgbClr val="FF3300"/>
              </a:buClr>
              <a:buFont typeface="CommonBullets" pitchFamily="34" charset="2"/>
              <a:buNone/>
            </a:pPr>
            <a:r>
              <a:rPr lang="en-US" altLang="en-US" sz="2200">
                <a:solidFill>
                  <a:srgbClr val="FF0066"/>
                </a:solidFill>
                <a:latin typeface="Comic Sans MS" panose="030F0702030302020204" pitchFamily="66" charset="0"/>
              </a:rPr>
              <a:t>Water  </a:t>
            </a:r>
            <a:r>
              <a:rPr lang="en-US" altLang="en-US" sz="2200">
                <a:solidFill>
                  <a:srgbClr val="FF0066"/>
                </a:solidFill>
                <a:latin typeface="Symbol" panose="05050102010706020507" pitchFamily="18" charset="2"/>
              </a:rPr>
              <a:t>e</a:t>
            </a:r>
            <a:r>
              <a:rPr lang="en-US" altLang="en-US" sz="2200" baseline="-25000">
                <a:solidFill>
                  <a:srgbClr val="FF0066"/>
                </a:solidFill>
                <a:latin typeface="Comic Sans MS" panose="030F0702030302020204" pitchFamily="66" charset="0"/>
              </a:rPr>
              <a:t>w </a:t>
            </a:r>
            <a:r>
              <a:rPr lang="en-US" altLang="en-US" sz="2200">
                <a:solidFill>
                  <a:srgbClr val="FF0066"/>
                </a:solidFill>
                <a:latin typeface="Comic Sans MS" panose="030F0702030302020204" pitchFamily="66" charset="0"/>
                <a:sym typeface="Symbol" panose="05050102010706020507" pitchFamily="18" charset="2"/>
              </a:rPr>
              <a:t>= 81</a:t>
            </a:r>
            <a:br>
              <a:rPr lang="en-US" altLang="en-US" sz="2200">
                <a:solidFill>
                  <a:srgbClr val="FF0066"/>
                </a:solidFill>
                <a:latin typeface="Comic Sans MS" panose="030F0702030302020204" pitchFamily="66" charset="0"/>
                <a:sym typeface="Symbol" panose="05050102010706020507" pitchFamily="18" charset="2"/>
              </a:rPr>
            </a:br>
            <a:r>
              <a:rPr lang="en-US" altLang="en-US" sz="2200">
                <a:solidFill>
                  <a:srgbClr val="FF0066"/>
                </a:solidFill>
                <a:latin typeface="Comic Sans MS" panose="030F0702030302020204" pitchFamily="66" charset="0"/>
                <a:sym typeface="Symbol" panose="05050102010706020507" pitchFamily="18" charset="2"/>
              </a:rPr>
              <a:t>Soil Minerals  </a:t>
            </a:r>
            <a:r>
              <a:rPr lang="en-US" altLang="en-US" sz="2200">
                <a:solidFill>
                  <a:srgbClr val="FF0066"/>
                </a:solidFill>
                <a:latin typeface="Symbol" panose="05050102010706020507" pitchFamily="18" charset="2"/>
                <a:sym typeface="Symbol" panose="05050102010706020507" pitchFamily="18" charset="2"/>
              </a:rPr>
              <a:t>e</a:t>
            </a:r>
            <a:r>
              <a:rPr lang="en-US" altLang="en-US" sz="2200" baseline="-25000">
                <a:solidFill>
                  <a:srgbClr val="FF0066"/>
                </a:solidFill>
                <a:latin typeface="Comic Sans MS" panose="030F0702030302020204" pitchFamily="66" charset="0"/>
                <a:sym typeface="Symbol" panose="05050102010706020507" pitchFamily="18" charset="2"/>
              </a:rPr>
              <a:t>s</a:t>
            </a:r>
            <a:r>
              <a:rPr lang="en-US" altLang="en-US" sz="2200">
                <a:solidFill>
                  <a:srgbClr val="FF0066"/>
                </a:solidFill>
                <a:latin typeface="Comic Sans MS" panose="030F0702030302020204" pitchFamily="66" charset="0"/>
                <a:sym typeface="Symbol" panose="05050102010706020507" pitchFamily="18" charset="2"/>
              </a:rPr>
              <a:t> = 3 to 5</a:t>
            </a:r>
            <a:r>
              <a:rPr lang="en-US" altLang="en-US" sz="2200">
                <a:solidFill>
                  <a:srgbClr val="FF0066"/>
                </a:solidFill>
                <a:latin typeface="Comic Sans MS" panose="030F0702030302020204" pitchFamily="66" charset="0"/>
                <a:sym typeface="ZapfDingbats BT" pitchFamily="18" charset="2"/>
              </a:rPr>
              <a:t> </a:t>
            </a:r>
            <a:br>
              <a:rPr lang="en-US" altLang="en-US" sz="2200">
                <a:solidFill>
                  <a:srgbClr val="FF0066"/>
                </a:solidFill>
                <a:latin typeface="Comic Sans MS" panose="030F0702030302020204" pitchFamily="66" charset="0"/>
                <a:sym typeface="ZapfDingbats BT" pitchFamily="18" charset="2"/>
              </a:rPr>
            </a:br>
            <a:r>
              <a:rPr lang="en-US" altLang="en-US" sz="2200">
                <a:solidFill>
                  <a:srgbClr val="FF0066"/>
                </a:solidFill>
                <a:latin typeface="Comic Sans MS" panose="030F0702030302020204" pitchFamily="66" charset="0"/>
                <a:sym typeface="ZapfDingbats BT" pitchFamily="18" charset="2"/>
              </a:rPr>
              <a:t>Soil Air  </a:t>
            </a:r>
            <a:r>
              <a:rPr lang="en-US" altLang="en-US" sz="2200">
                <a:solidFill>
                  <a:srgbClr val="FF0066"/>
                </a:solidFill>
                <a:latin typeface="Symbol" panose="05050102010706020507" pitchFamily="18" charset="2"/>
                <a:sym typeface="ZapfDingbats BT" pitchFamily="18" charset="2"/>
              </a:rPr>
              <a:t>e</a:t>
            </a:r>
            <a:r>
              <a:rPr lang="en-US" altLang="en-US" sz="2200" baseline="-25000">
                <a:solidFill>
                  <a:srgbClr val="FF0066"/>
                </a:solidFill>
                <a:latin typeface="Comic Sans MS" panose="030F0702030302020204" pitchFamily="66" charset="0"/>
                <a:sym typeface="ZapfDingbats BT" pitchFamily="18" charset="2"/>
              </a:rPr>
              <a:t>a</a:t>
            </a:r>
            <a:r>
              <a:rPr lang="en-US" altLang="en-US" sz="2200">
                <a:solidFill>
                  <a:srgbClr val="FF0066"/>
                </a:solidFill>
                <a:latin typeface="Comic Sans MS" panose="030F0702030302020204" pitchFamily="66" charset="0"/>
                <a:sym typeface="ZapfDingbats BT" pitchFamily="18" charset="2"/>
              </a:rPr>
              <a:t> = 1</a:t>
            </a:r>
            <a:endParaRPr lang="en-US" altLang="en-US"/>
          </a:p>
        </p:txBody>
      </p:sp>
      <p:sp>
        <p:nvSpPr>
          <p:cNvPr id="387076" name="Rectangle 4">
            <a:extLst>
              <a:ext uri="{FF2B5EF4-FFF2-40B4-BE49-F238E27FC236}">
                <a16:creationId xmlns:a16="http://schemas.microsoft.com/office/drawing/2014/main" id="{D3406B47-D61D-433E-B5C5-B21B67198A0B}"/>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87077" name="Rectangle 5">
            <a:extLst>
              <a:ext uri="{FF2B5EF4-FFF2-40B4-BE49-F238E27FC236}">
                <a16:creationId xmlns:a16="http://schemas.microsoft.com/office/drawing/2014/main" id="{01163C49-6243-45F3-9193-91C8125C3B8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78" name="Rectangle 6">
            <a:extLst>
              <a:ext uri="{FF2B5EF4-FFF2-40B4-BE49-F238E27FC236}">
                <a16:creationId xmlns:a16="http://schemas.microsoft.com/office/drawing/2014/main" id="{C3905B28-4676-4533-BE19-CF5C6075340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79" name="Rectangle 7">
            <a:extLst>
              <a:ext uri="{FF2B5EF4-FFF2-40B4-BE49-F238E27FC236}">
                <a16:creationId xmlns:a16="http://schemas.microsoft.com/office/drawing/2014/main" id="{7D36B688-E22A-4F9C-BFCE-4A6480ED6C4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0" name="Rectangle 8">
            <a:extLst>
              <a:ext uri="{FF2B5EF4-FFF2-40B4-BE49-F238E27FC236}">
                <a16:creationId xmlns:a16="http://schemas.microsoft.com/office/drawing/2014/main" id="{E85D24A3-9A96-4B62-8164-5C0C2B4B7F77}"/>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1" name="Rectangle 9">
            <a:extLst>
              <a:ext uri="{FF2B5EF4-FFF2-40B4-BE49-F238E27FC236}">
                <a16:creationId xmlns:a16="http://schemas.microsoft.com/office/drawing/2014/main" id="{9A88A0D8-D9CA-4C40-B8C2-DD8E27097A4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2" name="Rectangle 10">
            <a:extLst>
              <a:ext uri="{FF2B5EF4-FFF2-40B4-BE49-F238E27FC236}">
                <a16:creationId xmlns:a16="http://schemas.microsoft.com/office/drawing/2014/main" id="{9C7D9524-109C-41CC-8AB5-4D88B618C35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3" name="Rectangle 11">
            <a:extLst>
              <a:ext uri="{FF2B5EF4-FFF2-40B4-BE49-F238E27FC236}">
                <a16:creationId xmlns:a16="http://schemas.microsoft.com/office/drawing/2014/main" id="{17941693-AF87-4D7E-B0B5-02CE3E70014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4" name="Rectangle 12">
            <a:extLst>
              <a:ext uri="{FF2B5EF4-FFF2-40B4-BE49-F238E27FC236}">
                <a16:creationId xmlns:a16="http://schemas.microsoft.com/office/drawing/2014/main" id="{686FB255-F986-4AE3-9C81-21D0E1F056D8}"/>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5" name="Rectangle 13">
            <a:extLst>
              <a:ext uri="{FF2B5EF4-FFF2-40B4-BE49-F238E27FC236}">
                <a16:creationId xmlns:a16="http://schemas.microsoft.com/office/drawing/2014/main" id="{E9BA3723-E3E9-4B63-873A-34A2BE184FF9}"/>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6" name="Rectangle 14">
            <a:extLst>
              <a:ext uri="{FF2B5EF4-FFF2-40B4-BE49-F238E27FC236}">
                <a16:creationId xmlns:a16="http://schemas.microsoft.com/office/drawing/2014/main" id="{742D55F8-4D92-47F4-9351-D93D9C120E5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7" name="Rectangle 15">
            <a:extLst>
              <a:ext uri="{FF2B5EF4-FFF2-40B4-BE49-F238E27FC236}">
                <a16:creationId xmlns:a16="http://schemas.microsoft.com/office/drawing/2014/main" id="{061E767F-E7C3-4B0F-BA15-32044B982ABF}"/>
              </a:ext>
            </a:extLst>
          </p:cNvPr>
          <p:cNvSpPr>
            <a:spLocks noChangeArrowheads="1"/>
          </p:cNvSpPr>
          <p:nvPr/>
        </p:nvSpPr>
        <p:spPr bwMode="auto">
          <a:xfrm>
            <a:off x="0" y="358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8" name="Rectangle 16">
            <a:extLst>
              <a:ext uri="{FF2B5EF4-FFF2-40B4-BE49-F238E27FC236}">
                <a16:creationId xmlns:a16="http://schemas.microsoft.com/office/drawing/2014/main" id="{77109D7C-40C1-47D1-AEFD-E199E59B7187}"/>
              </a:ext>
            </a:extLst>
          </p:cNvPr>
          <p:cNvSpPr>
            <a:spLocks noChangeArrowheads="1"/>
          </p:cNvSpPr>
          <p:nvPr/>
        </p:nvSpPr>
        <p:spPr bwMode="auto">
          <a:xfrm>
            <a:off x="0" y="3481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7089" name="Rectangle 17">
            <a:extLst>
              <a:ext uri="{FF2B5EF4-FFF2-40B4-BE49-F238E27FC236}">
                <a16:creationId xmlns:a16="http://schemas.microsoft.com/office/drawing/2014/main" id="{A6356248-22CF-4CE6-A48B-E3549EDAF1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87090" name="Object 18">
            <a:extLst>
              <a:ext uri="{FF2B5EF4-FFF2-40B4-BE49-F238E27FC236}">
                <a16:creationId xmlns:a16="http://schemas.microsoft.com/office/drawing/2014/main" id="{D7BD0301-28BC-4836-A986-D6F72D7C843B}"/>
              </a:ext>
            </a:extLst>
          </p:cNvPr>
          <p:cNvGraphicFramePr>
            <a:graphicFrameLocks noChangeAspect="1"/>
          </p:cNvGraphicFramePr>
          <p:nvPr/>
        </p:nvGraphicFramePr>
        <p:xfrm>
          <a:off x="7086600" y="1295400"/>
          <a:ext cx="1371600" cy="1044575"/>
        </p:xfrm>
        <a:graphic>
          <a:graphicData uri="http://schemas.openxmlformats.org/presentationml/2006/ole">
            <mc:AlternateContent xmlns:mc="http://schemas.openxmlformats.org/markup-compatibility/2006">
              <mc:Choice xmlns:v="urn:schemas-microsoft-com:vml" Requires="v">
                <p:oleObj spid="_x0000_s387095" name="Equation" r:id="rId3" imgW="622080" imgH="469800" progId="Equation.3">
                  <p:embed/>
                </p:oleObj>
              </mc:Choice>
              <mc:Fallback>
                <p:oleObj name="Equation" r:id="rId3" imgW="622080" imgH="46980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1295400"/>
                        <a:ext cx="1371600" cy="1044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071BD688-4DF5-411F-A671-D3A706173EA5}"/>
              </a:ext>
            </a:extLst>
          </p:cNvPr>
          <p:cNvSpPr>
            <a:spLocks noGrp="1" noChangeArrowheads="1"/>
          </p:cNvSpPr>
          <p:nvPr>
            <p:ph type="title"/>
          </p:nvPr>
        </p:nvSpPr>
        <p:spPr/>
        <p:txBody>
          <a:bodyPr/>
          <a:lstStyle/>
          <a:p>
            <a:r>
              <a:rPr lang="en-US" altLang="en-US">
                <a:latin typeface="Comic Sans MS" panose="030F0702030302020204" pitchFamily="66" charset="0"/>
              </a:rPr>
              <a:t>Time Domain Reflectometry TDR</a:t>
            </a:r>
          </a:p>
        </p:txBody>
      </p:sp>
      <p:sp>
        <p:nvSpPr>
          <p:cNvPr id="373763" name="Rectangle 3">
            <a:extLst>
              <a:ext uri="{FF2B5EF4-FFF2-40B4-BE49-F238E27FC236}">
                <a16:creationId xmlns:a16="http://schemas.microsoft.com/office/drawing/2014/main" id="{72C5D22D-A7BA-4354-9C99-7A3D6B6C25F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4" name="Rectangle 4">
            <a:extLst>
              <a:ext uri="{FF2B5EF4-FFF2-40B4-BE49-F238E27FC236}">
                <a16:creationId xmlns:a16="http://schemas.microsoft.com/office/drawing/2014/main" id="{ED65D913-ECC4-4F44-B4A0-D20A298AB56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5" name="Rectangle 5">
            <a:extLst>
              <a:ext uri="{FF2B5EF4-FFF2-40B4-BE49-F238E27FC236}">
                <a16:creationId xmlns:a16="http://schemas.microsoft.com/office/drawing/2014/main" id="{BC650ED3-7D63-4E61-B27F-E0C6370F1847}"/>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6" name="Rectangle 6">
            <a:extLst>
              <a:ext uri="{FF2B5EF4-FFF2-40B4-BE49-F238E27FC236}">
                <a16:creationId xmlns:a16="http://schemas.microsoft.com/office/drawing/2014/main" id="{8DF975B8-561D-4A6E-A587-2A07210EE6E7}"/>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7" name="Rectangle 7">
            <a:extLst>
              <a:ext uri="{FF2B5EF4-FFF2-40B4-BE49-F238E27FC236}">
                <a16:creationId xmlns:a16="http://schemas.microsoft.com/office/drawing/2014/main" id="{01EDC9DB-7F9D-433A-A6A0-A4F8B7B98F8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8" name="Rectangle 8">
            <a:extLst>
              <a:ext uri="{FF2B5EF4-FFF2-40B4-BE49-F238E27FC236}">
                <a16:creationId xmlns:a16="http://schemas.microsoft.com/office/drawing/2014/main" id="{E36EA5FC-69F3-4A36-BC6F-BB5B3C0CD48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69" name="Rectangle 9">
            <a:extLst>
              <a:ext uri="{FF2B5EF4-FFF2-40B4-BE49-F238E27FC236}">
                <a16:creationId xmlns:a16="http://schemas.microsoft.com/office/drawing/2014/main" id="{BF23265D-8F8B-4505-99A3-17BD6C684FB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0" name="Rectangle 10">
            <a:extLst>
              <a:ext uri="{FF2B5EF4-FFF2-40B4-BE49-F238E27FC236}">
                <a16:creationId xmlns:a16="http://schemas.microsoft.com/office/drawing/2014/main" id="{91CD8D4A-D2FC-4DC1-A35F-FE7BD7AB909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1" name="Rectangle 11">
            <a:extLst>
              <a:ext uri="{FF2B5EF4-FFF2-40B4-BE49-F238E27FC236}">
                <a16:creationId xmlns:a16="http://schemas.microsoft.com/office/drawing/2014/main" id="{7AB0D6FB-9798-4473-868C-5455BCD589CC}"/>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2" name="Rectangle 12">
            <a:extLst>
              <a:ext uri="{FF2B5EF4-FFF2-40B4-BE49-F238E27FC236}">
                <a16:creationId xmlns:a16="http://schemas.microsoft.com/office/drawing/2014/main" id="{B22881F9-29CC-49BA-8E4B-611EA915B49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3" name="Rectangle 13">
            <a:extLst>
              <a:ext uri="{FF2B5EF4-FFF2-40B4-BE49-F238E27FC236}">
                <a16:creationId xmlns:a16="http://schemas.microsoft.com/office/drawing/2014/main" id="{AE1E8DCC-C41D-414A-869E-9CC6489ECBD5}"/>
              </a:ext>
            </a:extLst>
          </p:cNvPr>
          <p:cNvSpPr>
            <a:spLocks noChangeArrowheads="1"/>
          </p:cNvSpPr>
          <p:nvPr/>
        </p:nvSpPr>
        <p:spPr bwMode="auto">
          <a:xfrm>
            <a:off x="0" y="358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4" name="Rectangle 14">
            <a:extLst>
              <a:ext uri="{FF2B5EF4-FFF2-40B4-BE49-F238E27FC236}">
                <a16:creationId xmlns:a16="http://schemas.microsoft.com/office/drawing/2014/main" id="{D6E09FEE-089A-43F6-A158-204E797371A8}"/>
              </a:ext>
            </a:extLst>
          </p:cNvPr>
          <p:cNvSpPr>
            <a:spLocks noChangeArrowheads="1"/>
          </p:cNvSpPr>
          <p:nvPr/>
        </p:nvSpPr>
        <p:spPr bwMode="auto">
          <a:xfrm>
            <a:off x="0" y="3481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3775" name="Rectangle 15">
            <a:extLst>
              <a:ext uri="{FF2B5EF4-FFF2-40B4-BE49-F238E27FC236}">
                <a16:creationId xmlns:a16="http://schemas.microsoft.com/office/drawing/2014/main" id="{7BFCEDB0-0786-4A95-8D9D-CB4AAE98682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73776" name="Picture 16">
            <a:extLst>
              <a:ext uri="{FF2B5EF4-FFF2-40B4-BE49-F238E27FC236}">
                <a16:creationId xmlns:a16="http://schemas.microsoft.com/office/drawing/2014/main" id="{52035E60-BB0A-4C08-9197-3DD75CBD63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914400"/>
            <a:ext cx="7797800" cy="545465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4786" name="Group 2">
            <a:extLst>
              <a:ext uri="{FF2B5EF4-FFF2-40B4-BE49-F238E27FC236}">
                <a16:creationId xmlns:a16="http://schemas.microsoft.com/office/drawing/2014/main" id="{9A70D18D-42CA-48D0-ABE9-50EE3DFDD60B}"/>
              </a:ext>
            </a:extLst>
          </p:cNvPr>
          <p:cNvGrpSpPr>
            <a:grpSpLocks noChangeAspect="1"/>
          </p:cNvGrpSpPr>
          <p:nvPr/>
        </p:nvGrpSpPr>
        <p:grpSpPr bwMode="auto">
          <a:xfrm>
            <a:off x="685800" y="2276475"/>
            <a:ext cx="5486400" cy="3514725"/>
            <a:chOff x="336" y="2689"/>
            <a:chExt cx="4368" cy="2470"/>
          </a:xfrm>
        </p:grpSpPr>
        <p:pic>
          <p:nvPicPr>
            <p:cNvPr id="374787" name="Picture 3">
              <a:extLst>
                <a:ext uri="{FF2B5EF4-FFF2-40B4-BE49-F238E27FC236}">
                  <a16:creationId xmlns:a16="http://schemas.microsoft.com/office/drawing/2014/main" id="{F9B16126-67C0-4B5F-B516-8DB153AAC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2689"/>
              <a:ext cx="4368" cy="2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4788" name="Text Box 4">
              <a:extLst>
                <a:ext uri="{FF2B5EF4-FFF2-40B4-BE49-F238E27FC236}">
                  <a16:creationId xmlns:a16="http://schemas.microsoft.com/office/drawing/2014/main" id="{32781416-4F19-43AA-9BEF-73FFDEBDE535}"/>
                </a:ext>
              </a:extLst>
            </p:cNvPr>
            <p:cNvSpPr txBox="1">
              <a:spLocks noChangeAspect="1" noChangeArrowheads="1"/>
            </p:cNvSpPr>
            <p:nvPr/>
          </p:nvSpPr>
          <p:spPr bwMode="auto">
            <a:xfrm>
              <a:off x="3013" y="2876"/>
              <a:ext cx="321"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0033CC"/>
                  </a:solidFill>
                  <a:latin typeface="VAGRounded BT" pitchFamily="34" charset="0"/>
                </a:rPr>
                <a:t>x</a:t>
              </a:r>
              <a:r>
                <a:rPr lang="en-US" altLang="en-US" baseline="-25000">
                  <a:solidFill>
                    <a:srgbClr val="0033CC"/>
                  </a:solidFill>
                  <a:latin typeface="VAGRounded BT" pitchFamily="34" charset="0"/>
                </a:rPr>
                <a:t>2</a:t>
              </a:r>
            </a:p>
          </p:txBody>
        </p:sp>
        <p:sp>
          <p:nvSpPr>
            <p:cNvPr id="374789" name="Line 5">
              <a:extLst>
                <a:ext uri="{FF2B5EF4-FFF2-40B4-BE49-F238E27FC236}">
                  <a16:creationId xmlns:a16="http://schemas.microsoft.com/office/drawing/2014/main" id="{98698FEB-226D-49E7-909F-0065747087CE}"/>
                </a:ext>
              </a:extLst>
            </p:cNvPr>
            <p:cNvSpPr>
              <a:spLocks noChangeAspect="1" noChangeShapeType="1"/>
            </p:cNvSpPr>
            <p:nvPr/>
          </p:nvSpPr>
          <p:spPr bwMode="auto">
            <a:xfrm>
              <a:off x="1296" y="3216"/>
              <a:ext cx="0" cy="336"/>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74790" name="Text Box 6">
              <a:extLst>
                <a:ext uri="{FF2B5EF4-FFF2-40B4-BE49-F238E27FC236}">
                  <a16:creationId xmlns:a16="http://schemas.microsoft.com/office/drawing/2014/main" id="{F95C7ECC-8562-403E-8EB1-317814F5C2FF}"/>
                </a:ext>
              </a:extLst>
            </p:cNvPr>
            <p:cNvSpPr txBox="1">
              <a:spLocks noChangeAspect="1" noChangeArrowheads="1"/>
            </p:cNvSpPr>
            <p:nvPr/>
          </p:nvSpPr>
          <p:spPr bwMode="auto">
            <a:xfrm>
              <a:off x="1156" y="2884"/>
              <a:ext cx="321"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0033CC"/>
                  </a:solidFill>
                  <a:latin typeface="VAGRounded BT" pitchFamily="34" charset="0"/>
                </a:rPr>
                <a:t>x</a:t>
              </a:r>
              <a:r>
                <a:rPr lang="en-US" altLang="en-US" baseline="-25000">
                  <a:solidFill>
                    <a:srgbClr val="0033CC"/>
                  </a:solidFill>
                  <a:latin typeface="VAGRounded BT" pitchFamily="34" charset="0"/>
                </a:rPr>
                <a:t>1</a:t>
              </a:r>
            </a:p>
          </p:txBody>
        </p:sp>
        <p:sp>
          <p:nvSpPr>
            <p:cNvPr id="374791" name="Line 7">
              <a:extLst>
                <a:ext uri="{FF2B5EF4-FFF2-40B4-BE49-F238E27FC236}">
                  <a16:creationId xmlns:a16="http://schemas.microsoft.com/office/drawing/2014/main" id="{A2EB2762-A276-4F4A-837E-FBC0ACE5AD5A}"/>
                </a:ext>
              </a:extLst>
            </p:cNvPr>
            <p:cNvSpPr>
              <a:spLocks noChangeAspect="1" noChangeShapeType="1"/>
            </p:cNvSpPr>
            <p:nvPr/>
          </p:nvSpPr>
          <p:spPr bwMode="auto">
            <a:xfrm>
              <a:off x="3184" y="3192"/>
              <a:ext cx="0" cy="1224"/>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pSp>
      <p:sp>
        <p:nvSpPr>
          <p:cNvPr id="374792" name="Rectangle 8">
            <a:extLst>
              <a:ext uri="{FF2B5EF4-FFF2-40B4-BE49-F238E27FC236}">
                <a16:creationId xmlns:a16="http://schemas.microsoft.com/office/drawing/2014/main" id="{0E1CC9D0-3E69-41FA-9400-D7549E305CD9}"/>
              </a:ext>
            </a:extLst>
          </p:cNvPr>
          <p:cNvSpPr>
            <a:spLocks noGrp="1" noChangeArrowheads="1"/>
          </p:cNvSpPr>
          <p:nvPr>
            <p:ph type="title"/>
          </p:nvPr>
        </p:nvSpPr>
        <p:spPr/>
        <p:txBody>
          <a:bodyPr/>
          <a:lstStyle/>
          <a:p>
            <a:r>
              <a:rPr lang="en-US" altLang="en-US">
                <a:latin typeface="Comic Sans MS" panose="030F0702030302020204" pitchFamily="66" charset="0"/>
              </a:rPr>
              <a:t>TDR – Basic Principles</a:t>
            </a:r>
          </a:p>
        </p:txBody>
      </p:sp>
      <p:sp>
        <p:nvSpPr>
          <p:cNvPr id="374793" name="Rectangle 9">
            <a:extLst>
              <a:ext uri="{FF2B5EF4-FFF2-40B4-BE49-F238E27FC236}">
                <a16:creationId xmlns:a16="http://schemas.microsoft.com/office/drawing/2014/main" id="{489FF8BA-4F7B-46BD-A972-9E2E4673D5B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4" name="Rectangle 10">
            <a:extLst>
              <a:ext uri="{FF2B5EF4-FFF2-40B4-BE49-F238E27FC236}">
                <a16:creationId xmlns:a16="http://schemas.microsoft.com/office/drawing/2014/main" id="{0EE427EE-5C72-4EFB-9E9D-45CE1775623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5" name="Rectangle 11">
            <a:extLst>
              <a:ext uri="{FF2B5EF4-FFF2-40B4-BE49-F238E27FC236}">
                <a16:creationId xmlns:a16="http://schemas.microsoft.com/office/drawing/2014/main" id="{A22F89DC-CD6A-4668-AD61-34A1939CD26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6" name="Rectangle 12">
            <a:extLst>
              <a:ext uri="{FF2B5EF4-FFF2-40B4-BE49-F238E27FC236}">
                <a16:creationId xmlns:a16="http://schemas.microsoft.com/office/drawing/2014/main" id="{7DE89801-F1AE-4239-9B5D-4B112E6AAB1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7" name="Rectangle 13">
            <a:extLst>
              <a:ext uri="{FF2B5EF4-FFF2-40B4-BE49-F238E27FC236}">
                <a16:creationId xmlns:a16="http://schemas.microsoft.com/office/drawing/2014/main" id="{A573AF99-8A2F-42D5-BB55-D8DCBCE491E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8" name="Rectangle 14">
            <a:extLst>
              <a:ext uri="{FF2B5EF4-FFF2-40B4-BE49-F238E27FC236}">
                <a16:creationId xmlns:a16="http://schemas.microsoft.com/office/drawing/2014/main" id="{1A3B9469-E433-4B08-9680-7F5662FE765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799" name="Rectangle 15">
            <a:extLst>
              <a:ext uri="{FF2B5EF4-FFF2-40B4-BE49-F238E27FC236}">
                <a16:creationId xmlns:a16="http://schemas.microsoft.com/office/drawing/2014/main" id="{781E7972-4BC6-4516-ADAC-451F96DCCCA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800" name="Rectangle 16">
            <a:extLst>
              <a:ext uri="{FF2B5EF4-FFF2-40B4-BE49-F238E27FC236}">
                <a16:creationId xmlns:a16="http://schemas.microsoft.com/office/drawing/2014/main" id="{1C75FC9A-3DCA-40B4-838D-5C9F834851A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801" name="Rectangle 17">
            <a:extLst>
              <a:ext uri="{FF2B5EF4-FFF2-40B4-BE49-F238E27FC236}">
                <a16:creationId xmlns:a16="http://schemas.microsoft.com/office/drawing/2014/main" id="{73F44C34-8870-4D99-B7AD-372033CE379F}"/>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802" name="Rectangle 18">
            <a:extLst>
              <a:ext uri="{FF2B5EF4-FFF2-40B4-BE49-F238E27FC236}">
                <a16:creationId xmlns:a16="http://schemas.microsoft.com/office/drawing/2014/main" id="{76C85F61-B278-4879-81BE-61E85C369D5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4805" name="Rectangle 21">
            <a:extLst>
              <a:ext uri="{FF2B5EF4-FFF2-40B4-BE49-F238E27FC236}">
                <a16:creationId xmlns:a16="http://schemas.microsoft.com/office/drawing/2014/main" id="{F470D162-0325-4536-9108-19DFF043F279}"/>
              </a:ext>
            </a:extLst>
          </p:cNvPr>
          <p:cNvSpPr>
            <a:spLocks noChangeArrowheads="1"/>
          </p:cNvSpPr>
          <p:nvPr/>
        </p:nvSpPr>
        <p:spPr bwMode="auto">
          <a:xfrm>
            <a:off x="457200" y="838200"/>
            <a:ext cx="8458200"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Aft>
                <a:spcPct val="40000"/>
              </a:spcAft>
              <a:buClr>
                <a:srgbClr val="FF3300"/>
              </a:buClr>
              <a:buFont typeface="CommonBullets" pitchFamily="34" charset="2"/>
              <a:buChar char="!"/>
            </a:pPr>
            <a:r>
              <a:rPr lang="en-US" altLang="en-US">
                <a:latin typeface="Comic Sans MS" panose="030F0702030302020204" pitchFamily="66" charset="0"/>
              </a:rPr>
              <a:t>A TDR waveform marks reflections produced by an electromagnetic pulse as it traverses the length of an embedded waveguide (2L).</a:t>
            </a:r>
          </a:p>
          <a:p>
            <a:pPr>
              <a:spcAft>
                <a:spcPct val="40000"/>
              </a:spcAft>
              <a:buClr>
                <a:srgbClr val="FF3300"/>
              </a:buClr>
              <a:buFont typeface="CommonBullets" pitchFamily="34" charset="2"/>
              <a:buChar char="!"/>
            </a:pPr>
            <a:r>
              <a:rPr lang="en-US" altLang="en-US">
                <a:latin typeface="Comic Sans MS" panose="030F0702030302020204" pitchFamily="66" charset="0"/>
              </a:rPr>
              <a:t>These reflections or “marks” enable determination of “apparent” distance or travel time used to deduce soil bulk dielectric constant:</a:t>
            </a:r>
            <a:endParaRPr lang="en-US" altLang="en-US">
              <a:latin typeface="Comic Sans MS" panose="030F0702030302020204" pitchFamily="66" charset="0"/>
              <a:cs typeface="Times New Roman" panose="02020603050405020304" pitchFamily="18" charset="0"/>
            </a:endParaRPr>
          </a:p>
        </p:txBody>
      </p:sp>
      <p:sp>
        <p:nvSpPr>
          <p:cNvPr id="374806" name="Rectangle 22">
            <a:extLst>
              <a:ext uri="{FF2B5EF4-FFF2-40B4-BE49-F238E27FC236}">
                <a16:creationId xmlns:a16="http://schemas.microsoft.com/office/drawing/2014/main" id="{D321D90C-BF2B-46DB-A3E3-AAF7B3C5937C}"/>
              </a:ext>
            </a:extLst>
          </p:cNvPr>
          <p:cNvSpPr>
            <a:spLocks noChangeArrowheads="1"/>
          </p:cNvSpPr>
          <p:nvPr/>
        </p:nvSpPr>
        <p:spPr bwMode="auto">
          <a:xfrm>
            <a:off x="457200" y="5867400"/>
            <a:ext cx="8610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Aft>
                <a:spcPct val="20000"/>
              </a:spcAft>
              <a:buClr>
                <a:srgbClr val="FF3300"/>
              </a:buClr>
              <a:buFont typeface="CommonBullets" pitchFamily="34" charset="2"/>
              <a:buChar char="!"/>
            </a:pPr>
            <a:r>
              <a:rPr lang="en-US" altLang="en-US">
                <a:latin typeface="Comic Sans MS" panose="030F0702030302020204" pitchFamily="66" charset="0"/>
              </a:rPr>
              <a:t>Vp is a preset relative propagation velocity (often set as Vp=0.99)</a:t>
            </a:r>
            <a:endParaRPr lang="en-US" altLang="en-US">
              <a:latin typeface="Comic Sans MS" panose="030F0702030302020204" pitchFamily="66" charset="0"/>
              <a:cs typeface="Times New Roman" panose="02020603050405020304" pitchFamily="18" charset="0"/>
            </a:endParaRPr>
          </a:p>
        </p:txBody>
      </p:sp>
      <p:sp>
        <p:nvSpPr>
          <p:cNvPr id="374807" name="Rectangle 23">
            <a:extLst>
              <a:ext uri="{FF2B5EF4-FFF2-40B4-BE49-F238E27FC236}">
                <a16:creationId xmlns:a16="http://schemas.microsoft.com/office/drawing/2014/main" id="{898C20C4-A4DD-4134-B6A9-C65C2878FC1E}"/>
              </a:ext>
            </a:extLst>
          </p:cNvPr>
          <p:cNvSpPr>
            <a:spLocks noChangeArrowheads="1"/>
          </p:cNvSpPr>
          <p:nvPr/>
        </p:nvSpPr>
        <p:spPr bwMode="auto">
          <a:xfrm>
            <a:off x="838200" y="5867400"/>
            <a:ext cx="3733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114300" algn="l"/>
                <a:tab pos="228600" algn="l"/>
              </a:tabLst>
              <a:defRPr>
                <a:solidFill>
                  <a:schemeClr val="tx1"/>
                </a:solidFill>
                <a:latin typeface="Arial" panose="020B0604020202020204" pitchFamily="34" charset="0"/>
              </a:defRPr>
            </a:lvl1pPr>
            <a:lvl2pPr marL="977900" indent="-457200">
              <a:tabLst>
                <a:tab pos="114300" algn="l"/>
                <a:tab pos="228600" algn="l"/>
              </a:tabLst>
              <a:defRPr>
                <a:solidFill>
                  <a:schemeClr val="tx1"/>
                </a:solidFill>
                <a:latin typeface="Arial" panose="020B0604020202020204" pitchFamily="34" charset="0"/>
              </a:defRPr>
            </a:lvl2pPr>
            <a:lvl3pPr marL="1549400" indent="-457200">
              <a:tabLst>
                <a:tab pos="114300" algn="l"/>
                <a:tab pos="228600" algn="l"/>
              </a:tabLst>
              <a:defRPr>
                <a:solidFill>
                  <a:schemeClr val="tx1"/>
                </a:solidFill>
                <a:latin typeface="Arial" panose="020B0604020202020204" pitchFamily="34" charset="0"/>
              </a:defRPr>
            </a:lvl3pPr>
            <a:lvl4pPr marL="2120900" indent="-457200">
              <a:tabLst>
                <a:tab pos="114300" algn="l"/>
                <a:tab pos="228600" algn="l"/>
              </a:tabLst>
              <a:defRPr>
                <a:solidFill>
                  <a:schemeClr val="tx1"/>
                </a:solidFill>
                <a:latin typeface="Arial" panose="020B0604020202020204" pitchFamily="34" charset="0"/>
              </a:defRPr>
            </a:lvl4pPr>
            <a:lvl5pPr marL="2692400" indent="-457200">
              <a:tabLst>
                <a:tab pos="114300" algn="l"/>
                <a:tab pos="228600" algn="l"/>
              </a:tabLst>
              <a:defRPr>
                <a:solidFill>
                  <a:schemeClr val="tx1"/>
                </a:solidFill>
                <a:latin typeface="Arial" panose="020B0604020202020204" pitchFamily="34" charset="0"/>
              </a:defRPr>
            </a:lvl5pPr>
            <a:lvl6pPr marL="3149600" indent="-457200" fontAlgn="base">
              <a:spcBef>
                <a:spcPct val="0"/>
              </a:spcBef>
              <a:spcAft>
                <a:spcPct val="0"/>
              </a:spcAft>
              <a:tabLst>
                <a:tab pos="114300" algn="l"/>
                <a:tab pos="228600" algn="l"/>
              </a:tabLst>
              <a:defRPr>
                <a:solidFill>
                  <a:schemeClr val="tx1"/>
                </a:solidFill>
                <a:latin typeface="Arial" panose="020B0604020202020204" pitchFamily="34" charset="0"/>
              </a:defRPr>
            </a:lvl6pPr>
            <a:lvl7pPr marL="3606800" indent="-457200" fontAlgn="base">
              <a:spcBef>
                <a:spcPct val="0"/>
              </a:spcBef>
              <a:spcAft>
                <a:spcPct val="0"/>
              </a:spcAft>
              <a:tabLst>
                <a:tab pos="114300" algn="l"/>
                <a:tab pos="228600" algn="l"/>
              </a:tabLst>
              <a:defRPr>
                <a:solidFill>
                  <a:schemeClr val="tx1"/>
                </a:solidFill>
                <a:latin typeface="Arial" panose="020B0604020202020204" pitchFamily="34" charset="0"/>
              </a:defRPr>
            </a:lvl7pPr>
            <a:lvl8pPr marL="4064000" indent="-457200" fontAlgn="base">
              <a:spcBef>
                <a:spcPct val="0"/>
              </a:spcBef>
              <a:spcAft>
                <a:spcPct val="0"/>
              </a:spcAft>
              <a:tabLst>
                <a:tab pos="114300" algn="l"/>
                <a:tab pos="228600" algn="l"/>
              </a:tabLst>
              <a:defRPr>
                <a:solidFill>
                  <a:schemeClr val="tx1"/>
                </a:solidFill>
                <a:latin typeface="Arial" panose="020B0604020202020204" pitchFamily="34" charset="0"/>
              </a:defRPr>
            </a:lvl8pPr>
            <a:lvl9pPr marL="4521200" indent="-457200" fontAlgn="base">
              <a:spcBef>
                <a:spcPct val="0"/>
              </a:spcBef>
              <a:spcAft>
                <a:spcPct val="0"/>
              </a:spcAft>
              <a:tabLst>
                <a:tab pos="114300" algn="l"/>
                <a:tab pos="228600" algn="l"/>
              </a:tabLs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endParaRPr lang="en-US" altLang="en-US" sz="1800" b="1">
              <a:cs typeface="Times New Roman" panose="02020603050405020304" pitchFamily="18" charset="0"/>
            </a:endParaRPr>
          </a:p>
        </p:txBody>
      </p:sp>
      <p:graphicFrame>
        <p:nvGraphicFramePr>
          <p:cNvPr id="374808" name="Object 24">
            <a:extLst>
              <a:ext uri="{FF2B5EF4-FFF2-40B4-BE49-F238E27FC236}">
                <a16:creationId xmlns:a16="http://schemas.microsoft.com/office/drawing/2014/main" id="{E29E6FD4-691A-4A15-B7C3-493A7EB7EF4F}"/>
              </a:ext>
            </a:extLst>
          </p:cNvPr>
          <p:cNvGraphicFramePr>
            <a:graphicFrameLocks noGrp="1" noChangeAspect="1"/>
          </p:cNvGraphicFramePr>
          <p:nvPr>
            <p:ph sz="quarter" idx="2"/>
          </p:nvPr>
        </p:nvGraphicFramePr>
        <p:xfrm>
          <a:off x="6096000" y="2971800"/>
          <a:ext cx="2667000" cy="1490663"/>
        </p:xfrm>
        <a:graphic>
          <a:graphicData uri="http://schemas.openxmlformats.org/presentationml/2006/ole">
            <mc:AlternateContent xmlns:mc="http://schemas.openxmlformats.org/markup-compatibility/2006">
              <mc:Choice xmlns:v="urn:schemas-microsoft-com:vml" Requires="v">
                <p:oleObj spid="_x0000_s374813" name="Equation" r:id="rId4" imgW="1079280" imgH="609480" progId="Equation.3">
                  <p:embed/>
                </p:oleObj>
              </mc:Choice>
              <mc:Fallback>
                <p:oleObj name="Equation" r:id="rId4" imgW="1079280" imgH="609480"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971800"/>
                        <a:ext cx="2667000" cy="1490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810" name="Group 2">
            <a:extLst>
              <a:ext uri="{FF2B5EF4-FFF2-40B4-BE49-F238E27FC236}">
                <a16:creationId xmlns:a16="http://schemas.microsoft.com/office/drawing/2014/main" id="{842491EC-99EB-4ECE-8F0F-413D3BEE16A0}"/>
              </a:ext>
            </a:extLst>
          </p:cNvPr>
          <p:cNvGrpSpPr>
            <a:grpSpLocks/>
          </p:cNvGrpSpPr>
          <p:nvPr/>
        </p:nvGrpSpPr>
        <p:grpSpPr bwMode="auto">
          <a:xfrm>
            <a:off x="533400" y="4464050"/>
            <a:ext cx="6591300" cy="2165350"/>
            <a:chOff x="622" y="2960"/>
            <a:chExt cx="4152" cy="1364"/>
          </a:xfrm>
        </p:grpSpPr>
        <p:pic>
          <p:nvPicPr>
            <p:cNvPr id="375811" name="Picture 3">
              <a:extLst>
                <a:ext uri="{FF2B5EF4-FFF2-40B4-BE49-F238E27FC236}">
                  <a16:creationId xmlns:a16="http://schemas.microsoft.com/office/drawing/2014/main" id="{D02DA081-4EC7-404D-A37F-824E08C03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2960"/>
              <a:ext cx="3984" cy="1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5812" name="Oval 4">
              <a:extLst>
                <a:ext uri="{FF2B5EF4-FFF2-40B4-BE49-F238E27FC236}">
                  <a16:creationId xmlns:a16="http://schemas.microsoft.com/office/drawing/2014/main" id="{330F218A-8299-4C26-800B-9E727A781F85}"/>
                </a:ext>
              </a:extLst>
            </p:cNvPr>
            <p:cNvSpPr>
              <a:spLocks noChangeArrowheads="1"/>
            </p:cNvSpPr>
            <p:nvPr/>
          </p:nvSpPr>
          <p:spPr bwMode="auto">
            <a:xfrm>
              <a:off x="2040" y="3312"/>
              <a:ext cx="144" cy="144"/>
            </a:xfrm>
            <a:prstGeom prst="ellipse">
              <a:avLst/>
            </a:prstGeom>
            <a:noFill/>
            <a:ln w="38100">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sz="3000">
                <a:solidFill>
                  <a:schemeClr val="bg1"/>
                </a:solidFill>
                <a:latin typeface="VAGRounded BT" pitchFamily="34" charset="0"/>
              </a:endParaRPr>
            </a:p>
          </p:txBody>
        </p:sp>
        <p:sp>
          <p:nvSpPr>
            <p:cNvPr id="375813" name="Oval 5">
              <a:extLst>
                <a:ext uri="{FF2B5EF4-FFF2-40B4-BE49-F238E27FC236}">
                  <a16:creationId xmlns:a16="http://schemas.microsoft.com/office/drawing/2014/main" id="{B7ADF555-BD25-442E-B6BD-52973B98738D}"/>
                </a:ext>
              </a:extLst>
            </p:cNvPr>
            <p:cNvSpPr>
              <a:spLocks noChangeArrowheads="1"/>
            </p:cNvSpPr>
            <p:nvPr/>
          </p:nvSpPr>
          <p:spPr bwMode="auto">
            <a:xfrm>
              <a:off x="2412" y="3360"/>
              <a:ext cx="144" cy="144"/>
            </a:xfrm>
            <a:prstGeom prst="ellipse">
              <a:avLst/>
            </a:prstGeom>
            <a:noFill/>
            <a:ln w="38100">
              <a:solidFill>
                <a:srgbClr val="FFFF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5814" name="Oval 6">
              <a:extLst>
                <a:ext uri="{FF2B5EF4-FFF2-40B4-BE49-F238E27FC236}">
                  <a16:creationId xmlns:a16="http://schemas.microsoft.com/office/drawing/2014/main" id="{9D0D1ECF-FAD9-479D-855D-85B9424A0D46}"/>
                </a:ext>
              </a:extLst>
            </p:cNvPr>
            <p:cNvSpPr>
              <a:spLocks noChangeArrowheads="1"/>
            </p:cNvSpPr>
            <p:nvPr/>
          </p:nvSpPr>
          <p:spPr bwMode="auto">
            <a:xfrm>
              <a:off x="4524" y="3748"/>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5815" name="Text Box 7">
              <a:extLst>
                <a:ext uri="{FF2B5EF4-FFF2-40B4-BE49-F238E27FC236}">
                  <a16:creationId xmlns:a16="http://schemas.microsoft.com/office/drawing/2014/main" id="{4B1D8481-4F3A-4BA9-927C-6D3F0D41B8DE}"/>
                </a:ext>
              </a:extLst>
            </p:cNvPr>
            <p:cNvSpPr txBox="1">
              <a:spLocks noChangeArrowheads="1"/>
            </p:cNvSpPr>
            <p:nvPr/>
          </p:nvSpPr>
          <p:spPr bwMode="auto">
            <a:xfrm>
              <a:off x="622" y="3426"/>
              <a:ext cx="10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000099"/>
                  </a:solidFill>
                  <a:latin typeface="Comic Sans MS" panose="030F0702030302020204" pitchFamily="66" charset="0"/>
                </a:rPr>
                <a:t>Coaxial Cable</a:t>
              </a:r>
            </a:p>
          </p:txBody>
        </p:sp>
        <p:sp>
          <p:nvSpPr>
            <p:cNvPr id="375816" name="Text Box 8">
              <a:extLst>
                <a:ext uri="{FF2B5EF4-FFF2-40B4-BE49-F238E27FC236}">
                  <a16:creationId xmlns:a16="http://schemas.microsoft.com/office/drawing/2014/main" id="{F3477561-EEE9-40D8-BFA9-AEEE5621EB42}"/>
                </a:ext>
              </a:extLst>
            </p:cNvPr>
            <p:cNvSpPr txBox="1">
              <a:spLocks noChangeArrowheads="1"/>
            </p:cNvSpPr>
            <p:nvPr/>
          </p:nvSpPr>
          <p:spPr bwMode="auto">
            <a:xfrm>
              <a:off x="1805" y="3945"/>
              <a:ext cx="5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000099"/>
                  </a:solidFill>
                  <a:latin typeface="Comic Sans MS" panose="030F0702030302020204" pitchFamily="66" charset="0"/>
                </a:rPr>
                <a:t>Epoxy</a:t>
              </a:r>
            </a:p>
          </p:txBody>
        </p:sp>
        <p:sp>
          <p:nvSpPr>
            <p:cNvPr id="375817" name="Text Box 9">
              <a:extLst>
                <a:ext uri="{FF2B5EF4-FFF2-40B4-BE49-F238E27FC236}">
                  <a16:creationId xmlns:a16="http://schemas.microsoft.com/office/drawing/2014/main" id="{CF44677F-9254-467D-BED8-DE488A58A435}"/>
                </a:ext>
              </a:extLst>
            </p:cNvPr>
            <p:cNvSpPr txBox="1">
              <a:spLocks noChangeArrowheads="1"/>
            </p:cNvSpPr>
            <p:nvPr/>
          </p:nvSpPr>
          <p:spPr bwMode="auto">
            <a:xfrm>
              <a:off x="2702" y="4074"/>
              <a:ext cx="16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000099"/>
                  </a:solidFill>
                  <a:latin typeface="Comic Sans MS" panose="030F0702030302020204" pitchFamily="66" charset="0"/>
                </a:rPr>
                <a:t>Stainless Steel Rods</a:t>
              </a:r>
            </a:p>
          </p:txBody>
        </p:sp>
        <p:sp>
          <p:nvSpPr>
            <p:cNvPr id="375818" name="Text Box 10">
              <a:extLst>
                <a:ext uri="{FF2B5EF4-FFF2-40B4-BE49-F238E27FC236}">
                  <a16:creationId xmlns:a16="http://schemas.microsoft.com/office/drawing/2014/main" id="{B1EF92BC-2AB4-4C48-B2AE-5C448ED9BA11}"/>
                </a:ext>
              </a:extLst>
            </p:cNvPr>
            <p:cNvSpPr txBox="1">
              <a:spLocks noChangeArrowheads="1"/>
            </p:cNvSpPr>
            <p:nvPr/>
          </p:nvSpPr>
          <p:spPr bwMode="auto">
            <a:xfrm>
              <a:off x="2032" y="3072"/>
              <a:ext cx="1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FFFFCC"/>
                  </a:solidFill>
                  <a:latin typeface="VAGRounded BT" pitchFamily="34" charset="0"/>
                </a:rPr>
                <a:t>1</a:t>
              </a:r>
            </a:p>
          </p:txBody>
        </p:sp>
        <p:sp>
          <p:nvSpPr>
            <p:cNvPr id="375819" name="Text Box 11">
              <a:extLst>
                <a:ext uri="{FF2B5EF4-FFF2-40B4-BE49-F238E27FC236}">
                  <a16:creationId xmlns:a16="http://schemas.microsoft.com/office/drawing/2014/main" id="{E1D7ECBE-0EC9-4D77-8A5A-3975D82AEAB7}"/>
                </a:ext>
              </a:extLst>
            </p:cNvPr>
            <p:cNvSpPr txBox="1">
              <a:spLocks noChangeArrowheads="1"/>
            </p:cNvSpPr>
            <p:nvPr/>
          </p:nvSpPr>
          <p:spPr bwMode="auto">
            <a:xfrm>
              <a:off x="2364" y="3120"/>
              <a:ext cx="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rgbClr val="FFFFCC"/>
                  </a:solidFill>
                  <a:latin typeface="VAGRounded BT" pitchFamily="34" charset="0"/>
                </a:rPr>
                <a:t>2</a:t>
              </a:r>
            </a:p>
          </p:txBody>
        </p:sp>
        <p:sp>
          <p:nvSpPr>
            <p:cNvPr id="375820" name="Text Box 12">
              <a:extLst>
                <a:ext uri="{FF2B5EF4-FFF2-40B4-BE49-F238E27FC236}">
                  <a16:creationId xmlns:a16="http://schemas.microsoft.com/office/drawing/2014/main" id="{B6E0CEA7-5F5E-44F1-AF30-14276564B866}"/>
                </a:ext>
              </a:extLst>
            </p:cNvPr>
            <p:cNvSpPr txBox="1">
              <a:spLocks noChangeArrowheads="1"/>
            </p:cNvSpPr>
            <p:nvPr/>
          </p:nvSpPr>
          <p:spPr bwMode="auto">
            <a:xfrm>
              <a:off x="4571" y="3552"/>
              <a:ext cx="2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VAGRounded BT" pitchFamily="34" charset="0"/>
                </a:rPr>
                <a:t>3</a:t>
              </a:r>
            </a:p>
          </p:txBody>
        </p:sp>
      </p:grpSp>
      <p:grpSp>
        <p:nvGrpSpPr>
          <p:cNvPr id="375821" name="Group 13">
            <a:extLst>
              <a:ext uri="{FF2B5EF4-FFF2-40B4-BE49-F238E27FC236}">
                <a16:creationId xmlns:a16="http://schemas.microsoft.com/office/drawing/2014/main" id="{B19A27C7-BDA2-4549-B001-39273EF8DBDC}"/>
              </a:ext>
            </a:extLst>
          </p:cNvPr>
          <p:cNvGrpSpPr>
            <a:grpSpLocks/>
          </p:cNvGrpSpPr>
          <p:nvPr/>
        </p:nvGrpSpPr>
        <p:grpSpPr bwMode="auto">
          <a:xfrm>
            <a:off x="457200" y="838200"/>
            <a:ext cx="5334000" cy="3352800"/>
            <a:chOff x="288" y="1200"/>
            <a:chExt cx="4368" cy="2437"/>
          </a:xfrm>
        </p:grpSpPr>
        <p:pic>
          <p:nvPicPr>
            <p:cNvPr id="375822" name="Picture 14">
              <a:extLst>
                <a:ext uri="{FF2B5EF4-FFF2-40B4-BE49-F238E27FC236}">
                  <a16:creationId xmlns:a16="http://schemas.microsoft.com/office/drawing/2014/main" id="{CFE1E7B4-469C-44DD-8D3E-B98C22E1CA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 y="1200"/>
              <a:ext cx="4368" cy="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5823" name="Oval 15">
              <a:extLst>
                <a:ext uri="{FF2B5EF4-FFF2-40B4-BE49-F238E27FC236}">
                  <a16:creationId xmlns:a16="http://schemas.microsoft.com/office/drawing/2014/main" id="{9C6DE5C3-722C-465D-A01E-97B6723FF16A}"/>
                </a:ext>
              </a:extLst>
            </p:cNvPr>
            <p:cNvSpPr>
              <a:spLocks noChangeArrowheads="1"/>
            </p:cNvSpPr>
            <p:nvPr/>
          </p:nvSpPr>
          <p:spPr bwMode="auto">
            <a:xfrm>
              <a:off x="1056" y="2256"/>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5824" name="Oval 16">
              <a:extLst>
                <a:ext uri="{FF2B5EF4-FFF2-40B4-BE49-F238E27FC236}">
                  <a16:creationId xmlns:a16="http://schemas.microsoft.com/office/drawing/2014/main" id="{69253201-F40F-4D3D-B637-ADBAA31F3CCA}"/>
                </a:ext>
              </a:extLst>
            </p:cNvPr>
            <p:cNvSpPr>
              <a:spLocks noChangeArrowheads="1"/>
            </p:cNvSpPr>
            <p:nvPr/>
          </p:nvSpPr>
          <p:spPr bwMode="auto">
            <a:xfrm>
              <a:off x="1176" y="1950"/>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5825" name="Oval 17">
              <a:extLst>
                <a:ext uri="{FF2B5EF4-FFF2-40B4-BE49-F238E27FC236}">
                  <a16:creationId xmlns:a16="http://schemas.microsoft.com/office/drawing/2014/main" id="{F7E5B451-A19E-43C0-BCDD-F394C348928A}"/>
                </a:ext>
              </a:extLst>
            </p:cNvPr>
            <p:cNvSpPr>
              <a:spLocks noChangeArrowheads="1"/>
            </p:cNvSpPr>
            <p:nvPr/>
          </p:nvSpPr>
          <p:spPr bwMode="auto">
            <a:xfrm>
              <a:off x="3096" y="2754"/>
              <a:ext cx="144" cy="1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5826" name="Text Box 18">
              <a:extLst>
                <a:ext uri="{FF2B5EF4-FFF2-40B4-BE49-F238E27FC236}">
                  <a16:creationId xmlns:a16="http://schemas.microsoft.com/office/drawing/2014/main" id="{9B061F3C-0C36-47E3-A3ED-03B0E6EC6872}"/>
                </a:ext>
              </a:extLst>
            </p:cNvPr>
            <p:cNvSpPr txBox="1">
              <a:spLocks noChangeArrowheads="1"/>
            </p:cNvSpPr>
            <p:nvPr/>
          </p:nvSpPr>
          <p:spPr bwMode="auto">
            <a:xfrm>
              <a:off x="955" y="2343"/>
              <a:ext cx="225"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VAGRounded BT" pitchFamily="34" charset="0"/>
                </a:rPr>
                <a:t>1</a:t>
              </a:r>
            </a:p>
          </p:txBody>
        </p:sp>
        <p:sp>
          <p:nvSpPr>
            <p:cNvPr id="375827" name="Text Box 19">
              <a:extLst>
                <a:ext uri="{FF2B5EF4-FFF2-40B4-BE49-F238E27FC236}">
                  <a16:creationId xmlns:a16="http://schemas.microsoft.com/office/drawing/2014/main" id="{A104C35B-2DE7-4E52-AD8F-4D91C1E9B284}"/>
                </a:ext>
              </a:extLst>
            </p:cNvPr>
            <p:cNvSpPr txBox="1">
              <a:spLocks noChangeArrowheads="1"/>
            </p:cNvSpPr>
            <p:nvPr/>
          </p:nvSpPr>
          <p:spPr bwMode="auto">
            <a:xfrm>
              <a:off x="1128" y="1728"/>
              <a:ext cx="260"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VAGRounded BT" pitchFamily="34" charset="0"/>
                </a:rPr>
                <a:t>2</a:t>
              </a:r>
            </a:p>
          </p:txBody>
        </p:sp>
        <p:sp>
          <p:nvSpPr>
            <p:cNvPr id="375828" name="Text Box 20">
              <a:extLst>
                <a:ext uri="{FF2B5EF4-FFF2-40B4-BE49-F238E27FC236}">
                  <a16:creationId xmlns:a16="http://schemas.microsoft.com/office/drawing/2014/main" id="{079141AD-AEB7-4064-A264-2E2EF401DCB0}"/>
                </a:ext>
              </a:extLst>
            </p:cNvPr>
            <p:cNvSpPr txBox="1">
              <a:spLocks noChangeArrowheads="1"/>
            </p:cNvSpPr>
            <p:nvPr/>
          </p:nvSpPr>
          <p:spPr bwMode="auto">
            <a:xfrm>
              <a:off x="3178" y="2830"/>
              <a:ext cx="264"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latin typeface="VAGRounded BT" pitchFamily="34" charset="0"/>
                </a:rPr>
                <a:t>3</a:t>
              </a:r>
            </a:p>
          </p:txBody>
        </p:sp>
      </p:grpSp>
      <p:sp>
        <p:nvSpPr>
          <p:cNvPr id="375829" name="Rectangle 21">
            <a:extLst>
              <a:ext uri="{FF2B5EF4-FFF2-40B4-BE49-F238E27FC236}">
                <a16:creationId xmlns:a16="http://schemas.microsoft.com/office/drawing/2014/main" id="{98D40D1E-69C5-4C62-B8C2-F7C01BC81F9C}"/>
              </a:ext>
            </a:extLst>
          </p:cNvPr>
          <p:cNvSpPr>
            <a:spLocks noGrp="1" noChangeArrowheads="1"/>
          </p:cNvSpPr>
          <p:nvPr>
            <p:ph type="title"/>
          </p:nvPr>
        </p:nvSpPr>
        <p:spPr/>
        <p:txBody>
          <a:bodyPr/>
          <a:lstStyle/>
          <a:p>
            <a:r>
              <a:rPr lang="en-US" altLang="en-US"/>
              <a:t>TDR – Basic Principles</a:t>
            </a:r>
          </a:p>
        </p:txBody>
      </p:sp>
      <p:sp>
        <p:nvSpPr>
          <p:cNvPr id="375830" name="Rectangle 22">
            <a:extLst>
              <a:ext uri="{FF2B5EF4-FFF2-40B4-BE49-F238E27FC236}">
                <a16:creationId xmlns:a16="http://schemas.microsoft.com/office/drawing/2014/main" id="{B1E36B27-7676-49CD-B4BF-40501217205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1" name="Rectangle 23">
            <a:extLst>
              <a:ext uri="{FF2B5EF4-FFF2-40B4-BE49-F238E27FC236}">
                <a16:creationId xmlns:a16="http://schemas.microsoft.com/office/drawing/2014/main" id="{C2D4EDC4-041F-4AA2-9AA7-6208FF4FA1E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2" name="Rectangle 24">
            <a:extLst>
              <a:ext uri="{FF2B5EF4-FFF2-40B4-BE49-F238E27FC236}">
                <a16:creationId xmlns:a16="http://schemas.microsoft.com/office/drawing/2014/main" id="{7D5069CB-369E-4497-A7BD-57B96390621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3" name="Rectangle 25">
            <a:extLst>
              <a:ext uri="{FF2B5EF4-FFF2-40B4-BE49-F238E27FC236}">
                <a16:creationId xmlns:a16="http://schemas.microsoft.com/office/drawing/2014/main" id="{B2570D08-DA7F-4571-8AEC-3720EF78568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4" name="Rectangle 26">
            <a:extLst>
              <a:ext uri="{FF2B5EF4-FFF2-40B4-BE49-F238E27FC236}">
                <a16:creationId xmlns:a16="http://schemas.microsoft.com/office/drawing/2014/main" id="{63CEBA6B-8EFA-4957-A1D8-57500D03E8F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5" name="Rectangle 27">
            <a:extLst>
              <a:ext uri="{FF2B5EF4-FFF2-40B4-BE49-F238E27FC236}">
                <a16:creationId xmlns:a16="http://schemas.microsoft.com/office/drawing/2014/main" id="{4A017596-FECF-4EED-81D6-42DDA332A24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6" name="Rectangle 28">
            <a:extLst>
              <a:ext uri="{FF2B5EF4-FFF2-40B4-BE49-F238E27FC236}">
                <a16:creationId xmlns:a16="http://schemas.microsoft.com/office/drawing/2014/main" id="{C8E9DE10-1846-4D5B-969F-B75405EC1CD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7" name="Rectangle 29">
            <a:extLst>
              <a:ext uri="{FF2B5EF4-FFF2-40B4-BE49-F238E27FC236}">
                <a16:creationId xmlns:a16="http://schemas.microsoft.com/office/drawing/2014/main" id="{F0AB2326-355C-4332-B031-E076398F2C2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8" name="Rectangle 30">
            <a:extLst>
              <a:ext uri="{FF2B5EF4-FFF2-40B4-BE49-F238E27FC236}">
                <a16:creationId xmlns:a16="http://schemas.microsoft.com/office/drawing/2014/main" id="{4ACC4D8F-E271-4ACE-AAF0-E79C6E21D36C}"/>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39" name="Rectangle 31">
            <a:extLst>
              <a:ext uri="{FF2B5EF4-FFF2-40B4-BE49-F238E27FC236}">
                <a16:creationId xmlns:a16="http://schemas.microsoft.com/office/drawing/2014/main" id="{2B83EFE6-D7E2-44EA-940A-1B3B98C5927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40" name="Rectangle 32">
            <a:extLst>
              <a:ext uri="{FF2B5EF4-FFF2-40B4-BE49-F238E27FC236}">
                <a16:creationId xmlns:a16="http://schemas.microsoft.com/office/drawing/2014/main" id="{12E4A51C-10A9-4E3F-A542-C19D416AE7A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5842" name="Text Box 34">
            <a:extLst>
              <a:ext uri="{FF2B5EF4-FFF2-40B4-BE49-F238E27FC236}">
                <a16:creationId xmlns:a16="http://schemas.microsoft.com/office/drawing/2014/main" id="{AD71E747-9F9D-4EA2-9284-8C36462ACB7F}"/>
              </a:ext>
            </a:extLst>
          </p:cNvPr>
          <p:cNvSpPr txBox="1">
            <a:spLocks noChangeArrowheads="1"/>
          </p:cNvSpPr>
          <p:nvPr/>
        </p:nvSpPr>
        <p:spPr bwMode="auto">
          <a:xfrm>
            <a:off x="4038600" y="4114800"/>
            <a:ext cx="4800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800" b="1">
                <a:solidFill>
                  <a:srgbClr val="FF0066"/>
                </a:solidFill>
                <a:latin typeface="Comic Sans MS" panose="030F0702030302020204" pitchFamily="66" charset="0"/>
              </a:rPr>
              <a:t>1:</a:t>
            </a:r>
            <a:r>
              <a:rPr lang="en-US" altLang="en-US" sz="1800">
                <a:solidFill>
                  <a:srgbClr val="FF0066"/>
                </a:solidFill>
                <a:latin typeface="Comic Sans MS" panose="030F0702030302020204" pitchFamily="66" charset="0"/>
              </a:rPr>
              <a:t> Reflection Coaxial Cable – Epoxy handle</a:t>
            </a:r>
          </a:p>
          <a:p>
            <a:pPr eaLnBrk="0" hangingPunct="0"/>
            <a:r>
              <a:rPr lang="en-US" altLang="en-US" sz="1800" b="1">
                <a:solidFill>
                  <a:srgbClr val="FF0066"/>
                </a:solidFill>
                <a:latin typeface="Comic Sans MS" panose="030F0702030302020204" pitchFamily="66" charset="0"/>
              </a:rPr>
              <a:t>2:</a:t>
            </a:r>
            <a:r>
              <a:rPr lang="en-US" altLang="en-US" sz="1800">
                <a:solidFill>
                  <a:srgbClr val="FF0066"/>
                </a:solidFill>
                <a:latin typeface="Comic Sans MS" panose="030F0702030302020204" pitchFamily="66" charset="0"/>
              </a:rPr>
              <a:t> Transition Rods (Epoxy) – Rods in Soil</a:t>
            </a:r>
          </a:p>
          <a:p>
            <a:pPr eaLnBrk="0" hangingPunct="0"/>
            <a:r>
              <a:rPr lang="en-US" altLang="en-US" sz="1800" b="1">
                <a:solidFill>
                  <a:srgbClr val="FF0066"/>
                </a:solidFill>
                <a:latin typeface="Comic Sans MS" panose="030F0702030302020204" pitchFamily="66" charset="0"/>
              </a:rPr>
              <a:t>3:</a:t>
            </a:r>
            <a:r>
              <a:rPr lang="en-US" altLang="en-US" sz="1800">
                <a:solidFill>
                  <a:srgbClr val="FF0066"/>
                </a:solidFill>
                <a:latin typeface="Comic Sans MS" panose="030F0702030302020204" pitchFamily="66" charset="0"/>
              </a:rPr>
              <a:t> Reflection end of rods</a:t>
            </a:r>
          </a:p>
        </p:txBody>
      </p:sp>
      <p:pic>
        <p:nvPicPr>
          <p:cNvPr id="375843" name="Picture 35">
            <a:extLst>
              <a:ext uri="{FF2B5EF4-FFF2-40B4-BE49-F238E27FC236}">
                <a16:creationId xmlns:a16="http://schemas.microsoft.com/office/drawing/2014/main" id="{A699DF5C-BF03-4A39-9FC6-E4DD2B5189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447800"/>
            <a:ext cx="34290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052" name="Picture 4">
            <a:extLst>
              <a:ext uri="{FF2B5EF4-FFF2-40B4-BE49-F238E27FC236}">
                <a16:creationId xmlns:a16="http://schemas.microsoft.com/office/drawing/2014/main" id="{37F516C7-20CD-42F3-8D69-4EC1638549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066800"/>
            <a:ext cx="413067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86050" name="Rectangle 2">
            <a:extLst>
              <a:ext uri="{FF2B5EF4-FFF2-40B4-BE49-F238E27FC236}">
                <a16:creationId xmlns:a16="http://schemas.microsoft.com/office/drawing/2014/main" id="{01A942AB-9707-43A5-BF20-BC77A4431180}"/>
              </a:ext>
            </a:extLst>
          </p:cNvPr>
          <p:cNvSpPr>
            <a:spLocks noGrp="1" noChangeArrowheads="1"/>
          </p:cNvSpPr>
          <p:nvPr>
            <p:ph type="title"/>
          </p:nvPr>
        </p:nvSpPr>
        <p:spPr>
          <a:xfrm>
            <a:off x="685800" y="228600"/>
            <a:ext cx="7467600" cy="533400"/>
          </a:xfrm>
        </p:spPr>
        <p:txBody>
          <a:bodyPr/>
          <a:lstStyle/>
          <a:p>
            <a:r>
              <a:rPr lang="en-US" altLang="en-US" sz="2800"/>
              <a:t>TDR probe design and spatial sensitivity</a:t>
            </a:r>
          </a:p>
        </p:txBody>
      </p:sp>
      <p:sp>
        <p:nvSpPr>
          <p:cNvPr id="386051" name="Rectangle 3">
            <a:extLst>
              <a:ext uri="{FF2B5EF4-FFF2-40B4-BE49-F238E27FC236}">
                <a16:creationId xmlns:a16="http://schemas.microsoft.com/office/drawing/2014/main" id="{502C595D-D4B7-42F7-AD2A-338993F9E080}"/>
              </a:ext>
            </a:extLst>
          </p:cNvPr>
          <p:cNvSpPr>
            <a:spLocks noGrp="1" noChangeArrowheads="1"/>
          </p:cNvSpPr>
          <p:nvPr>
            <p:ph type="body" idx="1"/>
          </p:nvPr>
        </p:nvSpPr>
        <p:spPr>
          <a:xfrm>
            <a:off x="381000" y="1295400"/>
            <a:ext cx="4724400" cy="4724400"/>
          </a:xfrm>
          <a:noFill/>
          <a:ln/>
          <a:extLst>
            <a:ext uri="{AF507438-7753-43E0-B8FC-AC1667EBCBE1}">
              <a14:hiddenEffects xmlns:a14="http://schemas.microsoft.com/office/drawing/2010/main">
                <a:effectLst>
                  <a:outerShdw dist="35921" dir="2700000" algn="ctr" rotWithShape="0">
                    <a:schemeClr val="tx1"/>
                  </a:outerShdw>
                </a:effectLst>
              </a14:hiddenEffects>
            </a:ext>
          </a:extLst>
        </p:spPr>
        <p:txBody>
          <a:bodyPr/>
          <a:lstStyle/>
          <a:p>
            <a:pPr marL="342900" indent="-342900">
              <a:lnSpc>
                <a:spcPct val="95000"/>
              </a:lnSpc>
              <a:spcBef>
                <a:spcPct val="15000"/>
              </a:spcBef>
              <a:spcAft>
                <a:spcPct val="25000"/>
              </a:spcAft>
              <a:buClr>
                <a:srgbClr val="FF3300"/>
              </a:buClr>
              <a:buFont typeface="Symbol" panose="05050102010706020507" pitchFamily="18" charset="2"/>
              <a:buChar char="·"/>
            </a:pPr>
            <a:r>
              <a:rPr lang="en-US" altLang="en-US" sz="2400" b="0">
                <a:solidFill>
                  <a:srgbClr val="000099"/>
                </a:solidFill>
                <a:latin typeface="Comic Sans MS" panose="030F0702030302020204" pitchFamily="66" charset="0"/>
              </a:rPr>
              <a:t>TDR sensor designs seek fewer conductors to reduce disturbance to the porous medium.</a:t>
            </a:r>
          </a:p>
          <a:p>
            <a:pPr marL="342900" indent="-342900">
              <a:lnSpc>
                <a:spcPct val="95000"/>
              </a:lnSpc>
              <a:spcBef>
                <a:spcPct val="15000"/>
              </a:spcBef>
              <a:spcAft>
                <a:spcPct val="25000"/>
              </a:spcAft>
              <a:buClr>
                <a:srgbClr val="FF3300"/>
              </a:buClr>
              <a:buFont typeface="Symbol" panose="05050102010706020507" pitchFamily="18" charset="2"/>
              <a:buChar char="·"/>
            </a:pPr>
            <a:r>
              <a:rPr lang="en-US" altLang="en-US" sz="2400" b="0">
                <a:solidFill>
                  <a:srgbClr val="000099"/>
                </a:solidFill>
                <a:latin typeface="Comic Sans MS" panose="030F0702030302020204" pitchFamily="66" charset="0"/>
              </a:rPr>
              <a:t>Measurement volume and sensitivity varies with design.</a:t>
            </a:r>
          </a:p>
          <a:p>
            <a:pPr marL="342900" indent="-342900">
              <a:lnSpc>
                <a:spcPct val="95000"/>
              </a:lnSpc>
              <a:spcBef>
                <a:spcPct val="15000"/>
              </a:spcBef>
              <a:spcAft>
                <a:spcPct val="25000"/>
              </a:spcAft>
              <a:buClr>
                <a:srgbClr val="FF3300"/>
              </a:buClr>
              <a:buFont typeface="Symbol" panose="05050102010706020507" pitchFamily="18" charset="2"/>
              <a:buChar char="·"/>
            </a:pPr>
            <a:r>
              <a:rPr lang="en-US" altLang="en-US" sz="2400" b="0">
                <a:solidFill>
                  <a:srgbClr val="000099"/>
                </a:solidFill>
                <a:latin typeface="Comic Sans MS" panose="030F0702030302020204" pitchFamily="66" charset="0"/>
              </a:rPr>
              <a:t>Concentration of field lines near conductors emphasize permittivity of soil conditions in this region.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1" name="Picture 21">
            <a:extLst>
              <a:ext uri="{FF2B5EF4-FFF2-40B4-BE49-F238E27FC236}">
                <a16:creationId xmlns:a16="http://schemas.microsoft.com/office/drawing/2014/main" id="{589DFB65-FDDD-4EA0-9B01-45A6986DE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8113" y="1066800"/>
            <a:ext cx="3709987" cy="4419600"/>
          </a:xfrm>
          <a:prstGeom prst="rect">
            <a:avLst/>
          </a:prstGeom>
          <a:noFill/>
          <a:extLst>
            <a:ext uri="{909E8E84-426E-40DD-AFC4-6F175D3DCCD1}">
              <a14:hiddenFill xmlns:a14="http://schemas.microsoft.com/office/drawing/2010/main">
                <a:solidFill>
                  <a:srgbClr val="FFFFFF"/>
                </a:solidFill>
              </a14:hiddenFill>
            </a:ext>
          </a:extLst>
        </p:spPr>
      </p:pic>
      <p:sp>
        <p:nvSpPr>
          <p:cNvPr id="378882" name="Rectangle 2">
            <a:extLst>
              <a:ext uri="{FF2B5EF4-FFF2-40B4-BE49-F238E27FC236}">
                <a16:creationId xmlns:a16="http://schemas.microsoft.com/office/drawing/2014/main" id="{5C05E6EF-4C18-4B4F-8B48-33B588287388}"/>
              </a:ext>
            </a:extLst>
          </p:cNvPr>
          <p:cNvSpPr>
            <a:spLocks noGrp="1" noChangeArrowheads="1"/>
          </p:cNvSpPr>
          <p:nvPr>
            <p:ph type="title"/>
          </p:nvPr>
        </p:nvSpPr>
        <p:spPr>
          <a:xfrm>
            <a:off x="457200" y="228600"/>
            <a:ext cx="8382000" cy="579438"/>
          </a:xfrm>
        </p:spPr>
        <p:txBody>
          <a:bodyPr/>
          <a:lstStyle/>
          <a:p>
            <a:r>
              <a:rPr lang="en-US" altLang="en-US" sz="2800">
                <a:latin typeface="Comic Sans MS" panose="030F0702030302020204" pitchFamily="66" charset="0"/>
              </a:rPr>
              <a:t>Soil Bulk Dielectric Constant to Water Content </a:t>
            </a:r>
          </a:p>
        </p:txBody>
      </p:sp>
      <p:sp>
        <p:nvSpPr>
          <p:cNvPr id="378883" name="Rectangle 3">
            <a:extLst>
              <a:ext uri="{FF2B5EF4-FFF2-40B4-BE49-F238E27FC236}">
                <a16:creationId xmlns:a16="http://schemas.microsoft.com/office/drawing/2014/main" id="{FE97E5E5-AE35-474E-9BA8-8290C7E591D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4" name="Rectangle 4">
            <a:extLst>
              <a:ext uri="{FF2B5EF4-FFF2-40B4-BE49-F238E27FC236}">
                <a16:creationId xmlns:a16="http://schemas.microsoft.com/office/drawing/2014/main" id="{9E3CEBA6-2ACB-4CB0-B207-F5B6CF8D161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5" name="Rectangle 5">
            <a:extLst>
              <a:ext uri="{FF2B5EF4-FFF2-40B4-BE49-F238E27FC236}">
                <a16:creationId xmlns:a16="http://schemas.microsoft.com/office/drawing/2014/main" id="{8462FB82-8FD1-4981-8D26-C02A86A04F0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6" name="Rectangle 6">
            <a:extLst>
              <a:ext uri="{FF2B5EF4-FFF2-40B4-BE49-F238E27FC236}">
                <a16:creationId xmlns:a16="http://schemas.microsoft.com/office/drawing/2014/main" id="{DD9C2520-03BB-4B5B-971B-DD240AE6073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7" name="Rectangle 7">
            <a:extLst>
              <a:ext uri="{FF2B5EF4-FFF2-40B4-BE49-F238E27FC236}">
                <a16:creationId xmlns:a16="http://schemas.microsoft.com/office/drawing/2014/main" id="{10D02A6C-B570-4A3C-8BC7-5CE2F0E0D5A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8" name="Rectangle 8">
            <a:extLst>
              <a:ext uri="{FF2B5EF4-FFF2-40B4-BE49-F238E27FC236}">
                <a16:creationId xmlns:a16="http://schemas.microsoft.com/office/drawing/2014/main" id="{CA5F8560-7ABA-40E3-9E68-237BAC9FF55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89" name="Rectangle 9">
            <a:extLst>
              <a:ext uri="{FF2B5EF4-FFF2-40B4-BE49-F238E27FC236}">
                <a16:creationId xmlns:a16="http://schemas.microsoft.com/office/drawing/2014/main" id="{4158D9BE-EE75-4617-808B-667C50B4E5B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0" name="Rectangle 10">
            <a:extLst>
              <a:ext uri="{FF2B5EF4-FFF2-40B4-BE49-F238E27FC236}">
                <a16:creationId xmlns:a16="http://schemas.microsoft.com/office/drawing/2014/main" id="{8088A300-0A5A-4EE3-A626-8F4D24F758F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1" name="Rectangle 11">
            <a:extLst>
              <a:ext uri="{FF2B5EF4-FFF2-40B4-BE49-F238E27FC236}">
                <a16:creationId xmlns:a16="http://schemas.microsoft.com/office/drawing/2014/main" id="{17AB6F68-5C0E-4693-9668-2512E0319B51}"/>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2" name="Rectangle 12">
            <a:extLst>
              <a:ext uri="{FF2B5EF4-FFF2-40B4-BE49-F238E27FC236}">
                <a16:creationId xmlns:a16="http://schemas.microsoft.com/office/drawing/2014/main" id="{1A39DC2B-08D5-4EAC-AB69-8A0757F8AEE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3" name="Rectangle 13">
            <a:extLst>
              <a:ext uri="{FF2B5EF4-FFF2-40B4-BE49-F238E27FC236}">
                <a16:creationId xmlns:a16="http://schemas.microsoft.com/office/drawing/2014/main" id="{D3064C60-4B94-4B6D-A849-210577D7069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4" name="Rectangle 14">
            <a:extLst>
              <a:ext uri="{FF2B5EF4-FFF2-40B4-BE49-F238E27FC236}">
                <a16:creationId xmlns:a16="http://schemas.microsoft.com/office/drawing/2014/main" id="{332F301A-0E46-43AB-8104-C99FD8E316A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8895" name="Text Box 15">
            <a:extLst>
              <a:ext uri="{FF2B5EF4-FFF2-40B4-BE49-F238E27FC236}">
                <a16:creationId xmlns:a16="http://schemas.microsoft.com/office/drawing/2014/main" id="{66D98040-3533-416D-84EE-8B6A8431CA91}"/>
              </a:ext>
            </a:extLst>
          </p:cNvPr>
          <p:cNvSpPr txBox="1">
            <a:spLocks noChangeArrowheads="1"/>
          </p:cNvSpPr>
          <p:nvPr/>
        </p:nvSpPr>
        <p:spPr bwMode="auto">
          <a:xfrm>
            <a:off x="304800" y="1143000"/>
            <a:ext cx="5257800" cy="310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200" b="1"/>
              <a:t>Two basic approaches are used to relate</a:t>
            </a:r>
            <a:r>
              <a:rPr lang="en-US" altLang="en-US" sz="2200" b="1">
                <a:solidFill>
                  <a:schemeClr val="accent2"/>
                </a:solidFill>
              </a:rPr>
              <a:t> </a:t>
            </a:r>
            <a:r>
              <a:rPr lang="en-US" altLang="en-US" sz="2200" b="1">
                <a:solidFill>
                  <a:srgbClr val="CC0000"/>
                </a:solidFill>
              </a:rPr>
              <a:t>Soil bulk dielectric constant </a:t>
            </a:r>
            <a:r>
              <a:rPr lang="en-US" altLang="en-US" sz="2200" b="1">
                <a:solidFill>
                  <a:srgbClr val="CC0000"/>
                </a:solidFill>
                <a:latin typeface="Symbol" panose="05050102010706020507" pitchFamily="18" charset="2"/>
              </a:rPr>
              <a:t>e</a:t>
            </a:r>
            <a:r>
              <a:rPr lang="en-US" altLang="en-US" sz="2200" b="1" baseline="-25000">
                <a:solidFill>
                  <a:srgbClr val="CC0000"/>
                </a:solidFill>
              </a:rPr>
              <a:t>b</a:t>
            </a:r>
            <a:r>
              <a:rPr lang="en-US" altLang="en-US" sz="2200" b="1">
                <a:solidFill>
                  <a:schemeClr val="accent2"/>
                </a:solidFill>
              </a:rPr>
              <a:t> </a:t>
            </a:r>
            <a:r>
              <a:rPr lang="en-US" altLang="en-US" sz="2200" b="1"/>
              <a:t>to </a:t>
            </a:r>
            <a:r>
              <a:rPr lang="en-US" altLang="en-US" sz="2200" b="1">
                <a:solidFill>
                  <a:srgbClr val="CC0000"/>
                </a:solidFill>
              </a:rPr>
              <a:t>volumetric water content </a:t>
            </a:r>
            <a:r>
              <a:rPr lang="en-US" altLang="en-US" sz="2200" b="1">
                <a:solidFill>
                  <a:srgbClr val="CC0000"/>
                </a:solidFill>
                <a:latin typeface="Symbol" panose="05050102010706020507" pitchFamily="18" charset="2"/>
              </a:rPr>
              <a:t>q</a:t>
            </a:r>
            <a:r>
              <a:rPr lang="en-US" altLang="en-US" sz="2200" b="1" baseline="-25000">
                <a:solidFill>
                  <a:srgbClr val="CC0000"/>
                </a:solidFill>
              </a:rPr>
              <a:t>v</a:t>
            </a:r>
            <a:r>
              <a:rPr lang="en-US" altLang="en-US" sz="2200" b="1">
                <a:solidFill>
                  <a:srgbClr val="CC0000"/>
                </a:solidFill>
              </a:rPr>
              <a:t>:</a:t>
            </a:r>
          </a:p>
          <a:p>
            <a:pPr eaLnBrk="0" hangingPunct="0"/>
            <a:endParaRPr lang="en-US" altLang="en-US" sz="2200" b="1">
              <a:solidFill>
                <a:srgbClr val="CC0000"/>
              </a:solidFill>
            </a:endParaRPr>
          </a:p>
          <a:p>
            <a:pPr eaLnBrk="0" hangingPunct="0"/>
            <a:r>
              <a:rPr lang="en-US" altLang="en-US" sz="2200" b="1" u="sng">
                <a:solidFill>
                  <a:srgbClr val="CC0000"/>
                </a:solidFill>
              </a:rPr>
              <a:t>Empirical or calibation relationships: </a:t>
            </a:r>
            <a:r>
              <a:rPr lang="en-US" altLang="en-US" sz="2200" b="1"/>
              <a:t>such as the 3</a:t>
            </a:r>
            <a:r>
              <a:rPr lang="en-US" altLang="en-US" sz="2200" b="1" baseline="30000"/>
              <a:t>rd</a:t>
            </a:r>
            <a:r>
              <a:rPr lang="en-US" altLang="en-US" sz="2200" b="1"/>
              <a:t> order polynomial proposed by Topp et al. [1980] that seems to fit data for many mineral soils. </a:t>
            </a:r>
          </a:p>
        </p:txBody>
      </p:sp>
      <p:sp>
        <p:nvSpPr>
          <p:cNvPr id="378896" name="Rectangle 16">
            <a:extLst>
              <a:ext uri="{FF2B5EF4-FFF2-40B4-BE49-F238E27FC236}">
                <a16:creationId xmlns:a16="http://schemas.microsoft.com/office/drawing/2014/main" id="{982F2547-F12C-4EF7-A2D1-B461DAC1B33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78898" name="Object 18">
            <a:extLst>
              <a:ext uri="{FF2B5EF4-FFF2-40B4-BE49-F238E27FC236}">
                <a16:creationId xmlns:a16="http://schemas.microsoft.com/office/drawing/2014/main" id="{1F835765-3624-4C58-B41A-F9D24507EA57}"/>
              </a:ext>
            </a:extLst>
          </p:cNvPr>
          <p:cNvGraphicFramePr>
            <a:graphicFrameLocks noGrp="1" noChangeAspect="1"/>
          </p:cNvGraphicFramePr>
          <p:nvPr>
            <p:ph idx="1"/>
          </p:nvPr>
        </p:nvGraphicFramePr>
        <p:xfrm>
          <a:off x="838200" y="5486400"/>
          <a:ext cx="7239000" cy="627063"/>
        </p:xfrm>
        <a:graphic>
          <a:graphicData uri="http://schemas.openxmlformats.org/presentationml/2006/ole">
            <mc:AlternateContent xmlns:mc="http://schemas.openxmlformats.org/markup-compatibility/2006">
              <mc:Choice xmlns:v="urn:schemas-microsoft-com:vml" Requires="v">
                <p:oleObj spid="_x0000_s378908" name="Equation" r:id="rId4" imgW="3619440" imgH="253800" progId="Equation.3">
                  <p:embed/>
                </p:oleObj>
              </mc:Choice>
              <mc:Fallback>
                <p:oleObj name="Equation" r:id="rId4" imgW="3619440" imgH="2538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486400"/>
                        <a:ext cx="7239000" cy="6270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03" name="Rectangle 23">
            <a:extLst>
              <a:ext uri="{FF2B5EF4-FFF2-40B4-BE49-F238E27FC236}">
                <a16:creationId xmlns:a16="http://schemas.microsoft.com/office/drawing/2014/main" id="{FA1EF4EE-B8F3-48EB-BA81-F21CC523C85F}"/>
              </a:ext>
            </a:extLst>
          </p:cNvPr>
          <p:cNvSpPr>
            <a:spLocks noChangeArrowheads="1"/>
          </p:cNvSpPr>
          <p:nvPr/>
        </p:nvSpPr>
        <p:spPr bwMode="auto">
          <a:xfrm>
            <a:off x="2362200" y="4876800"/>
            <a:ext cx="2566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Topp’s Equation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925" name="Picture 21">
            <a:extLst>
              <a:ext uri="{FF2B5EF4-FFF2-40B4-BE49-F238E27FC236}">
                <a16:creationId xmlns:a16="http://schemas.microsoft.com/office/drawing/2014/main" id="{B516C55B-9BA0-4A83-B3CB-DC0AA04A2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2413000"/>
            <a:ext cx="3282950" cy="3911600"/>
          </a:xfrm>
          <a:prstGeom prst="rect">
            <a:avLst/>
          </a:prstGeom>
          <a:noFill/>
          <a:extLst>
            <a:ext uri="{909E8E84-426E-40DD-AFC4-6F175D3DCCD1}">
              <a14:hiddenFill xmlns:a14="http://schemas.microsoft.com/office/drawing/2010/main">
                <a:solidFill>
                  <a:srgbClr val="FFFFFF"/>
                </a:solidFill>
              </a14:hiddenFill>
            </a:ext>
          </a:extLst>
        </p:spPr>
      </p:pic>
      <p:sp>
        <p:nvSpPr>
          <p:cNvPr id="379906" name="Rectangle 2">
            <a:extLst>
              <a:ext uri="{FF2B5EF4-FFF2-40B4-BE49-F238E27FC236}">
                <a16:creationId xmlns:a16="http://schemas.microsoft.com/office/drawing/2014/main" id="{8E690B1E-EDA6-41CE-BBD7-475714EE40A7}"/>
              </a:ext>
            </a:extLst>
          </p:cNvPr>
          <p:cNvSpPr>
            <a:spLocks noGrp="1" noChangeArrowheads="1"/>
          </p:cNvSpPr>
          <p:nvPr>
            <p:ph type="title"/>
          </p:nvPr>
        </p:nvSpPr>
        <p:spPr>
          <a:xfrm>
            <a:off x="762000" y="182563"/>
            <a:ext cx="7772400" cy="579437"/>
          </a:xfrm>
        </p:spPr>
        <p:txBody>
          <a:bodyPr/>
          <a:lstStyle/>
          <a:p>
            <a:r>
              <a:rPr lang="en-US" altLang="en-US" sz="2800">
                <a:latin typeface="Comic Sans MS" panose="030F0702030302020204" pitchFamily="66" charset="0"/>
              </a:rPr>
              <a:t>Physically Based Dielectric Mixing Models</a:t>
            </a:r>
          </a:p>
        </p:txBody>
      </p:sp>
      <p:sp>
        <p:nvSpPr>
          <p:cNvPr id="379907" name="Rectangle 3">
            <a:extLst>
              <a:ext uri="{FF2B5EF4-FFF2-40B4-BE49-F238E27FC236}">
                <a16:creationId xmlns:a16="http://schemas.microsoft.com/office/drawing/2014/main" id="{7E1814D2-0174-4698-9CD5-FD2907861D1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08" name="Rectangle 4">
            <a:extLst>
              <a:ext uri="{FF2B5EF4-FFF2-40B4-BE49-F238E27FC236}">
                <a16:creationId xmlns:a16="http://schemas.microsoft.com/office/drawing/2014/main" id="{54434BB3-14DB-4FA8-A09D-D3FB1A99319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09" name="Rectangle 5">
            <a:extLst>
              <a:ext uri="{FF2B5EF4-FFF2-40B4-BE49-F238E27FC236}">
                <a16:creationId xmlns:a16="http://schemas.microsoft.com/office/drawing/2014/main" id="{E21BDC04-346F-4C64-BD0A-673210E2059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0" name="Rectangle 6">
            <a:extLst>
              <a:ext uri="{FF2B5EF4-FFF2-40B4-BE49-F238E27FC236}">
                <a16:creationId xmlns:a16="http://schemas.microsoft.com/office/drawing/2014/main" id="{4768BD15-2990-4BA7-8C4D-9668477336E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1" name="Rectangle 7">
            <a:extLst>
              <a:ext uri="{FF2B5EF4-FFF2-40B4-BE49-F238E27FC236}">
                <a16:creationId xmlns:a16="http://schemas.microsoft.com/office/drawing/2014/main" id="{89DA3DB5-10A1-4AA6-9119-4E4588704B9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2" name="Rectangle 8">
            <a:extLst>
              <a:ext uri="{FF2B5EF4-FFF2-40B4-BE49-F238E27FC236}">
                <a16:creationId xmlns:a16="http://schemas.microsoft.com/office/drawing/2014/main" id="{F6CE78D6-94AE-4F17-AEC9-A962D5F6456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3" name="Rectangle 9">
            <a:extLst>
              <a:ext uri="{FF2B5EF4-FFF2-40B4-BE49-F238E27FC236}">
                <a16:creationId xmlns:a16="http://schemas.microsoft.com/office/drawing/2014/main" id="{A2C8203E-5E4E-41AC-936C-B2C9DFBABA1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4" name="Rectangle 10">
            <a:extLst>
              <a:ext uri="{FF2B5EF4-FFF2-40B4-BE49-F238E27FC236}">
                <a16:creationId xmlns:a16="http://schemas.microsoft.com/office/drawing/2014/main" id="{DC4CC1B3-60D5-4CBA-8BE7-7E8D2B0FA63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5" name="Rectangle 11">
            <a:extLst>
              <a:ext uri="{FF2B5EF4-FFF2-40B4-BE49-F238E27FC236}">
                <a16:creationId xmlns:a16="http://schemas.microsoft.com/office/drawing/2014/main" id="{5A45F4BD-BBD8-44F5-9137-459DA6EBAC1E}"/>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6" name="Rectangle 12">
            <a:extLst>
              <a:ext uri="{FF2B5EF4-FFF2-40B4-BE49-F238E27FC236}">
                <a16:creationId xmlns:a16="http://schemas.microsoft.com/office/drawing/2014/main" id="{C78DFD34-4B52-409B-B4EE-2C86BD65C77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7" name="Rectangle 13">
            <a:extLst>
              <a:ext uri="{FF2B5EF4-FFF2-40B4-BE49-F238E27FC236}">
                <a16:creationId xmlns:a16="http://schemas.microsoft.com/office/drawing/2014/main" id="{B3E784F7-3CBF-4365-ACAF-933F08C18A4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8" name="Rectangle 14">
            <a:extLst>
              <a:ext uri="{FF2B5EF4-FFF2-40B4-BE49-F238E27FC236}">
                <a16:creationId xmlns:a16="http://schemas.microsoft.com/office/drawing/2014/main" id="{9B2778F8-7B46-4A65-A3B6-E18C30B8B28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19" name="Rectangle 15">
            <a:extLst>
              <a:ext uri="{FF2B5EF4-FFF2-40B4-BE49-F238E27FC236}">
                <a16:creationId xmlns:a16="http://schemas.microsoft.com/office/drawing/2014/main" id="{8F9783CA-88F3-460C-B617-D7750C4B6E1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20" name="Text Box 16">
            <a:extLst>
              <a:ext uri="{FF2B5EF4-FFF2-40B4-BE49-F238E27FC236}">
                <a16:creationId xmlns:a16="http://schemas.microsoft.com/office/drawing/2014/main" id="{B51A17F9-75EB-46F3-B497-045515EB3926}"/>
              </a:ext>
            </a:extLst>
          </p:cNvPr>
          <p:cNvSpPr txBox="1">
            <a:spLocks noChangeArrowheads="1"/>
          </p:cNvSpPr>
          <p:nvPr/>
        </p:nvSpPr>
        <p:spPr bwMode="auto">
          <a:xfrm>
            <a:off x="533400" y="914400"/>
            <a:ext cx="8067675"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r>
              <a:rPr lang="en-US" altLang="en-US" sz="800" b="1">
                <a:solidFill>
                  <a:schemeClr val="accent2"/>
                </a:solidFill>
              </a:rPr>
            </a:br>
            <a:r>
              <a:rPr lang="en-US" altLang="en-US" sz="1900" b="1"/>
              <a:t>Maxwell was among the first to employ a physically based dielectric mixing model that incorporates volume fractions and geometrical arrangement of soil constituents to predict bulk dielectric constant of the mixture [Roth et al. 1990] :</a:t>
            </a:r>
          </a:p>
        </p:txBody>
      </p:sp>
      <p:sp>
        <p:nvSpPr>
          <p:cNvPr id="379921" name="Rectangle 17">
            <a:extLst>
              <a:ext uri="{FF2B5EF4-FFF2-40B4-BE49-F238E27FC236}">
                <a16:creationId xmlns:a16="http://schemas.microsoft.com/office/drawing/2014/main" id="{D5FEA3D7-50EB-4941-ABD9-A539C3539D03}"/>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79922" name="Text Box 18">
            <a:extLst>
              <a:ext uri="{FF2B5EF4-FFF2-40B4-BE49-F238E27FC236}">
                <a16:creationId xmlns:a16="http://schemas.microsoft.com/office/drawing/2014/main" id="{0895A318-899C-4557-A47E-CCE2E4EF1D2B}"/>
              </a:ext>
            </a:extLst>
          </p:cNvPr>
          <p:cNvSpPr txBox="1">
            <a:spLocks noChangeArrowheads="1"/>
          </p:cNvSpPr>
          <p:nvPr/>
        </p:nvSpPr>
        <p:spPr bwMode="auto">
          <a:xfrm>
            <a:off x="457200" y="3352800"/>
            <a:ext cx="54864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800" b="1" dirty="0"/>
              <a:t>n is soil porosity, and -1&lt;</a:t>
            </a:r>
            <a:r>
              <a:rPr lang="el-GR" altLang="en-US" sz="1800" b="1" dirty="0">
                <a:latin typeface="Times New Roman" panose="02020603050405020304" pitchFamily="18" charset="0"/>
                <a:cs typeface="Times New Roman" panose="02020603050405020304" pitchFamily="18" charset="0"/>
              </a:rPr>
              <a:t>α</a:t>
            </a:r>
            <a:r>
              <a:rPr lang="en-US" altLang="en-US" sz="1800" b="1" dirty="0"/>
              <a:t>&lt;1 summarizes applied EM field direction relative to medium (axial direction of waveguide).</a:t>
            </a:r>
            <a:br>
              <a:rPr lang="en-US" altLang="en-US" sz="1800" b="1" dirty="0"/>
            </a:br>
            <a:br>
              <a:rPr lang="en-US" altLang="en-US" sz="1800" b="1" dirty="0">
                <a:solidFill>
                  <a:schemeClr val="accent2"/>
                </a:solidFill>
              </a:rPr>
            </a:br>
            <a:r>
              <a:rPr lang="el-GR" altLang="en-US" sz="1800" b="1" dirty="0">
                <a:latin typeface="Times New Roman" panose="02020603050405020304" pitchFamily="18" charset="0"/>
                <a:cs typeface="Times New Roman" panose="02020603050405020304" pitchFamily="18" charset="0"/>
              </a:rPr>
              <a:t>α </a:t>
            </a:r>
            <a:r>
              <a:rPr lang="en-US" altLang="en-US" sz="1800" b="1" dirty="0">
                <a:solidFill>
                  <a:srgbClr val="CC0000"/>
                </a:solidFill>
              </a:rPr>
              <a:t>= 1 for an EM field parallel to soil layering</a:t>
            </a:r>
            <a:br>
              <a:rPr lang="en-US" altLang="en-US" sz="1800" b="1" dirty="0">
                <a:solidFill>
                  <a:srgbClr val="CC0000"/>
                </a:solidFill>
              </a:rPr>
            </a:br>
            <a:r>
              <a:rPr lang="el-GR" altLang="en-US" sz="1800" b="1" dirty="0">
                <a:latin typeface="Times New Roman" panose="02020603050405020304" pitchFamily="18" charset="0"/>
                <a:cs typeface="Times New Roman" panose="02020603050405020304" pitchFamily="18" charset="0"/>
              </a:rPr>
              <a:t>α </a:t>
            </a:r>
            <a:r>
              <a:rPr lang="en-US" altLang="en-US" sz="1800" b="1" dirty="0">
                <a:solidFill>
                  <a:srgbClr val="CC0000"/>
                </a:solidFill>
              </a:rPr>
              <a:t>= -1 for EM field perpendicular to layering</a:t>
            </a:r>
            <a:br>
              <a:rPr lang="en-US" altLang="en-US" sz="1800" b="1" dirty="0">
                <a:solidFill>
                  <a:srgbClr val="CC0000"/>
                </a:solidFill>
              </a:rPr>
            </a:br>
            <a:r>
              <a:rPr lang="el-GR" altLang="en-US" sz="1800" b="1" dirty="0">
                <a:latin typeface="Times New Roman" panose="02020603050405020304" pitchFamily="18" charset="0"/>
                <a:cs typeface="Times New Roman" panose="02020603050405020304" pitchFamily="18" charset="0"/>
              </a:rPr>
              <a:t>α </a:t>
            </a:r>
            <a:r>
              <a:rPr lang="en-US" altLang="en-US" sz="1800" b="1" dirty="0">
                <a:solidFill>
                  <a:srgbClr val="CC0000"/>
                </a:solidFill>
              </a:rPr>
              <a:t>= 0.5 for an isotropic two phase mixed medium </a:t>
            </a:r>
          </a:p>
        </p:txBody>
      </p:sp>
      <p:graphicFrame>
        <p:nvGraphicFramePr>
          <p:cNvPr id="379923" name="Object 19">
            <a:extLst>
              <a:ext uri="{FF2B5EF4-FFF2-40B4-BE49-F238E27FC236}">
                <a16:creationId xmlns:a16="http://schemas.microsoft.com/office/drawing/2014/main" id="{63F1CCDC-BD26-4DEE-A609-873700FAEFB5}"/>
              </a:ext>
            </a:extLst>
          </p:cNvPr>
          <p:cNvGraphicFramePr>
            <a:graphicFrameLocks noGrp="1" noChangeAspect="1"/>
          </p:cNvGraphicFramePr>
          <p:nvPr>
            <p:ph idx="1"/>
            <p:extLst>
              <p:ext uri="{D42A27DB-BD31-4B8C-83A1-F6EECF244321}">
                <p14:modId xmlns:p14="http://schemas.microsoft.com/office/powerpoint/2010/main" val="2618295131"/>
              </p:ext>
            </p:extLst>
          </p:nvPr>
        </p:nvGraphicFramePr>
        <p:xfrm>
          <a:off x="839788" y="2470150"/>
          <a:ext cx="4262437" cy="654050"/>
        </p:xfrm>
        <a:graphic>
          <a:graphicData uri="http://schemas.openxmlformats.org/presentationml/2006/ole">
            <mc:AlternateContent xmlns:mc="http://schemas.openxmlformats.org/markup-compatibility/2006">
              <mc:Choice xmlns:v="urn:schemas-microsoft-com:vml" Requires="v">
                <p:oleObj spid="_x0000_s379930" name="Equation" r:id="rId4" imgW="2400120" imgH="368280" progId="Equation.DSMT4">
                  <p:embed/>
                </p:oleObj>
              </mc:Choice>
              <mc:Fallback>
                <p:oleObj name="Equation" r:id="rId4" imgW="2400120" imgH="368280" progId="Equation.DSMT4">
                  <p:embed/>
                  <p:pic>
                    <p:nvPicPr>
                      <p:cNvPr id="0" name="Object 19"/>
                      <p:cNvPicPr>
                        <a:picLocks noChangeAspect="1" noChangeArrowheads="1"/>
                      </p:cNvPicPr>
                      <p:nvPr/>
                    </p:nvPicPr>
                    <p:blipFill>
                      <a:blip r:embed="rId5"/>
                      <a:srcRect/>
                      <a:stretch>
                        <a:fillRect/>
                      </a:stretch>
                    </p:blipFill>
                    <p:spPr bwMode="auto">
                      <a:xfrm>
                        <a:off x="839788" y="2470150"/>
                        <a:ext cx="4262437"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1" name="Rectangle 3">
            <a:extLst>
              <a:ext uri="{FF2B5EF4-FFF2-40B4-BE49-F238E27FC236}">
                <a16:creationId xmlns:a16="http://schemas.microsoft.com/office/drawing/2014/main" id="{E06B9C34-1906-470D-85B4-251447B0DEFE}"/>
              </a:ext>
            </a:extLst>
          </p:cNvPr>
          <p:cNvSpPr>
            <a:spLocks noGrp="1" noChangeArrowheads="1"/>
          </p:cNvSpPr>
          <p:nvPr>
            <p:ph type="title"/>
          </p:nvPr>
        </p:nvSpPr>
        <p:spPr>
          <a:xfrm>
            <a:off x="762000" y="152400"/>
            <a:ext cx="7772400" cy="579438"/>
          </a:xfrm>
        </p:spPr>
        <p:txBody>
          <a:bodyPr/>
          <a:lstStyle/>
          <a:p>
            <a:r>
              <a:rPr lang="en-US" altLang="en-US" sz="2800">
                <a:latin typeface="Comic Sans MS" panose="030F0702030302020204" pitchFamily="66" charset="0"/>
              </a:rPr>
              <a:t>Dielectric Mixing Models</a:t>
            </a:r>
          </a:p>
        </p:txBody>
      </p:sp>
      <p:sp>
        <p:nvSpPr>
          <p:cNvPr id="380932" name="Rectangle 4">
            <a:extLst>
              <a:ext uri="{FF2B5EF4-FFF2-40B4-BE49-F238E27FC236}">
                <a16:creationId xmlns:a16="http://schemas.microsoft.com/office/drawing/2014/main" id="{4D1072E3-7973-47B9-BFB1-02F9C09E586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3" name="Rectangle 5">
            <a:extLst>
              <a:ext uri="{FF2B5EF4-FFF2-40B4-BE49-F238E27FC236}">
                <a16:creationId xmlns:a16="http://schemas.microsoft.com/office/drawing/2014/main" id="{5682D574-D936-4E31-A07B-BCD3783C3D3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4" name="Rectangle 6">
            <a:extLst>
              <a:ext uri="{FF2B5EF4-FFF2-40B4-BE49-F238E27FC236}">
                <a16:creationId xmlns:a16="http://schemas.microsoft.com/office/drawing/2014/main" id="{7164F0C5-86FC-4391-85AC-742A0286C1C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5" name="Rectangle 7">
            <a:extLst>
              <a:ext uri="{FF2B5EF4-FFF2-40B4-BE49-F238E27FC236}">
                <a16:creationId xmlns:a16="http://schemas.microsoft.com/office/drawing/2014/main" id="{93B473BF-29EA-4311-B39C-E619FF85649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6" name="Rectangle 8">
            <a:extLst>
              <a:ext uri="{FF2B5EF4-FFF2-40B4-BE49-F238E27FC236}">
                <a16:creationId xmlns:a16="http://schemas.microsoft.com/office/drawing/2014/main" id="{606D47A4-9DB1-46C7-AF55-588A64E2122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7" name="Rectangle 9">
            <a:extLst>
              <a:ext uri="{FF2B5EF4-FFF2-40B4-BE49-F238E27FC236}">
                <a16:creationId xmlns:a16="http://schemas.microsoft.com/office/drawing/2014/main" id="{AC6DA452-BDF8-4553-B1D0-892101C6DF1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8" name="Rectangle 10">
            <a:extLst>
              <a:ext uri="{FF2B5EF4-FFF2-40B4-BE49-F238E27FC236}">
                <a16:creationId xmlns:a16="http://schemas.microsoft.com/office/drawing/2014/main" id="{DA39F8AA-37E9-4690-B39F-AAB039AB8A7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39" name="Rectangle 11">
            <a:extLst>
              <a:ext uri="{FF2B5EF4-FFF2-40B4-BE49-F238E27FC236}">
                <a16:creationId xmlns:a16="http://schemas.microsoft.com/office/drawing/2014/main" id="{C632F22B-067A-4FBA-AEED-273BCF82297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0" name="Rectangle 12">
            <a:extLst>
              <a:ext uri="{FF2B5EF4-FFF2-40B4-BE49-F238E27FC236}">
                <a16:creationId xmlns:a16="http://schemas.microsoft.com/office/drawing/2014/main" id="{9FA5D80E-1BBA-4619-B2B6-EFB03074B943}"/>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1" name="Rectangle 13">
            <a:extLst>
              <a:ext uri="{FF2B5EF4-FFF2-40B4-BE49-F238E27FC236}">
                <a16:creationId xmlns:a16="http://schemas.microsoft.com/office/drawing/2014/main" id="{ED7233C0-7ACD-424F-ADC1-FB4B915300F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2" name="Rectangle 14">
            <a:extLst>
              <a:ext uri="{FF2B5EF4-FFF2-40B4-BE49-F238E27FC236}">
                <a16:creationId xmlns:a16="http://schemas.microsoft.com/office/drawing/2014/main" id="{ED551796-5ABC-40C5-B347-5B7C0154B99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3" name="Rectangle 15">
            <a:extLst>
              <a:ext uri="{FF2B5EF4-FFF2-40B4-BE49-F238E27FC236}">
                <a16:creationId xmlns:a16="http://schemas.microsoft.com/office/drawing/2014/main" id="{844EED74-8399-43ED-9EE3-531C33C83EA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4" name="Rectangle 16">
            <a:extLst>
              <a:ext uri="{FF2B5EF4-FFF2-40B4-BE49-F238E27FC236}">
                <a16:creationId xmlns:a16="http://schemas.microsoft.com/office/drawing/2014/main" id="{E183A072-9318-4105-AD14-A0A6FAA156B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5" name="Rectangle 17">
            <a:extLst>
              <a:ext uri="{FF2B5EF4-FFF2-40B4-BE49-F238E27FC236}">
                <a16:creationId xmlns:a16="http://schemas.microsoft.com/office/drawing/2014/main" id="{9C6ACA3B-9304-4E3E-8505-018E4273A7FB}"/>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6" name="Text Box 18">
            <a:extLst>
              <a:ext uri="{FF2B5EF4-FFF2-40B4-BE49-F238E27FC236}">
                <a16:creationId xmlns:a16="http://schemas.microsoft.com/office/drawing/2014/main" id="{F5D907D0-BE6F-42AE-A9FE-7B455D64BAB0}"/>
              </a:ext>
            </a:extLst>
          </p:cNvPr>
          <p:cNvSpPr txBox="1">
            <a:spLocks noChangeArrowheads="1"/>
          </p:cNvSpPr>
          <p:nvPr/>
        </p:nvSpPr>
        <p:spPr bwMode="auto">
          <a:xfrm>
            <a:off x="771525" y="762000"/>
            <a:ext cx="806767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t>The mixing model can be simplified using </a:t>
            </a:r>
            <a:r>
              <a:rPr lang="en-US" altLang="en-US" sz="1900" b="1">
                <a:latin typeface="Symbol" panose="05050102010706020507" pitchFamily="18" charset="2"/>
              </a:rPr>
              <a:t>b</a:t>
            </a:r>
            <a:r>
              <a:rPr lang="en-US" altLang="en-US" sz="1900" b="1"/>
              <a:t>=0.5 and the dielectric constants of the constituents: </a:t>
            </a:r>
            <a:r>
              <a:rPr lang="en-US" altLang="en-US" sz="1900" b="1">
                <a:latin typeface="Symbol" panose="05050102010706020507" pitchFamily="18" charset="2"/>
              </a:rPr>
              <a:t>e</a:t>
            </a:r>
            <a:r>
              <a:rPr lang="en-US" altLang="en-US" sz="1900" b="1" baseline="-25000"/>
              <a:t>w</a:t>
            </a:r>
            <a:r>
              <a:rPr lang="en-US" altLang="en-US" sz="1900" b="1"/>
              <a:t>=81; </a:t>
            </a:r>
            <a:r>
              <a:rPr lang="en-US" altLang="en-US" sz="1900" b="1">
                <a:latin typeface="Symbol" panose="05050102010706020507" pitchFamily="18" charset="2"/>
              </a:rPr>
              <a:t>e</a:t>
            </a:r>
            <a:r>
              <a:rPr lang="en-US" altLang="en-US" sz="1900" b="1" baseline="-25000"/>
              <a:t>s</a:t>
            </a:r>
            <a:r>
              <a:rPr lang="en-US" altLang="en-US" sz="1900" b="1"/>
              <a:t>=4; and </a:t>
            </a:r>
            <a:r>
              <a:rPr lang="en-US" altLang="en-US" sz="1900" b="1">
                <a:latin typeface="Symbol" panose="05050102010706020507" pitchFamily="18" charset="2"/>
              </a:rPr>
              <a:t>e</a:t>
            </a:r>
            <a:r>
              <a:rPr lang="en-US" altLang="en-US" sz="1900" b="1" baseline="-25000"/>
              <a:t>a</a:t>
            </a:r>
            <a:r>
              <a:rPr lang="en-US" altLang="en-US" sz="1900" b="1"/>
              <a:t>=1</a:t>
            </a:r>
          </a:p>
        </p:txBody>
      </p:sp>
      <p:sp>
        <p:nvSpPr>
          <p:cNvPr id="380947" name="Rectangle 19">
            <a:extLst>
              <a:ext uri="{FF2B5EF4-FFF2-40B4-BE49-F238E27FC236}">
                <a16:creationId xmlns:a16="http://schemas.microsoft.com/office/drawing/2014/main" id="{FA43EC9C-3FEF-4743-B7D0-F12FBA4E2B15}"/>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0948" name="Rectangle 20">
            <a:extLst>
              <a:ext uri="{FF2B5EF4-FFF2-40B4-BE49-F238E27FC236}">
                <a16:creationId xmlns:a16="http://schemas.microsoft.com/office/drawing/2014/main" id="{6556B4F9-E153-49FB-BE52-DB5120932ECE}"/>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80949" name="Object 21">
            <a:extLst>
              <a:ext uri="{FF2B5EF4-FFF2-40B4-BE49-F238E27FC236}">
                <a16:creationId xmlns:a16="http://schemas.microsoft.com/office/drawing/2014/main" id="{90765538-177A-489F-B770-A573B71728F1}"/>
              </a:ext>
            </a:extLst>
          </p:cNvPr>
          <p:cNvGraphicFramePr>
            <a:graphicFrameLocks noGrp="1" noChangeAspect="1"/>
          </p:cNvGraphicFramePr>
          <p:nvPr>
            <p:ph sz="half" idx="1"/>
            <p:extLst>
              <p:ext uri="{D42A27DB-BD31-4B8C-83A1-F6EECF244321}">
                <p14:modId xmlns:p14="http://schemas.microsoft.com/office/powerpoint/2010/main" val="4224370513"/>
              </p:ext>
            </p:extLst>
          </p:nvPr>
        </p:nvGraphicFramePr>
        <p:xfrm>
          <a:off x="865188" y="1524000"/>
          <a:ext cx="4645025" cy="712788"/>
        </p:xfrm>
        <a:graphic>
          <a:graphicData uri="http://schemas.openxmlformats.org/presentationml/2006/ole">
            <mc:AlternateContent xmlns:mc="http://schemas.openxmlformats.org/markup-compatibility/2006">
              <mc:Choice xmlns:v="urn:schemas-microsoft-com:vml" Requires="v">
                <p:oleObj spid="_x0000_s380969" name="Equation" r:id="rId3" imgW="2400120" imgH="368280" progId="Equation.DSMT4">
                  <p:embed/>
                </p:oleObj>
              </mc:Choice>
              <mc:Fallback>
                <p:oleObj name="Equation" r:id="rId3" imgW="2400120" imgH="368280" progId="Equation.DSMT4">
                  <p:embed/>
                  <p:pic>
                    <p:nvPicPr>
                      <p:cNvPr id="0" name="Object 21"/>
                      <p:cNvPicPr>
                        <a:picLocks noChangeAspect="1" noChangeArrowheads="1"/>
                      </p:cNvPicPr>
                      <p:nvPr/>
                    </p:nvPicPr>
                    <p:blipFill>
                      <a:blip r:embed="rId4"/>
                      <a:srcRect/>
                      <a:stretch>
                        <a:fillRect/>
                      </a:stretch>
                    </p:blipFill>
                    <p:spPr bwMode="auto">
                      <a:xfrm>
                        <a:off x="865188" y="1524000"/>
                        <a:ext cx="4645025"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50" name="Object 22">
            <a:extLst>
              <a:ext uri="{FF2B5EF4-FFF2-40B4-BE49-F238E27FC236}">
                <a16:creationId xmlns:a16="http://schemas.microsoft.com/office/drawing/2014/main" id="{953881C5-3484-4263-B6BF-0EFBC303ED47}"/>
              </a:ext>
            </a:extLst>
          </p:cNvPr>
          <p:cNvGraphicFramePr>
            <a:graphicFrameLocks noChangeAspect="1"/>
          </p:cNvGraphicFramePr>
          <p:nvPr>
            <p:extLst>
              <p:ext uri="{D42A27DB-BD31-4B8C-83A1-F6EECF244321}">
                <p14:modId xmlns:p14="http://schemas.microsoft.com/office/powerpoint/2010/main" val="914760604"/>
              </p:ext>
            </p:extLst>
          </p:nvPr>
        </p:nvGraphicFramePr>
        <p:xfrm>
          <a:off x="1665288" y="2670175"/>
          <a:ext cx="3054350" cy="827088"/>
        </p:xfrm>
        <a:graphic>
          <a:graphicData uri="http://schemas.openxmlformats.org/presentationml/2006/ole">
            <mc:AlternateContent xmlns:mc="http://schemas.openxmlformats.org/markup-compatibility/2006">
              <mc:Choice xmlns:v="urn:schemas-microsoft-com:vml" Requires="v">
                <p:oleObj spid="_x0000_s380970" name="Equation" r:id="rId5" imgW="1676160" imgH="457200" progId="Equation.DSMT4">
                  <p:embed/>
                </p:oleObj>
              </mc:Choice>
              <mc:Fallback>
                <p:oleObj name="Equation" r:id="rId5" imgW="1676160" imgH="457200" progId="Equation.DSMT4">
                  <p:embed/>
                  <p:pic>
                    <p:nvPicPr>
                      <p:cNvPr id="0" name="Object 22"/>
                      <p:cNvPicPr>
                        <a:picLocks noChangeAspect="1" noChangeArrowheads="1"/>
                      </p:cNvPicPr>
                      <p:nvPr/>
                    </p:nvPicPr>
                    <p:blipFill>
                      <a:blip r:embed="rId6"/>
                      <a:srcRect/>
                      <a:stretch>
                        <a:fillRect/>
                      </a:stretch>
                    </p:blipFill>
                    <p:spPr bwMode="auto">
                      <a:xfrm>
                        <a:off x="1665288" y="2670175"/>
                        <a:ext cx="3054350"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80951" name="Group 23">
            <a:extLst>
              <a:ext uri="{FF2B5EF4-FFF2-40B4-BE49-F238E27FC236}">
                <a16:creationId xmlns:a16="http://schemas.microsoft.com/office/drawing/2014/main" id="{FD712135-1870-468C-A142-E4A1807B8A52}"/>
              </a:ext>
            </a:extLst>
          </p:cNvPr>
          <p:cNvGrpSpPr>
            <a:grpSpLocks/>
          </p:cNvGrpSpPr>
          <p:nvPr/>
        </p:nvGrpSpPr>
        <p:grpSpPr bwMode="auto">
          <a:xfrm>
            <a:off x="838200" y="4038600"/>
            <a:ext cx="2971800" cy="1295400"/>
            <a:chOff x="1488" y="3600"/>
            <a:chExt cx="1872" cy="912"/>
          </a:xfrm>
        </p:grpSpPr>
        <p:sp>
          <p:nvSpPr>
            <p:cNvPr id="380952" name="Rectangle 24">
              <a:extLst>
                <a:ext uri="{FF2B5EF4-FFF2-40B4-BE49-F238E27FC236}">
                  <a16:creationId xmlns:a16="http://schemas.microsoft.com/office/drawing/2014/main" id="{CC8453FE-F20B-44B1-9812-68016BD63E3B}"/>
                </a:ext>
              </a:extLst>
            </p:cNvPr>
            <p:cNvSpPr>
              <a:spLocks noChangeArrowheads="1"/>
            </p:cNvSpPr>
            <p:nvPr/>
          </p:nvSpPr>
          <p:spPr bwMode="auto">
            <a:xfrm>
              <a:off x="1488" y="3600"/>
              <a:ext cx="1872" cy="9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380953" name="Object 25">
              <a:extLst>
                <a:ext uri="{FF2B5EF4-FFF2-40B4-BE49-F238E27FC236}">
                  <a16:creationId xmlns:a16="http://schemas.microsoft.com/office/drawing/2014/main" id="{841E926E-195E-487B-8B26-3ECDA0ED269E}"/>
                </a:ext>
              </a:extLst>
            </p:cNvPr>
            <p:cNvGraphicFramePr>
              <a:graphicFrameLocks noChangeAspect="1"/>
            </p:cNvGraphicFramePr>
            <p:nvPr/>
          </p:nvGraphicFramePr>
          <p:xfrm>
            <a:off x="1584" y="3716"/>
            <a:ext cx="1670" cy="604"/>
          </p:xfrm>
          <a:graphic>
            <a:graphicData uri="http://schemas.openxmlformats.org/presentationml/2006/ole">
              <mc:AlternateContent xmlns:mc="http://schemas.openxmlformats.org/markup-compatibility/2006">
                <mc:Choice xmlns:v="urn:schemas-microsoft-com:vml" Requires="v">
                  <p:oleObj spid="_x0000_s380971" name="Equation" r:id="rId7" imgW="1346200" imgH="482600" progId="Equation.3">
                    <p:embed/>
                  </p:oleObj>
                </mc:Choice>
                <mc:Fallback>
                  <p:oleObj name="Equation" r:id="rId7" imgW="1346200" imgH="482600"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4" y="3716"/>
                          <a:ext cx="1670" cy="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380956" name="Picture 28">
            <a:extLst>
              <a:ext uri="{FF2B5EF4-FFF2-40B4-BE49-F238E27FC236}">
                <a16:creationId xmlns:a16="http://schemas.microsoft.com/office/drawing/2014/main" id="{53170F56-487D-42D0-B2E9-09271D1422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3657600"/>
            <a:ext cx="3886200" cy="27162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0E4BE3D8-D53D-4B8F-8F9E-C26BA5C54914}"/>
              </a:ext>
            </a:extLst>
          </p:cNvPr>
          <p:cNvSpPr>
            <a:spLocks noChangeArrowheads="1"/>
          </p:cNvSpPr>
          <p:nvPr/>
        </p:nvSpPr>
        <p:spPr bwMode="auto">
          <a:xfrm>
            <a:off x="1371600" y="5410200"/>
            <a:ext cx="6781800" cy="838200"/>
          </a:xfrm>
          <a:prstGeom prst="rect">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1955" name="Rectangle 3">
            <a:extLst>
              <a:ext uri="{FF2B5EF4-FFF2-40B4-BE49-F238E27FC236}">
                <a16:creationId xmlns:a16="http://schemas.microsoft.com/office/drawing/2014/main" id="{935EB81B-0293-492E-ACD9-7F6319B99B06}"/>
              </a:ext>
            </a:extLst>
          </p:cNvPr>
          <p:cNvSpPr>
            <a:spLocks noGrp="1" noChangeArrowheads="1"/>
          </p:cNvSpPr>
          <p:nvPr>
            <p:ph type="title"/>
          </p:nvPr>
        </p:nvSpPr>
        <p:spPr>
          <a:xfrm>
            <a:off x="762000" y="152400"/>
            <a:ext cx="7772400" cy="579438"/>
          </a:xfrm>
        </p:spPr>
        <p:txBody>
          <a:bodyPr/>
          <a:lstStyle/>
          <a:p>
            <a:r>
              <a:rPr lang="en-US" altLang="en-US" sz="2800">
                <a:latin typeface="Comic Sans MS" panose="030F0702030302020204" pitchFamily="66" charset="0"/>
              </a:rPr>
              <a:t>Mixing Model: Example</a:t>
            </a:r>
          </a:p>
        </p:txBody>
      </p:sp>
      <p:graphicFrame>
        <p:nvGraphicFramePr>
          <p:cNvPr id="381956" name="Object 4">
            <a:extLst>
              <a:ext uri="{FF2B5EF4-FFF2-40B4-BE49-F238E27FC236}">
                <a16:creationId xmlns:a16="http://schemas.microsoft.com/office/drawing/2014/main" id="{D111923D-8EBD-4D2A-AD00-073321BFB2F6}"/>
              </a:ext>
            </a:extLst>
          </p:cNvPr>
          <p:cNvGraphicFramePr>
            <a:graphicFrameLocks noGrp="1" noChangeAspect="1"/>
          </p:cNvGraphicFramePr>
          <p:nvPr>
            <p:ph sz="half" idx="1"/>
          </p:nvPr>
        </p:nvGraphicFramePr>
        <p:xfrm>
          <a:off x="1600200" y="5410200"/>
          <a:ext cx="6343650" cy="685800"/>
        </p:xfrm>
        <a:graphic>
          <a:graphicData uri="http://schemas.openxmlformats.org/presentationml/2006/ole">
            <mc:AlternateContent xmlns:mc="http://schemas.openxmlformats.org/markup-compatibility/2006">
              <mc:Choice xmlns:v="urn:schemas-microsoft-com:vml" Requires="v">
                <p:oleObj spid="_x0000_s381988" name="Equation" r:id="rId3" imgW="3759120" imgH="406080" progId="Equation.3">
                  <p:embed/>
                </p:oleObj>
              </mc:Choice>
              <mc:Fallback>
                <p:oleObj name="Equation" r:id="rId3" imgW="3759120" imgH="406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5410200"/>
                        <a:ext cx="6343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1957" name="Object 5">
            <a:extLst>
              <a:ext uri="{FF2B5EF4-FFF2-40B4-BE49-F238E27FC236}">
                <a16:creationId xmlns:a16="http://schemas.microsoft.com/office/drawing/2014/main" id="{9F324B6E-6E14-4F69-8367-D9F15D86C3C6}"/>
              </a:ext>
            </a:extLst>
          </p:cNvPr>
          <p:cNvGraphicFramePr>
            <a:graphicFrameLocks noGrp="1" noChangeAspect="1"/>
          </p:cNvGraphicFramePr>
          <p:nvPr>
            <p:ph sz="quarter" idx="2"/>
          </p:nvPr>
        </p:nvGraphicFramePr>
        <p:xfrm>
          <a:off x="3465513" y="2209800"/>
          <a:ext cx="2211387" cy="714375"/>
        </p:xfrm>
        <a:graphic>
          <a:graphicData uri="http://schemas.openxmlformats.org/presentationml/2006/ole">
            <mc:AlternateContent xmlns:mc="http://schemas.openxmlformats.org/markup-compatibility/2006">
              <mc:Choice xmlns:v="urn:schemas-microsoft-com:vml" Requires="v">
                <p:oleObj spid="_x0000_s381989" name="Equation" r:id="rId5" imgW="1218960" imgH="393480" progId="Equation.3">
                  <p:embed/>
                </p:oleObj>
              </mc:Choice>
              <mc:Fallback>
                <p:oleObj name="Equation" r:id="rId5" imgW="1218960" imgH="39348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5513" y="2209800"/>
                        <a:ext cx="2211387"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1958" name="Rectangle 6">
            <a:extLst>
              <a:ext uri="{FF2B5EF4-FFF2-40B4-BE49-F238E27FC236}">
                <a16:creationId xmlns:a16="http://schemas.microsoft.com/office/drawing/2014/main" id="{777FF242-5745-45D7-B00A-44D8A31CA58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59" name="Rectangle 7">
            <a:extLst>
              <a:ext uri="{FF2B5EF4-FFF2-40B4-BE49-F238E27FC236}">
                <a16:creationId xmlns:a16="http://schemas.microsoft.com/office/drawing/2014/main" id="{9A70A5FF-7236-4EB1-A3A6-B80046588D5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0" name="Rectangle 8">
            <a:extLst>
              <a:ext uri="{FF2B5EF4-FFF2-40B4-BE49-F238E27FC236}">
                <a16:creationId xmlns:a16="http://schemas.microsoft.com/office/drawing/2014/main" id="{E93D1D0E-0285-4D7A-8906-67D5D72BA98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1" name="Rectangle 9">
            <a:extLst>
              <a:ext uri="{FF2B5EF4-FFF2-40B4-BE49-F238E27FC236}">
                <a16:creationId xmlns:a16="http://schemas.microsoft.com/office/drawing/2014/main" id="{FA90307E-8866-4A5B-89AB-13B881FC4DA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2" name="Rectangle 10">
            <a:extLst>
              <a:ext uri="{FF2B5EF4-FFF2-40B4-BE49-F238E27FC236}">
                <a16:creationId xmlns:a16="http://schemas.microsoft.com/office/drawing/2014/main" id="{2BEB197E-BEA6-4AFB-9DAF-D50D205DB34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3" name="Rectangle 11">
            <a:extLst>
              <a:ext uri="{FF2B5EF4-FFF2-40B4-BE49-F238E27FC236}">
                <a16:creationId xmlns:a16="http://schemas.microsoft.com/office/drawing/2014/main" id="{59A7267E-34E0-482F-A3C5-F6E46B68383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4" name="Rectangle 12">
            <a:extLst>
              <a:ext uri="{FF2B5EF4-FFF2-40B4-BE49-F238E27FC236}">
                <a16:creationId xmlns:a16="http://schemas.microsoft.com/office/drawing/2014/main" id="{3A3E9277-7543-40E6-932F-B27EDC13CFE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5" name="Rectangle 13">
            <a:extLst>
              <a:ext uri="{FF2B5EF4-FFF2-40B4-BE49-F238E27FC236}">
                <a16:creationId xmlns:a16="http://schemas.microsoft.com/office/drawing/2014/main" id="{6DA87ACC-271B-4F8B-964D-F109979A739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6" name="Rectangle 14">
            <a:extLst>
              <a:ext uri="{FF2B5EF4-FFF2-40B4-BE49-F238E27FC236}">
                <a16:creationId xmlns:a16="http://schemas.microsoft.com/office/drawing/2014/main" id="{E75C69DA-EF51-4B61-96B8-B1D2BBEA4090}"/>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7" name="Rectangle 15">
            <a:extLst>
              <a:ext uri="{FF2B5EF4-FFF2-40B4-BE49-F238E27FC236}">
                <a16:creationId xmlns:a16="http://schemas.microsoft.com/office/drawing/2014/main" id="{69BCC9F8-A75B-4D3F-AD49-B3AE7C43F42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8" name="Rectangle 16">
            <a:extLst>
              <a:ext uri="{FF2B5EF4-FFF2-40B4-BE49-F238E27FC236}">
                <a16:creationId xmlns:a16="http://schemas.microsoft.com/office/drawing/2014/main" id="{B44F4A63-01B2-42AD-9E17-D40DE47A0834}"/>
              </a:ext>
            </a:extLst>
          </p:cNvPr>
          <p:cNvSpPr>
            <a:spLocks noChangeArrowheads="1"/>
          </p:cNvSpPr>
          <p:nvPr/>
        </p:nvSpPr>
        <p:spPr bwMode="auto">
          <a:xfrm>
            <a:off x="0" y="388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69" name="Rectangle 17">
            <a:extLst>
              <a:ext uri="{FF2B5EF4-FFF2-40B4-BE49-F238E27FC236}">
                <a16:creationId xmlns:a16="http://schemas.microsoft.com/office/drawing/2014/main" id="{5FF25B9E-6A90-462E-9659-05ECA3646B9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70" name="Text Box 18">
            <a:extLst>
              <a:ext uri="{FF2B5EF4-FFF2-40B4-BE49-F238E27FC236}">
                <a16:creationId xmlns:a16="http://schemas.microsoft.com/office/drawing/2014/main" id="{BB867B74-AC70-4B02-8E2F-0B193C886E60}"/>
              </a:ext>
            </a:extLst>
          </p:cNvPr>
          <p:cNvSpPr txBox="1">
            <a:spLocks noChangeArrowheads="1"/>
          </p:cNvSpPr>
          <p:nvPr/>
        </p:nvSpPr>
        <p:spPr bwMode="auto">
          <a:xfrm>
            <a:off x="771525" y="762000"/>
            <a:ext cx="822007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t>What is </a:t>
            </a:r>
            <a:r>
              <a:rPr lang="en-US" altLang="en-US" sz="1900" b="1">
                <a:latin typeface="Symbol" panose="05050102010706020507" pitchFamily="18" charset="2"/>
              </a:rPr>
              <a:t>e</a:t>
            </a:r>
            <a:r>
              <a:rPr lang="en-US" altLang="en-US" sz="1900" b="1" baseline="-25000"/>
              <a:t>b</a:t>
            </a:r>
            <a:r>
              <a:rPr lang="en-US" altLang="en-US" sz="1900" b="1"/>
              <a:t> of a soil having </a:t>
            </a:r>
            <a:r>
              <a:rPr lang="en-US" altLang="en-US" sz="1900" b="1">
                <a:latin typeface="Symbol" panose="05050102010706020507" pitchFamily="18" charset="2"/>
              </a:rPr>
              <a:t></a:t>
            </a:r>
            <a:r>
              <a:rPr lang="en-US" altLang="en-US" sz="1900" b="1" baseline="-25000"/>
              <a:t>v </a:t>
            </a:r>
            <a:r>
              <a:rPr lang="en-US" altLang="en-US" sz="1900"/>
              <a:t>= </a:t>
            </a:r>
            <a:r>
              <a:rPr lang="en-US" altLang="en-US" sz="1900" b="1"/>
              <a:t>0.2 and bulk density of 1325 kg/m</a:t>
            </a:r>
            <a:r>
              <a:rPr lang="en-US" altLang="en-US" sz="1900" b="1" baseline="30000"/>
              <a:t>3</a:t>
            </a:r>
            <a:r>
              <a:rPr lang="en-US" altLang="en-US" sz="1900" b="1"/>
              <a:t>? What if the soil contained the same volume fraction of ethanol rather than water?</a:t>
            </a:r>
          </a:p>
        </p:txBody>
      </p:sp>
      <p:sp>
        <p:nvSpPr>
          <p:cNvPr id="381971" name="Rectangle 19">
            <a:extLst>
              <a:ext uri="{FF2B5EF4-FFF2-40B4-BE49-F238E27FC236}">
                <a16:creationId xmlns:a16="http://schemas.microsoft.com/office/drawing/2014/main" id="{48542BA6-DD4D-476E-971B-CB06FE941A7E}"/>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72" name="Rectangle 20">
            <a:extLst>
              <a:ext uri="{FF2B5EF4-FFF2-40B4-BE49-F238E27FC236}">
                <a16:creationId xmlns:a16="http://schemas.microsoft.com/office/drawing/2014/main" id="{10235133-6C56-482F-B280-0F75E15C3CD4}"/>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1973" name="Text Box 21">
            <a:extLst>
              <a:ext uri="{FF2B5EF4-FFF2-40B4-BE49-F238E27FC236}">
                <a16:creationId xmlns:a16="http://schemas.microsoft.com/office/drawing/2014/main" id="{D11ED9BF-94EA-440B-90E8-003D071D89D0}"/>
              </a:ext>
            </a:extLst>
          </p:cNvPr>
          <p:cNvSpPr txBox="1">
            <a:spLocks noChangeArrowheads="1"/>
          </p:cNvSpPr>
          <p:nvPr/>
        </p:nvSpPr>
        <p:spPr bwMode="auto">
          <a:xfrm>
            <a:off x="771525" y="1708150"/>
            <a:ext cx="82200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solidFill>
                  <a:srgbClr val="FF3300"/>
                </a:solidFill>
              </a:rPr>
              <a:t>First we estimate the porosity for this soil as:</a:t>
            </a:r>
          </a:p>
        </p:txBody>
      </p:sp>
      <p:graphicFrame>
        <p:nvGraphicFramePr>
          <p:cNvPr id="381974" name="Object 22">
            <a:extLst>
              <a:ext uri="{FF2B5EF4-FFF2-40B4-BE49-F238E27FC236}">
                <a16:creationId xmlns:a16="http://schemas.microsoft.com/office/drawing/2014/main" id="{2BF0679E-A817-42B0-9B70-5F98C4BAF4C6}"/>
              </a:ext>
            </a:extLst>
          </p:cNvPr>
          <p:cNvGraphicFramePr>
            <a:graphicFrameLocks noGrp="1" noChangeAspect="1"/>
          </p:cNvGraphicFramePr>
          <p:nvPr>
            <p:ph sz="quarter" idx="3"/>
            <p:extLst>
              <p:ext uri="{D42A27DB-BD31-4B8C-83A1-F6EECF244321}">
                <p14:modId xmlns:p14="http://schemas.microsoft.com/office/powerpoint/2010/main" val="1240065918"/>
              </p:ext>
            </p:extLst>
          </p:nvPr>
        </p:nvGraphicFramePr>
        <p:xfrm>
          <a:off x="2420938" y="4343400"/>
          <a:ext cx="4645025" cy="712788"/>
        </p:xfrm>
        <a:graphic>
          <a:graphicData uri="http://schemas.openxmlformats.org/presentationml/2006/ole">
            <mc:AlternateContent xmlns:mc="http://schemas.openxmlformats.org/markup-compatibility/2006">
              <mc:Choice xmlns:v="urn:schemas-microsoft-com:vml" Requires="v">
                <p:oleObj spid="_x0000_s381990" name="Equation" r:id="rId7" imgW="2400120" imgH="368280" progId="Equation.DSMT4">
                  <p:embed/>
                </p:oleObj>
              </mc:Choice>
              <mc:Fallback>
                <p:oleObj name="Equation" r:id="rId7" imgW="2400120" imgH="368280" progId="Equation.DSMT4">
                  <p:embed/>
                  <p:pic>
                    <p:nvPicPr>
                      <p:cNvPr id="0" name="Object 22"/>
                      <p:cNvPicPr>
                        <a:picLocks noChangeAspect="1" noChangeArrowheads="1"/>
                      </p:cNvPicPr>
                      <p:nvPr/>
                    </p:nvPicPr>
                    <p:blipFill>
                      <a:blip r:embed="rId8"/>
                      <a:srcRect/>
                      <a:stretch>
                        <a:fillRect/>
                      </a:stretch>
                    </p:blipFill>
                    <p:spPr bwMode="auto">
                      <a:xfrm>
                        <a:off x="2420938" y="4343400"/>
                        <a:ext cx="4645025"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1975" name="Text Box 23">
            <a:extLst>
              <a:ext uri="{FF2B5EF4-FFF2-40B4-BE49-F238E27FC236}">
                <a16:creationId xmlns:a16="http://schemas.microsoft.com/office/drawing/2014/main" id="{5FB61B2C-EC34-4B56-8935-7C3114C78253}"/>
              </a:ext>
            </a:extLst>
          </p:cNvPr>
          <p:cNvSpPr txBox="1">
            <a:spLocks noChangeArrowheads="1"/>
          </p:cNvSpPr>
          <p:nvPr/>
        </p:nvSpPr>
        <p:spPr bwMode="auto">
          <a:xfrm>
            <a:off x="771525" y="3124200"/>
            <a:ext cx="822007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solidFill>
                  <a:srgbClr val="FF3300"/>
                </a:solidFill>
              </a:rPr>
              <a:t>Then we use </a:t>
            </a:r>
            <a:r>
              <a:rPr lang="en-US" altLang="en-US" sz="1900" b="1">
                <a:solidFill>
                  <a:srgbClr val="FF3300"/>
                </a:solidFill>
                <a:latin typeface="Symbol" panose="05050102010706020507" pitchFamily="18" charset="2"/>
              </a:rPr>
              <a:t>b </a:t>
            </a:r>
            <a:r>
              <a:rPr lang="en-US" altLang="en-US" sz="1900">
                <a:solidFill>
                  <a:srgbClr val="FF3300"/>
                </a:solidFill>
              </a:rPr>
              <a:t>=</a:t>
            </a:r>
            <a:r>
              <a:rPr lang="en-US" altLang="en-US" sz="1900" b="1">
                <a:solidFill>
                  <a:srgbClr val="FF3300"/>
                </a:solidFill>
              </a:rPr>
              <a:t> 0.5 and the dielectric constants of the constituents </a:t>
            </a:r>
            <a:r>
              <a:rPr lang="en-US" altLang="en-US" sz="1900" b="1">
                <a:solidFill>
                  <a:srgbClr val="FF3300"/>
                </a:solidFill>
                <a:latin typeface="Symbol" panose="05050102010706020507" pitchFamily="18" charset="2"/>
              </a:rPr>
              <a:t>e</a:t>
            </a:r>
            <a:r>
              <a:rPr lang="en-US" altLang="en-US" sz="1900" b="1" baseline="-25000">
                <a:solidFill>
                  <a:srgbClr val="FF3300"/>
                </a:solidFill>
              </a:rPr>
              <a:t>w </a:t>
            </a:r>
            <a:r>
              <a:rPr lang="en-US" altLang="en-US" sz="1900">
                <a:solidFill>
                  <a:srgbClr val="FF3300"/>
                </a:solidFill>
              </a:rPr>
              <a:t>=</a:t>
            </a:r>
            <a:r>
              <a:rPr lang="en-US" altLang="en-US" sz="1900" b="1">
                <a:solidFill>
                  <a:srgbClr val="FF3300"/>
                </a:solidFill>
              </a:rPr>
              <a:t> 81; </a:t>
            </a:r>
            <a:r>
              <a:rPr lang="en-US" altLang="en-US" sz="1900" b="1">
                <a:solidFill>
                  <a:srgbClr val="FF3300"/>
                </a:solidFill>
                <a:latin typeface="Symbol" panose="05050102010706020507" pitchFamily="18" charset="2"/>
              </a:rPr>
              <a:t>e</a:t>
            </a:r>
            <a:r>
              <a:rPr lang="en-US" altLang="en-US" sz="1900" b="1" baseline="-25000">
                <a:solidFill>
                  <a:srgbClr val="FF3300"/>
                </a:solidFill>
              </a:rPr>
              <a:t>s </a:t>
            </a:r>
            <a:r>
              <a:rPr lang="en-US" altLang="en-US" sz="1900">
                <a:solidFill>
                  <a:srgbClr val="FF3300"/>
                </a:solidFill>
              </a:rPr>
              <a:t>=</a:t>
            </a:r>
            <a:r>
              <a:rPr lang="en-US" altLang="en-US" sz="1900" b="1">
                <a:solidFill>
                  <a:srgbClr val="FF3300"/>
                </a:solidFill>
              </a:rPr>
              <a:t> 4; and </a:t>
            </a:r>
            <a:r>
              <a:rPr lang="en-US" altLang="en-US" sz="1900" b="1">
                <a:solidFill>
                  <a:srgbClr val="FF3300"/>
                </a:solidFill>
                <a:latin typeface="Symbol" panose="05050102010706020507" pitchFamily="18" charset="2"/>
              </a:rPr>
              <a:t>e</a:t>
            </a:r>
            <a:r>
              <a:rPr lang="en-US" altLang="en-US" sz="1900" b="1" baseline="-25000">
                <a:solidFill>
                  <a:srgbClr val="FF3300"/>
                </a:solidFill>
              </a:rPr>
              <a:t>a </a:t>
            </a:r>
            <a:r>
              <a:rPr lang="en-US" altLang="en-US" sz="1900">
                <a:solidFill>
                  <a:srgbClr val="FF3300"/>
                </a:solidFill>
              </a:rPr>
              <a:t>=</a:t>
            </a:r>
            <a:r>
              <a:rPr lang="en-US" altLang="en-US" sz="1900" b="1">
                <a:solidFill>
                  <a:srgbClr val="FF3300"/>
                </a:solidFill>
              </a:rPr>
              <a:t> 1 to solve the mixing model for the bulk dielectric constant </a:t>
            </a:r>
            <a:r>
              <a:rPr lang="en-US" altLang="en-US" sz="1900" b="1">
                <a:solidFill>
                  <a:srgbClr val="FF3300"/>
                </a:solidFill>
                <a:latin typeface="Symbol" panose="05050102010706020507" pitchFamily="18" charset="2"/>
              </a:rPr>
              <a:t>e</a:t>
            </a:r>
            <a:r>
              <a:rPr lang="en-US" altLang="en-US" sz="1900" b="1" baseline="-25000">
                <a:solidFill>
                  <a:srgbClr val="FF3300"/>
                </a:solidFill>
              </a:rPr>
              <a:t>b</a:t>
            </a:r>
            <a:r>
              <a:rPr lang="en-US" altLang="en-US" sz="1900" b="1">
                <a:solidFill>
                  <a:srgbClr val="FF3300"/>
                </a:solidFil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199A2678-00B2-4C1A-A04C-B8F09053B010}"/>
              </a:ext>
            </a:extLst>
          </p:cNvPr>
          <p:cNvSpPr>
            <a:spLocks noChangeArrowheads="1"/>
          </p:cNvSpPr>
          <p:nvPr/>
        </p:nvSpPr>
        <p:spPr bwMode="auto">
          <a:xfrm>
            <a:off x="1143000" y="2209800"/>
            <a:ext cx="6781800" cy="838200"/>
          </a:xfrm>
          <a:prstGeom prst="rect">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2979" name="Rectangle 3">
            <a:extLst>
              <a:ext uri="{FF2B5EF4-FFF2-40B4-BE49-F238E27FC236}">
                <a16:creationId xmlns:a16="http://schemas.microsoft.com/office/drawing/2014/main" id="{27107A41-760E-4DB7-9D69-106857EA9D07}"/>
              </a:ext>
            </a:extLst>
          </p:cNvPr>
          <p:cNvSpPr>
            <a:spLocks noGrp="1" noChangeArrowheads="1"/>
          </p:cNvSpPr>
          <p:nvPr>
            <p:ph type="title"/>
          </p:nvPr>
        </p:nvSpPr>
        <p:spPr>
          <a:xfrm>
            <a:off x="762000" y="152400"/>
            <a:ext cx="7772400" cy="579438"/>
          </a:xfrm>
        </p:spPr>
        <p:txBody>
          <a:bodyPr/>
          <a:lstStyle/>
          <a:p>
            <a:r>
              <a:rPr lang="en-US" altLang="en-US" sz="2800">
                <a:latin typeface="Comic Sans MS" panose="030F0702030302020204" pitchFamily="66" charset="0"/>
              </a:rPr>
              <a:t>Mixing Model: Example</a:t>
            </a:r>
          </a:p>
        </p:txBody>
      </p:sp>
      <p:graphicFrame>
        <p:nvGraphicFramePr>
          <p:cNvPr id="382980" name="Object 4">
            <a:extLst>
              <a:ext uri="{FF2B5EF4-FFF2-40B4-BE49-F238E27FC236}">
                <a16:creationId xmlns:a16="http://schemas.microsoft.com/office/drawing/2014/main" id="{94D3ADDC-0F93-4336-8B85-3208976F91AF}"/>
              </a:ext>
            </a:extLst>
          </p:cNvPr>
          <p:cNvGraphicFramePr>
            <a:graphicFrameLocks noGrp="1" noChangeAspect="1"/>
          </p:cNvGraphicFramePr>
          <p:nvPr>
            <p:ph sz="half" idx="1"/>
          </p:nvPr>
        </p:nvGraphicFramePr>
        <p:xfrm>
          <a:off x="1362075" y="2154238"/>
          <a:ext cx="6343650" cy="642937"/>
        </p:xfrm>
        <a:graphic>
          <a:graphicData uri="http://schemas.openxmlformats.org/presentationml/2006/ole">
            <mc:AlternateContent xmlns:mc="http://schemas.openxmlformats.org/markup-compatibility/2006">
              <mc:Choice xmlns:v="urn:schemas-microsoft-com:vml" Requires="v">
                <p:oleObj spid="_x0000_s383001" name="Equation" r:id="rId3" imgW="4012920" imgH="406080" progId="Equation.3">
                  <p:embed/>
                </p:oleObj>
              </mc:Choice>
              <mc:Fallback>
                <p:oleObj name="Equation" r:id="rId3" imgW="4012920" imgH="406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2154238"/>
                        <a:ext cx="634365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2981" name="Rectangle 5">
            <a:extLst>
              <a:ext uri="{FF2B5EF4-FFF2-40B4-BE49-F238E27FC236}">
                <a16:creationId xmlns:a16="http://schemas.microsoft.com/office/drawing/2014/main" id="{EEC95BA2-E2F0-4489-8AC0-6F891358B20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2" name="Rectangle 6">
            <a:extLst>
              <a:ext uri="{FF2B5EF4-FFF2-40B4-BE49-F238E27FC236}">
                <a16:creationId xmlns:a16="http://schemas.microsoft.com/office/drawing/2014/main" id="{825C5F6A-3D0E-480B-AFB7-EEED3CD291B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3" name="Rectangle 7">
            <a:extLst>
              <a:ext uri="{FF2B5EF4-FFF2-40B4-BE49-F238E27FC236}">
                <a16:creationId xmlns:a16="http://schemas.microsoft.com/office/drawing/2014/main" id="{B4BB4409-8189-4128-A980-FAE36D25686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4" name="Rectangle 8">
            <a:extLst>
              <a:ext uri="{FF2B5EF4-FFF2-40B4-BE49-F238E27FC236}">
                <a16:creationId xmlns:a16="http://schemas.microsoft.com/office/drawing/2014/main" id="{C92EEEFA-6418-495B-BA5E-408FDA6A9F2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5" name="Rectangle 9">
            <a:extLst>
              <a:ext uri="{FF2B5EF4-FFF2-40B4-BE49-F238E27FC236}">
                <a16:creationId xmlns:a16="http://schemas.microsoft.com/office/drawing/2014/main" id="{BB96421C-4920-4898-9713-1F2C89B6C31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6" name="Rectangle 10">
            <a:extLst>
              <a:ext uri="{FF2B5EF4-FFF2-40B4-BE49-F238E27FC236}">
                <a16:creationId xmlns:a16="http://schemas.microsoft.com/office/drawing/2014/main" id="{B506F573-BFC0-4946-AE7F-A6863DCD26B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7" name="Rectangle 11">
            <a:extLst>
              <a:ext uri="{FF2B5EF4-FFF2-40B4-BE49-F238E27FC236}">
                <a16:creationId xmlns:a16="http://schemas.microsoft.com/office/drawing/2014/main" id="{B13A91AE-A8DB-4B52-9E3A-9CA91770E21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8" name="Rectangle 12">
            <a:extLst>
              <a:ext uri="{FF2B5EF4-FFF2-40B4-BE49-F238E27FC236}">
                <a16:creationId xmlns:a16="http://schemas.microsoft.com/office/drawing/2014/main" id="{3D05AE40-C63D-431D-A25B-2AD6367D45A4}"/>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89" name="Rectangle 13">
            <a:extLst>
              <a:ext uri="{FF2B5EF4-FFF2-40B4-BE49-F238E27FC236}">
                <a16:creationId xmlns:a16="http://schemas.microsoft.com/office/drawing/2014/main" id="{8C905AB9-E378-410B-949F-638C577A674E}"/>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0" name="Rectangle 14">
            <a:extLst>
              <a:ext uri="{FF2B5EF4-FFF2-40B4-BE49-F238E27FC236}">
                <a16:creationId xmlns:a16="http://schemas.microsoft.com/office/drawing/2014/main" id="{BB30C541-A5F5-4630-9092-1A04EF5A798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1" name="Rectangle 15">
            <a:extLst>
              <a:ext uri="{FF2B5EF4-FFF2-40B4-BE49-F238E27FC236}">
                <a16:creationId xmlns:a16="http://schemas.microsoft.com/office/drawing/2014/main" id="{26AF3D52-4D6A-4E02-9940-D3C13AE4A109}"/>
              </a:ext>
            </a:extLst>
          </p:cNvPr>
          <p:cNvSpPr>
            <a:spLocks noChangeArrowheads="1"/>
          </p:cNvSpPr>
          <p:nvPr/>
        </p:nvSpPr>
        <p:spPr bwMode="auto">
          <a:xfrm>
            <a:off x="0" y="388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2" name="Rectangle 16">
            <a:extLst>
              <a:ext uri="{FF2B5EF4-FFF2-40B4-BE49-F238E27FC236}">
                <a16:creationId xmlns:a16="http://schemas.microsoft.com/office/drawing/2014/main" id="{359246D2-2ABA-47FF-AD4C-665AB7BB21A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3" name="Text Box 17">
            <a:extLst>
              <a:ext uri="{FF2B5EF4-FFF2-40B4-BE49-F238E27FC236}">
                <a16:creationId xmlns:a16="http://schemas.microsoft.com/office/drawing/2014/main" id="{612A8FB7-F7F6-4E88-9733-42E1DB8B1DFC}"/>
              </a:ext>
            </a:extLst>
          </p:cNvPr>
          <p:cNvSpPr txBox="1">
            <a:spLocks noChangeArrowheads="1"/>
          </p:cNvSpPr>
          <p:nvPr/>
        </p:nvSpPr>
        <p:spPr bwMode="auto">
          <a:xfrm>
            <a:off x="762000" y="946150"/>
            <a:ext cx="822007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t>For ethanol and assuming 25</a:t>
            </a:r>
            <a:r>
              <a:rPr lang="en-US" altLang="en-US" sz="1900" b="1" baseline="30000"/>
              <a:t>o</a:t>
            </a:r>
            <a:r>
              <a:rPr lang="en-US" altLang="en-US" sz="1900" b="1"/>
              <a:t>C we substitute the appropriate dielectric of 24.3 </a:t>
            </a:r>
            <a:r>
              <a:rPr lang="en-US" altLang="en-US" sz="1900" b="1">
                <a:solidFill>
                  <a:srgbClr val="FF3300"/>
                </a:solidFill>
              </a:rPr>
              <a:t>(classnotes table 1</a:t>
            </a:r>
            <a:r>
              <a:rPr lang="en-US" altLang="en-US" sz="1900">
                <a:solidFill>
                  <a:srgbClr val="FF3300"/>
                </a:solidFill>
              </a:rPr>
              <a:t>-</a:t>
            </a:r>
            <a:r>
              <a:rPr lang="en-US" altLang="en-US" sz="1900" b="1">
                <a:solidFill>
                  <a:srgbClr val="FF3300"/>
                </a:solidFill>
              </a:rPr>
              <a:t>4)</a:t>
            </a:r>
            <a:r>
              <a:rPr lang="en-US" altLang="en-US" sz="1900" b="1"/>
              <a:t> into the mixing model and receive:</a:t>
            </a:r>
          </a:p>
        </p:txBody>
      </p:sp>
      <p:sp>
        <p:nvSpPr>
          <p:cNvPr id="382994" name="Rectangle 18">
            <a:extLst>
              <a:ext uri="{FF2B5EF4-FFF2-40B4-BE49-F238E27FC236}">
                <a16:creationId xmlns:a16="http://schemas.microsoft.com/office/drawing/2014/main" id="{FF9BADFD-5B26-4049-BD34-EE2BF007D7A3}"/>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5" name="Rectangle 19">
            <a:extLst>
              <a:ext uri="{FF2B5EF4-FFF2-40B4-BE49-F238E27FC236}">
                <a16:creationId xmlns:a16="http://schemas.microsoft.com/office/drawing/2014/main" id="{282EEF7C-CDF6-4B19-90B9-26D47B8FA224}"/>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2996" name="Text Box 20">
            <a:extLst>
              <a:ext uri="{FF2B5EF4-FFF2-40B4-BE49-F238E27FC236}">
                <a16:creationId xmlns:a16="http://schemas.microsoft.com/office/drawing/2014/main" id="{D19D5B09-FC06-4AED-9136-60E4587447B5}"/>
              </a:ext>
            </a:extLst>
          </p:cNvPr>
          <p:cNvSpPr txBox="1">
            <a:spLocks noChangeArrowheads="1"/>
          </p:cNvSpPr>
          <p:nvPr/>
        </p:nvSpPr>
        <p:spPr bwMode="auto">
          <a:xfrm>
            <a:off x="762000" y="3279775"/>
            <a:ext cx="7991475"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t>Note that because ethanol undergoes relaxation (a change in dielectric constant) within the TDR frequency bandwidth, the apparent dielectric </a:t>
            </a:r>
            <a:r>
              <a:rPr lang="en-US" altLang="en-US" sz="1900" b="1">
                <a:solidFill>
                  <a:srgbClr val="FF3300"/>
                </a:solidFill>
                <a:latin typeface="Symbol" panose="05050102010706020507" pitchFamily="18" charset="2"/>
              </a:rPr>
              <a:t>e</a:t>
            </a:r>
            <a:r>
              <a:rPr lang="en-US" altLang="en-US" sz="1900" b="1" baseline="-25000">
                <a:solidFill>
                  <a:srgbClr val="FF3300"/>
                </a:solidFill>
              </a:rPr>
              <a:t>ethanol</a:t>
            </a:r>
            <a:r>
              <a:rPr lang="en-US" altLang="en-US" sz="1900" b="1"/>
              <a:t> as measured using TDR is closer to </a:t>
            </a:r>
            <a:r>
              <a:rPr lang="en-US" altLang="en-US" sz="1900" b="1">
                <a:solidFill>
                  <a:srgbClr val="FF3300"/>
                </a:solidFill>
              </a:rPr>
              <a:t>16</a:t>
            </a:r>
            <a:r>
              <a:rPr lang="en-US" altLang="en-US" sz="1900" b="1"/>
              <a:t>. This means that some caution is required in attempting to model the apparent bulk dielectric of soils or other complex mixtures based on tabular values of the component dielectric constants.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2FB6F5C0-693C-4F75-A36F-DB0782FEB49F}"/>
              </a:ext>
            </a:extLst>
          </p:cNvPr>
          <p:cNvSpPr>
            <a:spLocks noGrp="1" noChangeArrowheads="1"/>
          </p:cNvSpPr>
          <p:nvPr>
            <p:ph type="title"/>
          </p:nvPr>
        </p:nvSpPr>
        <p:spPr/>
        <p:txBody>
          <a:bodyPr/>
          <a:lstStyle/>
          <a:p>
            <a:r>
              <a:rPr lang="en-US" altLang="en-US" sz="2800">
                <a:latin typeface="Comic Sans MS" panose="030F0702030302020204" pitchFamily="66" charset="0"/>
              </a:rPr>
              <a:t>Limitations of Empirical Relationships</a:t>
            </a:r>
          </a:p>
        </p:txBody>
      </p:sp>
      <p:sp>
        <p:nvSpPr>
          <p:cNvPr id="384003" name="Rectangle 3">
            <a:extLst>
              <a:ext uri="{FF2B5EF4-FFF2-40B4-BE49-F238E27FC236}">
                <a16:creationId xmlns:a16="http://schemas.microsoft.com/office/drawing/2014/main" id="{DF829347-F4D2-4742-A7BA-170A0479D2D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4" name="Rectangle 4">
            <a:extLst>
              <a:ext uri="{FF2B5EF4-FFF2-40B4-BE49-F238E27FC236}">
                <a16:creationId xmlns:a16="http://schemas.microsoft.com/office/drawing/2014/main" id="{F3F19754-A7E7-484E-9E90-365FBCD3D7D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5" name="Rectangle 5">
            <a:extLst>
              <a:ext uri="{FF2B5EF4-FFF2-40B4-BE49-F238E27FC236}">
                <a16:creationId xmlns:a16="http://schemas.microsoft.com/office/drawing/2014/main" id="{AD6580C1-0648-49FF-8A06-6309297AAD48}"/>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6" name="Rectangle 6">
            <a:extLst>
              <a:ext uri="{FF2B5EF4-FFF2-40B4-BE49-F238E27FC236}">
                <a16:creationId xmlns:a16="http://schemas.microsoft.com/office/drawing/2014/main" id="{30EA2D80-D2F3-426F-BCCA-D8882C14013F}"/>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7" name="Rectangle 7">
            <a:extLst>
              <a:ext uri="{FF2B5EF4-FFF2-40B4-BE49-F238E27FC236}">
                <a16:creationId xmlns:a16="http://schemas.microsoft.com/office/drawing/2014/main" id="{89E253AE-1045-4306-AFB0-1763ADCA677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8" name="Rectangle 8">
            <a:extLst>
              <a:ext uri="{FF2B5EF4-FFF2-40B4-BE49-F238E27FC236}">
                <a16:creationId xmlns:a16="http://schemas.microsoft.com/office/drawing/2014/main" id="{8F0CE6E0-9F42-4142-8FB9-82A76853A87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09" name="Rectangle 9">
            <a:extLst>
              <a:ext uri="{FF2B5EF4-FFF2-40B4-BE49-F238E27FC236}">
                <a16:creationId xmlns:a16="http://schemas.microsoft.com/office/drawing/2014/main" id="{03873A3A-E224-4380-BF95-1B942E839EF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0" name="Rectangle 10">
            <a:extLst>
              <a:ext uri="{FF2B5EF4-FFF2-40B4-BE49-F238E27FC236}">
                <a16:creationId xmlns:a16="http://schemas.microsoft.com/office/drawing/2014/main" id="{367D94B8-BBA7-421A-BC13-3B4056E89BB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1" name="Rectangle 11">
            <a:extLst>
              <a:ext uri="{FF2B5EF4-FFF2-40B4-BE49-F238E27FC236}">
                <a16:creationId xmlns:a16="http://schemas.microsoft.com/office/drawing/2014/main" id="{5DB3AAE0-D90E-4344-992C-16BD740B3AFE}"/>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2" name="Rectangle 12">
            <a:extLst>
              <a:ext uri="{FF2B5EF4-FFF2-40B4-BE49-F238E27FC236}">
                <a16:creationId xmlns:a16="http://schemas.microsoft.com/office/drawing/2014/main" id="{03FA04C7-3F77-4431-AAE0-B83757BDFDA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3" name="Rectangle 13">
            <a:extLst>
              <a:ext uri="{FF2B5EF4-FFF2-40B4-BE49-F238E27FC236}">
                <a16:creationId xmlns:a16="http://schemas.microsoft.com/office/drawing/2014/main" id="{47C0803E-2D08-4ACE-B36D-358795F4F8A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5" name="Rectangle 15">
            <a:extLst>
              <a:ext uri="{FF2B5EF4-FFF2-40B4-BE49-F238E27FC236}">
                <a16:creationId xmlns:a16="http://schemas.microsoft.com/office/drawing/2014/main" id="{64363FE9-C7E0-403C-BC00-2500DA8493E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4017" name="Text Box 17">
            <a:extLst>
              <a:ext uri="{FF2B5EF4-FFF2-40B4-BE49-F238E27FC236}">
                <a16:creationId xmlns:a16="http://schemas.microsoft.com/office/drawing/2014/main" id="{CE933465-1048-4AD8-BFAD-8CE5B4D5B718}"/>
              </a:ext>
            </a:extLst>
          </p:cNvPr>
          <p:cNvSpPr txBox="1">
            <a:spLocks noChangeArrowheads="1"/>
          </p:cNvSpPr>
          <p:nvPr/>
        </p:nvSpPr>
        <p:spPr bwMode="auto">
          <a:xfrm>
            <a:off x="609600" y="4343400"/>
            <a:ext cx="8067675" cy="195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700" b="1"/>
              <a:t>Topp’s model works well for the water content range &lt; 0.5 m</a:t>
            </a:r>
            <a:r>
              <a:rPr lang="en-US" altLang="en-US" sz="1700" b="1" baseline="30000"/>
              <a:t>3</a:t>
            </a:r>
            <a:r>
              <a:rPr lang="en-US" altLang="en-US" sz="1700" b="1"/>
              <a:t>/m</a:t>
            </a:r>
            <a:r>
              <a:rPr lang="en-US" altLang="en-US" sz="1700" b="1" baseline="30000"/>
              <a:t>3</a:t>
            </a:r>
            <a:r>
              <a:rPr lang="en-US" altLang="en-US" sz="1700" b="1"/>
              <a:t> which covers the entire range of interest in most mineral soils.</a:t>
            </a:r>
            <a:br>
              <a:rPr lang="en-US" altLang="en-US" sz="1700" b="1"/>
            </a:br>
            <a:br>
              <a:rPr lang="en-US" altLang="en-US" sz="600" b="1">
                <a:solidFill>
                  <a:schemeClr val="accent2"/>
                </a:solidFill>
              </a:rPr>
            </a:br>
            <a:r>
              <a:rPr lang="en-US" altLang="en-US" sz="1700" b="1">
                <a:solidFill>
                  <a:srgbClr val="CC0000"/>
                </a:solidFill>
              </a:rPr>
              <a:t>However it fails for water contents higher 0.5 m</a:t>
            </a:r>
            <a:r>
              <a:rPr lang="en-US" altLang="en-US" sz="1700" b="1" baseline="30000">
                <a:solidFill>
                  <a:srgbClr val="CC0000"/>
                </a:solidFill>
              </a:rPr>
              <a:t>3</a:t>
            </a:r>
            <a:r>
              <a:rPr lang="en-US" altLang="en-US" sz="1700" b="1">
                <a:solidFill>
                  <a:srgbClr val="CC0000"/>
                </a:solidFill>
              </a:rPr>
              <a:t>/m</a:t>
            </a:r>
            <a:r>
              <a:rPr lang="en-US" altLang="en-US" sz="1700" b="1" baseline="30000">
                <a:solidFill>
                  <a:srgbClr val="CC0000"/>
                </a:solidFill>
              </a:rPr>
              <a:t>3</a:t>
            </a:r>
            <a:r>
              <a:rPr lang="en-US" altLang="en-US" sz="1700" b="1">
                <a:solidFill>
                  <a:srgbClr val="CC0000"/>
                </a:solidFill>
              </a:rPr>
              <a:t>,and for organic soils or mineral soils with high organic matter content.</a:t>
            </a:r>
          </a:p>
          <a:p>
            <a:pPr eaLnBrk="0" hangingPunct="0"/>
            <a:endParaRPr lang="en-US" altLang="en-US" sz="600" b="1">
              <a:solidFill>
                <a:srgbClr val="CC0000"/>
              </a:solidFill>
            </a:endParaRPr>
          </a:p>
          <a:p>
            <a:pPr eaLnBrk="0" hangingPunct="0"/>
            <a:r>
              <a:rPr lang="en-US" altLang="en-US" sz="1700" b="1"/>
              <a:t>The physically based models work well for the entire range of water content.</a:t>
            </a:r>
            <a:br>
              <a:rPr lang="en-US" altLang="en-US" sz="1700" b="1"/>
            </a:br>
            <a:br>
              <a:rPr lang="en-US" altLang="en-US" sz="800" b="1">
                <a:solidFill>
                  <a:srgbClr val="0033CC"/>
                </a:solidFill>
              </a:rPr>
            </a:br>
            <a:r>
              <a:rPr lang="en-US" altLang="en-US" sz="1700" b="1">
                <a:solidFill>
                  <a:srgbClr val="CC0000"/>
                </a:solidFill>
              </a:rPr>
              <a:t>Note that the soil’s porosity needs to be known!</a:t>
            </a:r>
            <a:r>
              <a:rPr lang="en-US" altLang="en-US" sz="1700" b="1">
                <a:solidFill>
                  <a:srgbClr val="0033CC"/>
                </a:solidFill>
              </a:rPr>
              <a:t>   </a:t>
            </a:r>
          </a:p>
        </p:txBody>
      </p:sp>
      <p:pic>
        <p:nvPicPr>
          <p:cNvPr id="384018" name="Picture 18">
            <a:extLst>
              <a:ext uri="{FF2B5EF4-FFF2-40B4-BE49-F238E27FC236}">
                <a16:creationId xmlns:a16="http://schemas.microsoft.com/office/drawing/2014/main" id="{279634B5-EFE0-411F-A9C5-3827AC2312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936"/>
          <a:stretch>
            <a:fillRect/>
          </a:stretch>
        </p:blipFill>
        <p:spPr>
          <a:xfrm>
            <a:off x="457200" y="1143000"/>
            <a:ext cx="4724400" cy="2990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4020" name="Picture 20">
            <a:extLst>
              <a:ext uri="{FF2B5EF4-FFF2-40B4-BE49-F238E27FC236}">
                <a16:creationId xmlns:a16="http://schemas.microsoft.com/office/drawing/2014/main" id="{F61B156C-D793-40F1-80F3-83FE75B1F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914400"/>
            <a:ext cx="2686050" cy="32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a:extLst>
              <a:ext uri="{FF2B5EF4-FFF2-40B4-BE49-F238E27FC236}">
                <a16:creationId xmlns:a16="http://schemas.microsoft.com/office/drawing/2014/main" id="{C3CBF7D1-D47F-4191-833B-0834609A3494}"/>
              </a:ext>
            </a:extLst>
          </p:cNvPr>
          <p:cNvSpPr>
            <a:spLocks noGrp="1" noChangeArrowheads="1"/>
          </p:cNvSpPr>
          <p:nvPr>
            <p:ph type="title"/>
          </p:nvPr>
        </p:nvSpPr>
        <p:spPr>
          <a:xfrm>
            <a:off x="838200" y="152400"/>
            <a:ext cx="7772400" cy="579438"/>
          </a:xfrm>
        </p:spPr>
        <p:txBody>
          <a:bodyPr/>
          <a:lstStyle/>
          <a:p>
            <a:r>
              <a:rPr lang="en-US" altLang="en-US">
                <a:latin typeface="Comic Sans MS" panose="030F0702030302020204" pitchFamily="66" charset="0"/>
              </a:rPr>
              <a:t>Limitations of TDR</a:t>
            </a:r>
          </a:p>
        </p:txBody>
      </p:sp>
      <p:sp>
        <p:nvSpPr>
          <p:cNvPr id="385027" name="Rectangle 3">
            <a:extLst>
              <a:ext uri="{FF2B5EF4-FFF2-40B4-BE49-F238E27FC236}">
                <a16:creationId xmlns:a16="http://schemas.microsoft.com/office/drawing/2014/main" id="{1FD5B85C-01A8-4572-84FD-B610E3215BB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28" name="Rectangle 4">
            <a:extLst>
              <a:ext uri="{FF2B5EF4-FFF2-40B4-BE49-F238E27FC236}">
                <a16:creationId xmlns:a16="http://schemas.microsoft.com/office/drawing/2014/main" id="{63565608-E543-443C-93E9-A49031AB879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29" name="Rectangle 5">
            <a:extLst>
              <a:ext uri="{FF2B5EF4-FFF2-40B4-BE49-F238E27FC236}">
                <a16:creationId xmlns:a16="http://schemas.microsoft.com/office/drawing/2014/main" id="{9E384EA5-419E-469B-B37B-E52C77C5813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0" name="Rectangle 6">
            <a:extLst>
              <a:ext uri="{FF2B5EF4-FFF2-40B4-BE49-F238E27FC236}">
                <a16:creationId xmlns:a16="http://schemas.microsoft.com/office/drawing/2014/main" id="{9C1A4017-5E41-4FDA-852B-3803DB7D4C17}"/>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1" name="Rectangle 7">
            <a:extLst>
              <a:ext uri="{FF2B5EF4-FFF2-40B4-BE49-F238E27FC236}">
                <a16:creationId xmlns:a16="http://schemas.microsoft.com/office/drawing/2014/main" id="{7ED1BD07-9A4C-4B8D-BC34-79097965049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2" name="Rectangle 8">
            <a:extLst>
              <a:ext uri="{FF2B5EF4-FFF2-40B4-BE49-F238E27FC236}">
                <a16:creationId xmlns:a16="http://schemas.microsoft.com/office/drawing/2014/main" id="{71156EFB-946B-44F5-A2B9-DBD13DF1505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3" name="Rectangle 9">
            <a:extLst>
              <a:ext uri="{FF2B5EF4-FFF2-40B4-BE49-F238E27FC236}">
                <a16:creationId xmlns:a16="http://schemas.microsoft.com/office/drawing/2014/main" id="{5C9F31F5-6927-49AE-AB44-D85C17FB4E7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4" name="Rectangle 10">
            <a:extLst>
              <a:ext uri="{FF2B5EF4-FFF2-40B4-BE49-F238E27FC236}">
                <a16:creationId xmlns:a16="http://schemas.microsoft.com/office/drawing/2014/main" id="{AFE7F5BB-3045-4EF6-A2E9-A4F12C98277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5" name="Rectangle 11">
            <a:extLst>
              <a:ext uri="{FF2B5EF4-FFF2-40B4-BE49-F238E27FC236}">
                <a16:creationId xmlns:a16="http://schemas.microsoft.com/office/drawing/2014/main" id="{1BF694B9-9C99-45F4-A6B2-DDA4A165EE58}"/>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6" name="Rectangle 12">
            <a:extLst>
              <a:ext uri="{FF2B5EF4-FFF2-40B4-BE49-F238E27FC236}">
                <a16:creationId xmlns:a16="http://schemas.microsoft.com/office/drawing/2014/main" id="{68491F44-A8DA-4CEE-A9B0-85172A70661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7" name="Rectangle 13">
            <a:extLst>
              <a:ext uri="{FF2B5EF4-FFF2-40B4-BE49-F238E27FC236}">
                <a16:creationId xmlns:a16="http://schemas.microsoft.com/office/drawing/2014/main" id="{E627B759-BC8F-4966-83A0-8AC1FE89389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8" name="Rectangle 14">
            <a:extLst>
              <a:ext uri="{FF2B5EF4-FFF2-40B4-BE49-F238E27FC236}">
                <a16:creationId xmlns:a16="http://schemas.microsoft.com/office/drawing/2014/main" id="{067E419E-8CC2-430D-AC34-BD7DF8B5A03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5039" name="Rectangle 15">
            <a:extLst>
              <a:ext uri="{FF2B5EF4-FFF2-40B4-BE49-F238E27FC236}">
                <a16:creationId xmlns:a16="http://schemas.microsoft.com/office/drawing/2014/main" id="{176DAA56-BBD0-4631-B0C1-342AE315F073}"/>
              </a:ext>
            </a:extLst>
          </p:cNvPr>
          <p:cNvSpPr>
            <a:spLocks noChangeArrowheads="1"/>
          </p:cNvSpPr>
          <p:nvPr/>
        </p:nvSpPr>
        <p:spPr bwMode="auto">
          <a:xfrm>
            <a:off x="914400" y="1295400"/>
            <a:ext cx="754380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defRPr>
                <a:solidFill>
                  <a:schemeClr val="tx1"/>
                </a:solidFill>
                <a:latin typeface="Arial" panose="020B0604020202020204" pitchFamily="34" charset="0"/>
              </a:defRPr>
            </a:lvl1pPr>
            <a:lvl2pPr marL="977900" indent="-457200">
              <a:defRPr>
                <a:solidFill>
                  <a:schemeClr val="tx1"/>
                </a:solidFill>
                <a:latin typeface="Arial" panose="020B0604020202020204" pitchFamily="34" charset="0"/>
              </a:defRPr>
            </a:lvl2pPr>
            <a:lvl3pPr marL="1549400" indent="-457200">
              <a:defRPr>
                <a:solidFill>
                  <a:schemeClr val="tx1"/>
                </a:solidFill>
                <a:latin typeface="Arial" panose="020B0604020202020204" pitchFamily="34" charset="0"/>
              </a:defRPr>
            </a:lvl3pPr>
            <a:lvl4pPr marL="2120900" indent="-457200">
              <a:defRPr>
                <a:solidFill>
                  <a:schemeClr val="tx1"/>
                </a:solidFill>
                <a:latin typeface="Arial" panose="020B0604020202020204" pitchFamily="34" charset="0"/>
              </a:defRPr>
            </a:lvl4pPr>
            <a:lvl5pPr marL="2692400" indent="-457200">
              <a:defRPr>
                <a:solidFill>
                  <a:schemeClr val="tx1"/>
                </a:solidFill>
                <a:latin typeface="Arial" panose="020B0604020202020204" pitchFamily="34" charset="0"/>
              </a:defRPr>
            </a:lvl5pPr>
            <a:lvl6pPr marL="3149600" indent="-457200" fontAlgn="base">
              <a:spcBef>
                <a:spcPct val="0"/>
              </a:spcBef>
              <a:spcAft>
                <a:spcPct val="0"/>
              </a:spcAft>
              <a:defRPr>
                <a:solidFill>
                  <a:schemeClr val="tx1"/>
                </a:solidFill>
                <a:latin typeface="Arial" panose="020B0604020202020204" pitchFamily="34" charset="0"/>
              </a:defRPr>
            </a:lvl6pPr>
            <a:lvl7pPr marL="3606800" indent="-457200" fontAlgn="base">
              <a:spcBef>
                <a:spcPct val="0"/>
              </a:spcBef>
              <a:spcAft>
                <a:spcPct val="0"/>
              </a:spcAft>
              <a:defRPr>
                <a:solidFill>
                  <a:schemeClr val="tx1"/>
                </a:solidFill>
                <a:latin typeface="Arial" panose="020B0604020202020204" pitchFamily="34" charset="0"/>
              </a:defRPr>
            </a:lvl7pPr>
            <a:lvl8pPr marL="4064000" indent="-457200" fontAlgn="base">
              <a:spcBef>
                <a:spcPct val="0"/>
              </a:spcBef>
              <a:spcAft>
                <a:spcPct val="0"/>
              </a:spcAft>
              <a:defRPr>
                <a:solidFill>
                  <a:schemeClr val="tx1"/>
                </a:solidFill>
                <a:latin typeface="Arial" panose="020B0604020202020204" pitchFamily="34" charset="0"/>
              </a:defRPr>
            </a:lvl8pPr>
            <a:lvl9pPr marL="4521200" indent="-457200" fontAlgn="base">
              <a:spcBef>
                <a:spcPct val="0"/>
              </a:spcBef>
              <a:spcAft>
                <a:spcPct val="0"/>
              </a:spcAft>
              <a:defRPr>
                <a:solidFill>
                  <a:schemeClr val="tx1"/>
                </a:solidFill>
                <a:latin typeface="Arial" panose="020B0604020202020204" pitchFamily="34" charset="0"/>
              </a:defRPr>
            </a:lvl9pPr>
          </a:lstStyle>
          <a:p>
            <a:pPr>
              <a:spcBef>
                <a:spcPct val="20000"/>
              </a:spcBef>
              <a:spcAft>
                <a:spcPct val="20000"/>
              </a:spcAft>
              <a:buClr>
                <a:srgbClr val="FF3300"/>
              </a:buClr>
              <a:buFont typeface="CommonBullets" pitchFamily="34" charset="2"/>
              <a:buNone/>
            </a:pPr>
            <a:endParaRPr lang="en-US" altLang="en-US" sz="1900" b="1" u="sng"/>
          </a:p>
          <a:p>
            <a:pPr>
              <a:spcBef>
                <a:spcPct val="20000"/>
              </a:spcBef>
              <a:spcAft>
                <a:spcPct val="20000"/>
              </a:spcAft>
              <a:buClr>
                <a:srgbClr val="CC0000"/>
              </a:buClr>
              <a:buSzPct val="125000"/>
              <a:buFontTx/>
              <a:buChar char="•"/>
            </a:pPr>
            <a:r>
              <a:rPr lang="en-US" altLang="en-US" sz="1900" b="1">
                <a:solidFill>
                  <a:srgbClr val="CC0000"/>
                </a:solidFill>
              </a:rPr>
              <a:t>Relatively expensive equipment </a:t>
            </a:r>
            <a:br>
              <a:rPr lang="en-US" altLang="en-US" sz="1900" b="1">
                <a:solidFill>
                  <a:srgbClr val="CC0000"/>
                </a:solidFill>
              </a:rPr>
            </a:br>
            <a:endParaRPr lang="en-US" altLang="en-US" sz="1900" b="1">
              <a:solidFill>
                <a:srgbClr val="CC0000"/>
              </a:solidFill>
            </a:endParaRPr>
          </a:p>
          <a:p>
            <a:pPr>
              <a:spcBef>
                <a:spcPct val="20000"/>
              </a:spcBef>
              <a:spcAft>
                <a:spcPct val="20000"/>
              </a:spcAft>
              <a:buClr>
                <a:srgbClr val="CC0000"/>
              </a:buClr>
              <a:buSzPct val="125000"/>
              <a:buFontTx/>
              <a:buChar char="•"/>
            </a:pPr>
            <a:r>
              <a:rPr lang="en-US" altLang="en-US" sz="1900" b="1">
                <a:solidFill>
                  <a:srgbClr val="CC0000"/>
                </a:solidFill>
              </a:rPr>
              <a:t>Limited applicability under highly saline conditions, due to signal attenuation. </a:t>
            </a:r>
            <a:br>
              <a:rPr lang="en-US" altLang="en-US" sz="1900" b="1">
                <a:solidFill>
                  <a:srgbClr val="CC0000"/>
                </a:solidFill>
              </a:rPr>
            </a:br>
            <a:endParaRPr lang="en-US" altLang="en-US" sz="1900" b="1">
              <a:solidFill>
                <a:srgbClr val="CC0000"/>
              </a:solidFill>
            </a:endParaRPr>
          </a:p>
          <a:p>
            <a:pPr>
              <a:spcBef>
                <a:spcPct val="20000"/>
              </a:spcBef>
              <a:spcAft>
                <a:spcPct val="20000"/>
              </a:spcAft>
              <a:buClr>
                <a:srgbClr val="CC0000"/>
              </a:buClr>
              <a:buSzPct val="125000"/>
              <a:buFontTx/>
              <a:buChar char="•"/>
            </a:pPr>
            <a:r>
              <a:rPr lang="en-US" altLang="en-US" sz="1900" b="1">
                <a:solidFill>
                  <a:srgbClr val="CC0000"/>
                </a:solidFill>
              </a:rPr>
              <a:t>Soil specific calibration may be required for soils having large amount of bound water or high organic matter content (large surface area).</a:t>
            </a:r>
          </a:p>
          <a:p>
            <a:pPr>
              <a:spcBef>
                <a:spcPct val="20000"/>
              </a:spcBef>
              <a:spcAft>
                <a:spcPct val="20000"/>
              </a:spcAft>
              <a:buClr>
                <a:srgbClr val="CC0000"/>
              </a:buClr>
              <a:buSzPct val="125000"/>
              <a:buFontTx/>
              <a:buChar char="•"/>
            </a:pPr>
            <a:r>
              <a:rPr lang="en-US" altLang="en-US" sz="1900" b="1">
                <a:solidFill>
                  <a:srgbClr val="CC0000"/>
                </a:solidFill>
              </a:rPr>
              <a:t>Requires training and experience.</a:t>
            </a:r>
          </a:p>
          <a:p>
            <a:pPr>
              <a:spcBef>
                <a:spcPct val="20000"/>
              </a:spcBef>
              <a:spcAft>
                <a:spcPct val="20000"/>
              </a:spcAft>
              <a:buClr>
                <a:srgbClr val="CC0000"/>
              </a:buClr>
              <a:buSzPct val="125000"/>
              <a:buFontTx/>
              <a:buChar char="•"/>
            </a:pPr>
            <a:r>
              <a:rPr lang="en-US" altLang="en-US" sz="1900" b="1">
                <a:solidFill>
                  <a:srgbClr val="CC0000"/>
                </a:solidFill>
              </a:rPr>
              <a:t>No “off the self” systems (yet)</a:t>
            </a:r>
            <a:endParaRPr lang="en-US" altLang="en-US" sz="1900" b="1">
              <a:solidFill>
                <a:srgbClr val="CC0000"/>
              </a:solidFill>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F8F0272E-952D-4A3E-ABC9-6F159F1BBEB8}"/>
              </a:ext>
            </a:extLst>
          </p:cNvPr>
          <p:cNvSpPr>
            <a:spLocks noGrp="1" noChangeArrowheads="1"/>
          </p:cNvSpPr>
          <p:nvPr>
            <p:ph type="title"/>
          </p:nvPr>
        </p:nvSpPr>
        <p:spPr>
          <a:xfrm>
            <a:off x="762000" y="152400"/>
            <a:ext cx="7772400" cy="579438"/>
          </a:xfrm>
        </p:spPr>
        <p:txBody>
          <a:bodyPr/>
          <a:lstStyle/>
          <a:p>
            <a:r>
              <a:rPr lang="en-US" altLang="en-US" sz="2800"/>
              <a:t>Other electrical w.c. measurement methods</a:t>
            </a:r>
          </a:p>
        </p:txBody>
      </p:sp>
      <p:sp>
        <p:nvSpPr>
          <p:cNvPr id="318467" name="Rectangle 3">
            <a:extLst>
              <a:ext uri="{FF2B5EF4-FFF2-40B4-BE49-F238E27FC236}">
                <a16:creationId xmlns:a16="http://schemas.microsoft.com/office/drawing/2014/main" id="{4C0D92B0-A0A2-4320-81F4-5474F1B8BD4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68" name="Rectangle 4">
            <a:extLst>
              <a:ext uri="{FF2B5EF4-FFF2-40B4-BE49-F238E27FC236}">
                <a16:creationId xmlns:a16="http://schemas.microsoft.com/office/drawing/2014/main" id="{DD441378-DF05-40A9-8B19-F8B363E38C9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69" name="Rectangle 5">
            <a:extLst>
              <a:ext uri="{FF2B5EF4-FFF2-40B4-BE49-F238E27FC236}">
                <a16:creationId xmlns:a16="http://schemas.microsoft.com/office/drawing/2014/main" id="{2E19EC4B-1FEE-499D-955B-0C751BE8B3F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0" name="Rectangle 6">
            <a:extLst>
              <a:ext uri="{FF2B5EF4-FFF2-40B4-BE49-F238E27FC236}">
                <a16:creationId xmlns:a16="http://schemas.microsoft.com/office/drawing/2014/main" id="{9AAC0AF2-5A61-425C-BDE7-71051A1FC99D}"/>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1" name="Rectangle 7">
            <a:extLst>
              <a:ext uri="{FF2B5EF4-FFF2-40B4-BE49-F238E27FC236}">
                <a16:creationId xmlns:a16="http://schemas.microsoft.com/office/drawing/2014/main" id="{053E2DA5-B819-4D4D-9AB8-4D7AE98CEE4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2" name="Rectangle 8">
            <a:extLst>
              <a:ext uri="{FF2B5EF4-FFF2-40B4-BE49-F238E27FC236}">
                <a16:creationId xmlns:a16="http://schemas.microsoft.com/office/drawing/2014/main" id="{008C238F-5DF6-4310-8EAF-AC09AB758FB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3" name="Rectangle 9">
            <a:extLst>
              <a:ext uri="{FF2B5EF4-FFF2-40B4-BE49-F238E27FC236}">
                <a16:creationId xmlns:a16="http://schemas.microsoft.com/office/drawing/2014/main" id="{4C1605DB-7991-4BED-BC26-63782CD6B07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4" name="Rectangle 10">
            <a:extLst>
              <a:ext uri="{FF2B5EF4-FFF2-40B4-BE49-F238E27FC236}">
                <a16:creationId xmlns:a16="http://schemas.microsoft.com/office/drawing/2014/main" id="{4B0791C5-EC8D-46A8-A8E1-777EAEE782F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5" name="Rectangle 11">
            <a:extLst>
              <a:ext uri="{FF2B5EF4-FFF2-40B4-BE49-F238E27FC236}">
                <a16:creationId xmlns:a16="http://schemas.microsoft.com/office/drawing/2014/main" id="{B6D26E2D-E336-42E2-96EE-2F2FE4CCDEDD}"/>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6" name="Rectangle 12">
            <a:extLst>
              <a:ext uri="{FF2B5EF4-FFF2-40B4-BE49-F238E27FC236}">
                <a16:creationId xmlns:a16="http://schemas.microsoft.com/office/drawing/2014/main" id="{A8D1F173-CBA9-4469-BA57-C71BB1E248B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7" name="Rectangle 13">
            <a:extLst>
              <a:ext uri="{FF2B5EF4-FFF2-40B4-BE49-F238E27FC236}">
                <a16:creationId xmlns:a16="http://schemas.microsoft.com/office/drawing/2014/main" id="{594E4B8F-B249-4D12-BD1F-656FF4ADB4E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8" name="Rectangle 14">
            <a:extLst>
              <a:ext uri="{FF2B5EF4-FFF2-40B4-BE49-F238E27FC236}">
                <a16:creationId xmlns:a16="http://schemas.microsoft.com/office/drawing/2014/main" id="{40E5C4C9-34B9-41AE-B83C-9EB77A5B2DF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79" name="Rectangle 15">
            <a:extLst>
              <a:ext uri="{FF2B5EF4-FFF2-40B4-BE49-F238E27FC236}">
                <a16:creationId xmlns:a16="http://schemas.microsoft.com/office/drawing/2014/main" id="{724A7A95-AB5D-463E-9022-A8CAF9D95EC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80" name="Rectangle 16">
            <a:extLst>
              <a:ext uri="{FF2B5EF4-FFF2-40B4-BE49-F238E27FC236}">
                <a16:creationId xmlns:a16="http://schemas.microsoft.com/office/drawing/2014/main" id="{2C092B4A-2330-47EC-A2E1-1D8132F3C2D1}"/>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8481" name="Text Box 17">
            <a:extLst>
              <a:ext uri="{FF2B5EF4-FFF2-40B4-BE49-F238E27FC236}">
                <a16:creationId xmlns:a16="http://schemas.microsoft.com/office/drawing/2014/main" id="{D26D16FA-573B-4F3F-8587-69BFCD007306}"/>
              </a:ext>
            </a:extLst>
          </p:cNvPr>
          <p:cNvSpPr txBox="1">
            <a:spLocks noChangeArrowheads="1"/>
          </p:cNvSpPr>
          <p:nvPr/>
        </p:nvSpPr>
        <p:spPr bwMode="auto">
          <a:xfrm>
            <a:off x="685800" y="838200"/>
            <a:ext cx="8032750"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r>
              <a:rPr lang="en-US" altLang="en-US" sz="1900" b="1" u="sng">
                <a:solidFill>
                  <a:srgbClr val="CC0000"/>
                </a:solidFill>
              </a:rPr>
              <a:t>CAPACITANCE SENSORS</a:t>
            </a:r>
            <a:br>
              <a:rPr lang="en-US" altLang="en-US" sz="1900" b="1">
                <a:solidFill>
                  <a:srgbClr val="CC0000"/>
                </a:solidFill>
              </a:rPr>
            </a:br>
            <a:endParaRPr lang="en-US" altLang="en-US" sz="800" b="1">
              <a:solidFill>
                <a:srgbClr val="CC0000"/>
              </a:solidFill>
            </a:endParaRPr>
          </a:p>
          <a:p>
            <a:pPr eaLnBrk="0" hangingPunct="0"/>
            <a:r>
              <a:rPr lang="en-US" altLang="en-US" sz="1900" b="1"/>
              <a:t>Capacitance sensors use an oscillator to generate an AC field which is applied to the soil in order to detect changes in soil dielectric properties linked to variations in soil water content.</a:t>
            </a:r>
            <a:br>
              <a:rPr lang="en-US" altLang="en-US" sz="1900" b="1"/>
            </a:br>
            <a:br>
              <a:rPr lang="en-US" altLang="en-US" sz="800" b="1"/>
            </a:br>
            <a:r>
              <a:rPr lang="en-US" altLang="en-US" sz="1900" b="1"/>
              <a:t>The sensors essentially consist of a pair of electrodes (either an array of parallel spikes or circular metal rings) which form a capacitor with the soil acting as the dielectric in between. This capacitor works with the oscillator to form a tuned circuit, and changes in soil water content are detected by changes in the operating frequency. </a:t>
            </a:r>
          </a:p>
        </p:txBody>
      </p:sp>
      <p:sp>
        <p:nvSpPr>
          <p:cNvPr id="318482" name="Rectangle 18">
            <a:extLst>
              <a:ext uri="{FF2B5EF4-FFF2-40B4-BE49-F238E27FC236}">
                <a16:creationId xmlns:a16="http://schemas.microsoft.com/office/drawing/2014/main" id="{B1C03698-359B-437D-A1C7-93DCB77573E6}"/>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18483" name="Picture 19">
            <a:extLst>
              <a:ext uri="{FF2B5EF4-FFF2-40B4-BE49-F238E27FC236}">
                <a16:creationId xmlns:a16="http://schemas.microsoft.com/office/drawing/2014/main" id="{D27A08F2-3FC8-4D13-9ECD-3C91D51CEF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71800" y="4191000"/>
            <a:ext cx="4191000" cy="2219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4" name="Picture 24">
            <a:extLst>
              <a:ext uri="{FF2B5EF4-FFF2-40B4-BE49-F238E27FC236}">
                <a16:creationId xmlns:a16="http://schemas.microsoft.com/office/drawing/2014/main" id="{720C6DCD-61F8-40AB-8151-0F8636834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5486400" cy="385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42" name="Rectangle 2">
            <a:extLst>
              <a:ext uri="{FF2B5EF4-FFF2-40B4-BE49-F238E27FC236}">
                <a16:creationId xmlns:a16="http://schemas.microsoft.com/office/drawing/2014/main" id="{99411A9E-E062-42BD-975D-02CB38325338}"/>
              </a:ext>
            </a:extLst>
          </p:cNvPr>
          <p:cNvSpPr>
            <a:spLocks noGrp="1" noChangeArrowheads="1"/>
          </p:cNvSpPr>
          <p:nvPr>
            <p:ph type="title"/>
          </p:nvPr>
        </p:nvSpPr>
        <p:spPr>
          <a:xfrm>
            <a:off x="457200" y="228600"/>
            <a:ext cx="8458200" cy="579438"/>
          </a:xfrm>
        </p:spPr>
        <p:txBody>
          <a:bodyPr/>
          <a:lstStyle/>
          <a:p>
            <a:r>
              <a:rPr lang="en-US" altLang="en-US" sz="2800"/>
              <a:t>Other electrical w.c. measurement methods</a:t>
            </a:r>
          </a:p>
        </p:txBody>
      </p:sp>
      <p:sp>
        <p:nvSpPr>
          <p:cNvPr id="368643" name="Rectangle 3">
            <a:extLst>
              <a:ext uri="{FF2B5EF4-FFF2-40B4-BE49-F238E27FC236}">
                <a16:creationId xmlns:a16="http://schemas.microsoft.com/office/drawing/2014/main" id="{F9A59D3C-B2A4-40FA-BF5E-E4A62BB699C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4" name="Rectangle 4">
            <a:extLst>
              <a:ext uri="{FF2B5EF4-FFF2-40B4-BE49-F238E27FC236}">
                <a16:creationId xmlns:a16="http://schemas.microsoft.com/office/drawing/2014/main" id="{7423C833-B1A4-43CA-91BE-C07B10F15346}"/>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5" name="Rectangle 5">
            <a:extLst>
              <a:ext uri="{FF2B5EF4-FFF2-40B4-BE49-F238E27FC236}">
                <a16:creationId xmlns:a16="http://schemas.microsoft.com/office/drawing/2014/main" id="{6681E73C-729F-48C5-8F87-317100CBC87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6" name="Rectangle 6">
            <a:extLst>
              <a:ext uri="{FF2B5EF4-FFF2-40B4-BE49-F238E27FC236}">
                <a16:creationId xmlns:a16="http://schemas.microsoft.com/office/drawing/2014/main" id="{B0C76AA0-2967-442A-AA56-811BEF9F22F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7" name="Rectangle 7">
            <a:extLst>
              <a:ext uri="{FF2B5EF4-FFF2-40B4-BE49-F238E27FC236}">
                <a16:creationId xmlns:a16="http://schemas.microsoft.com/office/drawing/2014/main" id="{651A6AC4-2C0A-4120-8A3D-4BC624AE4A9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8" name="Rectangle 8">
            <a:extLst>
              <a:ext uri="{FF2B5EF4-FFF2-40B4-BE49-F238E27FC236}">
                <a16:creationId xmlns:a16="http://schemas.microsoft.com/office/drawing/2014/main" id="{717200E3-6B7D-4CAF-B4F3-F241E429E75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49" name="Rectangle 9">
            <a:extLst>
              <a:ext uri="{FF2B5EF4-FFF2-40B4-BE49-F238E27FC236}">
                <a16:creationId xmlns:a16="http://schemas.microsoft.com/office/drawing/2014/main" id="{DD97AF24-7952-4014-996B-1A0D84C6A65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0" name="Rectangle 10">
            <a:extLst>
              <a:ext uri="{FF2B5EF4-FFF2-40B4-BE49-F238E27FC236}">
                <a16:creationId xmlns:a16="http://schemas.microsoft.com/office/drawing/2014/main" id="{F12FA91B-F5C1-4A5B-A809-9F9EEDF01F2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1" name="Rectangle 11">
            <a:extLst>
              <a:ext uri="{FF2B5EF4-FFF2-40B4-BE49-F238E27FC236}">
                <a16:creationId xmlns:a16="http://schemas.microsoft.com/office/drawing/2014/main" id="{56C0BFB1-2CE2-4A84-8A7A-2B4A4CC6D85B}"/>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2" name="Rectangle 12">
            <a:extLst>
              <a:ext uri="{FF2B5EF4-FFF2-40B4-BE49-F238E27FC236}">
                <a16:creationId xmlns:a16="http://schemas.microsoft.com/office/drawing/2014/main" id="{5C5C8AF7-B546-4F7B-B82E-DB85632330C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3" name="Rectangle 13">
            <a:extLst>
              <a:ext uri="{FF2B5EF4-FFF2-40B4-BE49-F238E27FC236}">
                <a16:creationId xmlns:a16="http://schemas.microsoft.com/office/drawing/2014/main" id="{DBAF9C66-36E0-4095-9130-8E094A29C5D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4" name="Rectangle 14">
            <a:extLst>
              <a:ext uri="{FF2B5EF4-FFF2-40B4-BE49-F238E27FC236}">
                <a16:creationId xmlns:a16="http://schemas.microsoft.com/office/drawing/2014/main" id="{4A272EBE-7BBC-4D1B-BB4B-BDE99E79D05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5" name="Rectangle 15">
            <a:extLst>
              <a:ext uri="{FF2B5EF4-FFF2-40B4-BE49-F238E27FC236}">
                <a16:creationId xmlns:a16="http://schemas.microsoft.com/office/drawing/2014/main" id="{D5773F90-D8C3-439A-8BAB-DFFD38EC43F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6" name="Rectangle 16">
            <a:extLst>
              <a:ext uri="{FF2B5EF4-FFF2-40B4-BE49-F238E27FC236}">
                <a16:creationId xmlns:a16="http://schemas.microsoft.com/office/drawing/2014/main" id="{383A8A63-AD8B-4E7E-96F5-2497E8F62507}"/>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8657" name="Text Box 17">
            <a:extLst>
              <a:ext uri="{FF2B5EF4-FFF2-40B4-BE49-F238E27FC236}">
                <a16:creationId xmlns:a16="http://schemas.microsoft.com/office/drawing/2014/main" id="{5A793F39-C5F7-4D06-BB60-A32050368637}"/>
              </a:ext>
            </a:extLst>
          </p:cNvPr>
          <p:cNvSpPr txBox="1">
            <a:spLocks noChangeArrowheads="1"/>
          </p:cNvSpPr>
          <p:nvPr/>
        </p:nvSpPr>
        <p:spPr bwMode="auto">
          <a:xfrm>
            <a:off x="457200" y="838200"/>
            <a:ext cx="8458200"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r>
              <a:rPr lang="en-US" altLang="en-US" sz="1900" b="1" u="sng">
                <a:solidFill>
                  <a:srgbClr val="CC0000"/>
                </a:solidFill>
              </a:rPr>
              <a:t>HydroSense – Transmission line oscillator (TLO)</a:t>
            </a:r>
            <a:endParaRPr lang="en-US" altLang="en-US" sz="800" b="1">
              <a:solidFill>
                <a:srgbClr val="CC0000"/>
              </a:solidFill>
            </a:endParaRPr>
          </a:p>
          <a:p>
            <a:pPr eaLnBrk="0" hangingPunct="0"/>
            <a:r>
              <a:rPr lang="en-US" altLang="en-US" sz="1900" b="1"/>
              <a:t>The Hydrosense probe has electronic components that generate high frequency electromagnetic energy along the length of the probe rods.</a:t>
            </a:r>
            <a:br>
              <a:rPr lang="en-US" altLang="en-US" sz="800" b="1"/>
            </a:br>
            <a:endParaRPr lang="en-US" altLang="en-US" sz="800" b="1"/>
          </a:p>
        </p:txBody>
      </p:sp>
      <p:sp>
        <p:nvSpPr>
          <p:cNvPr id="368658" name="Rectangle 18">
            <a:extLst>
              <a:ext uri="{FF2B5EF4-FFF2-40B4-BE49-F238E27FC236}">
                <a16:creationId xmlns:a16="http://schemas.microsoft.com/office/drawing/2014/main" id="{3304DAA7-8010-4DD0-8144-59E67331D698}"/>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68661" name="Picture 21">
            <a:extLst>
              <a:ext uri="{FF2B5EF4-FFF2-40B4-BE49-F238E27FC236}">
                <a16:creationId xmlns:a16="http://schemas.microsoft.com/office/drawing/2014/main" id="{8CCCBA37-C1EF-4935-8894-FAF6C7623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4213" y="1905000"/>
            <a:ext cx="3198812"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4555D38A-F667-42C9-B1F2-B54A4A02CD2F}"/>
              </a:ext>
            </a:extLst>
          </p:cNvPr>
          <p:cNvSpPr>
            <a:spLocks noGrp="1" noChangeArrowheads="1"/>
          </p:cNvSpPr>
          <p:nvPr>
            <p:ph type="title"/>
          </p:nvPr>
        </p:nvSpPr>
        <p:spPr>
          <a:xfrm>
            <a:off x="762000" y="152400"/>
            <a:ext cx="7924800" cy="579438"/>
          </a:xfrm>
        </p:spPr>
        <p:txBody>
          <a:bodyPr/>
          <a:lstStyle/>
          <a:p>
            <a:r>
              <a:rPr lang="en-US" altLang="en-US" sz="2800"/>
              <a:t>Other electrical w.c. measurement methods</a:t>
            </a:r>
          </a:p>
        </p:txBody>
      </p:sp>
      <p:sp>
        <p:nvSpPr>
          <p:cNvPr id="315395" name="Rectangle 3">
            <a:extLst>
              <a:ext uri="{FF2B5EF4-FFF2-40B4-BE49-F238E27FC236}">
                <a16:creationId xmlns:a16="http://schemas.microsoft.com/office/drawing/2014/main" id="{CCDBA6C2-B556-4D2B-800A-624FFAB6BF9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396" name="Rectangle 4">
            <a:extLst>
              <a:ext uri="{FF2B5EF4-FFF2-40B4-BE49-F238E27FC236}">
                <a16:creationId xmlns:a16="http://schemas.microsoft.com/office/drawing/2014/main" id="{B6BC3ACE-35BA-4B41-AF8A-399F86543DD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397" name="Rectangle 5">
            <a:extLst>
              <a:ext uri="{FF2B5EF4-FFF2-40B4-BE49-F238E27FC236}">
                <a16:creationId xmlns:a16="http://schemas.microsoft.com/office/drawing/2014/main" id="{52A139CD-A3CC-4DEA-A716-1FD11FF13AA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398" name="Rectangle 6">
            <a:extLst>
              <a:ext uri="{FF2B5EF4-FFF2-40B4-BE49-F238E27FC236}">
                <a16:creationId xmlns:a16="http://schemas.microsoft.com/office/drawing/2014/main" id="{6910802B-C6C5-489B-9B32-10618FB210C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399" name="Rectangle 7">
            <a:extLst>
              <a:ext uri="{FF2B5EF4-FFF2-40B4-BE49-F238E27FC236}">
                <a16:creationId xmlns:a16="http://schemas.microsoft.com/office/drawing/2014/main" id="{10F03C84-827D-4855-BFB5-3728B41B518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0" name="Rectangle 8">
            <a:extLst>
              <a:ext uri="{FF2B5EF4-FFF2-40B4-BE49-F238E27FC236}">
                <a16:creationId xmlns:a16="http://schemas.microsoft.com/office/drawing/2014/main" id="{16E2D945-8D07-404E-8128-547E14766EF2}"/>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1" name="Rectangle 9">
            <a:extLst>
              <a:ext uri="{FF2B5EF4-FFF2-40B4-BE49-F238E27FC236}">
                <a16:creationId xmlns:a16="http://schemas.microsoft.com/office/drawing/2014/main" id="{15C557F2-2CBF-4B64-83D1-2F2246B9EC1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2" name="Rectangle 10">
            <a:extLst>
              <a:ext uri="{FF2B5EF4-FFF2-40B4-BE49-F238E27FC236}">
                <a16:creationId xmlns:a16="http://schemas.microsoft.com/office/drawing/2014/main" id="{8E11B2C6-7243-4DB6-8F42-F39CE2242CDA}"/>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3" name="Rectangle 11">
            <a:extLst>
              <a:ext uri="{FF2B5EF4-FFF2-40B4-BE49-F238E27FC236}">
                <a16:creationId xmlns:a16="http://schemas.microsoft.com/office/drawing/2014/main" id="{29BDB753-2DAA-413B-9824-9C91AF6424C6}"/>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4" name="Rectangle 12">
            <a:extLst>
              <a:ext uri="{FF2B5EF4-FFF2-40B4-BE49-F238E27FC236}">
                <a16:creationId xmlns:a16="http://schemas.microsoft.com/office/drawing/2014/main" id="{36627AAE-BCD2-4304-93C5-ABD028B392F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5" name="Rectangle 13">
            <a:extLst>
              <a:ext uri="{FF2B5EF4-FFF2-40B4-BE49-F238E27FC236}">
                <a16:creationId xmlns:a16="http://schemas.microsoft.com/office/drawing/2014/main" id="{DFE31EBE-F8AD-4388-96AF-B88752C558C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6" name="Rectangle 14">
            <a:extLst>
              <a:ext uri="{FF2B5EF4-FFF2-40B4-BE49-F238E27FC236}">
                <a16:creationId xmlns:a16="http://schemas.microsoft.com/office/drawing/2014/main" id="{96B9CBBB-6FD9-44C8-A43A-97E02A9ECBA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7" name="Rectangle 15">
            <a:extLst>
              <a:ext uri="{FF2B5EF4-FFF2-40B4-BE49-F238E27FC236}">
                <a16:creationId xmlns:a16="http://schemas.microsoft.com/office/drawing/2014/main" id="{8A1623EE-FBCA-42CA-939B-CDC191EFDD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8" name="Rectangle 16">
            <a:extLst>
              <a:ext uri="{FF2B5EF4-FFF2-40B4-BE49-F238E27FC236}">
                <a16:creationId xmlns:a16="http://schemas.microsoft.com/office/drawing/2014/main" id="{B8475250-2E5E-4CEF-9D00-498424F20E32}"/>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09" name="Text Box 17">
            <a:extLst>
              <a:ext uri="{FF2B5EF4-FFF2-40B4-BE49-F238E27FC236}">
                <a16:creationId xmlns:a16="http://schemas.microsoft.com/office/drawing/2014/main" id="{B9AB6DB5-807E-4134-A427-78D30C79009C}"/>
              </a:ext>
            </a:extLst>
          </p:cNvPr>
          <p:cNvSpPr txBox="1">
            <a:spLocks noChangeArrowheads="1"/>
          </p:cNvSpPr>
          <p:nvPr/>
        </p:nvSpPr>
        <p:spPr bwMode="auto">
          <a:xfrm>
            <a:off x="771525" y="838200"/>
            <a:ext cx="81438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u="sng">
                <a:solidFill>
                  <a:srgbClr val="CC0000"/>
                </a:solidFill>
              </a:rPr>
              <a:t>ECHO PROBES:</a:t>
            </a:r>
            <a:br>
              <a:rPr lang="en-US" altLang="en-US" sz="1900" b="1" u="sng">
                <a:solidFill>
                  <a:srgbClr val="FF0066"/>
                </a:solidFill>
              </a:rPr>
            </a:br>
            <a:br>
              <a:rPr lang="en-US" altLang="en-US" sz="600" b="1" u="sng">
                <a:solidFill>
                  <a:srgbClr val="FF0066"/>
                </a:solidFill>
              </a:rPr>
            </a:br>
            <a:r>
              <a:rPr lang="en-US" altLang="en-US" sz="1900" b="1"/>
              <a:t>The Echo probe measures the dielectric constant of a medium by finding the rate of change of voltage applied to the sensor once it is buried in the soil.</a:t>
            </a:r>
            <a:r>
              <a:rPr lang="en-US" altLang="en-US" sz="1900" b="1">
                <a:solidFill>
                  <a:schemeClr val="accent2"/>
                </a:solidFill>
              </a:rPr>
              <a:t> </a:t>
            </a:r>
            <a:r>
              <a:rPr lang="en-US" altLang="en-US" sz="1900" b="1">
                <a:solidFill>
                  <a:srgbClr val="CC0000"/>
                </a:solidFill>
              </a:rPr>
              <a:t>(TDR measures the dielectric constant by finding the travel time of an electromagnetic wave that traverses a wave guide). </a:t>
            </a:r>
          </a:p>
        </p:txBody>
      </p:sp>
      <p:sp>
        <p:nvSpPr>
          <p:cNvPr id="315410" name="Rectangle 18">
            <a:extLst>
              <a:ext uri="{FF2B5EF4-FFF2-40B4-BE49-F238E27FC236}">
                <a16:creationId xmlns:a16="http://schemas.microsoft.com/office/drawing/2014/main" id="{38660D69-E7B7-42A8-9561-FAAEB9CE9DD1}"/>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5411" name="Rectangle 19">
            <a:extLst>
              <a:ext uri="{FF2B5EF4-FFF2-40B4-BE49-F238E27FC236}">
                <a16:creationId xmlns:a16="http://schemas.microsoft.com/office/drawing/2014/main" id="{14903FC0-852D-478E-9A04-939CEAF46812}"/>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15413" name="Picture 21">
            <a:extLst>
              <a:ext uri="{FF2B5EF4-FFF2-40B4-BE49-F238E27FC236}">
                <a16:creationId xmlns:a16="http://schemas.microsoft.com/office/drawing/2014/main" id="{705051BE-9D87-4AD2-B60E-8AE92AF3CD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90800" y="2603500"/>
            <a:ext cx="4191000" cy="40941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E264A93A-9914-422D-BFF9-AD6E2E3A2208}"/>
              </a:ext>
            </a:extLst>
          </p:cNvPr>
          <p:cNvSpPr>
            <a:spLocks noGrp="1" noChangeArrowheads="1"/>
          </p:cNvSpPr>
          <p:nvPr>
            <p:ph type="title"/>
          </p:nvPr>
        </p:nvSpPr>
        <p:spPr/>
        <p:txBody>
          <a:bodyPr/>
          <a:lstStyle/>
          <a:p>
            <a:r>
              <a:rPr lang="en-US" altLang="en-US" sz="2800"/>
              <a:t>Other electrical w.c. measurement methods</a:t>
            </a:r>
          </a:p>
        </p:txBody>
      </p:sp>
      <p:pic>
        <p:nvPicPr>
          <p:cNvPr id="363549" name="Picture 29">
            <a:extLst>
              <a:ext uri="{FF2B5EF4-FFF2-40B4-BE49-F238E27FC236}">
                <a16:creationId xmlns:a16="http://schemas.microsoft.com/office/drawing/2014/main" id="{AFF8AB3C-B1DE-4EB2-9606-697C4FB0874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392238" y="2209800"/>
            <a:ext cx="3179762" cy="40401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3523" name="Rectangle 3">
            <a:extLst>
              <a:ext uri="{FF2B5EF4-FFF2-40B4-BE49-F238E27FC236}">
                <a16:creationId xmlns:a16="http://schemas.microsoft.com/office/drawing/2014/main" id="{78D8E25A-E336-4F36-86AA-B3B234B95D3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4" name="Rectangle 4">
            <a:extLst>
              <a:ext uri="{FF2B5EF4-FFF2-40B4-BE49-F238E27FC236}">
                <a16:creationId xmlns:a16="http://schemas.microsoft.com/office/drawing/2014/main" id="{F5DC52FD-7F92-499D-9354-6B7FB641421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5" name="Rectangle 5">
            <a:extLst>
              <a:ext uri="{FF2B5EF4-FFF2-40B4-BE49-F238E27FC236}">
                <a16:creationId xmlns:a16="http://schemas.microsoft.com/office/drawing/2014/main" id="{6C971F6E-FBBD-46BD-9673-4A7229031FC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6" name="Rectangle 6">
            <a:extLst>
              <a:ext uri="{FF2B5EF4-FFF2-40B4-BE49-F238E27FC236}">
                <a16:creationId xmlns:a16="http://schemas.microsoft.com/office/drawing/2014/main" id="{8A978303-B1A2-46B5-8C0F-A6CBDD5A387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7" name="Rectangle 7">
            <a:extLst>
              <a:ext uri="{FF2B5EF4-FFF2-40B4-BE49-F238E27FC236}">
                <a16:creationId xmlns:a16="http://schemas.microsoft.com/office/drawing/2014/main" id="{E7691AE2-ECBC-4ADA-800D-F681C9A474F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8" name="Rectangle 8">
            <a:extLst>
              <a:ext uri="{FF2B5EF4-FFF2-40B4-BE49-F238E27FC236}">
                <a16:creationId xmlns:a16="http://schemas.microsoft.com/office/drawing/2014/main" id="{5C3D0FB7-EFB9-4508-923A-EA70EE50C10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29" name="Rectangle 9">
            <a:extLst>
              <a:ext uri="{FF2B5EF4-FFF2-40B4-BE49-F238E27FC236}">
                <a16:creationId xmlns:a16="http://schemas.microsoft.com/office/drawing/2014/main" id="{71582014-70D5-4B6F-9554-32C72E3BB5D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0" name="Rectangle 10">
            <a:extLst>
              <a:ext uri="{FF2B5EF4-FFF2-40B4-BE49-F238E27FC236}">
                <a16:creationId xmlns:a16="http://schemas.microsoft.com/office/drawing/2014/main" id="{DBBC7D36-C167-46F2-B55F-1A86C3DCAD6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1" name="Rectangle 11">
            <a:extLst>
              <a:ext uri="{FF2B5EF4-FFF2-40B4-BE49-F238E27FC236}">
                <a16:creationId xmlns:a16="http://schemas.microsoft.com/office/drawing/2014/main" id="{D663B5A5-49BF-4842-B12E-FE30F541CA61}"/>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2" name="Rectangle 12">
            <a:extLst>
              <a:ext uri="{FF2B5EF4-FFF2-40B4-BE49-F238E27FC236}">
                <a16:creationId xmlns:a16="http://schemas.microsoft.com/office/drawing/2014/main" id="{18002479-50FC-4C97-8B9C-EF27FD4DFB6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3" name="Rectangle 13">
            <a:extLst>
              <a:ext uri="{FF2B5EF4-FFF2-40B4-BE49-F238E27FC236}">
                <a16:creationId xmlns:a16="http://schemas.microsoft.com/office/drawing/2014/main" id="{FB92CE31-BBD0-4E2D-8C61-1C424DACF52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4" name="Rectangle 14">
            <a:extLst>
              <a:ext uri="{FF2B5EF4-FFF2-40B4-BE49-F238E27FC236}">
                <a16:creationId xmlns:a16="http://schemas.microsoft.com/office/drawing/2014/main" id="{0AF597C9-78DB-426A-9BDB-8C1BC1447A2E}"/>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5" name="Rectangle 15">
            <a:extLst>
              <a:ext uri="{FF2B5EF4-FFF2-40B4-BE49-F238E27FC236}">
                <a16:creationId xmlns:a16="http://schemas.microsoft.com/office/drawing/2014/main" id="{2E014800-B342-4297-9BF0-692EEA16D4E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6" name="Rectangle 16">
            <a:extLst>
              <a:ext uri="{FF2B5EF4-FFF2-40B4-BE49-F238E27FC236}">
                <a16:creationId xmlns:a16="http://schemas.microsoft.com/office/drawing/2014/main" id="{9A58E483-7FE3-42C9-AD69-B640E32D5CB6}"/>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8" name="Rectangle 18">
            <a:extLst>
              <a:ext uri="{FF2B5EF4-FFF2-40B4-BE49-F238E27FC236}">
                <a16:creationId xmlns:a16="http://schemas.microsoft.com/office/drawing/2014/main" id="{62AE7775-5493-41CC-AE80-3606F78DD8DD}"/>
              </a:ext>
            </a:extLst>
          </p:cNvPr>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39" name="Rectangle 19">
            <a:extLst>
              <a:ext uri="{FF2B5EF4-FFF2-40B4-BE49-F238E27FC236}">
                <a16:creationId xmlns:a16="http://schemas.microsoft.com/office/drawing/2014/main" id="{394A0250-1792-47AC-8A51-5270CE216EB8}"/>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63540" name="Text Box 20">
            <a:extLst>
              <a:ext uri="{FF2B5EF4-FFF2-40B4-BE49-F238E27FC236}">
                <a16:creationId xmlns:a16="http://schemas.microsoft.com/office/drawing/2014/main" id="{7E2180A8-8F5C-4DD4-8617-2100B6FF2D92}"/>
              </a:ext>
            </a:extLst>
          </p:cNvPr>
          <p:cNvSpPr txBox="1">
            <a:spLocks noChangeArrowheads="1"/>
          </p:cNvSpPr>
          <p:nvPr/>
        </p:nvSpPr>
        <p:spPr bwMode="auto">
          <a:xfrm>
            <a:off x="762000" y="838200"/>
            <a:ext cx="80010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t>Advantages of the ECHO probe are the insensitivity for saline conditions, and low expenses. Only a Datalogger or Hand Read Out is required to send excitation voltage and record the rate of voltage change.</a:t>
            </a:r>
          </a:p>
        </p:txBody>
      </p:sp>
      <p:pic>
        <p:nvPicPr>
          <p:cNvPr id="363551" name="Picture 31">
            <a:extLst>
              <a:ext uri="{FF2B5EF4-FFF2-40B4-BE49-F238E27FC236}">
                <a16:creationId xmlns:a16="http://schemas.microsoft.com/office/drawing/2014/main" id="{4BC0D66C-8D40-496C-8B7E-6D590E35906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105400" y="2895600"/>
            <a:ext cx="2819400" cy="25987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F5A873FB-9693-4A90-8F1E-2454EB21CE22}"/>
              </a:ext>
            </a:extLst>
          </p:cNvPr>
          <p:cNvSpPr>
            <a:spLocks noGrp="1" noChangeArrowheads="1"/>
          </p:cNvSpPr>
          <p:nvPr>
            <p:ph type="title"/>
          </p:nvPr>
        </p:nvSpPr>
        <p:spPr>
          <a:xfrm>
            <a:off x="709613" y="196850"/>
            <a:ext cx="8205787" cy="579438"/>
          </a:xfrm>
        </p:spPr>
        <p:txBody>
          <a:bodyPr/>
          <a:lstStyle/>
          <a:p>
            <a:r>
              <a:rPr lang="en-US" altLang="en-US" sz="2800"/>
              <a:t> Other methods for soil w.c. measurement </a:t>
            </a:r>
          </a:p>
        </p:txBody>
      </p:sp>
      <p:sp>
        <p:nvSpPr>
          <p:cNvPr id="319491" name="Rectangle 3">
            <a:extLst>
              <a:ext uri="{FF2B5EF4-FFF2-40B4-BE49-F238E27FC236}">
                <a16:creationId xmlns:a16="http://schemas.microsoft.com/office/drawing/2014/main" id="{66127C46-8BAB-46A3-B308-0108EEDC2E9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2" name="Rectangle 4">
            <a:extLst>
              <a:ext uri="{FF2B5EF4-FFF2-40B4-BE49-F238E27FC236}">
                <a16:creationId xmlns:a16="http://schemas.microsoft.com/office/drawing/2014/main" id="{3B988069-3393-4443-A8D3-7E805FDE963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3" name="Rectangle 5">
            <a:extLst>
              <a:ext uri="{FF2B5EF4-FFF2-40B4-BE49-F238E27FC236}">
                <a16:creationId xmlns:a16="http://schemas.microsoft.com/office/drawing/2014/main" id="{5A642111-54D5-4273-A6C9-FAF223EF3B5E}"/>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4" name="Rectangle 6">
            <a:extLst>
              <a:ext uri="{FF2B5EF4-FFF2-40B4-BE49-F238E27FC236}">
                <a16:creationId xmlns:a16="http://schemas.microsoft.com/office/drawing/2014/main" id="{AFDEF77C-BF6D-4C97-A1AB-5175E659ECA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5" name="Rectangle 7">
            <a:extLst>
              <a:ext uri="{FF2B5EF4-FFF2-40B4-BE49-F238E27FC236}">
                <a16:creationId xmlns:a16="http://schemas.microsoft.com/office/drawing/2014/main" id="{3B9C3AC8-27A5-4B5B-8725-4D52EB39FC67}"/>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6" name="Rectangle 8">
            <a:extLst>
              <a:ext uri="{FF2B5EF4-FFF2-40B4-BE49-F238E27FC236}">
                <a16:creationId xmlns:a16="http://schemas.microsoft.com/office/drawing/2014/main" id="{2111D6A4-823B-4481-8E2A-940B983DF5A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7" name="Rectangle 9">
            <a:extLst>
              <a:ext uri="{FF2B5EF4-FFF2-40B4-BE49-F238E27FC236}">
                <a16:creationId xmlns:a16="http://schemas.microsoft.com/office/drawing/2014/main" id="{EB6FC06E-5F81-4FAF-9741-6CC4EEFB885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8" name="Rectangle 10">
            <a:extLst>
              <a:ext uri="{FF2B5EF4-FFF2-40B4-BE49-F238E27FC236}">
                <a16:creationId xmlns:a16="http://schemas.microsoft.com/office/drawing/2014/main" id="{8B0A5CEC-1C3F-4B93-8861-D8183F84ECA8}"/>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499" name="Rectangle 11">
            <a:extLst>
              <a:ext uri="{FF2B5EF4-FFF2-40B4-BE49-F238E27FC236}">
                <a16:creationId xmlns:a16="http://schemas.microsoft.com/office/drawing/2014/main" id="{227575B5-C721-4484-A83D-8B6DFD963994}"/>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0" name="Rectangle 12">
            <a:extLst>
              <a:ext uri="{FF2B5EF4-FFF2-40B4-BE49-F238E27FC236}">
                <a16:creationId xmlns:a16="http://schemas.microsoft.com/office/drawing/2014/main" id="{8D3EFE02-CF2C-4898-BA73-9160EF33AF9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1" name="Rectangle 13">
            <a:extLst>
              <a:ext uri="{FF2B5EF4-FFF2-40B4-BE49-F238E27FC236}">
                <a16:creationId xmlns:a16="http://schemas.microsoft.com/office/drawing/2014/main" id="{1B642174-ACFE-4728-8CD7-FF07D100BA5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2" name="Rectangle 14">
            <a:extLst>
              <a:ext uri="{FF2B5EF4-FFF2-40B4-BE49-F238E27FC236}">
                <a16:creationId xmlns:a16="http://schemas.microsoft.com/office/drawing/2014/main" id="{8D0735A5-2DF8-4F76-B5F7-38D32D8CD90D}"/>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3" name="Rectangle 15">
            <a:extLst>
              <a:ext uri="{FF2B5EF4-FFF2-40B4-BE49-F238E27FC236}">
                <a16:creationId xmlns:a16="http://schemas.microsoft.com/office/drawing/2014/main" id="{A70866EB-FB7E-4CDB-8D81-0F38CFA963F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4" name="Rectangle 16">
            <a:extLst>
              <a:ext uri="{FF2B5EF4-FFF2-40B4-BE49-F238E27FC236}">
                <a16:creationId xmlns:a16="http://schemas.microsoft.com/office/drawing/2014/main" id="{A8D61846-84BC-480B-8734-64D2AE066591}"/>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19505" name="Text Box 17">
            <a:extLst>
              <a:ext uri="{FF2B5EF4-FFF2-40B4-BE49-F238E27FC236}">
                <a16:creationId xmlns:a16="http://schemas.microsoft.com/office/drawing/2014/main" id="{FD006652-1E3C-400D-888A-F549B0C69CF9}"/>
              </a:ext>
            </a:extLst>
          </p:cNvPr>
          <p:cNvSpPr txBox="1">
            <a:spLocks noChangeArrowheads="1"/>
          </p:cNvSpPr>
          <p:nvPr/>
        </p:nvSpPr>
        <p:spPr bwMode="auto">
          <a:xfrm>
            <a:off x="609600" y="762000"/>
            <a:ext cx="8032750"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r>
              <a:rPr lang="en-US" altLang="en-US" sz="1900" b="1" u="sng">
                <a:solidFill>
                  <a:srgbClr val="CC0000"/>
                </a:solidFill>
              </a:rPr>
              <a:t>OTHER METHODS</a:t>
            </a:r>
            <a:br>
              <a:rPr lang="en-US" altLang="en-US" sz="1900" b="1">
                <a:solidFill>
                  <a:srgbClr val="CC0000"/>
                </a:solidFill>
              </a:rPr>
            </a:br>
            <a:endParaRPr lang="en-US" altLang="en-US" sz="600" b="1">
              <a:solidFill>
                <a:srgbClr val="CC0000"/>
              </a:solidFill>
            </a:endParaRPr>
          </a:p>
          <a:p>
            <a:pPr eaLnBrk="0" hangingPunct="0"/>
            <a:r>
              <a:rPr lang="en-US" altLang="en-US" sz="1900" b="1"/>
              <a:t>- X-Ray Computed Tomography (CT)</a:t>
            </a:r>
            <a:br>
              <a:rPr lang="en-US" altLang="en-US" sz="1900" b="1"/>
            </a:br>
            <a:r>
              <a:rPr lang="en-US" altLang="en-US" sz="1900" b="1"/>
              <a:t>- Nuclear Magnetic Resonance NMR</a:t>
            </a:r>
          </a:p>
          <a:p>
            <a:pPr eaLnBrk="0" hangingPunct="0"/>
            <a:r>
              <a:rPr lang="en-US" altLang="en-US" sz="1900" b="1"/>
              <a:t>- Ground Penetrating Radar GPR</a:t>
            </a:r>
          </a:p>
        </p:txBody>
      </p:sp>
      <p:sp>
        <p:nvSpPr>
          <p:cNvPr id="319506" name="Rectangle 18">
            <a:extLst>
              <a:ext uri="{FF2B5EF4-FFF2-40B4-BE49-F238E27FC236}">
                <a16:creationId xmlns:a16="http://schemas.microsoft.com/office/drawing/2014/main" id="{8B8E97C5-3BF3-46DD-9212-5377099A5F3C}"/>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22" name="Picture 21">
            <a:extLst>
              <a:ext uri="{FF2B5EF4-FFF2-40B4-BE49-F238E27FC236}">
                <a16:creationId xmlns:a16="http://schemas.microsoft.com/office/drawing/2014/main" id="{1AEF7323-5252-41A3-9B41-42C2E85F4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362201"/>
            <a:ext cx="8699114" cy="373379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49865179-72FD-4E86-9DF0-D164DBD827D3}"/>
              </a:ext>
            </a:extLst>
          </p:cNvPr>
          <p:cNvSpPr>
            <a:spLocks noGrp="1" noChangeArrowheads="1"/>
          </p:cNvSpPr>
          <p:nvPr>
            <p:ph type="title"/>
          </p:nvPr>
        </p:nvSpPr>
        <p:spPr>
          <a:xfrm>
            <a:off x="685800" y="228600"/>
            <a:ext cx="7772400" cy="579438"/>
          </a:xfrm>
        </p:spPr>
        <p:txBody>
          <a:bodyPr/>
          <a:lstStyle/>
          <a:p>
            <a:r>
              <a:rPr lang="en-US" altLang="en-US" sz="2800"/>
              <a:t>Other methods for soil w.c. measurement </a:t>
            </a:r>
          </a:p>
        </p:txBody>
      </p:sp>
      <p:sp>
        <p:nvSpPr>
          <p:cNvPr id="398339" name="Rectangle 3">
            <a:extLst>
              <a:ext uri="{FF2B5EF4-FFF2-40B4-BE49-F238E27FC236}">
                <a16:creationId xmlns:a16="http://schemas.microsoft.com/office/drawing/2014/main" id="{C18640D4-808E-47C3-B6D8-1B23D10DB01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0" name="Rectangle 4">
            <a:extLst>
              <a:ext uri="{FF2B5EF4-FFF2-40B4-BE49-F238E27FC236}">
                <a16:creationId xmlns:a16="http://schemas.microsoft.com/office/drawing/2014/main" id="{5C50E6E8-D66D-46F5-A6B6-53B5CD9FD14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1" name="Rectangle 5">
            <a:extLst>
              <a:ext uri="{FF2B5EF4-FFF2-40B4-BE49-F238E27FC236}">
                <a16:creationId xmlns:a16="http://schemas.microsoft.com/office/drawing/2014/main" id="{84BC5F65-2846-4F7B-A71F-31F1F241BA6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2" name="Rectangle 6">
            <a:extLst>
              <a:ext uri="{FF2B5EF4-FFF2-40B4-BE49-F238E27FC236}">
                <a16:creationId xmlns:a16="http://schemas.microsoft.com/office/drawing/2014/main" id="{76D2BB38-F1A1-488E-A98A-0B543FF9B32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3" name="Rectangle 7">
            <a:extLst>
              <a:ext uri="{FF2B5EF4-FFF2-40B4-BE49-F238E27FC236}">
                <a16:creationId xmlns:a16="http://schemas.microsoft.com/office/drawing/2014/main" id="{02C44B60-90A0-4051-8F23-C9CBDC0C83C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4" name="Rectangle 8">
            <a:extLst>
              <a:ext uri="{FF2B5EF4-FFF2-40B4-BE49-F238E27FC236}">
                <a16:creationId xmlns:a16="http://schemas.microsoft.com/office/drawing/2014/main" id="{CF63547D-971C-448A-81C1-C9A3913E6979}"/>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5" name="Rectangle 9">
            <a:extLst>
              <a:ext uri="{FF2B5EF4-FFF2-40B4-BE49-F238E27FC236}">
                <a16:creationId xmlns:a16="http://schemas.microsoft.com/office/drawing/2014/main" id="{CDD097A4-A08D-42F7-8295-24CB4EAFEAA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6" name="Rectangle 10">
            <a:extLst>
              <a:ext uri="{FF2B5EF4-FFF2-40B4-BE49-F238E27FC236}">
                <a16:creationId xmlns:a16="http://schemas.microsoft.com/office/drawing/2014/main" id="{6DE62A6D-9184-4040-8D54-DA85465DF3B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7" name="Rectangle 11">
            <a:extLst>
              <a:ext uri="{FF2B5EF4-FFF2-40B4-BE49-F238E27FC236}">
                <a16:creationId xmlns:a16="http://schemas.microsoft.com/office/drawing/2014/main" id="{52412EB8-1687-498D-B559-D21D4601151E}"/>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8" name="Rectangle 12">
            <a:extLst>
              <a:ext uri="{FF2B5EF4-FFF2-40B4-BE49-F238E27FC236}">
                <a16:creationId xmlns:a16="http://schemas.microsoft.com/office/drawing/2014/main" id="{4AEB1A44-753B-4029-97BC-3D3DA2EB2E4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49" name="Rectangle 13">
            <a:extLst>
              <a:ext uri="{FF2B5EF4-FFF2-40B4-BE49-F238E27FC236}">
                <a16:creationId xmlns:a16="http://schemas.microsoft.com/office/drawing/2014/main" id="{3924E193-14AF-43FE-BAF2-0A4C735C7D3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50" name="Rectangle 14">
            <a:extLst>
              <a:ext uri="{FF2B5EF4-FFF2-40B4-BE49-F238E27FC236}">
                <a16:creationId xmlns:a16="http://schemas.microsoft.com/office/drawing/2014/main" id="{F10C4E98-1DE2-4360-AAE0-B852C826BEE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51" name="Rectangle 15">
            <a:extLst>
              <a:ext uri="{FF2B5EF4-FFF2-40B4-BE49-F238E27FC236}">
                <a16:creationId xmlns:a16="http://schemas.microsoft.com/office/drawing/2014/main" id="{FD00FD39-D9DC-4F2D-85DF-2E1291F9373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52" name="Rectangle 16">
            <a:extLst>
              <a:ext uri="{FF2B5EF4-FFF2-40B4-BE49-F238E27FC236}">
                <a16:creationId xmlns:a16="http://schemas.microsoft.com/office/drawing/2014/main" id="{77039F15-AEED-40B4-9BEE-6713DE6BBF5D}"/>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8353" name="Text Box 17">
            <a:extLst>
              <a:ext uri="{FF2B5EF4-FFF2-40B4-BE49-F238E27FC236}">
                <a16:creationId xmlns:a16="http://schemas.microsoft.com/office/drawing/2014/main" id="{73885C6C-EB13-487C-8AB2-5895098995DF}"/>
              </a:ext>
            </a:extLst>
          </p:cNvPr>
          <p:cNvSpPr txBox="1">
            <a:spLocks noChangeArrowheads="1"/>
          </p:cNvSpPr>
          <p:nvPr/>
        </p:nvSpPr>
        <p:spPr bwMode="auto">
          <a:xfrm>
            <a:off x="381000" y="762000"/>
            <a:ext cx="80327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endParaRPr lang="en-US" altLang="en-US" sz="600" b="1">
              <a:solidFill>
                <a:srgbClr val="CC0000"/>
              </a:solidFill>
            </a:endParaRPr>
          </a:p>
          <a:p>
            <a:pPr eaLnBrk="0" hangingPunct="0"/>
            <a:r>
              <a:rPr lang="en-US" altLang="en-US" sz="1900" b="1"/>
              <a:t>Ground Penetrating Radar (GPR)</a:t>
            </a:r>
          </a:p>
        </p:txBody>
      </p:sp>
      <p:sp>
        <p:nvSpPr>
          <p:cNvPr id="398354" name="Rectangle 18">
            <a:extLst>
              <a:ext uri="{FF2B5EF4-FFF2-40B4-BE49-F238E27FC236}">
                <a16:creationId xmlns:a16="http://schemas.microsoft.com/office/drawing/2014/main" id="{E2D0D132-231B-4049-BD84-1DCFB55B043B}"/>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98358" name="Picture 22">
            <a:extLst>
              <a:ext uri="{FF2B5EF4-FFF2-40B4-BE49-F238E27FC236}">
                <a16:creationId xmlns:a16="http://schemas.microsoft.com/office/drawing/2014/main" id="{D47E664D-63DF-4200-BD2E-1F076B949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4751388" cy="5019675"/>
          </a:xfrm>
          <a:prstGeom prst="rect">
            <a:avLst/>
          </a:prstGeom>
          <a:noFill/>
          <a:extLst>
            <a:ext uri="{909E8E84-426E-40DD-AFC4-6F175D3DCCD1}">
              <a14:hiddenFill xmlns:a14="http://schemas.microsoft.com/office/drawing/2010/main">
                <a:solidFill>
                  <a:srgbClr val="FFFFFF"/>
                </a:solidFill>
              </a14:hiddenFill>
            </a:ext>
          </a:extLst>
        </p:spPr>
      </p:pic>
      <p:pic>
        <p:nvPicPr>
          <p:cNvPr id="398359" name="Picture 23">
            <a:extLst>
              <a:ext uri="{FF2B5EF4-FFF2-40B4-BE49-F238E27FC236}">
                <a16:creationId xmlns:a16="http://schemas.microsoft.com/office/drawing/2014/main" id="{2BC2428B-4621-4167-841E-B9D25EE2F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133600"/>
            <a:ext cx="2773363" cy="3581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09FD63F2-E248-4D09-BB63-B072D91D939E}"/>
              </a:ext>
            </a:extLst>
          </p:cNvPr>
          <p:cNvSpPr>
            <a:spLocks noGrp="1"/>
          </p:cNvSpPr>
          <p:nvPr>
            <p:ph type="title"/>
          </p:nvPr>
        </p:nvSpPr>
        <p:spPr>
          <a:xfrm>
            <a:off x="254794" y="1131094"/>
            <a:ext cx="8553450" cy="994172"/>
          </a:xfrm>
        </p:spPr>
        <p:txBody>
          <a:bodyPr/>
          <a:lstStyle/>
          <a:p>
            <a:pPr eaLnBrk="1" hangingPunct="1"/>
            <a:r>
              <a:rPr lang="en-US" altLang="en-US"/>
              <a:t>Calibration and validation in controlled conditions </a:t>
            </a:r>
          </a:p>
        </p:txBody>
      </p:sp>
      <p:pic>
        <p:nvPicPr>
          <p:cNvPr id="27650" name="Content Placeholder 7">
            <a:extLst>
              <a:ext uri="{FF2B5EF4-FFF2-40B4-BE49-F238E27FC236}">
                <a16:creationId xmlns:a16="http://schemas.microsoft.com/office/drawing/2014/main" id="{B5CA0A2D-DF26-4917-9584-DF47D9CB55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4794" y="2491978"/>
            <a:ext cx="1799035" cy="3176588"/>
          </a:xfrm>
        </p:spPr>
      </p:pic>
      <p:pic>
        <p:nvPicPr>
          <p:cNvPr id="27653" name="Picture 2" descr="http://latex.codecogs.com/gif.latex?%5Cdpi%7B200%7D&amp;space;%5Clarge&amp;space;%5Cmathbf%7B%5Cnabla%7D&amp;space;%5Ccdot&amp;space;%5Cmathbf%7BD%7D&amp;space;=&amp;space;%5Crho%5C%5C&amp;space;%5Cnabla&amp;space;%5Ccdot&amp;space;%5Cmathbf%7BB%7D&amp;space;=&amp;space;0%5C%5C&amp;space;%5Cnabla&amp;space;%5Ctimes&amp;space;%5Cmathbf%7BE%7D&amp;space;=&amp;space;-%5Cfrac%7B%5Cpartial&amp;space;%5Cmathbf%7BB%7D%7D&amp;space;%7B%5Cpartial&amp;space;t%7D%5C%5C&amp;space;%5Cnabla&amp;space;%5Ctimes&amp;space;%5Cmathbf%7BH%7D&amp;space;=&amp;space;%5Cmathbf%7BJ%7D_&amp;space;+&amp;space;%5Cfrac%7B%5Cpartial&amp;space;%5Cmathbf%7BD%7D%7D&amp;space;%7B%5Cpartial&amp;space;t%7D">
            <a:extLst>
              <a:ext uri="{FF2B5EF4-FFF2-40B4-BE49-F238E27FC236}">
                <a16:creationId xmlns:a16="http://schemas.microsoft.com/office/drawing/2014/main" id="{D23FBC19-1EF1-488C-9F3A-F10DA1733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8341" y="3028950"/>
            <a:ext cx="1262063"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ZoneTexte 3">
            <a:extLst>
              <a:ext uri="{FF2B5EF4-FFF2-40B4-BE49-F238E27FC236}">
                <a16:creationId xmlns:a16="http://schemas.microsoft.com/office/drawing/2014/main" id="{C9603403-BD0D-43F3-BE96-886D1C51E943}"/>
              </a:ext>
            </a:extLst>
          </p:cNvPr>
          <p:cNvSpPr txBox="1">
            <a:spLocks noChangeArrowheads="1"/>
          </p:cNvSpPr>
          <p:nvPr/>
        </p:nvSpPr>
        <p:spPr bwMode="auto">
          <a:xfrm>
            <a:off x="3008710" y="2436019"/>
            <a:ext cx="1613297"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CA" altLang="en-US" sz="1050" b="1"/>
              <a:t>Maxwell equations solution with FEM</a:t>
            </a:r>
            <a:endParaRPr lang="fr-CA" altLang="en-US" sz="1050" b="1"/>
          </a:p>
        </p:txBody>
      </p:sp>
      <p:pic>
        <p:nvPicPr>
          <p:cNvPr id="27655" name="Picture 8">
            <a:extLst>
              <a:ext uri="{FF2B5EF4-FFF2-40B4-BE49-F238E27FC236}">
                <a16:creationId xmlns:a16="http://schemas.microsoft.com/office/drawing/2014/main" id="{C9A050F5-B63F-42CB-9174-D2D1FEC1A0E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13385" y="2914650"/>
            <a:ext cx="1291828" cy="212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E97830A2-00F4-4A35-9278-EDA26A4A3567}"/>
              </a:ext>
            </a:extLst>
          </p:cNvPr>
          <p:cNvSpPr/>
          <p:nvPr/>
        </p:nvSpPr>
        <p:spPr>
          <a:xfrm>
            <a:off x="2239566" y="2434829"/>
            <a:ext cx="3025378" cy="30634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500"/>
          </a:p>
        </p:txBody>
      </p:sp>
      <p:sp>
        <p:nvSpPr>
          <p:cNvPr id="11" name="Rectangle 10">
            <a:extLst>
              <a:ext uri="{FF2B5EF4-FFF2-40B4-BE49-F238E27FC236}">
                <a16:creationId xmlns:a16="http://schemas.microsoft.com/office/drawing/2014/main" id="{807EDBED-430F-4FE3-806F-7D7A199BD05B}"/>
              </a:ext>
            </a:extLst>
          </p:cNvPr>
          <p:cNvSpPr/>
          <p:nvPr/>
        </p:nvSpPr>
        <p:spPr>
          <a:xfrm>
            <a:off x="2338388" y="3894535"/>
            <a:ext cx="1257300" cy="1113234"/>
          </a:xfrm>
          <a:prstGeom prst="rect">
            <a:avLst/>
          </a:prstGeom>
          <a:solidFill>
            <a:schemeClr val="accent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500"/>
          </a:p>
        </p:txBody>
      </p:sp>
      <p:sp>
        <p:nvSpPr>
          <p:cNvPr id="27658" name="TextBox 11">
            <a:extLst>
              <a:ext uri="{FF2B5EF4-FFF2-40B4-BE49-F238E27FC236}">
                <a16:creationId xmlns:a16="http://schemas.microsoft.com/office/drawing/2014/main" id="{3546FC78-02D9-4E2D-AA6B-68FF9CC2EC05}"/>
              </a:ext>
            </a:extLst>
          </p:cNvPr>
          <p:cNvSpPr txBox="1">
            <a:spLocks noChangeArrowheads="1"/>
          </p:cNvSpPr>
          <p:nvPr/>
        </p:nvSpPr>
        <p:spPr bwMode="auto">
          <a:xfrm>
            <a:off x="2687241" y="4096941"/>
            <a:ext cx="59125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US" altLang="en-US" sz="1350"/>
              <a:t>water</a:t>
            </a:r>
          </a:p>
        </p:txBody>
      </p:sp>
      <p:sp>
        <p:nvSpPr>
          <p:cNvPr id="27659" name="TextBox 13">
            <a:extLst>
              <a:ext uri="{FF2B5EF4-FFF2-40B4-BE49-F238E27FC236}">
                <a16:creationId xmlns:a16="http://schemas.microsoft.com/office/drawing/2014/main" id="{D307C4D8-2BA1-4F40-B8C9-B0BB1FED66FC}"/>
              </a:ext>
            </a:extLst>
          </p:cNvPr>
          <p:cNvSpPr txBox="1">
            <a:spLocks noChangeArrowheads="1"/>
          </p:cNvSpPr>
          <p:nvPr/>
        </p:nvSpPr>
        <p:spPr bwMode="auto">
          <a:xfrm>
            <a:off x="2770585" y="3377803"/>
            <a:ext cx="42351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US" altLang="en-US" sz="1350"/>
              <a:t>soil</a:t>
            </a:r>
          </a:p>
        </p:txBody>
      </p:sp>
      <p:pic>
        <p:nvPicPr>
          <p:cNvPr id="27660" name="Picture 2">
            <a:extLst>
              <a:ext uri="{FF2B5EF4-FFF2-40B4-BE49-F238E27FC236}">
                <a16:creationId xmlns:a16="http://schemas.microsoft.com/office/drawing/2014/main" id="{FF616F0C-DDE5-4855-ACB3-5D08BCFFA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3526" y="2369344"/>
            <a:ext cx="2297906" cy="2788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61" name="Picture 15">
            <a:extLst>
              <a:ext uri="{FF2B5EF4-FFF2-40B4-BE49-F238E27FC236}">
                <a16:creationId xmlns:a16="http://schemas.microsoft.com/office/drawing/2014/main" id="{2FB95EF7-478E-435B-85E9-CDE541D9DDD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759303" y="2389585"/>
            <a:ext cx="1184672" cy="3001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2" name="Picture 18">
            <a:extLst>
              <a:ext uri="{FF2B5EF4-FFF2-40B4-BE49-F238E27FC236}">
                <a16:creationId xmlns:a16="http://schemas.microsoft.com/office/drawing/2014/main" id="{9DCDE554-EC1B-4998-98CC-83065F9C238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868341" y="5019675"/>
            <a:ext cx="9906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3" name="Picture 19">
            <a:extLst>
              <a:ext uri="{FF2B5EF4-FFF2-40B4-BE49-F238E27FC236}">
                <a16:creationId xmlns:a16="http://schemas.microsoft.com/office/drawing/2014/main" id="{C210ECBC-732C-49AA-BA6F-A030E36C8D2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919538" y="4495800"/>
            <a:ext cx="9239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4" name="Picture 20">
            <a:extLst>
              <a:ext uri="{FF2B5EF4-FFF2-40B4-BE49-F238E27FC236}">
                <a16:creationId xmlns:a16="http://schemas.microsoft.com/office/drawing/2014/main" id="{6F0EC50B-440B-4BBA-ADA0-E97A22CA0D6F}"/>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910013" y="4756547"/>
            <a:ext cx="9239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eft Brace 21">
            <a:extLst>
              <a:ext uri="{FF2B5EF4-FFF2-40B4-BE49-F238E27FC236}">
                <a16:creationId xmlns:a16="http://schemas.microsoft.com/office/drawing/2014/main" id="{05AA5B25-FD44-4EF0-A3ED-5DDC3972FE7C}"/>
              </a:ext>
            </a:extLst>
          </p:cNvPr>
          <p:cNvSpPr/>
          <p:nvPr/>
        </p:nvSpPr>
        <p:spPr>
          <a:xfrm>
            <a:off x="3680223" y="4495800"/>
            <a:ext cx="221456" cy="771525"/>
          </a:xfrm>
          <a:prstGeom prst="leftBrace">
            <a:avLst>
              <a:gd name="adj1" fmla="val 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500"/>
          </a:p>
        </p:txBody>
      </p:sp>
      <p:sp>
        <p:nvSpPr>
          <p:cNvPr id="2" name="Oval 1">
            <a:extLst>
              <a:ext uri="{FF2B5EF4-FFF2-40B4-BE49-F238E27FC236}">
                <a16:creationId xmlns:a16="http://schemas.microsoft.com/office/drawing/2014/main" id="{DAA41970-8641-43B9-98E0-EFB464301C10}"/>
              </a:ext>
            </a:extLst>
          </p:cNvPr>
          <p:cNvSpPr/>
          <p:nvPr/>
        </p:nvSpPr>
        <p:spPr>
          <a:xfrm>
            <a:off x="3759994" y="4705350"/>
            <a:ext cx="1320404" cy="344091"/>
          </a:xfrm>
          <a:prstGeom prst="ellipse">
            <a:avLst/>
          </a:prstGeom>
          <a:noFill/>
          <a:ln w="28575" cmpd="sng"/>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500"/>
          </a:p>
        </p:txBody>
      </p:sp>
      <p:sp>
        <p:nvSpPr>
          <p:cNvPr id="3" name="Slide Number Placeholder 2">
            <a:extLst>
              <a:ext uri="{FF2B5EF4-FFF2-40B4-BE49-F238E27FC236}">
                <a16:creationId xmlns:a16="http://schemas.microsoft.com/office/drawing/2014/main" id="{A941BA6E-B638-43E0-98A6-67C7A69DD976}"/>
              </a:ext>
            </a:extLst>
          </p:cNvPr>
          <p:cNvSpPr>
            <a:spLocks noGrp="1"/>
          </p:cNvSpPr>
          <p:nvPr>
            <p:ph type="sldNum" sz="quarter" idx="12"/>
          </p:nvPr>
        </p:nvSpPr>
        <p:spPr bwMode="auto">
          <a:xfrm>
            <a:off x="10991851" y="64277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fr-FR"/>
            </a:defPPr>
            <a:lvl1pPr algn="r" rtl="0" eaLnBrk="0" fontAlgn="base" hangingPunct="0">
              <a:spcBef>
                <a:spcPct val="0"/>
              </a:spcBef>
              <a:spcAft>
                <a:spcPct val="0"/>
              </a:spcAft>
              <a:defRPr sz="1000" kern="1200">
                <a:solidFill>
                  <a:schemeClr val="tx1"/>
                </a:solidFill>
                <a:latin typeface="Verdana" charset="0"/>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a:lstStyle>
          <a:p>
            <a:fld id="{5EB931FA-6A12-4C83-8D6A-9758F311CC45}" type="slidenum">
              <a:rPr lang="en-US" altLang="en-US" smtClean="0"/>
              <a:pPr/>
              <a:t>35</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335AB158-1B00-4B5F-8663-D5E239C9A150}"/>
              </a:ext>
            </a:extLst>
          </p:cNvPr>
          <p:cNvSpPr>
            <a:spLocks noGrp="1"/>
          </p:cNvSpPr>
          <p:nvPr>
            <p:ph type="title"/>
          </p:nvPr>
        </p:nvSpPr>
        <p:spPr>
          <a:xfrm>
            <a:off x="628650" y="1047750"/>
            <a:ext cx="7886700" cy="672703"/>
          </a:xfrm>
        </p:spPr>
        <p:txBody>
          <a:bodyPr/>
          <a:lstStyle/>
          <a:p>
            <a:pPr eaLnBrk="1" hangingPunct="1"/>
            <a:r>
              <a:rPr lang="en-US" altLang="en-US" dirty="0"/>
              <a:t>Results: Objects and soil layers </a:t>
            </a:r>
          </a:p>
        </p:txBody>
      </p:sp>
      <p:pic>
        <p:nvPicPr>
          <p:cNvPr id="28676" name="Picture 3">
            <a:extLst>
              <a:ext uri="{FF2B5EF4-FFF2-40B4-BE49-F238E27FC236}">
                <a16:creationId xmlns:a16="http://schemas.microsoft.com/office/drawing/2014/main" id="{48F498E3-EC8B-4576-8BB7-4517069BFB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4591" y="1893094"/>
            <a:ext cx="7824788" cy="3612356"/>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59DABA6A-41F2-4907-AF2D-ACE2A547B9AA}"/>
              </a:ext>
            </a:extLst>
          </p:cNvPr>
          <p:cNvSpPr>
            <a:spLocks noGrp="1"/>
          </p:cNvSpPr>
          <p:nvPr>
            <p:ph type="sldNum" sz="quarter" idx="12"/>
          </p:nvPr>
        </p:nvSpPr>
        <p:spPr bwMode="auto">
          <a:xfrm>
            <a:off x="10991851" y="64277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fr-FR"/>
            </a:defPPr>
            <a:lvl1pPr algn="r" rtl="0" eaLnBrk="0" fontAlgn="base" hangingPunct="0">
              <a:spcBef>
                <a:spcPct val="0"/>
              </a:spcBef>
              <a:spcAft>
                <a:spcPct val="0"/>
              </a:spcAft>
              <a:defRPr sz="1000" kern="1200">
                <a:solidFill>
                  <a:schemeClr val="tx1"/>
                </a:solidFill>
                <a:latin typeface="Verdana" charset="0"/>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a:lstStyle>
          <a:p>
            <a:fld id="{5EB931FA-6A12-4C83-8D6A-9758F311CC45}" type="slidenum">
              <a:rPr lang="en-US" altLang="en-US" smtClean="0"/>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E3D4D4C5-1A65-4FF9-8E21-EB5AD9D65E77}"/>
              </a:ext>
            </a:extLst>
          </p:cNvPr>
          <p:cNvSpPr>
            <a:spLocks noGrp="1"/>
          </p:cNvSpPr>
          <p:nvPr>
            <p:ph type="title"/>
          </p:nvPr>
        </p:nvSpPr>
        <p:spPr/>
        <p:txBody>
          <a:bodyPr/>
          <a:lstStyle/>
          <a:p>
            <a:pPr eaLnBrk="1" hangingPunct="1"/>
            <a:r>
              <a:rPr lang="en-US" altLang="en-US"/>
              <a:t>Results: Objects and soil layers </a:t>
            </a:r>
          </a:p>
        </p:txBody>
      </p:sp>
      <p:pic>
        <p:nvPicPr>
          <p:cNvPr id="29700" name="Picture 5" descr="U18-TN-2014-06-26 13.52.52.jpg">
            <a:extLst>
              <a:ext uri="{FF2B5EF4-FFF2-40B4-BE49-F238E27FC236}">
                <a16:creationId xmlns:a16="http://schemas.microsoft.com/office/drawing/2014/main" id="{7F027EF1-77FB-44C8-93F7-7337E8F7F1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7719" y="1876425"/>
            <a:ext cx="2914650" cy="36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6" descr="FILE____006 P_11.PNG">
            <a:extLst>
              <a:ext uri="{FF2B5EF4-FFF2-40B4-BE49-F238E27FC236}">
                <a16:creationId xmlns:a16="http://schemas.microsoft.com/office/drawing/2014/main" id="{852C12DA-ED44-41BD-A960-5E98B74C24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13560" y="1876425"/>
            <a:ext cx="4836319" cy="36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3225B2B6-DE90-411A-B035-D78B15DECC8F}"/>
              </a:ext>
            </a:extLst>
          </p:cNvPr>
          <p:cNvSpPr txBox="1"/>
          <p:nvPr/>
        </p:nvSpPr>
        <p:spPr>
          <a:xfrm>
            <a:off x="5334000" y="2578893"/>
            <a:ext cx="2100318" cy="323165"/>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fontAlgn="auto">
              <a:spcBef>
                <a:spcPts val="0"/>
              </a:spcBef>
              <a:spcAft>
                <a:spcPts val="0"/>
              </a:spcAft>
              <a:defRPr/>
            </a:pPr>
            <a:r>
              <a:rPr lang="en-US" sz="1500" dirty="0"/>
              <a:t>Interface </a:t>
            </a:r>
            <a:r>
              <a:rPr lang="en-US" sz="1500" dirty="0">
                <a:sym typeface="Wingdings"/>
              </a:rPr>
              <a:t></a:t>
            </a:r>
            <a:r>
              <a:rPr lang="en-US" sz="1500" dirty="0"/>
              <a:t> pit</a:t>
            </a:r>
          </a:p>
        </p:txBody>
      </p:sp>
      <p:cxnSp>
        <p:nvCxnSpPr>
          <p:cNvPr id="9" name="Straight Arrow Connector 8">
            <a:extLst>
              <a:ext uri="{FF2B5EF4-FFF2-40B4-BE49-F238E27FC236}">
                <a16:creationId xmlns:a16="http://schemas.microsoft.com/office/drawing/2014/main" id="{2A5F2480-66F1-4916-B658-1D1FFE78B01F}"/>
              </a:ext>
            </a:extLst>
          </p:cNvPr>
          <p:cNvCxnSpPr/>
          <p:nvPr/>
        </p:nvCxnSpPr>
        <p:spPr>
          <a:xfrm flipH="1" flipV="1">
            <a:off x="5981701" y="2255044"/>
            <a:ext cx="203597" cy="3238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4C3F5B4-2F4E-482F-B2D3-132D3C0D8FE2}"/>
              </a:ext>
            </a:extLst>
          </p:cNvPr>
          <p:cNvSpPr txBox="1"/>
          <p:nvPr/>
        </p:nvSpPr>
        <p:spPr>
          <a:xfrm>
            <a:off x="4193958" y="4438481"/>
            <a:ext cx="1830065" cy="323165"/>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fontAlgn="auto">
              <a:spcBef>
                <a:spcPts val="0"/>
              </a:spcBef>
              <a:spcAft>
                <a:spcPts val="0"/>
              </a:spcAft>
              <a:defRPr/>
            </a:pPr>
            <a:r>
              <a:rPr lang="en-US" sz="1500" dirty="0"/>
              <a:t>Mineral layer</a:t>
            </a:r>
          </a:p>
        </p:txBody>
      </p:sp>
      <p:cxnSp>
        <p:nvCxnSpPr>
          <p:cNvPr id="11" name="Straight Connector 10">
            <a:extLst>
              <a:ext uri="{FF2B5EF4-FFF2-40B4-BE49-F238E27FC236}">
                <a16:creationId xmlns:a16="http://schemas.microsoft.com/office/drawing/2014/main" id="{F2F90A2B-F406-4726-894A-8B0BF005C9EA}"/>
              </a:ext>
            </a:extLst>
          </p:cNvPr>
          <p:cNvCxnSpPr/>
          <p:nvPr/>
        </p:nvCxnSpPr>
        <p:spPr>
          <a:xfrm>
            <a:off x="3768329" y="3605213"/>
            <a:ext cx="3563540" cy="110728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CE96037-8027-4AE7-A3F2-81AA5F118107}"/>
              </a:ext>
            </a:extLst>
          </p:cNvPr>
          <p:cNvCxnSpPr/>
          <p:nvPr/>
        </p:nvCxnSpPr>
        <p:spPr>
          <a:xfrm flipH="1" flipV="1">
            <a:off x="7650957" y="3313510"/>
            <a:ext cx="398860" cy="5131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F883AB2-188A-4736-9971-A94D2A9D9BDC}"/>
              </a:ext>
            </a:extLst>
          </p:cNvPr>
          <p:cNvSpPr txBox="1"/>
          <p:nvPr/>
        </p:nvSpPr>
        <p:spPr>
          <a:xfrm>
            <a:off x="8049816" y="3724275"/>
            <a:ext cx="819150" cy="323165"/>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fontAlgn="auto">
              <a:spcBef>
                <a:spcPts val="0"/>
              </a:spcBef>
              <a:spcAft>
                <a:spcPts val="0"/>
              </a:spcAft>
              <a:defRPr/>
            </a:pPr>
            <a:r>
              <a:rPr lang="en-US" sz="1500" dirty="0"/>
              <a:t>drain</a:t>
            </a:r>
          </a:p>
        </p:txBody>
      </p:sp>
      <p:cxnSp>
        <p:nvCxnSpPr>
          <p:cNvPr id="15" name="Straight Arrow Connector 14">
            <a:extLst>
              <a:ext uri="{FF2B5EF4-FFF2-40B4-BE49-F238E27FC236}">
                <a16:creationId xmlns:a16="http://schemas.microsoft.com/office/drawing/2014/main" id="{CDAE0CF0-FC17-44EE-AE71-F71043F30444}"/>
              </a:ext>
            </a:extLst>
          </p:cNvPr>
          <p:cNvCxnSpPr>
            <a:cxnSpLocks/>
            <a:stCxn id="14" idx="1"/>
          </p:cNvCxnSpPr>
          <p:nvPr/>
        </p:nvCxnSpPr>
        <p:spPr>
          <a:xfrm flipH="1" flipV="1">
            <a:off x="4804174" y="3049193"/>
            <a:ext cx="3245642" cy="8366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A85DB2B-3A61-4F71-A7BA-54CA7E8546C1}"/>
              </a:ext>
            </a:extLst>
          </p:cNvPr>
          <p:cNvSpPr>
            <a:spLocks noGrp="1"/>
          </p:cNvSpPr>
          <p:nvPr>
            <p:ph type="sldNum" sz="quarter" idx="12"/>
          </p:nvPr>
        </p:nvSpPr>
        <p:spPr bwMode="auto">
          <a:xfrm>
            <a:off x="10991851" y="64277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fr-FR"/>
            </a:defPPr>
            <a:lvl1pPr algn="r" rtl="0" eaLnBrk="0" fontAlgn="base" hangingPunct="0">
              <a:spcBef>
                <a:spcPct val="0"/>
              </a:spcBef>
              <a:spcAft>
                <a:spcPct val="0"/>
              </a:spcAft>
              <a:defRPr sz="1000" kern="1200">
                <a:solidFill>
                  <a:schemeClr val="tx1"/>
                </a:solidFill>
                <a:latin typeface="Verdana" charset="0"/>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a:lstStyle>
          <a:p>
            <a:fld id="{5EB931FA-6A12-4C83-8D6A-9758F311CC45}" type="slidenum">
              <a:rPr lang="en-US" altLang="en-US" smtClean="0"/>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4AEB0B70-4542-498E-8F74-76AD4A126F65}"/>
              </a:ext>
            </a:extLst>
          </p:cNvPr>
          <p:cNvSpPr>
            <a:spLocks noGrp="1"/>
          </p:cNvSpPr>
          <p:nvPr>
            <p:ph type="title"/>
          </p:nvPr>
        </p:nvSpPr>
        <p:spPr/>
        <p:txBody>
          <a:bodyPr/>
          <a:lstStyle/>
          <a:p>
            <a:pPr eaLnBrk="1" hangingPunct="1"/>
            <a:r>
              <a:rPr lang="en-US" altLang="en-US"/>
              <a:t>Results: Objects and soil layers </a:t>
            </a:r>
          </a:p>
        </p:txBody>
      </p:sp>
      <p:pic>
        <p:nvPicPr>
          <p:cNvPr id="30724" name="Picture 5" descr="M4-TNE-2014-07-08 14.30.53.jpg">
            <a:extLst>
              <a:ext uri="{FF2B5EF4-FFF2-40B4-BE49-F238E27FC236}">
                <a16:creationId xmlns:a16="http://schemas.microsoft.com/office/drawing/2014/main" id="{571F0F48-F25C-4EF2-8038-CA747EE485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1241" y="1869282"/>
            <a:ext cx="3808809" cy="36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6" descr="FILE____072 P_11.PNG">
            <a:extLst>
              <a:ext uri="{FF2B5EF4-FFF2-40B4-BE49-F238E27FC236}">
                <a16:creationId xmlns:a16="http://schemas.microsoft.com/office/drawing/2014/main" id="{6166F690-CF18-4420-A9CA-9CF2C9C718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84910" y="1869282"/>
            <a:ext cx="5769769" cy="36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645EE04-4C98-4ED0-8FE7-61DCB5CCAD80}"/>
              </a:ext>
            </a:extLst>
          </p:cNvPr>
          <p:cNvSpPr txBox="1"/>
          <p:nvPr/>
        </p:nvSpPr>
        <p:spPr>
          <a:xfrm>
            <a:off x="5367338" y="2055019"/>
            <a:ext cx="1570435" cy="323165"/>
          </a:xfrm>
          <a:prstGeom prst="rect">
            <a:avLst/>
          </a:prstGeom>
        </p:spPr>
        <p:style>
          <a:lnRef idx="3">
            <a:schemeClr val="lt1"/>
          </a:lnRef>
          <a:fillRef idx="1">
            <a:schemeClr val="accent6"/>
          </a:fillRef>
          <a:effectRef idx="1">
            <a:schemeClr val="accent6"/>
          </a:effectRef>
          <a:fontRef idx="minor">
            <a:schemeClr val="lt1"/>
          </a:fontRef>
        </p:style>
        <p:txBody>
          <a:bodyPr>
            <a:spAutoFit/>
          </a:bodyPr>
          <a:lstStyle/>
          <a:p>
            <a:pPr algn="ctr" fontAlgn="auto">
              <a:spcBef>
                <a:spcPts val="0"/>
              </a:spcBef>
              <a:spcAft>
                <a:spcPts val="0"/>
              </a:spcAft>
              <a:defRPr/>
            </a:pPr>
            <a:r>
              <a:rPr lang="en-US" sz="1500" dirty="0"/>
              <a:t>Ferric layer</a:t>
            </a:r>
          </a:p>
        </p:txBody>
      </p:sp>
      <p:sp>
        <p:nvSpPr>
          <p:cNvPr id="9" name="Trapezoid 8">
            <a:extLst>
              <a:ext uri="{FF2B5EF4-FFF2-40B4-BE49-F238E27FC236}">
                <a16:creationId xmlns:a16="http://schemas.microsoft.com/office/drawing/2014/main" id="{9B8B1EEF-61D5-4785-AE0C-869E21098DA7}"/>
              </a:ext>
            </a:extLst>
          </p:cNvPr>
          <p:cNvSpPr/>
          <p:nvPr/>
        </p:nvSpPr>
        <p:spPr>
          <a:xfrm flipV="1">
            <a:off x="4210050" y="1869281"/>
            <a:ext cx="685800" cy="919163"/>
          </a:xfrm>
          <a:prstGeom prst="trapezoid">
            <a:avLst/>
          </a:prstGeom>
          <a:solidFill>
            <a:schemeClr val="accent6"/>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500"/>
          </a:p>
        </p:txBody>
      </p:sp>
      <p:sp>
        <p:nvSpPr>
          <p:cNvPr id="10" name="Trapezoid 9">
            <a:extLst>
              <a:ext uri="{FF2B5EF4-FFF2-40B4-BE49-F238E27FC236}">
                <a16:creationId xmlns:a16="http://schemas.microsoft.com/office/drawing/2014/main" id="{A8BD3968-B1BB-4693-A6E0-33D007BC50B2}"/>
              </a:ext>
            </a:extLst>
          </p:cNvPr>
          <p:cNvSpPr/>
          <p:nvPr/>
        </p:nvSpPr>
        <p:spPr>
          <a:xfrm flipV="1">
            <a:off x="7321154" y="1869281"/>
            <a:ext cx="684609" cy="919163"/>
          </a:xfrm>
          <a:prstGeom prst="trapezoid">
            <a:avLst/>
          </a:prstGeom>
          <a:solidFill>
            <a:schemeClr val="accent6"/>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500"/>
          </a:p>
        </p:txBody>
      </p:sp>
      <p:sp>
        <p:nvSpPr>
          <p:cNvPr id="2" name="Slide Number Placeholder 1">
            <a:extLst>
              <a:ext uri="{FF2B5EF4-FFF2-40B4-BE49-F238E27FC236}">
                <a16:creationId xmlns:a16="http://schemas.microsoft.com/office/drawing/2014/main" id="{BEEBDEB1-76EB-4D2B-B4B0-8BF52AAA346E}"/>
              </a:ext>
            </a:extLst>
          </p:cNvPr>
          <p:cNvSpPr>
            <a:spLocks noGrp="1"/>
          </p:cNvSpPr>
          <p:nvPr>
            <p:ph type="sldNum" sz="quarter" idx="12"/>
          </p:nvPr>
        </p:nvSpPr>
        <p:spPr bwMode="auto">
          <a:xfrm>
            <a:off x="10991851" y="64277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fr-FR"/>
            </a:defPPr>
            <a:lvl1pPr algn="r" rtl="0" eaLnBrk="0" fontAlgn="base" hangingPunct="0">
              <a:spcBef>
                <a:spcPct val="0"/>
              </a:spcBef>
              <a:spcAft>
                <a:spcPct val="0"/>
              </a:spcAft>
              <a:defRPr sz="1000" kern="1200">
                <a:solidFill>
                  <a:schemeClr val="tx1"/>
                </a:solidFill>
                <a:latin typeface="Verdana" charset="0"/>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a:lstStyle>
          <a:p>
            <a:fld id="{5EB931FA-6A12-4C83-8D6A-9758F311CC45}" type="slidenum">
              <a:rPr lang="en-US" altLang="en-US" smtClean="0"/>
              <a:pPr/>
              <a:t>38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a:extLst>
              <a:ext uri="{FF2B5EF4-FFF2-40B4-BE49-F238E27FC236}">
                <a16:creationId xmlns:a16="http://schemas.microsoft.com/office/drawing/2014/main" id="{C97B482F-9F5B-43EF-A89E-8E709012A929}"/>
              </a:ext>
            </a:extLst>
          </p:cNvPr>
          <p:cNvSpPr>
            <a:spLocks noGrp="1" noChangeArrowheads="1"/>
          </p:cNvSpPr>
          <p:nvPr>
            <p:ph type="title"/>
          </p:nvPr>
        </p:nvSpPr>
        <p:spPr/>
        <p:txBody>
          <a:bodyPr/>
          <a:lstStyle/>
          <a:p>
            <a:r>
              <a:rPr lang="en-US" altLang="en-US" sz="2800"/>
              <a:t>Other methods for soil w.c. measurement </a:t>
            </a:r>
          </a:p>
        </p:txBody>
      </p:sp>
      <p:sp>
        <p:nvSpPr>
          <p:cNvPr id="397315" name="Rectangle 3">
            <a:extLst>
              <a:ext uri="{FF2B5EF4-FFF2-40B4-BE49-F238E27FC236}">
                <a16:creationId xmlns:a16="http://schemas.microsoft.com/office/drawing/2014/main" id="{3104CB29-00D1-4BE1-AE55-98EF47F4BF2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16" name="Rectangle 4">
            <a:extLst>
              <a:ext uri="{FF2B5EF4-FFF2-40B4-BE49-F238E27FC236}">
                <a16:creationId xmlns:a16="http://schemas.microsoft.com/office/drawing/2014/main" id="{77C8AE60-D571-498B-B43D-87450CC2A44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17" name="Rectangle 5">
            <a:extLst>
              <a:ext uri="{FF2B5EF4-FFF2-40B4-BE49-F238E27FC236}">
                <a16:creationId xmlns:a16="http://schemas.microsoft.com/office/drawing/2014/main" id="{D4184011-2447-49C9-9C78-A57BBAD0BBB7}"/>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18" name="Rectangle 6">
            <a:extLst>
              <a:ext uri="{FF2B5EF4-FFF2-40B4-BE49-F238E27FC236}">
                <a16:creationId xmlns:a16="http://schemas.microsoft.com/office/drawing/2014/main" id="{A39FC6CA-48FF-42F2-A9CB-DB0827F5C28B}"/>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19" name="Rectangle 7">
            <a:extLst>
              <a:ext uri="{FF2B5EF4-FFF2-40B4-BE49-F238E27FC236}">
                <a16:creationId xmlns:a16="http://schemas.microsoft.com/office/drawing/2014/main" id="{5F463853-AB42-42B9-AFA7-530F1F13A31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0" name="Rectangle 8">
            <a:extLst>
              <a:ext uri="{FF2B5EF4-FFF2-40B4-BE49-F238E27FC236}">
                <a16:creationId xmlns:a16="http://schemas.microsoft.com/office/drawing/2014/main" id="{9221915A-4A21-4E7B-A0F4-196DAAE484C8}"/>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1" name="Rectangle 9">
            <a:extLst>
              <a:ext uri="{FF2B5EF4-FFF2-40B4-BE49-F238E27FC236}">
                <a16:creationId xmlns:a16="http://schemas.microsoft.com/office/drawing/2014/main" id="{6CB1A6ED-BCD0-41B4-8CD5-026371C30685}"/>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2" name="Rectangle 10">
            <a:extLst>
              <a:ext uri="{FF2B5EF4-FFF2-40B4-BE49-F238E27FC236}">
                <a16:creationId xmlns:a16="http://schemas.microsoft.com/office/drawing/2014/main" id="{E1589238-CF3C-4FFE-85DD-D9BED790529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3" name="Rectangle 11">
            <a:extLst>
              <a:ext uri="{FF2B5EF4-FFF2-40B4-BE49-F238E27FC236}">
                <a16:creationId xmlns:a16="http://schemas.microsoft.com/office/drawing/2014/main" id="{E1B2D758-E575-4CF1-A476-F59564448C6B}"/>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4" name="Rectangle 12">
            <a:extLst>
              <a:ext uri="{FF2B5EF4-FFF2-40B4-BE49-F238E27FC236}">
                <a16:creationId xmlns:a16="http://schemas.microsoft.com/office/drawing/2014/main" id="{C07B6A2F-8D35-4D02-B4A6-C023018EE6FC}"/>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5" name="Rectangle 13">
            <a:extLst>
              <a:ext uri="{FF2B5EF4-FFF2-40B4-BE49-F238E27FC236}">
                <a16:creationId xmlns:a16="http://schemas.microsoft.com/office/drawing/2014/main" id="{AC7C3879-5C51-4868-8810-623CDB32BCD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6" name="Rectangle 14">
            <a:extLst>
              <a:ext uri="{FF2B5EF4-FFF2-40B4-BE49-F238E27FC236}">
                <a16:creationId xmlns:a16="http://schemas.microsoft.com/office/drawing/2014/main" id="{A069ED67-884E-4994-8963-9D249C068993}"/>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7" name="Rectangle 15">
            <a:extLst>
              <a:ext uri="{FF2B5EF4-FFF2-40B4-BE49-F238E27FC236}">
                <a16:creationId xmlns:a16="http://schemas.microsoft.com/office/drawing/2014/main" id="{E2B48375-3AE0-426E-B000-B9912888765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8" name="Rectangle 16">
            <a:extLst>
              <a:ext uri="{FF2B5EF4-FFF2-40B4-BE49-F238E27FC236}">
                <a16:creationId xmlns:a16="http://schemas.microsoft.com/office/drawing/2014/main" id="{07038BB1-AC13-487D-86CD-68AD3B2B7171}"/>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7329" name="Text Box 17">
            <a:extLst>
              <a:ext uri="{FF2B5EF4-FFF2-40B4-BE49-F238E27FC236}">
                <a16:creationId xmlns:a16="http://schemas.microsoft.com/office/drawing/2014/main" id="{69920D85-9507-4312-A9A1-DA70C1F31BE9}"/>
              </a:ext>
            </a:extLst>
          </p:cNvPr>
          <p:cNvSpPr txBox="1">
            <a:spLocks noChangeArrowheads="1"/>
          </p:cNvSpPr>
          <p:nvPr/>
        </p:nvSpPr>
        <p:spPr bwMode="auto">
          <a:xfrm>
            <a:off x="882650" y="838200"/>
            <a:ext cx="80327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endParaRPr lang="en-US" altLang="en-US" sz="600" b="1">
              <a:solidFill>
                <a:srgbClr val="CC0000"/>
              </a:solidFill>
            </a:endParaRPr>
          </a:p>
          <a:p>
            <a:pPr eaLnBrk="0" hangingPunct="0"/>
            <a:r>
              <a:rPr lang="en-US" altLang="en-US" sz="1900" b="1"/>
              <a:t>Ground Penetrating Radar GPR – suspended horn antenna</a:t>
            </a:r>
          </a:p>
        </p:txBody>
      </p:sp>
      <p:sp>
        <p:nvSpPr>
          <p:cNvPr id="397330" name="Rectangle 18">
            <a:extLst>
              <a:ext uri="{FF2B5EF4-FFF2-40B4-BE49-F238E27FC236}">
                <a16:creationId xmlns:a16="http://schemas.microsoft.com/office/drawing/2014/main" id="{CA7FF34A-BC3C-43C5-963E-C1785137F4C1}"/>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397348" name="Picture 36">
            <a:extLst>
              <a:ext uri="{FF2B5EF4-FFF2-40B4-BE49-F238E27FC236}">
                <a16:creationId xmlns:a16="http://schemas.microsoft.com/office/drawing/2014/main" id="{74135D30-3A85-49E6-8905-05197E9FE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447800"/>
            <a:ext cx="4343400" cy="389731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7354" name="Picture 42">
            <a:extLst>
              <a:ext uri="{FF2B5EF4-FFF2-40B4-BE49-F238E27FC236}">
                <a16:creationId xmlns:a16="http://schemas.microsoft.com/office/drawing/2014/main" id="{F8DE151A-DE15-45AC-ACA0-38CE04398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81200"/>
            <a:ext cx="3886200" cy="292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7BE7DD4B-510A-44C0-830B-E0FD7FF84200}"/>
              </a:ext>
            </a:extLst>
          </p:cNvPr>
          <p:cNvSpPr>
            <a:spLocks noGrp="1" noChangeArrowheads="1"/>
          </p:cNvSpPr>
          <p:nvPr>
            <p:ph type="title"/>
          </p:nvPr>
        </p:nvSpPr>
        <p:spPr>
          <a:xfrm>
            <a:off x="762000" y="228600"/>
            <a:ext cx="7772400" cy="579438"/>
          </a:xfrm>
        </p:spPr>
        <p:txBody>
          <a:bodyPr/>
          <a:lstStyle/>
          <a:p>
            <a:r>
              <a:rPr lang="en-US" altLang="en-US" sz="2800"/>
              <a:t>Other methods for soil w.c. measurement </a:t>
            </a:r>
          </a:p>
        </p:txBody>
      </p:sp>
      <p:sp>
        <p:nvSpPr>
          <p:cNvPr id="396291" name="Rectangle 3">
            <a:extLst>
              <a:ext uri="{FF2B5EF4-FFF2-40B4-BE49-F238E27FC236}">
                <a16:creationId xmlns:a16="http://schemas.microsoft.com/office/drawing/2014/main" id="{8E625733-B465-46AD-92F9-5D819EC6EC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2" name="Rectangle 4">
            <a:extLst>
              <a:ext uri="{FF2B5EF4-FFF2-40B4-BE49-F238E27FC236}">
                <a16:creationId xmlns:a16="http://schemas.microsoft.com/office/drawing/2014/main" id="{140787F9-470C-4CC6-B196-82D005EA374B}"/>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3" name="Rectangle 5">
            <a:extLst>
              <a:ext uri="{FF2B5EF4-FFF2-40B4-BE49-F238E27FC236}">
                <a16:creationId xmlns:a16="http://schemas.microsoft.com/office/drawing/2014/main" id="{57C21373-D28D-49A2-A28B-AF72AE852630}"/>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4" name="Rectangle 6">
            <a:extLst>
              <a:ext uri="{FF2B5EF4-FFF2-40B4-BE49-F238E27FC236}">
                <a16:creationId xmlns:a16="http://schemas.microsoft.com/office/drawing/2014/main" id="{9F511891-A428-47C3-986A-F006BEC1FB63}"/>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5" name="Rectangle 7">
            <a:extLst>
              <a:ext uri="{FF2B5EF4-FFF2-40B4-BE49-F238E27FC236}">
                <a16:creationId xmlns:a16="http://schemas.microsoft.com/office/drawing/2014/main" id="{8CF5BDAF-6E91-4459-8372-C7FA0EC50BF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6" name="Rectangle 8">
            <a:extLst>
              <a:ext uri="{FF2B5EF4-FFF2-40B4-BE49-F238E27FC236}">
                <a16:creationId xmlns:a16="http://schemas.microsoft.com/office/drawing/2014/main" id="{93C68F5C-D386-4BCC-8C78-293873EA15BF}"/>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7" name="Rectangle 9">
            <a:extLst>
              <a:ext uri="{FF2B5EF4-FFF2-40B4-BE49-F238E27FC236}">
                <a16:creationId xmlns:a16="http://schemas.microsoft.com/office/drawing/2014/main" id="{40377034-8D60-4876-96D5-08FDD97BE110}"/>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8" name="Rectangle 10">
            <a:extLst>
              <a:ext uri="{FF2B5EF4-FFF2-40B4-BE49-F238E27FC236}">
                <a16:creationId xmlns:a16="http://schemas.microsoft.com/office/drawing/2014/main" id="{CA6DF792-A574-4FD9-8FDD-3235C86EAD55}"/>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299" name="Rectangle 11">
            <a:extLst>
              <a:ext uri="{FF2B5EF4-FFF2-40B4-BE49-F238E27FC236}">
                <a16:creationId xmlns:a16="http://schemas.microsoft.com/office/drawing/2014/main" id="{8DF3C0BB-4EFA-4229-816B-C7AD9A90EEFD}"/>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0" name="Rectangle 12">
            <a:extLst>
              <a:ext uri="{FF2B5EF4-FFF2-40B4-BE49-F238E27FC236}">
                <a16:creationId xmlns:a16="http://schemas.microsoft.com/office/drawing/2014/main" id="{B5E27BBD-983F-41F3-9B5A-021EEFFD19FA}"/>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1" name="Rectangle 13">
            <a:extLst>
              <a:ext uri="{FF2B5EF4-FFF2-40B4-BE49-F238E27FC236}">
                <a16:creationId xmlns:a16="http://schemas.microsoft.com/office/drawing/2014/main" id="{2E03B89C-48AC-49EB-B7C6-3932F9116DA1}"/>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2" name="Rectangle 14">
            <a:extLst>
              <a:ext uri="{FF2B5EF4-FFF2-40B4-BE49-F238E27FC236}">
                <a16:creationId xmlns:a16="http://schemas.microsoft.com/office/drawing/2014/main" id="{22E8666A-85E5-4B77-9B6E-4B7E5ACA11C4}"/>
              </a:ext>
            </a:extLst>
          </p:cNvPr>
          <p:cNvSpPr>
            <a:spLocks noChangeArrowheads="1"/>
          </p:cNvSpPr>
          <p:nvPr/>
        </p:nvSpPr>
        <p:spPr bwMode="auto">
          <a:xfrm>
            <a:off x="0" y="3351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3" name="Rectangle 15">
            <a:extLst>
              <a:ext uri="{FF2B5EF4-FFF2-40B4-BE49-F238E27FC236}">
                <a16:creationId xmlns:a16="http://schemas.microsoft.com/office/drawing/2014/main" id="{73EA5764-39CA-4C96-AE3F-AB4AD1F201E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4" name="Rectangle 16">
            <a:extLst>
              <a:ext uri="{FF2B5EF4-FFF2-40B4-BE49-F238E27FC236}">
                <a16:creationId xmlns:a16="http://schemas.microsoft.com/office/drawing/2014/main" id="{5A7C4DF5-1D99-4985-AAE0-EB63F2F05B6A}"/>
              </a:ext>
            </a:extLst>
          </p:cNvPr>
          <p:cNvSpPr>
            <a:spLocks noChangeArrowheads="1"/>
          </p:cNvSpPr>
          <p:nvPr/>
        </p:nvSpPr>
        <p:spPr bwMode="auto">
          <a:xfrm>
            <a:off x="0" y="3295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96305" name="Text Box 17">
            <a:extLst>
              <a:ext uri="{FF2B5EF4-FFF2-40B4-BE49-F238E27FC236}">
                <a16:creationId xmlns:a16="http://schemas.microsoft.com/office/drawing/2014/main" id="{9F671F60-A0CB-487B-8206-2C560A44A2B9}"/>
              </a:ext>
            </a:extLst>
          </p:cNvPr>
          <p:cNvSpPr txBox="1">
            <a:spLocks noChangeArrowheads="1"/>
          </p:cNvSpPr>
          <p:nvPr/>
        </p:nvSpPr>
        <p:spPr bwMode="auto">
          <a:xfrm>
            <a:off x="381000" y="914400"/>
            <a:ext cx="80327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eaLnBrk="0" hangingPunct="0"/>
            <a:endParaRPr lang="en-US" altLang="en-US" sz="600" b="1">
              <a:solidFill>
                <a:srgbClr val="CC0000"/>
              </a:solidFill>
            </a:endParaRPr>
          </a:p>
          <a:p>
            <a:pPr eaLnBrk="0" hangingPunct="0"/>
            <a:r>
              <a:rPr lang="en-US" altLang="en-US" sz="1900" b="1"/>
              <a:t>Ground Penetrating Radar GPR – measurements over wheat canopy</a:t>
            </a:r>
          </a:p>
        </p:txBody>
      </p:sp>
      <p:sp>
        <p:nvSpPr>
          <p:cNvPr id="396306" name="Rectangle 18">
            <a:extLst>
              <a:ext uri="{FF2B5EF4-FFF2-40B4-BE49-F238E27FC236}">
                <a16:creationId xmlns:a16="http://schemas.microsoft.com/office/drawing/2014/main" id="{2B16551A-740E-461A-BDB8-E0A1F110F858}"/>
              </a:ext>
            </a:extLst>
          </p:cNvPr>
          <p:cNvSpPr>
            <a:spLocks noChangeArrowheads="1"/>
          </p:cNvSpPr>
          <p:nvPr/>
        </p:nvSpPr>
        <p:spPr bwMode="auto">
          <a:xfrm>
            <a:off x="0" y="3263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nvGrpSpPr>
          <p:cNvPr id="396328" name="Group 40">
            <a:extLst>
              <a:ext uri="{FF2B5EF4-FFF2-40B4-BE49-F238E27FC236}">
                <a16:creationId xmlns:a16="http://schemas.microsoft.com/office/drawing/2014/main" id="{4739F3F5-4E22-4D49-B4E0-EE6C76AE9F07}"/>
              </a:ext>
            </a:extLst>
          </p:cNvPr>
          <p:cNvGrpSpPr>
            <a:grpSpLocks/>
          </p:cNvGrpSpPr>
          <p:nvPr/>
        </p:nvGrpSpPr>
        <p:grpSpPr bwMode="auto">
          <a:xfrm>
            <a:off x="228600" y="2057400"/>
            <a:ext cx="8366125" cy="3705225"/>
            <a:chOff x="144" y="1296"/>
            <a:chExt cx="5270" cy="2334"/>
          </a:xfrm>
        </p:grpSpPr>
        <p:pic>
          <p:nvPicPr>
            <p:cNvPr id="396308" name="Picture 20">
              <a:extLst>
                <a:ext uri="{FF2B5EF4-FFF2-40B4-BE49-F238E27FC236}">
                  <a16:creationId xmlns:a16="http://schemas.microsoft.com/office/drawing/2014/main" id="{6C90C2AB-DA27-4593-81B9-F9CAE13F1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 y="1296"/>
              <a:ext cx="1727" cy="2334"/>
            </a:xfrm>
            <a:prstGeom prst="rect">
              <a:avLst/>
            </a:prstGeom>
            <a:noFill/>
            <a:extLst>
              <a:ext uri="{909E8E84-426E-40DD-AFC4-6F175D3DCCD1}">
                <a14:hiddenFill xmlns:a14="http://schemas.microsoft.com/office/drawing/2010/main">
                  <a:solidFill>
                    <a:srgbClr val="CCFFCC"/>
                  </a:solidFill>
                </a14:hiddenFill>
              </a:ext>
            </a:extLst>
          </p:spPr>
        </p:pic>
        <p:sp>
          <p:nvSpPr>
            <p:cNvPr id="396309" name="Text Box 21">
              <a:extLst>
                <a:ext uri="{FF2B5EF4-FFF2-40B4-BE49-F238E27FC236}">
                  <a16:creationId xmlns:a16="http://schemas.microsoft.com/office/drawing/2014/main" id="{63BC5E9E-0987-4C8D-A3DB-18805C92A1DB}"/>
                </a:ext>
              </a:extLst>
            </p:cNvPr>
            <p:cNvSpPr txBox="1">
              <a:spLocks noChangeArrowheads="1"/>
            </p:cNvSpPr>
            <p:nvPr/>
          </p:nvSpPr>
          <p:spPr bwMode="auto">
            <a:xfrm>
              <a:off x="3216" y="2324"/>
              <a:ext cx="672" cy="288"/>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en-US" sz="1200" b="1">
                  <a:solidFill>
                    <a:srgbClr val="000000"/>
                  </a:solidFill>
                  <a:latin typeface="Times New Roman" panose="02020603050405020304" pitchFamily="18" charset="0"/>
                  <a:cs typeface="Times New Roman" panose="02020603050405020304" pitchFamily="18" charset="0"/>
                </a:rPr>
                <a:t>illuminated</a:t>
              </a:r>
            </a:p>
            <a:p>
              <a:pPr algn="ctr" eaLnBrk="0" hangingPunct="0"/>
              <a:r>
                <a:rPr lang="en-US" altLang="en-US" sz="1200" b="1">
                  <a:solidFill>
                    <a:srgbClr val="000000"/>
                  </a:solidFill>
                  <a:latin typeface="Times New Roman" panose="02020603050405020304" pitchFamily="18" charset="0"/>
                  <a:cs typeface="Times New Roman" panose="02020603050405020304" pitchFamily="18" charset="0"/>
                </a:rPr>
                <a:t>region</a:t>
              </a:r>
            </a:p>
          </p:txBody>
        </p:sp>
        <p:sp>
          <p:nvSpPr>
            <p:cNvPr id="396310" name="Text Box 22">
              <a:extLst>
                <a:ext uri="{FF2B5EF4-FFF2-40B4-BE49-F238E27FC236}">
                  <a16:creationId xmlns:a16="http://schemas.microsoft.com/office/drawing/2014/main" id="{B02C3EFD-8BFC-4073-A610-6AE1ADD9EE75}"/>
                </a:ext>
              </a:extLst>
            </p:cNvPr>
            <p:cNvSpPr txBox="1">
              <a:spLocks noChangeArrowheads="1"/>
            </p:cNvSpPr>
            <p:nvPr/>
          </p:nvSpPr>
          <p:spPr bwMode="auto">
            <a:xfrm rot="18000000">
              <a:off x="2701" y="1768"/>
              <a:ext cx="416" cy="288"/>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en-US" sz="1200">
                  <a:solidFill>
                    <a:srgbClr val="000000"/>
                  </a:solidFill>
                  <a:latin typeface="Times New Roman" panose="02020603050405020304" pitchFamily="18" charset="0"/>
                  <a:cs typeface="Times New Roman" panose="02020603050405020304" pitchFamily="18" charset="0"/>
                </a:rPr>
                <a:t>GPR</a:t>
              </a:r>
            </a:p>
            <a:p>
              <a:pPr algn="ctr" eaLnBrk="0" hangingPunct="0"/>
              <a:r>
                <a:rPr lang="en-US" altLang="en-US" sz="1200">
                  <a:solidFill>
                    <a:srgbClr val="000000"/>
                  </a:solidFill>
                  <a:latin typeface="Times New Roman" panose="02020603050405020304" pitchFamily="18" charset="0"/>
                  <a:cs typeface="Times New Roman" panose="02020603050405020304" pitchFamily="18" charset="0"/>
                </a:rPr>
                <a:t>antenna</a:t>
              </a:r>
            </a:p>
          </p:txBody>
        </p:sp>
        <p:sp>
          <p:nvSpPr>
            <p:cNvPr id="396311" name="Text Box 23">
              <a:extLst>
                <a:ext uri="{FF2B5EF4-FFF2-40B4-BE49-F238E27FC236}">
                  <a16:creationId xmlns:a16="http://schemas.microsoft.com/office/drawing/2014/main" id="{A6647BA7-343A-4DA2-8100-139FA52B3121}"/>
                </a:ext>
              </a:extLst>
            </p:cNvPr>
            <p:cNvSpPr txBox="1">
              <a:spLocks noChangeArrowheads="1"/>
            </p:cNvSpPr>
            <p:nvPr/>
          </p:nvSpPr>
          <p:spPr bwMode="auto">
            <a:xfrm>
              <a:off x="3072" y="2814"/>
              <a:ext cx="218" cy="154"/>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0" hangingPunct="0"/>
              <a:r>
                <a:rPr lang="en-US" altLang="en-US" sz="1000" b="1">
                  <a:solidFill>
                    <a:srgbClr val="FF3300"/>
                  </a:solidFill>
                  <a:latin typeface="Times New Roman" panose="02020603050405020304" pitchFamily="18" charset="0"/>
                  <a:cs typeface="Times New Roman" panose="02020603050405020304" pitchFamily="18" charset="0"/>
                </a:rPr>
                <a:t>SR</a:t>
              </a:r>
            </a:p>
          </p:txBody>
        </p:sp>
        <p:sp>
          <p:nvSpPr>
            <p:cNvPr id="396312" name="Line 24">
              <a:extLst>
                <a:ext uri="{FF2B5EF4-FFF2-40B4-BE49-F238E27FC236}">
                  <a16:creationId xmlns:a16="http://schemas.microsoft.com/office/drawing/2014/main" id="{DC3947BB-6B36-4731-9C9B-DAC4993B08BA}"/>
                </a:ext>
              </a:extLst>
            </p:cNvPr>
            <p:cNvSpPr>
              <a:spLocks noChangeShapeType="1"/>
            </p:cNvSpPr>
            <p:nvPr/>
          </p:nvSpPr>
          <p:spPr bwMode="auto">
            <a:xfrm>
              <a:off x="2640" y="3294"/>
              <a:ext cx="0" cy="144"/>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396313" name="Text Box 25">
              <a:extLst>
                <a:ext uri="{FF2B5EF4-FFF2-40B4-BE49-F238E27FC236}">
                  <a16:creationId xmlns:a16="http://schemas.microsoft.com/office/drawing/2014/main" id="{818D3462-B8E0-4975-8027-44C25E097519}"/>
                </a:ext>
              </a:extLst>
            </p:cNvPr>
            <p:cNvSpPr txBox="1">
              <a:spLocks noChangeArrowheads="1"/>
            </p:cNvSpPr>
            <p:nvPr/>
          </p:nvSpPr>
          <p:spPr bwMode="auto">
            <a:xfrm>
              <a:off x="2448" y="3294"/>
              <a:ext cx="218" cy="154"/>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0" hangingPunct="0"/>
              <a:r>
                <a:rPr lang="en-US" altLang="en-US" sz="1000" b="1">
                  <a:solidFill>
                    <a:srgbClr val="FF3300"/>
                  </a:solidFill>
                  <a:latin typeface="Times New Roman" panose="02020603050405020304" pitchFamily="18" charset="0"/>
                  <a:cs typeface="Times New Roman" panose="02020603050405020304" pitchFamily="18" charset="0"/>
                </a:rPr>
                <a:t>PT</a:t>
              </a:r>
            </a:p>
          </p:txBody>
        </p:sp>
        <p:sp>
          <p:nvSpPr>
            <p:cNvPr id="396314" name="Freeform 26">
              <a:extLst>
                <a:ext uri="{FF2B5EF4-FFF2-40B4-BE49-F238E27FC236}">
                  <a16:creationId xmlns:a16="http://schemas.microsoft.com/office/drawing/2014/main" id="{AD2B7AB0-6404-4059-8AFC-E19B70BFC216}"/>
                </a:ext>
              </a:extLst>
            </p:cNvPr>
            <p:cNvSpPr>
              <a:spLocks/>
            </p:cNvSpPr>
            <p:nvPr/>
          </p:nvSpPr>
          <p:spPr bwMode="auto">
            <a:xfrm>
              <a:off x="2928" y="2958"/>
              <a:ext cx="330" cy="349"/>
            </a:xfrm>
            <a:custGeom>
              <a:avLst/>
              <a:gdLst>
                <a:gd name="T0" fmla="*/ 432 w 504"/>
                <a:gd name="T1" fmla="*/ 0 h 576"/>
                <a:gd name="T2" fmla="*/ 432 w 504"/>
                <a:gd name="T3" fmla="*/ 384 h 576"/>
                <a:gd name="T4" fmla="*/ 0 w 504"/>
                <a:gd name="T5" fmla="*/ 576 h 576"/>
              </a:gdLst>
              <a:ahLst/>
              <a:cxnLst>
                <a:cxn ang="0">
                  <a:pos x="T0" y="T1"/>
                </a:cxn>
                <a:cxn ang="0">
                  <a:pos x="T2" y="T3"/>
                </a:cxn>
                <a:cxn ang="0">
                  <a:pos x="T4" y="T5"/>
                </a:cxn>
              </a:cxnLst>
              <a:rect l="0" t="0" r="r" b="b"/>
              <a:pathLst>
                <a:path w="504" h="576">
                  <a:moveTo>
                    <a:pt x="432" y="0"/>
                  </a:moveTo>
                  <a:cubicBezTo>
                    <a:pt x="468" y="144"/>
                    <a:pt x="504" y="288"/>
                    <a:pt x="432" y="384"/>
                  </a:cubicBezTo>
                  <a:cubicBezTo>
                    <a:pt x="360" y="480"/>
                    <a:pt x="180" y="528"/>
                    <a:pt x="0" y="576"/>
                  </a:cubicBezTo>
                </a:path>
              </a:pathLst>
            </a:custGeom>
            <a:noFill/>
            <a:ln w="9525" cap="flat" cmpd="sng">
              <a:solidFill>
                <a:srgbClr val="FF3300"/>
              </a:solidFill>
              <a:prstDash val="solid"/>
              <a:round/>
              <a:headEnd/>
              <a:tailEnd type="triangle" w="med" len="me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396315" name="Line 27">
              <a:extLst>
                <a:ext uri="{FF2B5EF4-FFF2-40B4-BE49-F238E27FC236}">
                  <a16:creationId xmlns:a16="http://schemas.microsoft.com/office/drawing/2014/main" id="{E1070648-FD5D-4CD4-9DA3-8A21E13E89E5}"/>
                </a:ext>
              </a:extLst>
            </p:cNvPr>
            <p:cNvSpPr>
              <a:spLocks noChangeShapeType="1"/>
            </p:cNvSpPr>
            <p:nvPr/>
          </p:nvSpPr>
          <p:spPr bwMode="auto">
            <a:xfrm flipH="1">
              <a:off x="3504" y="3102"/>
              <a:ext cx="144" cy="1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396316" name="Text Box 28">
              <a:extLst>
                <a:ext uri="{FF2B5EF4-FFF2-40B4-BE49-F238E27FC236}">
                  <a16:creationId xmlns:a16="http://schemas.microsoft.com/office/drawing/2014/main" id="{9FAE7FD9-1756-469D-B63D-1B38EC0DC9F7}"/>
                </a:ext>
              </a:extLst>
            </p:cNvPr>
            <p:cNvSpPr txBox="1">
              <a:spLocks noChangeArrowheads="1"/>
            </p:cNvSpPr>
            <p:nvPr/>
          </p:nvSpPr>
          <p:spPr bwMode="auto">
            <a:xfrm>
              <a:off x="3552" y="2862"/>
              <a:ext cx="356" cy="288"/>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eaLnBrk="0" hangingPunct="0"/>
              <a:r>
                <a:rPr lang="en-US" altLang="en-US" sz="1200" b="1">
                  <a:solidFill>
                    <a:srgbClr val="000000"/>
                  </a:solidFill>
                  <a:latin typeface="Times New Roman" panose="02020603050405020304" pitchFamily="18" charset="0"/>
                  <a:cs typeface="Times New Roman" panose="02020603050405020304" pitchFamily="18" charset="0"/>
                </a:rPr>
                <a:t>TDR</a:t>
              </a:r>
            </a:p>
            <a:p>
              <a:pPr eaLnBrk="0" hangingPunct="0"/>
              <a:r>
                <a:rPr lang="en-US" altLang="en-US" sz="1200" b="1">
                  <a:solidFill>
                    <a:srgbClr val="000000"/>
                  </a:solidFill>
                  <a:latin typeface="Times New Roman" panose="02020603050405020304" pitchFamily="18" charset="0"/>
                  <a:cs typeface="Times New Roman" panose="02020603050405020304" pitchFamily="18" charset="0"/>
                </a:rPr>
                <a:t>probe</a:t>
              </a:r>
            </a:p>
          </p:txBody>
        </p:sp>
        <p:sp>
          <p:nvSpPr>
            <p:cNvPr id="396317" name="Text Box 29">
              <a:extLst>
                <a:ext uri="{FF2B5EF4-FFF2-40B4-BE49-F238E27FC236}">
                  <a16:creationId xmlns:a16="http://schemas.microsoft.com/office/drawing/2014/main" id="{6E5D8F36-51C4-4873-BE2C-E9D1F0A16C71}"/>
                </a:ext>
              </a:extLst>
            </p:cNvPr>
            <p:cNvSpPr txBox="1">
              <a:spLocks noChangeArrowheads="1"/>
            </p:cNvSpPr>
            <p:nvPr/>
          </p:nvSpPr>
          <p:spPr bwMode="auto">
            <a:xfrm>
              <a:off x="2160" y="2286"/>
              <a:ext cx="624" cy="403"/>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algn="ctr" eaLnBrk="0" hangingPunct="0"/>
              <a:r>
                <a:rPr lang="en-US" altLang="en-US" sz="1200" b="1">
                  <a:solidFill>
                    <a:srgbClr val="006600"/>
                  </a:solidFill>
                  <a:latin typeface="Times New Roman" panose="02020603050405020304" pitchFamily="18" charset="0"/>
                  <a:cs typeface="Times New Roman" panose="02020603050405020304" pitchFamily="18" charset="0"/>
                </a:rPr>
                <a:t>Reflecting canopy layers</a:t>
              </a:r>
            </a:p>
          </p:txBody>
        </p:sp>
        <p:sp>
          <p:nvSpPr>
            <p:cNvPr id="396318" name="Line 30">
              <a:extLst>
                <a:ext uri="{FF2B5EF4-FFF2-40B4-BE49-F238E27FC236}">
                  <a16:creationId xmlns:a16="http://schemas.microsoft.com/office/drawing/2014/main" id="{40C7B25C-C70E-49A3-867A-EA542AAA2802}"/>
                </a:ext>
              </a:extLst>
            </p:cNvPr>
            <p:cNvSpPr>
              <a:spLocks noChangeShapeType="1"/>
            </p:cNvSpPr>
            <p:nvPr/>
          </p:nvSpPr>
          <p:spPr bwMode="auto">
            <a:xfrm>
              <a:off x="2448" y="2670"/>
              <a:ext cx="96" cy="480"/>
            </a:xfrm>
            <a:prstGeom prst="line">
              <a:avLst/>
            </a:prstGeom>
            <a:noFill/>
            <a:ln w="38100">
              <a:solidFill>
                <a:srgbClr val="0066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396319" name="Text Box 31">
              <a:extLst>
                <a:ext uri="{FF2B5EF4-FFF2-40B4-BE49-F238E27FC236}">
                  <a16:creationId xmlns:a16="http://schemas.microsoft.com/office/drawing/2014/main" id="{FE6C0EC7-9481-412E-A492-D28483C1312F}"/>
                </a:ext>
              </a:extLst>
            </p:cNvPr>
            <p:cNvSpPr txBox="1">
              <a:spLocks noChangeArrowheads="1"/>
            </p:cNvSpPr>
            <p:nvPr/>
          </p:nvSpPr>
          <p:spPr bwMode="auto">
            <a:xfrm>
              <a:off x="2208" y="1614"/>
              <a:ext cx="438" cy="135"/>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pPr eaLnBrk="0" hangingPunct="0"/>
              <a:r>
                <a:rPr lang="en-US" altLang="en-US" sz="800" b="1">
                  <a:solidFill>
                    <a:srgbClr val="000000"/>
                  </a:solidFill>
                  <a:cs typeface="Times New Roman" panose="02020603050405020304" pitchFamily="18" charset="0"/>
                </a:rPr>
                <a:t>Scale (cm)</a:t>
              </a:r>
            </a:p>
          </p:txBody>
        </p:sp>
        <p:sp>
          <p:nvSpPr>
            <p:cNvPr id="396320" name="Freeform 32">
              <a:extLst>
                <a:ext uri="{FF2B5EF4-FFF2-40B4-BE49-F238E27FC236}">
                  <a16:creationId xmlns:a16="http://schemas.microsoft.com/office/drawing/2014/main" id="{CCBA5A77-AFE5-49AB-BDD6-057BEA5105F7}"/>
                </a:ext>
              </a:extLst>
            </p:cNvPr>
            <p:cNvSpPr>
              <a:spLocks/>
            </p:cNvSpPr>
            <p:nvPr/>
          </p:nvSpPr>
          <p:spPr bwMode="auto">
            <a:xfrm>
              <a:off x="2448" y="3438"/>
              <a:ext cx="282" cy="114"/>
            </a:xfrm>
            <a:custGeom>
              <a:avLst/>
              <a:gdLst>
                <a:gd name="T0" fmla="*/ 840 w 840"/>
                <a:gd name="T1" fmla="*/ 192 h 216"/>
                <a:gd name="T2" fmla="*/ 168 w 840"/>
                <a:gd name="T3" fmla="*/ 192 h 216"/>
                <a:gd name="T4" fmla="*/ 24 w 840"/>
                <a:gd name="T5" fmla="*/ 48 h 216"/>
                <a:gd name="T6" fmla="*/ 312 w 840"/>
                <a:gd name="T7" fmla="*/ 0 h 216"/>
              </a:gdLst>
              <a:ahLst/>
              <a:cxnLst>
                <a:cxn ang="0">
                  <a:pos x="T0" y="T1"/>
                </a:cxn>
                <a:cxn ang="0">
                  <a:pos x="T2" y="T3"/>
                </a:cxn>
                <a:cxn ang="0">
                  <a:pos x="T4" y="T5"/>
                </a:cxn>
                <a:cxn ang="0">
                  <a:pos x="T6" y="T7"/>
                </a:cxn>
              </a:cxnLst>
              <a:rect l="0" t="0" r="r" b="b"/>
              <a:pathLst>
                <a:path w="840" h="216">
                  <a:moveTo>
                    <a:pt x="840" y="192"/>
                  </a:moveTo>
                  <a:cubicBezTo>
                    <a:pt x="572" y="204"/>
                    <a:pt x="304" y="216"/>
                    <a:pt x="168" y="192"/>
                  </a:cubicBezTo>
                  <a:cubicBezTo>
                    <a:pt x="32" y="168"/>
                    <a:pt x="0" y="80"/>
                    <a:pt x="24" y="48"/>
                  </a:cubicBezTo>
                  <a:cubicBezTo>
                    <a:pt x="48" y="16"/>
                    <a:pt x="180" y="8"/>
                    <a:pt x="312" y="0"/>
                  </a:cubicBezTo>
                </a:path>
              </a:pathLst>
            </a:custGeom>
            <a:noFill/>
            <a:ln w="9525" cap="flat" cmpd="sng">
              <a:solidFill>
                <a:srgbClr val="333333"/>
              </a:solidFill>
              <a:prstDash val="solid"/>
              <a:round/>
              <a:headEnd type="none" w="med" len="med"/>
              <a:tailEnd type="triangle" w="med" len="med"/>
            </a:ln>
            <a:effectLst/>
            <a:extLst>
              <a:ext uri="{909E8E84-426E-40DD-AFC4-6F175D3DCCD1}">
                <a14:hiddenFill xmlns:a14="http://schemas.microsoft.com/office/drawing/2010/main">
                  <a:solidFill>
                    <a:srgbClr val="80808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396321" name="Text Box 33">
              <a:extLst>
                <a:ext uri="{FF2B5EF4-FFF2-40B4-BE49-F238E27FC236}">
                  <a16:creationId xmlns:a16="http://schemas.microsoft.com/office/drawing/2014/main" id="{09392B43-7897-402B-B897-6AC684244867}"/>
                </a:ext>
              </a:extLst>
            </p:cNvPr>
            <p:cNvSpPr txBox="1">
              <a:spLocks noChangeArrowheads="1"/>
            </p:cNvSpPr>
            <p:nvPr/>
          </p:nvSpPr>
          <p:spPr bwMode="auto">
            <a:xfrm>
              <a:off x="2688" y="3438"/>
              <a:ext cx="864" cy="173"/>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0" hangingPunct="0"/>
              <a:r>
                <a:rPr lang="en-US" altLang="en-US" sz="1200" b="1">
                  <a:solidFill>
                    <a:srgbClr val="000000"/>
                  </a:solidFill>
                  <a:latin typeface="Times New Roman" panose="02020603050405020304" pitchFamily="18" charset="0"/>
                  <a:cs typeface="Times New Roman" panose="02020603050405020304" pitchFamily="18" charset="0"/>
                </a:rPr>
                <a:t>Al termination</a:t>
              </a:r>
            </a:p>
          </p:txBody>
        </p:sp>
        <p:sp>
          <p:nvSpPr>
            <p:cNvPr id="396322" name="Line 34">
              <a:extLst>
                <a:ext uri="{FF2B5EF4-FFF2-40B4-BE49-F238E27FC236}">
                  <a16:creationId xmlns:a16="http://schemas.microsoft.com/office/drawing/2014/main" id="{89F7108E-07A3-4CF3-8FDA-30804890E1F1}"/>
                </a:ext>
              </a:extLst>
            </p:cNvPr>
            <p:cNvSpPr>
              <a:spLocks noChangeShapeType="1"/>
            </p:cNvSpPr>
            <p:nvPr/>
          </p:nvSpPr>
          <p:spPr bwMode="auto">
            <a:xfrm flipH="1">
              <a:off x="2976" y="2478"/>
              <a:ext cx="384" cy="33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396323" name="Picture 35">
              <a:extLst>
                <a:ext uri="{FF2B5EF4-FFF2-40B4-BE49-F238E27FC236}">
                  <a16:creationId xmlns:a16="http://schemas.microsoft.com/office/drawing/2014/main" id="{9DCFCA85-C395-4820-AFA2-F1BFE2277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6" y="1296"/>
              <a:ext cx="1478" cy="2267"/>
            </a:xfrm>
            <a:prstGeom prst="rect">
              <a:avLst/>
            </a:prstGeom>
            <a:noFill/>
            <a:extLst>
              <a:ext uri="{909E8E84-426E-40DD-AFC4-6F175D3DCCD1}">
                <a14:hiddenFill xmlns:a14="http://schemas.microsoft.com/office/drawing/2010/main">
                  <a:solidFill>
                    <a:srgbClr val="FFFFFF"/>
                  </a:solidFill>
                </a14:hiddenFill>
              </a:ext>
            </a:extLst>
          </p:spPr>
        </p:pic>
        <p:pic>
          <p:nvPicPr>
            <p:cNvPr id="396327" name="Picture 39">
              <a:extLst>
                <a:ext uri="{FF2B5EF4-FFF2-40B4-BE49-F238E27FC236}">
                  <a16:creationId xmlns:a16="http://schemas.microsoft.com/office/drawing/2014/main" id="{F28766F5-A795-4B0D-A476-8395EB9AAF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 y="1440"/>
              <a:ext cx="2112" cy="2095"/>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theme/theme1.xml><?xml version="1.0" encoding="utf-8"?>
<a:theme xmlns:a="http://schemas.openxmlformats.org/drawingml/2006/main" name="Template01">
  <a:themeElements>
    <a:clrScheme name="Template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Template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Templ02</Template>
  <TotalTime>10242</TotalTime>
  <Words>2112</Words>
  <Application>Microsoft Office PowerPoint</Application>
  <PresentationFormat>On-screen Show (4:3)</PresentationFormat>
  <Paragraphs>204</Paragraphs>
  <Slides>40</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40</vt:i4>
      </vt:variant>
    </vt:vector>
  </HeadingPairs>
  <TitlesOfParts>
    <vt:vector size="53" baseType="lpstr">
      <vt:lpstr>Calibri</vt:lpstr>
      <vt:lpstr>Times New Roman</vt:lpstr>
      <vt:lpstr>Comic Sans MS</vt:lpstr>
      <vt:lpstr>Symbol</vt:lpstr>
      <vt:lpstr>CommonBullets</vt:lpstr>
      <vt:lpstr>Arial</vt:lpstr>
      <vt:lpstr>Verdana</vt:lpstr>
      <vt:lpstr>VAGRounded BT</vt:lpstr>
      <vt:lpstr>Wingdings</vt:lpstr>
      <vt:lpstr>Template01</vt:lpstr>
      <vt:lpstr>Equation</vt:lpstr>
      <vt:lpstr>Chart</vt:lpstr>
      <vt:lpstr>MathType 7.0 Equation</vt:lpstr>
      <vt:lpstr>Characterization of the Soil Liquid Phase </vt:lpstr>
      <vt:lpstr>Characterization of the soil liquid phase</vt:lpstr>
      <vt:lpstr>Soil Water Content – Measurement Methods</vt:lpstr>
      <vt:lpstr>Soil water content – Gravimetric determination</vt:lpstr>
      <vt:lpstr>Soil water content – volumetric</vt:lpstr>
      <vt:lpstr>Nondestructive methods- Neutron scattering </vt:lpstr>
      <vt:lpstr>Neutron scattering method</vt:lpstr>
      <vt:lpstr>Neutron Scattering Method</vt:lpstr>
      <vt:lpstr>Neutron Scattering Method</vt:lpstr>
      <vt:lpstr>Instrument and calibration errors</vt:lpstr>
      <vt:lpstr>Limitations of Neutron Scattering Method</vt:lpstr>
      <vt:lpstr>Time Domain Reflectometry (TDR)</vt:lpstr>
      <vt:lpstr>Time Domain Reflectometry (TDR)</vt:lpstr>
      <vt:lpstr>Time Domain Reflectometry (TDR)</vt:lpstr>
      <vt:lpstr>Time Domain Reflectometry TDR</vt:lpstr>
      <vt:lpstr>Time Domain Reflectometry TDR</vt:lpstr>
      <vt:lpstr>Time Domain Reflectometry TDR</vt:lpstr>
      <vt:lpstr>Time Domain Reflectometry TDR</vt:lpstr>
      <vt:lpstr>TDR – Basic Principles</vt:lpstr>
      <vt:lpstr>TDR – Basic Principles</vt:lpstr>
      <vt:lpstr>TDR probe design and spatial sensitivity</vt:lpstr>
      <vt:lpstr>Soil Bulk Dielectric Constant to Water Content </vt:lpstr>
      <vt:lpstr>Physically Based Dielectric Mixing Models</vt:lpstr>
      <vt:lpstr>Dielectric Mixing Models</vt:lpstr>
      <vt:lpstr>Mixing Model: Example</vt:lpstr>
      <vt:lpstr>Mixing Model: Example</vt:lpstr>
      <vt:lpstr>Limitations of Empirical Relationships</vt:lpstr>
      <vt:lpstr>Limitations of TDR</vt:lpstr>
      <vt:lpstr>Other electrical w.c. measurement methods</vt:lpstr>
      <vt:lpstr>Other electrical w.c. measurement methods</vt:lpstr>
      <vt:lpstr>Other electrical w.c. measurement methods</vt:lpstr>
      <vt:lpstr>Other electrical w.c. measurement methods</vt:lpstr>
      <vt:lpstr> Other methods for soil w.c. measurement </vt:lpstr>
      <vt:lpstr>Other methods for soil w.c. measurement </vt:lpstr>
      <vt:lpstr>Calibration and validation in controlled conditions </vt:lpstr>
      <vt:lpstr>Results: Objects and soil layers </vt:lpstr>
      <vt:lpstr>Results: Objects and soil layers </vt:lpstr>
      <vt:lpstr>Results: Objects and soil layers </vt:lpstr>
      <vt:lpstr>Other methods for soil w.c. measurement </vt:lpstr>
      <vt:lpstr>Other methods for soil w.c. measurement </vt:lpstr>
    </vt:vector>
  </TitlesOfParts>
  <Company>University of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Markus Tuller</dc:creator>
  <cp:lastModifiedBy>Silvio José Gumiere</cp:lastModifiedBy>
  <cp:revision>163</cp:revision>
  <dcterms:created xsi:type="dcterms:W3CDTF">2002-11-21T22:20:50Z</dcterms:created>
  <dcterms:modified xsi:type="dcterms:W3CDTF">2021-12-10T08:31:46Z</dcterms:modified>
</cp:coreProperties>
</file>