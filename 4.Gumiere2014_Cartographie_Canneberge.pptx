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0F1A"/>
        </a:solidFill>
      </p:bgPr>
    </p:bg>
    <p:spTree>
      <p:nvGrpSpPr>
        <p:cNvPr id="1" name=""/>
        <p:cNvGrpSpPr/>
        <p:nvPr/>
      </p:nvGrpSpPr>
      <p:grpSpPr>
        <a:xfrm>
          <a:off x="0" y="0"/>
          <a:ext cx="0" cy="0"/>
          <a:chOff x="0" y="0"/>
          <a:chExt cx="0" cy="0"/>
        </a:xfrm>
      </p:grpSpPr>
      <p:sp>
        <p:nvSpPr>
          <p:cNvPr id="2" name="Shape 0"/>
          <p:cNvSpPr/>
          <p:nvPr/>
        </p:nvSpPr>
        <p:spPr>
          <a:xfrm>
            <a:off x="5943600" y="-2286000"/>
            <a:ext cx="6400800" cy="6400800"/>
          </a:xfrm>
          <a:prstGeom prst="ellipse">
            <a:avLst/>
          </a:prstGeom>
          <a:solidFill>
            <a:srgbClr val="2D5016">
              <a:alpha val="50000"/>
            </a:srgbClr>
          </a:solidFill>
          <a:ln w="12700">
            <a:solidFill>
              <a:srgbClr val="2D5016">
                <a:alpha val="0"/>
              </a:srgbClr>
            </a:solidFill>
            <a:prstDash val="solid"/>
          </a:ln>
        </p:spPr>
      </p:sp>
      <p:sp>
        <p:nvSpPr>
          <p:cNvPr id="3" name="Shape 1"/>
          <p:cNvSpPr/>
          <p:nvPr/>
        </p:nvSpPr>
        <p:spPr>
          <a:xfrm>
            <a:off x="-2286000" y="2743200"/>
            <a:ext cx="4572000" cy="4572000"/>
          </a:xfrm>
          <a:prstGeom prst="ellipse">
            <a:avLst/>
          </a:prstGeom>
          <a:solidFill>
            <a:srgbClr val="0B3954">
              <a:alpha val="40000"/>
            </a:srgbClr>
          </a:solidFill>
          <a:ln w="12700">
            <a:solidFill>
              <a:srgbClr val="0B3954">
                <a:alpha val="0"/>
              </a:srgbClr>
            </a:solidFill>
            <a:prstDash val="solid"/>
          </a:ln>
        </p:spPr>
      </p:sp>
      <p:sp>
        <p:nvSpPr>
          <p:cNvPr id="4" name="Text 2"/>
          <p:cNvSpPr/>
          <p:nvPr/>
        </p:nvSpPr>
        <p:spPr>
          <a:xfrm>
            <a:off x="548640" y="868680"/>
            <a:ext cx="8229600" cy="137160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Cartographie des propriétés hydrauliques</a:t>
            </a:r>
            <a:endParaRPr lang="en-US" sz="3200" dirty="0"/>
          </a:p>
          <a:p>
            <a:pPr indent="0" marL="0">
              <a:buNone/>
            </a:pPr>
            <a:r>
              <a:rPr lang="en-US" sz="3200" b="1" dirty="0">
                <a:solidFill>
                  <a:srgbClr val="FFFFFF"/>
                </a:solidFill>
                <a:latin typeface="Calibri" pitchFamily="34" charset="0"/>
                <a:ea typeface="Calibri" pitchFamily="34" charset="-122"/>
                <a:cs typeface="Calibri" pitchFamily="34" charset="-120"/>
              </a:rPr>
              <a:t>des champs de canneberges</a:t>
            </a:r>
            <a:endParaRPr lang="en-US" sz="3200" dirty="0"/>
          </a:p>
        </p:txBody>
      </p:sp>
      <p:sp>
        <p:nvSpPr>
          <p:cNvPr id="5" name="Text 3"/>
          <p:cNvSpPr/>
          <p:nvPr/>
        </p:nvSpPr>
        <p:spPr>
          <a:xfrm>
            <a:off x="548640" y="2331720"/>
            <a:ext cx="8229600" cy="502920"/>
          </a:xfrm>
          <a:prstGeom prst="rect">
            <a:avLst/>
          </a:prstGeom>
          <a:noFill/>
          <a:ln/>
        </p:spPr>
        <p:txBody>
          <a:bodyPr wrap="square" lIns="0" tIns="0" rIns="0" bIns="0" rtlCol="0" anchor="ctr"/>
          <a:lstStyle/>
          <a:p>
            <a:pPr indent="0" marL="0">
              <a:buNone/>
            </a:pPr>
            <a:r>
              <a:rPr lang="en-US" sz="1600" dirty="0">
                <a:solidFill>
                  <a:srgbClr val="F5EFE6"/>
                </a:solidFill>
                <a:latin typeface="Calibri" pitchFamily="34" charset="0"/>
                <a:ea typeface="Calibri" pitchFamily="34" charset="-122"/>
                <a:cs typeface="Calibri" pitchFamily="34" charset="-120"/>
              </a:rPr>
              <a:t>Caractérisation et comparaison de méthodes d'interpolation spatiale (IDW · TPS · KED)</a:t>
            </a:r>
            <a:endParaRPr lang="en-US" sz="1600" dirty="0"/>
          </a:p>
        </p:txBody>
      </p:sp>
      <p:sp>
        <p:nvSpPr>
          <p:cNvPr id="6" name="Shape 4"/>
          <p:cNvSpPr/>
          <p:nvPr/>
        </p:nvSpPr>
        <p:spPr>
          <a:xfrm>
            <a:off x="548640" y="2926080"/>
            <a:ext cx="548640" cy="45720"/>
          </a:xfrm>
          <a:prstGeom prst="rect">
            <a:avLst/>
          </a:prstGeom>
          <a:solidFill>
            <a:srgbClr val="D4A574"/>
          </a:solidFill>
          <a:ln w="12700">
            <a:solidFill>
              <a:srgbClr val="D4A574"/>
            </a:solidFill>
            <a:prstDash val="solid"/>
          </a:ln>
        </p:spPr>
      </p:sp>
      <p:sp>
        <p:nvSpPr>
          <p:cNvPr id="7" name="Text 5"/>
          <p:cNvSpPr/>
          <p:nvPr/>
        </p:nvSpPr>
        <p:spPr>
          <a:xfrm>
            <a:off x="548640" y="3108960"/>
            <a:ext cx="8229600" cy="8686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Gumiere S. J., Lafond J. A., Hallema D. W., Périard Y., Caron J., Gallichand J.</a:t>
            </a:r>
            <a:endParaRPr lang="en-US" sz="1300" dirty="0"/>
          </a:p>
          <a:p>
            <a:pPr indent="0" marL="0">
              <a:buNone/>
            </a:pPr>
            <a:r>
              <a:rPr lang="en-US" sz="1300" i="1" dirty="0">
                <a:solidFill>
                  <a:srgbClr val="F5EFE6"/>
                </a:solidFill>
                <a:latin typeface="Calibri" pitchFamily="34" charset="0"/>
                <a:ea typeface="Calibri" pitchFamily="34" charset="-122"/>
                <a:cs typeface="Calibri" pitchFamily="34" charset="-120"/>
              </a:rPr>
              <a:t>Biosystems Engineering </a:t>
            </a:r>
            <a:pPr indent="0" marL="0">
              <a:buNone/>
            </a:pPr>
            <a:r>
              <a:rPr lang="en-US" sz="1300" dirty="0">
                <a:solidFill>
                  <a:srgbClr val="F5EFE6"/>
                </a:solidFill>
                <a:latin typeface="Calibri" pitchFamily="34" charset="0"/>
                <a:ea typeface="Calibri" pitchFamily="34" charset="-122"/>
                <a:cs typeface="Calibri" pitchFamily="34" charset="-120"/>
              </a:rPr>
              <a:t>(2014) — doi:10.1016/j.biosystemseng.2014.09.002</a:t>
            </a:r>
            <a:endParaRPr lang="en-US" sz="1300" dirty="0"/>
          </a:p>
        </p:txBody>
      </p:sp>
      <p:sp>
        <p:nvSpPr>
          <p:cNvPr id="8" name="Text 6"/>
          <p:cNvSpPr/>
          <p:nvPr/>
        </p:nvSpPr>
        <p:spPr>
          <a:xfrm>
            <a:off x="548640" y="4434840"/>
            <a:ext cx="8229600" cy="274320"/>
          </a:xfrm>
          <a:prstGeom prst="rect">
            <a:avLst/>
          </a:prstGeom>
          <a:noFill/>
          <a:ln/>
        </p:spPr>
        <p:txBody>
          <a:bodyPr wrap="square" lIns="0" tIns="0" rIns="0" bIns="0" rtlCol="0" anchor="ctr"/>
          <a:lstStyle/>
          <a:p>
            <a:pPr indent="0" marL="0">
              <a:buNone/>
            </a:pPr>
            <a:r>
              <a:rPr lang="en-US" sz="1200" i="1" dirty="0">
                <a:solidFill>
                  <a:srgbClr val="F5EFE6"/>
                </a:solidFill>
                <a:latin typeface="Calibri" pitchFamily="34" charset="0"/>
                <a:ea typeface="Calibri" pitchFamily="34" charset="-122"/>
                <a:cs typeface="Calibri" pitchFamily="34" charset="-120"/>
              </a:rPr>
              <a:t>Présentation pour étudiant·e·s en génie</a:t>
            </a:r>
            <a:endParaRPr lang="en-US" sz="1200" dirty="0"/>
          </a:p>
        </p:txBody>
      </p:sp>
      <p:sp>
        <p:nvSpPr>
          <p:cNvPr id="9" name="Text 7"/>
          <p:cNvSpPr/>
          <p:nvPr/>
        </p:nvSpPr>
        <p:spPr>
          <a:xfrm>
            <a:off x="548640" y="4754880"/>
            <a:ext cx="8229600" cy="274320"/>
          </a:xfrm>
          <a:prstGeom prst="rect">
            <a:avLst/>
          </a:prstGeom>
          <a:noFill/>
          <a:ln/>
        </p:spPr>
        <p:txBody>
          <a:bodyPr wrap="square" lIns="0" tIns="0" rIns="0" bIns="0" rtlCol="0" anchor="ctr"/>
          <a:lstStyle/>
          <a:p>
            <a:pPr indent="0" marL="0">
              <a:buNone/>
            </a:pPr>
            <a:r>
              <a:rPr lang="en-US" sz="1100" dirty="0">
                <a:solidFill>
                  <a:srgbClr val="F5EFE6"/>
                </a:solidFill>
                <a:latin typeface="Calibri" pitchFamily="34" charset="0"/>
                <a:ea typeface="Calibri" pitchFamily="34" charset="-122"/>
                <a:cs typeface="Calibri" pitchFamily="34" charset="-120"/>
              </a:rPr>
              <a:t>Université Laval — Département des sols et de génie agroalimentaire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6B0F1A"/>
          </a:solidFill>
          <a:ln w="12700">
            <a:solidFill>
              <a:srgbClr val="6B0F1A"/>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Contexte — la canneberge au Québec</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Une filière en forte croissance, des besoins en eau précis</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6" name="Shape 4"/>
          <p:cNvSpPr/>
          <p:nvPr/>
        </p:nvSpPr>
        <p:spPr>
          <a:xfrm>
            <a:off x="502920" y="1280160"/>
            <a:ext cx="4023360" cy="960120"/>
          </a:xfrm>
          <a:prstGeom prst="rect">
            <a:avLst/>
          </a:prstGeom>
          <a:solidFill>
            <a:srgbClr val="6B0F1A"/>
          </a:solidFill>
          <a:ln w="12700">
            <a:solidFill>
              <a:srgbClr val="6B0F1A"/>
            </a:solidFill>
            <a:prstDash val="solid"/>
          </a:ln>
          <a:effectLst>
            <a:outerShdw sx="100000" sy="100000" kx="0" ky="0" algn="bl" rotWithShape="0" blurRad="101600" dist="25400" dir="5400000">
              <a:srgbClr val="000000">
                <a:alpha val="10000"/>
              </a:srgbClr>
            </a:outerShdw>
          </a:effectLst>
        </p:spPr>
      </p:sp>
      <p:sp>
        <p:nvSpPr>
          <p:cNvPr id="7" name="Text 5"/>
          <p:cNvSpPr/>
          <p:nvPr/>
        </p:nvSpPr>
        <p:spPr>
          <a:xfrm>
            <a:off x="594360" y="1417320"/>
            <a:ext cx="1691640" cy="7772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27×</a:t>
            </a:r>
            <a:endParaRPr lang="en-US" sz="2600" dirty="0"/>
          </a:p>
        </p:txBody>
      </p:sp>
      <p:sp>
        <p:nvSpPr>
          <p:cNvPr id="8" name="Text 6"/>
          <p:cNvSpPr/>
          <p:nvPr/>
        </p:nvSpPr>
        <p:spPr>
          <a:xfrm>
            <a:off x="2331720" y="1444752"/>
            <a:ext cx="2103120" cy="731520"/>
          </a:xfrm>
          <a:prstGeom prst="rect">
            <a:avLst/>
          </a:prstGeom>
          <a:noFill/>
          <a:ln/>
        </p:spPr>
        <p:txBody>
          <a:bodyPr wrap="square" lIns="0" tIns="0" rIns="0" bIns="0" rtlCol="0" anchor="ctr"/>
          <a:lstStyle/>
          <a:p>
            <a:pPr indent="0" marL="0">
              <a:buNone/>
            </a:pPr>
            <a:r>
              <a:rPr lang="en-US" sz="1100" dirty="0">
                <a:solidFill>
                  <a:srgbClr val="F5EFE6"/>
                </a:solidFill>
                <a:latin typeface="Calibri" pitchFamily="34" charset="0"/>
                <a:ea typeface="Calibri" pitchFamily="34" charset="-122"/>
                <a:cs typeface="Calibri" pitchFamily="34" charset="-120"/>
              </a:rPr>
              <a:t>Croissance de la superficie cultivée au Québec entre 1992 et 2011 (105 → 2 872 ha)</a:t>
            </a:r>
            <a:endParaRPr lang="en-US" sz="1100" dirty="0"/>
          </a:p>
        </p:txBody>
      </p:sp>
      <p:sp>
        <p:nvSpPr>
          <p:cNvPr id="9" name="Shape 7"/>
          <p:cNvSpPr/>
          <p:nvPr/>
        </p:nvSpPr>
        <p:spPr>
          <a:xfrm>
            <a:off x="502920" y="2377440"/>
            <a:ext cx="4023360" cy="960120"/>
          </a:xfrm>
          <a:prstGeom prst="rect">
            <a:avLst/>
          </a:prstGeom>
          <a:solidFill>
            <a:srgbClr val="6B0F1A"/>
          </a:solidFill>
          <a:ln w="12700">
            <a:solidFill>
              <a:srgbClr val="6B0F1A"/>
            </a:solidFill>
            <a:prstDash val="solid"/>
          </a:ln>
          <a:effectLst>
            <a:outerShdw sx="100000" sy="100000" kx="0" ky="0" algn="bl" rotWithShape="0" blurRad="101600" dist="25400" dir="5400000">
              <a:srgbClr val="000000">
                <a:alpha val="10000"/>
              </a:srgbClr>
            </a:outerShdw>
          </a:effectLst>
        </p:spPr>
      </p:sp>
      <p:sp>
        <p:nvSpPr>
          <p:cNvPr id="10" name="Text 8"/>
          <p:cNvSpPr/>
          <p:nvPr/>
        </p:nvSpPr>
        <p:spPr>
          <a:xfrm>
            <a:off x="594360" y="2514600"/>
            <a:ext cx="1691640" cy="7772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60 mm</a:t>
            </a:r>
            <a:endParaRPr lang="en-US" sz="2600" dirty="0"/>
          </a:p>
        </p:txBody>
      </p:sp>
      <p:sp>
        <p:nvSpPr>
          <p:cNvPr id="11" name="Text 9"/>
          <p:cNvSpPr/>
          <p:nvPr/>
        </p:nvSpPr>
        <p:spPr>
          <a:xfrm>
            <a:off x="2331720" y="2542032"/>
            <a:ext cx="2103120" cy="731520"/>
          </a:xfrm>
          <a:prstGeom prst="rect">
            <a:avLst/>
          </a:prstGeom>
          <a:noFill/>
          <a:ln/>
        </p:spPr>
        <p:txBody>
          <a:bodyPr wrap="square" lIns="0" tIns="0" rIns="0" bIns="0" rtlCol="0" anchor="ctr"/>
          <a:lstStyle/>
          <a:p>
            <a:pPr indent="0" marL="0">
              <a:buNone/>
            </a:pPr>
            <a:r>
              <a:rPr lang="en-US" sz="1100" dirty="0">
                <a:solidFill>
                  <a:srgbClr val="F5EFE6"/>
                </a:solidFill>
                <a:latin typeface="Calibri" pitchFamily="34" charset="0"/>
                <a:ea typeface="Calibri" pitchFamily="34" charset="-122"/>
                <a:cs typeface="Calibri" pitchFamily="34" charset="-120"/>
              </a:rPr>
              <a:t>Besoin mensuel en eau de la canneberge en saison de croissance</a:t>
            </a:r>
            <a:endParaRPr lang="en-US" sz="1100" dirty="0"/>
          </a:p>
        </p:txBody>
      </p:sp>
      <p:sp>
        <p:nvSpPr>
          <p:cNvPr id="12" name="Shape 10"/>
          <p:cNvSpPr/>
          <p:nvPr/>
        </p:nvSpPr>
        <p:spPr>
          <a:xfrm>
            <a:off x="502920" y="3474720"/>
            <a:ext cx="4023360" cy="960120"/>
          </a:xfrm>
          <a:prstGeom prst="rect">
            <a:avLst/>
          </a:prstGeom>
          <a:solidFill>
            <a:srgbClr val="6B0F1A"/>
          </a:solidFill>
          <a:ln w="12700">
            <a:solidFill>
              <a:srgbClr val="6B0F1A"/>
            </a:solidFill>
            <a:prstDash val="solid"/>
          </a:ln>
          <a:effectLst>
            <a:outerShdw sx="100000" sy="100000" kx="0" ky="0" algn="bl" rotWithShape="0" blurRad="101600" dist="25400" dir="5400000">
              <a:srgbClr val="000000">
                <a:alpha val="10000"/>
              </a:srgbClr>
            </a:outerShdw>
          </a:effectLst>
        </p:spPr>
      </p:sp>
      <p:sp>
        <p:nvSpPr>
          <p:cNvPr id="13" name="Text 11"/>
          <p:cNvSpPr/>
          <p:nvPr/>
        </p:nvSpPr>
        <p:spPr>
          <a:xfrm>
            <a:off x="594360" y="3611880"/>
            <a:ext cx="1691640" cy="7772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−6,5 à −4 kPa</a:t>
            </a:r>
            <a:endParaRPr lang="en-US" sz="2600" dirty="0"/>
          </a:p>
        </p:txBody>
      </p:sp>
      <p:sp>
        <p:nvSpPr>
          <p:cNvPr id="14" name="Text 12"/>
          <p:cNvSpPr/>
          <p:nvPr/>
        </p:nvSpPr>
        <p:spPr>
          <a:xfrm>
            <a:off x="2331720" y="3639312"/>
            <a:ext cx="2103120" cy="731520"/>
          </a:xfrm>
          <a:prstGeom prst="rect">
            <a:avLst/>
          </a:prstGeom>
          <a:noFill/>
          <a:ln/>
        </p:spPr>
        <p:txBody>
          <a:bodyPr wrap="square" lIns="0" tIns="0" rIns="0" bIns="0" rtlCol="0" anchor="ctr"/>
          <a:lstStyle/>
          <a:p>
            <a:pPr indent="0" marL="0">
              <a:buNone/>
            </a:pPr>
            <a:r>
              <a:rPr lang="en-US" sz="1100" dirty="0">
                <a:solidFill>
                  <a:srgbClr val="F5EFE6"/>
                </a:solidFill>
                <a:latin typeface="Calibri" pitchFamily="34" charset="0"/>
                <a:ea typeface="Calibri" pitchFamily="34" charset="-122"/>
                <a:cs typeface="Calibri" pitchFamily="34" charset="-120"/>
              </a:rPr>
              <a:t>Plage optimale de potentiel matriciel à 7–10 cm de profondeur</a:t>
            </a:r>
            <a:endParaRPr lang="en-US" sz="1100" dirty="0"/>
          </a:p>
        </p:txBody>
      </p:sp>
      <p:sp>
        <p:nvSpPr>
          <p:cNvPr id="15" name="Shape 13"/>
          <p:cNvSpPr/>
          <p:nvPr/>
        </p:nvSpPr>
        <p:spPr>
          <a:xfrm>
            <a:off x="4846320" y="1280160"/>
            <a:ext cx="3931920" cy="3337560"/>
          </a:xfrm>
          <a:prstGeom prst="rect">
            <a:avLst/>
          </a:prstGeom>
          <a:solidFill>
            <a:srgbClr val="F5EFE6"/>
          </a:solidFill>
          <a:ln w="12700">
            <a:solidFill>
              <a:srgbClr val="F5EFE6"/>
            </a:solidFill>
            <a:prstDash val="solid"/>
          </a:ln>
        </p:spPr>
      </p:sp>
      <p:pic>
        <p:nvPicPr>
          <p:cNvPr id="16" name="Image 0" descr="preencoded.png">    </p:cNvPr>
          <p:cNvPicPr>
            <a:picLocks noChangeAspect="1"/>
          </p:cNvPicPr>
          <p:nvPr/>
        </p:nvPicPr>
        <p:blipFill>
          <a:blip r:embed="rId1"/>
          <a:stretch>
            <a:fillRect/>
          </a:stretch>
        </p:blipFill>
        <p:spPr>
          <a:xfrm>
            <a:off x="5029200" y="1463040"/>
            <a:ext cx="502920" cy="502920"/>
          </a:xfrm>
          <a:prstGeom prst="rect">
            <a:avLst/>
          </a:prstGeom>
        </p:spPr>
      </p:pic>
      <p:sp>
        <p:nvSpPr>
          <p:cNvPr id="17" name="Text 14"/>
          <p:cNvSpPr/>
          <p:nvPr/>
        </p:nvSpPr>
        <p:spPr>
          <a:xfrm>
            <a:off x="5669280" y="1463040"/>
            <a:ext cx="3017520" cy="274320"/>
          </a:xfrm>
          <a:prstGeom prst="rect">
            <a:avLst/>
          </a:prstGeom>
          <a:noFill/>
          <a:ln/>
        </p:spPr>
        <p:txBody>
          <a:bodyPr wrap="square" lIns="0" tIns="0" rIns="0" bIns="0" rtlCol="0" anchor="ctr"/>
          <a:lstStyle/>
          <a:p>
            <a:pPr indent="0" marL="0">
              <a:buNone/>
            </a:pPr>
            <a:r>
              <a:rPr lang="en-US" sz="1100" i="1" dirty="0">
                <a:solidFill>
                  <a:srgbClr val="2D5016"/>
                </a:solidFill>
                <a:latin typeface="Calibri" pitchFamily="34" charset="0"/>
                <a:ea typeface="Calibri" pitchFamily="34" charset="-122"/>
                <a:cs typeface="Calibri" pitchFamily="34" charset="-120"/>
              </a:rPr>
              <a:t>Vaccinium macrocarpon Ait.</a:t>
            </a:r>
            <a:endParaRPr lang="en-US" sz="1100" dirty="0"/>
          </a:p>
        </p:txBody>
      </p:sp>
      <p:sp>
        <p:nvSpPr>
          <p:cNvPr id="18" name="Text 15"/>
          <p:cNvSpPr/>
          <p:nvPr/>
        </p:nvSpPr>
        <p:spPr>
          <a:xfrm>
            <a:off x="5669280" y="1755648"/>
            <a:ext cx="3017520" cy="292608"/>
          </a:xfrm>
          <a:prstGeom prst="rect">
            <a:avLst/>
          </a:prstGeom>
          <a:noFill/>
          <a:ln/>
        </p:spPr>
        <p:txBody>
          <a:bodyPr wrap="square" lIns="0" tIns="0" rIns="0" bIns="0" rtlCol="0" anchor="ctr"/>
          <a:lstStyle/>
          <a:p>
            <a:pPr indent="0" marL="0">
              <a:buNone/>
            </a:pPr>
            <a:r>
              <a:rPr lang="en-US" sz="1400" b="1" dirty="0">
                <a:solidFill>
                  <a:srgbClr val="6B0F1A"/>
                </a:solidFill>
                <a:latin typeface="Calibri" pitchFamily="34" charset="0"/>
                <a:ea typeface="Calibri" pitchFamily="34" charset="-122"/>
                <a:cs typeface="Calibri" pitchFamily="34" charset="-120"/>
              </a:rPr>
              <a:t>Une plante exigeante</a:t>
            </a:r>
            <a:endParaRPr lang="en-US" sz="1400" dirty="0"/>
          </a:p>
        </p:txBody>
      </p:sp>
      <p:sp>
        <p:nvSpPr>
          <p:cNvPr id="19" name="Text 16"/>
          <p:cNvSpPr/>
          <p:nvPr/>
        </p:nvSpPr>
        <p:spPr>
          <a:xfrm>
            <a:off x="5029200" y="2194560"/>
            <a:ext cx="3611880" cy="2331720"/>
          </a:xfrm>
          <a:prstGeom prst="rect">
            <a:avLst/>
          </a:prstGeom>
          <a:noFill/>
          <a:ln/>
        </p:spPr>
        <p:txBody>
          <a:bodyPr wrap="square" lIns="0" tIns="0" rIns="0" bIns="0" rtlCol="0" anchor="ctr"/>
          <a:lstStyle/>
          <a:p>
            <a:pPr indent="0" marL="0">
              <a:buNone/>
            </a:pPr>
            <a:r>
              <a:rPr lang="en-US" sz="1150" dirty="0">
                <a:solidFill>
                  <a:srgbClr val="1B1F3A"/>
                </a:solidFill>
                <a:latin typeface="Calibri" pitchFamily="34" charset="0"/>
                <a:ea typeface="Calibri" pitchFamily="34" charset="-122"/>
                <a:cs typeface="Calibri" pitchFamily="34" charset="-120"/>
              </a:rPr>
              <a:t>Plante pérenne, contrairement à la croyance populaire elle </a:t>
            </a:r>
            <a:pPr indent="0" marL="0">
              <a:buNone/>
            </a:pPr>
            <a:r>
              <a:rPr lang="en-US" sz="1150" b="1" dirty="0">
                <a:solidFill>
                  <a:srgbClr val="1B1F3A"/>
                </a:solidFill>
                <a:latin typeface="Calibri" pitchFamily="34" charset="0"/>
                <a:ea typeface="Calibri" pitchFamily="34" charset="-122"/>
                <a:cs typeface="Calibri" pitchFamily="34" charset="-120"/>
              </a:rPr>
              <a:t>ne pousse pas dans l'eau stagnante</a:t>
            </a:r>
            <a:pPr indent="0" marL="0">
              <a:buNone/>
            </a:pPr>
            <a:r>
              <a:rPr lang="en-US" sz="1150" dirty="0">
                <a:solidFill>
                  <a:srgbClr val="1B1F3A"/>
                </a:solidFill>
                <a:latin typeface="Calibri" pitchFamily="34" charset="0"/>
                <a:ea typeface="Calibri" pitchFamily="34" charset="-122"/>
                <a:cs typeface="Calibri" pitchFamily="34" charset="-120"/>
              </a:rPr>
              <a:t> : la nappe doit être contrôlée de façon précise.</a:t>
            </a:r>
            <a:endParaRPr lang="en-US" sz="1150" dirty="0"/>
          </a:p>
          <a:p>
            <a:pPr indent="0" marL="0">
              <a:buNone/>
            </a:pPr>
            <a:endParaRPr lang="en-US" sz="1150" dirty="0"/>
          </a:p>
          <a:p>
            <a:pPr indent="0" marL="0">
              <a:buNone/>
            </a:pPr>
            <a:r>
              <a:rPr lang="en-US" sz="1150" dirty="0">
                <a:solidFill>
                  <a:srgbClr val="1B1F3A"/>
                </a:solidFill>
                <a:latin typeface="Calibri" pitchFamily="34" charset="0"/>
                <a:ea typeface="Calibri" pitchFamily="34" charset="-122"/>
                <a:cs typeface="Calibri" pitchFamily="34" charset="-120"/>
              </a:rPr>
              <a:t>Récolte annuelle en octobre par </a:t>
            </a:r>
            <a:pPr indent="0" marL="0">
              <a:buNone/>
            </a:pPr>
            <a:r>
              <a:rPr lang="en-US" sz="1150" b="1" dirty="0">
                <a:solidFill>
                  <a:srgbClr val="1B1F3A"/>
                </a:solidFill>
                <a:latin typeface="Calibri" pitchFamily="34" charset="0"/>
                <a:ea typeface="Calibri" pitchFamily="34" charset="-122"/>
                <a:cs typeface="Calibri" pitchFamily="34" charset="-120"/>
              </a:rPr>
              <a:t>inondation des champs</a:t>
            </a:r>
            <a:pPr indent="0" marL="0">
              <a:buNone/>
            </a:pPr>
            <a:r>
              <a:rPr lang="en-US" sz="1150" dirty="0">
                <a:solidFill>
                  <a:srgbClr val="1B1F3A"/>
                </a:solidFill>
                <a:latin typeface="Calibri" pitchFamily="34" charset="0"/>
                <a:ea typeface="Calibri" pitchFamily="34" charset="-122"/>
                <a:cs typeface="Calibri" pitchFamily="34" charset="-120"/>
              </a:rPr>
              <a:t> sur 20–40 cm pour faire flotter les baies.</a:t>
            </a:r>
            <a:endParaRPr lang="en-US" sz="1150" dirty="0"/>
          </a:p>
          <a:p>
            <a:pPr indent="0" marL="0">
              <a:buNone/>
            </a:pPr>
            <a:endParaRPr lang="en-US" sz="1150" dirty="0"/>
          </a:p>
          <a:p>
            <a:pPr indent="0" marL="0">
              <a:buNone/>
            </a:pPr>
            <a:r>
              <a:rPr lang="en-US" sz="1150" dirty="0">
                <a:solidFill>
                  <a:srgbClr val="1B1F3A"/>
                </a:solidFill>
                <a:latin typeface="Calibri" pitchFamily="34" charset="0"/>
                <a:ea typeface="Calibri" pitchFamily="34" charset="-122"/>
                <a:cs typeface="Calibri" pitchFamily="34" charset="-120"/>
              </a:rPr>
              <a:t>Système d'irrigation et de drainage en circuit semi-fermé : l'eau drainée est réutilisée.</a:t>
            </a:r>
            <a:endParaRPr lang="en-US" sz="1150" dirty="0"/>
          </a:p>
        </p:txBody>
      </p:sp>
      <p:sp>
        <p:nvSpPr>
          <p:cNvPr id="20" name="Text 17"/>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6B0F1A"/>
          </a:solidFill>
          <a:ln w="12700">
            <a:solidFill>
              <a:srgbClr val="6B0F1A"/>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Problématique</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Le sol des champs construits est-il vraiment uniforme?</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6" name="Text 4"/>
          <p:cNvSpPr/>
          <p:nvPr/>
        </p:nvSpPr>
        <p:spPr>
          <a:xfrm>
            <a:off x="502920" y="1280160"/>
            <a:ext cx="4114800" cy="3291840"/>
          </a:xfrm>
          <a:prstGeom prst="rect">
            <a:avLst/>
          </a:prstGeom>
          <a:noFill/>
          <a:ln/>
        </p:spPr>
        <p:txBody>
          <a:bodyPr wrap="square" lIns="0" tIns="0" rIns="0" bIns="0" rtlCol="0" anchor="ctr"/>
          <a:lstStyle/>
          <a:p>
            <a:pPr indent="0" marL="0">
              <a:buNone/>
            </a:pPr>
            <a:r>
              <a:rPr lang="en-US" sz="1300" b="1" spc="200" kern="0" dirty="0">
                <a:solidFill>
                  <a:srgbClr val="6B0F1A"/>
                </a:solidFill>
                <a:latin typeface="Calibri" pitchFamily="34" charset="0"/>
                <a:ea typeface="Calibri" pitchFamily="34" charset="-122"/>
                <a:cs typeface="Calibri" pitchFamily="34" charset="-120"/>
              </a:rPr>
              <a:t>L'hypothèse classique</a:t>
            </a:r>
            <a:endParaRPr lang="en-US" sz="1300" dirty="0"/>
          </a:p>
          <a:p>
            <a:pPr indent="0" marL="0">
              <a:buNone/>
            </a:pPr>
            <a:endParaRPr lang="en-US" sz="1300" dirty="0"/>
          </a:p>
          <a:p>
            <a:pPr indent="0" marL="0">
              <a:buNone/>
            </a:pPr>
            <a:r>
              <a:rPr lang="en-US" sz="1300" dirty="0">
                <a:solidFill>
                  <a:srgbClr val="1B1F3A"/>
                </a:solidFill>
                <a:latin typeface="Calibri" pitchFamily="34" charset="0"/>
                <a:ea typeface="Calibri" pitchFamily="34" charset="-122"/>
                <a:cs typeface="Calibri" pitchFamily="34" charset="-120"/>
              </a:rPr>
              <a:t>Sur des champs de canneberges « construits » (sols sableux anthropiques), on suppose habituellement que les propriétés hydrauliques du sol sont homogènes.</a:t>
            </a:r>
            <a:endParaRPr lang="en-US" sz="1300" dirty="0"/>
          </a:p>
          <a:p>
            <a:pPr indent="0" marL="0">
              <a:buNone/>
            </a:pPr>
            <a:endParaRPr lang="en-US" sz="1300" dirty="0"/>
          </a:p>
          <a:p>
            <a:pPr indent="0" marL="0">
              <a:buNone/>
            </a:pPr>
            <a:r>
              <a:rPr lang="en-US" sz="1300" i="1" dirty="0">
                <a:solidFill>
                  <a:srgbClr val="1B1F3A"/>
                </a:solidFill>
                <a:latin typeface="Calibri" pitchFamily="34" charset="0"/>
                <a:ea typeface="Calibri" pitchFamily="34" charset="-122"/>
                <a:cs typeface="Calibri" pitchFamily="34" charset="-120"/>
              </a:rPr>
              <a:t>Cette hypothèse justifie une irrigation uniforme.</a:t>
            </a:r>
            <a:endParaRPr lang="en-US" sz="1300" dirty="0"/>
          </a:p>
        </p:txBody>
      </p:sp>
      <p:sp>
        <p:nvSpPr>
          <p:cNvPr id="7" name="Shape 5"/>
          <p:cNvSpPr/>
          <p:nvPr/>
        </p:nvSpPr>
        <p:spPr>
          <a:xfrm>
            <a:off x="4846320" y="1280160"/>
            <a:ext cx="3931920" cy="3337560"/>
          </a:xfrm>
          <a:prstGeom prst="rect">
            <a:avLst/>
          </a:prstGeom>
          <a:solidFill>
            <a:srgbClr val="0B3954"/>
          </a:solidFill>
          <a:ln w="12700">
            <a:solidFill>
              <a:srgbClr val="0B3954"/>
            </a:solidFill>
            <a:prstDash val="solid"/>
          </a:ln>
          <a:effectLst>
            <a:outerShdw sx="100000" sy="100000" kx="0" ky="0" algn="bl" rotWithShape="0" blurRad="101600" dist="25400" dir="5400000">
              <a:srgbClr val="000000">
                <a:alpha val="10000"/>
              </a:srgbClr>
            </a:outerShdw>
          </a:effectLst>
        </p:spPr>
      </p:sp>
      <p:pic>
        <p:nvPicPr>
          <p:cNvPr id="8" name="Image 0" descr="preencoded.png">    </p:cNvPr>
          <p:cNvPicPr>
            <a:picLocks noChangeAspect="1"/>
          </p:cNvPicPr>
          <p:nvPr/>
        </p:nvPicPr>
        <p:blipFill>
          <a:blip r:embed="rId1"/>
          <a:stretch>
            <a:fillRect/>
          </a:stretch>
        </p:blipFill>
        <p:spPr>
          <a:xfrm>
            <a:off x="5029200" y="1463040"/>
            <a:ext cx="457200" cy="457200"/>
          </a:xfrm>
          <a:prstGeom prst="rect">
            <a:avLst/>
          </a:prstGeom>
        </p:spPr>
      </p:pic>
      <p:sp>
        <p:nvSpPr>
          <p:cNvPr id="9" name="Text 6"/>
          <p:cNvSpPr/>
          <p:nvPr/>
        </p:nvSpPr>
        <p:spPr>
          <a:xfrm>
            <a:off x="5532120" y="1508760"/>
            <a:ext cx="3108960" cy="365760"/>
          </a:xfrm>
          <a:prstGeom prst="rect">
            <a:avLst/>
          </a:prstGeom>
          <a:noFill/>
          <a:ln/>
        </p:spPr>
        <p:txBody>
          <a:bodyPr wrap="square" lIns="0" tIns="0" rIns="0" bIns="0" rtlCol="0" anchor="ctr"/>
          <a:lstStyle/>
          <a:p>
            <a:pPr indent="0" marL="0">
              <a:buNone/>
            </a:pPr>
            <a:r>
              <a:rPr lang="en-US" sz="1400" b="1" dirty="0">
                <a:solidFill>
                  <a:srgbClr val="F5EFE6"/>
                </a:solidFill>
                <a:latin typeface="Calibri" pitchFamily="34" charset="0"/>
                <a:ea typeface="Calibri" pitchFamily="34" charset="-122"/>
                <a:cs typeface="Calibri" pitchFamily="34" charset="-120"/>
              </a:rPr>
              <a:t>Mais sur le terrain…</a:t>
            </a:r>
            <a:endParaRPr lang="en-US" sz="1400" dirty="0"/>
          </a:p>
        </p:txBody>
      </p:sp>
      <p:sp>
        <p:nvSpPr>
          <p:cNvPr id="10" name="Text 7"/>
          <p:cNvSpPr/>
          <p:nvPr/>
        </p:nvSpPr>
        <p:spPr>
          <a:xfrm>
            <a:off x="5029200" y="2011680"/>
            <a:ext cx="3611880" cy="246888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Le rendement varie fortement à l'intérieur d'un même champ (différences de 2,5 kg/m² !).</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La conductivité hydraulique change sur de courtes distances.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Les besoins en eau ne sont donc pas les mêmes partout.</a:t>
            </a:r>
            <a:endParaRPr lang="en-US" sz="1200" dirty="0"/>
          </a:p>
        </p:txBody>
      </p:sp>
      <p:sp>
        <p:nvSpPr>
          <p:cNvPr id="11" name="Text 8"/>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Trois objectifs de l'étude</a:t>
            </a:r>
            <a:endParaRPr lang="en-US" sz="2600" dirty="0"/>
          </a:p>
        </p:txBody>
      </p:sp>
      <p:sp>
        <p:nvSpPr>
          <p:cNvPr id="4" name="Text 2"/>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5" name="Shape 3"/>
          <p:cNvSpPr/>
          <p:nvPr/>
        </p:nvSpPr>
        <p:spPr>
          <a:xfrm>
            <a:off x="502920" y="1188720"/>
            <a:ext cx="8229600" cy="1051560"/>
          </a:xfrm>
          <a:prstGeom prst="rect">
            <a:avLst/>
          </a:prstGeom>
          <a:solidFill>
            <a:srgbClr val="FAFAF7"/>
          </a:solidFill>
          <a:ln w="12700">
            <a:solidFill>
              <a:srgbClr val="DDD6CB"/>
            </a:solidFill>
            <a:prstDash val="solid"/>
          </a:ln>
          <a:effectLst>
            <a:outerShdw sx="100000" sy="100000" kx="0" ky="0" algn="bl" rotWithShape="0" blurRad="101600" dist="25400" dir="5400000">
              <a:srgbClr val="000000">
                <a:alpha val="10000"/>
              </a:srgbClr>
            </a:outerShdw>
          </a:effectLst>
        </p:spPr>
      </p:sp>
      <p:sp>
        <p:nvSpPr>
          <p:cNvPr id="6" name="Shape 4"/>
          <p:cNvSpPr/>
          <p:nvPr/>
        </p:nvSpPr>
        <p:spPr>
          <a:xfrm>
            <a:off x="685800" y="1435608"/>
            <a:ext cx="594360" cy="594360"/>
          </a:xfrm>
          <a:prstGeom prst="ellipse">
            <a:avLst/>
          </a:prstGeom>
          <a:solidFill>
            <a:srgbClr val="0B3954"/>
          </a:solidFill>
          <a:ln w="12700">
            <a:solidFill>
              <a:srgbClr val="0B3954"/>
            </a:solidFill>
            <a:prstDash val="solid"/>
          </a:ln>
        </p:spPr>
      </p:sp>
      <p:sp>
        <p:nvSpPr>
          <p:cNvPr id="7" name="Text 5"/>
          <p:cNvSpPr/>
          <p:nvPr/>
        </p:nvSpPr>
        <p:spPr>
          <a:xfrm>
            <a:off x="685800" y="1435608"/>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8" name="Text 6"/>
          <p:cNvSpPr/>
          <p:nvPr/>
        </p:nvSpPr>
        <p:spPr>
          <a:xfrm>
            <a:off x="1463040" y="1353312"/>
            <a:ext cx="7040880" cy="365760"/>
          </a:xfrm>
          <a:prstGeom prst="rect">
            <a:avLst/>
          </a:prstGeom>
          <a:noFill/>
          <a:ln/>
        </p:spPr>
        <p:txBody>
          <a:bodyPr wrap="square" lIns="0" tIns="0" rIns="0" bIns="0" rtlCol="0" anchor="ctr"/>
          <a:lstStyle/>
          <a:p>
            <a:pPr indent="0" marL="0">
              <a:buNone/>
            </a:pPr>
            <a:r>
              <a:rPr lang="en-US" sz="1500" b="1" dirty="0">
                <a:solidFill>
                  <a:srgbClr val="0B3954"/>
                </a:solidFill>
                <a:latin typeface="Calibri" pitchFamily="34" charset="0"/>
                <a:ea typeface="Calibri" pitchFamily="34" charset="-122"/>
                <a:cs typeface="Calibri" pitchFamily="34" charset="-120"/>
              </a:rPr>
              <a:t>Caractériser la variabilité spatiale</a:t>
            </a:r>
            <a:endParaRPr lang="en-US" sz="1500" dirty="0"/>
          </a:p>
        </p:txBody>
      </p:sp>
      <p:sp>
        <p:nvSpPr>
          <p:cNvPr id="9" name="Text 7"/>
          <p:cNvSpPr/>
          <p:nvPr/>
        </p:nvSpPr>
        <p:spPr>
          <a:xfrm>
            <a:off x="1463040" y="1737360"/>
            <a:ext cx="7040880" cy="502920"/>
          </a:xfrm>
          <a:prstGeom prst="rect">
            <a:avLst/>
          </a:prstGeom>
          <a:noFill/>
          <a:ln/>
        </p:spPr>
        <p:txBody>
          <a:bodyPr wrap="square" lIns="0" tIns="0" rIns="0" bIns="0" rtlCol="0" anchor="ctr"/>
          <a:lstStyle/>
          <a:p>
            <a:pPr indent="0" marL="0">
              <a:buNone/>
            </a:pPr>
            <a:r>
              <a:rPr lang="en-US" sz="1200" dirty="0">
                <a:solidFill>
                  <a:srgbClr val="1B1F3A"/>
                </a:solidFill>
                <a:latin typeface="Calibri" pitchFamily="34" charset="0"/>
                <a:ea typeface="Calibri" pitchFamily="34" charset="-122"/>
                <a:cs typeface="Calibri" pitchFamily="34" charset="-120"/>
              </a:rPr>
              <a:t>Cartographier la conductivité hydraulique à saturation (Ksat), la rétention, le potentiel matriciel, la nappe et le rendement sur deux champs.</a:t>
            </a:r>
            <a:endParaRPr lang="en-US" sz="1200" dirty="0"/>
          </a:p>
        </p:txBody>
      </p:sp>
      <p:sp>
        <p:nvSpPr>
          <p:cNvPr id="10" name="Shape 8"/>
          <p:cNvSpPr/>
          <p:nvPr/>
        </p:nvSpPr>
        <p:spPr>
          <a:xfrm>
            <a:off x="502920" y="2377440"/>
            <a:ext cx="8229600" cy="1051560"/>
          </a:xfrm>
          <a:prstGeom prst="rect">
            <a:avLst/>
          </a:prstGeom>
          <a:solidFill>
            <a:srgbClr val="FAFAF7"/>
          </a:solidFill>
          <a:ln w="12700">
            <a:solidFill>
              <a:srgbClr val="DDD6CB"/>
            </a:solidFill>
            <a:prstDash val="solid"/>
          </a:ln>
          <a:effectLst>
            <a:outerShdw sx="100000" sy="100000" kx="0" ky="0" algn="bl" rotWithShape="0" blurRad="101600" dist="25400" dir="5400000">
              <a:srgbClr val="000000">
                <a:alpha val="10000"/>
              </a:srgbClr>
            </a:outerShdw>
          </a:effectLst>
        </p:spPr>
      </p:sp>
      <p:sp>
        <p:nvSpPr>
          <p:cNvPr id="11" name="Shape 9"/>
          <p:cNvSpPr/>
          <p:nvPr/>
        </p:nvSpPr>
        <p:spPr>
          <a:xfrm>
            <a:off x="685800" y="2624328"/>
            <a:ext cx="594360" cy="594360"/>
          </a:xfrm>
          <a:prstGeom prst="ellipse">
            <a:avLst/>
          </a:prstGeom>
          <a:solidFill>
            <a:srgbClr val="0B3954"/>
          </a:solidFill>
          <a:ln w="12700">
            <a:solidFill>
              <a:srgbClr val="0B3954"/>
            </a:solidFill>
            <a:prstDash val="solid"/>
          </a:ln>
        </p:spPr>
      </p:sp>
      <p:sp>
        <p:nvSpPr>
          <p:cNvPr id="12" name="Text 10"/>
          <p:cNvSpPr/>
          <p:nvPr/>
        </p:nvSpPr>
        <p:spPr>
          <a:xfrm>
            <a:off x="685800" y="2624328"/>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1463040" y="2542032"/>
            <a:ext cx="7040880" cy="365760"/>
          </a:xfrm>
          <a:prstGeom prst="rect">
            <a:avLst/>
          </a:prstGeom>
          <a:noFill/>
          <a:ln/>
        </p:spPr>
        <p:txBody>
          <a:bodyPr wrap="square" lIns="0" tIns="0" rIns="0" bIns="0" rtlCol="0" anchor="ctr"/>
          <a:lstStyle/>
          <a:p>
            <a:pPr indent="0" marL="0">
              <a:buNone/>
            </a:pPr>
            <a:r>
              <a:rPr lang="en-US" sz="1500" b="1" dirty="0">
                <a:solidFill>
                  <a:srgbClr val="0B3954"/>
                </a:solidFill>
                <a:latin typeface="Calibri" pitchFamily="34" charset="0"/>
                <a:ea typeface="Calibri" pitchFamily="34" charset="-122"/>
                <a:cs typeface="Calibri" pitchFamily="34" charset="-120"/>
              </a:rPr>
              <a:t>Simuler la gestion de l'irrigation</a:t>
            </a:r>
            <a:endParaRPr lang="en-US" sz="1500" dirty="0"/>
          </a:p>
        </p:txBody>
      </p:sp>
      <p:sp>
        <p:nvSpPr>
          <p:cNvPr id="14" name="Text 12"/>
          <p:cNvSpPr/>
          <p:nvPr/>
        </p:nvSpPr>
        <p:spPr>
          <a:xfrm>
            <a:off x="1463040" y="2926080"/>
            <a:ext cx="7040880" cy="502920"/>
          </a:xfrm>
          <a:prstGeom prst="rect">
            <a:avLst/>
          </a:prstGeom>
          <a:noFill/>
          <a:ln/>
        </p:spPr>
        <p:txBody>
          <a:bodyPr wrap="square" lIns="0" tIns="0" rIns="0" bIns="0" rtlCol="0" anchor="ctr"/>
          <a:lstStyle/>
          <a:p>
            <a:pPr indent="0" marL="0">
              <a:buNone/>
            </a:pPr>
            <a:r>
              <a:rPr lang="en-US" sz="1200" dirty="0">
                <a:solidFill>
                  <a:srgbClr val="1B1F3A"/>
                </a:solidFill>
                <a:latin typeface="Calibri" pitchFamily="34" charset="0"/>
                <a:ea typeface="Calibri" pitchFamily="34" charset="-122"/>
                <a:cs typeface="Calibri" pitchFamily="34" charset="-120"/>
              </a:rPr>
              <a:t>Utiliser HYDRUS-1D avec les cartes interpolées pour estimer les besoins en eau zone par zone.</a:t>
            </a:r>
            <a:endParaRPr lang="en-US" sz="1200" dirty="0"/>
          </a:p>
        </p:txBody>
      </p:sp>
      <p:sp>
        <p:nvSpPr>
          <p:cNvPr id="15" name="Shape 13"/>
          <p:cNvSpPr/>
          <p:nvPr/>
        </p:nvSpPr>
        <p:spPr>
          <a:xfrm>
            <a:off x="502920" y="3566160"/>
            <a:ext cx="8229600" cy="1051560"/>
          </a:xfrm>
          <a:prstGeom prst="rect">
            <a:avLst/>
          </a:prstGeom>
          <a:solidFill>
            <a:srgbClr val="FAFAF7"/>
          </a:solidFill>
          <a:ln w="12700">
            <a:solidFill>
              <a:srgbClr val="DDD6CB"/>
            </a:solidFill>
            <a:prstDash val="solid"/>
          </a:ln>
          <a:effectLst>
            <a:outerShdw sx="100000" sy="100000" kx="0" ky="0" algn="bl" rotWithShape="0" blurRad="101600" dist="25400" dir="5400000">
              <a:srgbClr val="000000">
                <a:alpha val="10000"/>
              </a:srgbClr>
            </a:outerShdw>
          </a:effectLst>
        </p:spPr>
      </p:sp>
      <p:sp>
        <p:nvSpPr>
          <p:cNvPr id="16" name="Shape 14"/>
          <p:cNvSpPr/>
          <p:nvPr/>
        </p:nvSpPr>
        <p:spPr>
          <a:xfrm>
            <a:off x="685800" y="3813048"/>
            <a:ext cx="594360" cy="594360"/>
          </a:xfrm>
          <a:prstGeom prst="ellipse">
            <a:avLst/>
          </a:prstGeom>
          <a:solidFill>
            <a:srgbClr val="0B3954"/>
          </a:solidFill>
          <a:ln w="12700">
            <a:solidFill>
              <a:srgbClr val="0B3954"/>
            </a:solidFill>
            <a:prstDash val="solid"/>
          </a:ln>
        </p:spPr>
      </p:sp>
      <p:sp>
        <p:nvSpPr>
          <p:cNvPr id="17" name="Text 15"/>
          <p:cNvSpPr/>
          <p:nvPr/>
        </p:nvSpPr>
        <p:spPr>
          <a:xfrm>
            <a:off x="685800" y="3813048"/>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8" name="Text 16"/>
          <p:cNvSpPr/>
          <p:nvPr/>
        </p:nvSpPr>
        <p:spPr>
          <a:xfrm>
            <a:off x="1463040" y="3730752"/>
            <a:ext cx="7040880" cy="365760"/>
          </a:xfrm>
          <a:prstGeom prst="rect">
            <a:avLst/>
          </a:prstGeom>
          <a:noFill/>
          <a:ln/>
        </p:spPr>
        <p:txBody>
          <a:bodyPr wrap="square" lIns="0" tIns="0" rIns="0" bIns="0" rtlCol="0" anchor="ctr"/>
          <a:lstStyle/>
          <a:p>
            <a:pPr indent="0" marL="0">
              <a:buNone/>
            </a:pPr>
            <a:r>
              <a:rPr lang="en-US" sz="1500" b="1" dirty="0">
                <a:solidFill>
                  <a:srgbClr val="0B3954"/>
                </a:solidFill>
                <a:latin typeface="Calibri" pitchFamily="34" charset="0"/>
                <a:ea typeface="Calibri" pitchFamily="34" charset="-122"/>
                <a:cs typeface="Calibri" pitchFamily="34" charset="-120"/>
              </a:rPr>
              <a:t>Comparer trois méthodes d'interpolation</a:t>
            </a:r>
            <a:endParaRPr lang="en-US" sz="1500" dirty="0"/>
          </a:p>
        </p:txBody>
      </p:sp>
      <p:sp>
        <p:nvSpPr>
          <p:cNvPr id="19" name="Text 17"/>
          <p:cNvSpPr/>
          <p:nvPr/>
        </p:nvSpPr>
        <p:spPr>
          <a:xfrm>
            <a:off x="1463040" y="4114800"/>
            <a:ext cx="7040880" cy="502920"/>
          </a:xfrm>
          <a:prstGeom prst="rect">
            <a:avLst/>
          </a:prstGeom>
          <a:noFill/>
          <a:ln/>
        </p:spPr>
        <p:txBody>
          <a:bodyPr wrap="square" lIns="0" tIns="0" rIns="0" bIns="0" rtlCol="0" anchor="ctr"/>
          <a:lstStyle/>
          <a:p>
            <a:pPr indent="0" marL="0">
              <a:buNone/>
            </a:pPr>
            <a:r>
              <a:rPr lang="en-US" sz="1200" dirty="0">
                <a:solidFill>
                  <a:srgbClr val="1B1F3A"/>
                </a:solidFill>
                <a:latin typeface="Calibri" pitchFamily="34" charset="0"/>
                <a:ea typeface="Calibri" pitchFamily="34" charset="-122"/>
                <a:cs typeface="Calibri" pitchFamily="34" charset="-120"/>
              </a:rPr>
              <a:t>IDW, splines à plaque mince (TPS) et krigeage avec dérive externe (KED) — par validation croisée.</a:t>
            </a:r>
            <a:endParaRPr lang="en-US" sz="1200" dirty="0"/>
          </a:p>
        </p:txBody>
      </p:sp>
      <p:sp>
        <p:nvSpPr>
          <p:cNvPr id="20" name="Text 18"/>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D5016"/>
          </a:solidFill>
          <a:ln w="12700">
            <a:solidFill>
              <a:srgbClr val="2D5016"/>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Sites d'étude</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Deux champs de canneberges au sud du Saint-Laurent (Québec)</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6" name="Shape 4"/>
          <p:cNvSpPr/>
          <p:nvPr/>
        </p:nvSpPr>
        <p:spPr>
          <a:xfrm>
            <a:off x="502920" y="1280160"/>
            <a:ext cx="4023360" cy="2103120"/>
          </a:xfrm>
          <a:prstGeom prst="rect">
            <a:avLst/>
          </a:prstGeom>
          <a:solidFill>
            <a:srgbClr val="F5EFE6"/>
          </a:solidFill>
          <a:ln w="12700">
            <a:solidFill>
              <a:srgbClr val="DDD6CB"/>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502920" y="1280160"/>
            <a:ext cx="4023360" cy="182880"/>
          </a:xfrm>
          <a:prstGeom prst="rect">
            <a:avLst/>
          </a:prstGeom>
          <a:solidFill>
            <a:srgbClr val="6B0F1A"/>
          </a:solidFill>
          <a:ln w="12700">
            <a:solidFill>
              <a:srgbClr val="6B0F1A"/>
            </a:solidFill>
            <a:prstDash val="solid"/>
          </a:ln>
        </p:spPr>
      </p:sp>
      <p:pic>
        <p:nvPicPr>
          <p:cNvPr id="8" name="Image 0" descr="preencoded.png">    </p:cNvPr>
          <p:cNvPicPr>
            <a:picLocks noChangeAspect="1"/>
          </p:cNvPicPr>
          <p:nvPr/>
        </p:nvPicPr>
        <p:blipFill>
          <a:blip r:embed="rId1"/>
          <a:stretch>
            <a:fillRect/>
          </a:stretch>
        </p:blipFill>
        <p:spPr>
          <a:xfrm>
            <a:off x="685800" y="1627632"/>
            <a:ext cx="411480" cy="411480"/>
          </a:xfrm>
          <a:prstGeom prst="rect">
            <a:avLst/>
          </a:prstGeom>
        </p:spPr>
      </p:pic>
      <p:sp>
        <p:nvSpPr>
          <p:cNvPr id="9" name="Text 6"/>
          <p:cNvSpPr/>
          <p:nvPr/>
        </p:nvSpPr>
        <p:spPr>
          <a:xfrm>
            <a:off x="1188720" y="1600200"/>
            <a:ext cx="1828800" cy="365760"/>
          </a:xfrm>
          <a:prstGeom prst="rect">
            <a:avLst/>
          </a:prstGeom>
          <a:noFill/>
          <a:ln/>
        </p:spPr>
        <p:txBody>
          <a:bodyPr wrap="square" lIns="0" tIns="0" rIns="0" bIns="0" rtlCol="0" anchor="ctr"/>
          <a:lstStyle/>
          <a:p>
            <a:pPr indent="0" marL="0">
              <a:buNone/>
            </a:pPr>
            <a:r>
              <a:rPr lang="en-US" sz="1800" b="1" dirty="0">
                <a:solidFill>
                  <a:srgbClr val="6B0F1A"/>
                </a:solidFill>
                <a:latin typeface="Calibri" pitchFamily="34" charset="0"/>
                <a:ea typeface="Calibri" pitchFamily="34" charset="-122"/>
                <a:cs typeface="Calibri" pitchFamily="34" charset="-120"/>
              </a:rPr>
              <a:t>Site A</a:t>
            </a:r>
            <a:endParaRPr lang="en-US" sz="1800" dirty="0"/>
          </a:p>
        </p:txBody>
      </p:sp>
      <p:sp>
        <p:nvSpPr>
          <p:cNvPr id="10" name="Text 7"/>
          <p:cNvSpPr/>
          <p:nvPr/>
        </p:nvSpPr>
        <p:spPr>
          <a:xfrm>
            <a:off x="685800" y="2103120"/>
            <a:ext cx="3657600" cy="274320"/>
          </a:xfrm>
          <a:prstGeom prst="rect">
            <a:avLst/>
          </a:prstGeom>
          <a:noFill/>
          <a:ln/>
        </p:spPr>
        <p:txBody>
          <a:bodyPr wrap="square" lIns="0" tIns="0" rIns="0" bIns="0" rtlCol="0" anchor="ctr"/>
          <a:lstStyle/>
          <a:p>
            <a:pPr indent="0" marL="0">
              <a:buNone/>
            </a:pPr>
            <a:r>
              <a:rPr lang="en-US" sz="1100" i="1" dirty="0">
                <a:solidFill>
                  <a:srgbClr val="55657A"/>
                </a:solidFill>
                <a:latin typeface="Calibri" pitchFamily="34" charset="0"/>
                <a:ea typeface="Calibri" pitchFamily="34" charset="-122"/>
                <a:cs typeface="Calibri" pitchFamily="34" charset="-120"/>
              </a:rPr>
              <a:t>46°16′N · 71°41′W · 106 m</a:t>
            </a:r>
            <a:endParaRPr lang="en-US" sz="1100" dirty="0"/>
          </a:p>
        </p:txBody>
      </p:sp>
      <p:sp>
        <p:nvSpPr>
          <p:cNvPr id="11" name="Text 8"/>
          <p:cNvSpPr/>
          <p:nvPr/>
        </p:nvSpPr>
        <p:spPr>
          <a:xfrm>
            <a:off x="685800" y="2377440"/>
            <a:ext cx="3657600" cy="960120"/>
          </a:xfrm>
          <a:prstGeom prst="rect">
            <a:avLst/>
          </a:prstGeom>
          <a:noFill/>
          <a:ln/>
        </p:spPr>
        <p:txBody>
          <a:bodyPr wrap="square" lIns="0" tIns="0" rIns="0" bIns="0" rtlCol="0" anchor="ctr"/>
          <a:lstStyle/>
          <a:p>
            <a:pPr indent="0" marL="0">
              <a:buNone/>
            </a:pPr>
            <a:r>
              <a:rPr lang="en-US" sz="1200" dirty="0">
                <a:solidFill>
                  <a:srgbClr val="1B1F3A"/>
                </a:solidFill>
                <a:latin typeface="Calibri" pitchFamily="34" charset="0"/>
                <a:ea typeface="Calibri" pitchFamily="34" charset="-122"/>
                <a:cs typeface="Calibri" pitchFamily="34" charset="-120"/>
              </a:rPr>
              <a:t>50 m × 400 m   ·   105 carottes</a:t>
            </a:r>
            <a:endParaRPr lang="en-US" sz="1200" dirty="0"/>
          </a:p>
          <a:p>
            <a:pPr indent="0" marL="0">
              <a:buNone/>
            </a:pPr>
            <a:r>
              <a:rPr lang="en-US" sz="1200" dirty="0">
                <a:solidFill>
                  <a:srgbClr val="1B1F3A"/>
                </a:solidFill>
                <a:latin typeface="Calibri" pitchFamily="34" charset="0"/>
                <a:ea typeface="Calibri" pitchFamily="34" charset="-122"/>
                <a:cs typeface="Calibri" pitchFamily="34" charset="-120"/>
              </a:rPr>
              <a:t>8 années en production biologique</a:t>
            </a:r>
            <a:endParaRPr lang="en-US" sz="1200" dirty="0"/>
          </a:p>
          <a:p>
            <a:pPr indent="0" marL="0">
              <a:buNone/>
            </a:pPr>
            <a:r>
              <a:rPr lang="en-US" sz="1200" dirty="0">
                <a:solidFill>
                  <a:srgbClr val="1B1F3A"/>
                </a:solidFill>
                <a:latin typeface="Calibri" pitchFamily="34" charset="0"/>
                <a:ea typeface="Calibri" pitchFamily="34" charset="-122"/>
                <a:cs typeface="Calibri" pitchFamily="34" charset="-120"/>
              </a:rPr>
              <a:t>(sans pesticides ni engrais chimiques)</a:t>
            </a:r>
            <a:endParaRPr lang="en-US" sz="1200" dirty="0"/>
          </a:p>
        </p:txBody>
      </p:sp>
      <p:sp>
        <p:nvSpPr>
          <p:cNvPr id="12" name="Shape 9"/>
          <p:cNvSpPr/>
          <p:nvPr/>
        </p:nvSpPr>
        <p:spPr>
          <a:xfrm>
            <a:off x="4663440" y="1280160"/>
            <a:ext cx="4023360" cy="2103120"/>
          </a:xfrm>
          <a:prstGeom prst="rect">
            <a:avLst/>
          </a:prstGeom>
          <a:solidFill>
            <a:srgbClr val="F5EFE6"/>
          </a:solidFill>
          <a:ln w="12700">
            <a:solidFill>
              <a:srgbClr val="DDD6CB"/>
            </a:solidFill>
            <a:prstDash val="solid"/>
          </a:ln>
          <a:effectLst>
            <a:outerShdw sx="100000" sy="100000" kx="0" ky="0" algn="bl" rotWithShape="0" blurRad="101600" dist="25400" dir="5400000">
              <a:srgbClr val="000000">
                <a:alpha val="10000"/>
              </a:srgbClr>
            </a:outerShdw>
          </a:effectLst>
        </p:spPr>
      </p:sp>
      <p:sp>
        <p:nvSpPr>
          <p:cNvPr id="13" name="Shape 10"/>
          <p:cNvSpPr/>
          <p:nvPr/>
        </p:nvSpPr>
        <p:spPr>
          <a:xfrm>
            <a:off x="4663440" y="1280160"/>
            <a:ext cx="4023360" cy="182880"/>
          </a:xfrm>
          <a:prstGeom prst="rect">
            <a:avLst/>
          </a:prstGeom>
          <a:solidFill>
            <a:srgbClr val="2D5016"/>
          </a:solidFill>
          <a:ln w="12700">
            <a:solidFill>
              <a:srgbClr val="2D5016"/>
            </a:solidFill>
            <a:prstDash val="solid"/>
          </a:ln>
        </p:spPr>
      </p:sp>
      <p:pic>
        <p:nvPicPr>
          <p:cNvPr id="14" name="Image 1" descr="preencoded.png">    </p:cNvPr>
          <p:cNvPicPr>
            <a:picLocks noChangeAspect="1"/>
          </p:cNvPicPr>
          <p:nvPr/>
        </p:nvPicPr>
        <p:blipFill>
          <a:blip r:embed="rId2"/>
          <a:stretch>
            <a:fillRect/>
          </a:stretch>
        </p:blipFill>
        <p:spPr>
          <a:xfrm>
            <a:off x="4846320" y="1627632"/>
            <a:ext cx="411480" cy="411480"/>
          </a:xfrm>
          <a:prstGeom prst="rect">
            <a:avLst/>
          </a:prstGeom>
        </p:spPr>
      </p:pic>
      <p:sp>
        <p:nvSpPr>
          <p:cNvPr id="15" name="Text 11"/>
          <p:cNvSpPr/>
          <p:nvPr/>
        </p:nvSpPr>
        <p:spPr>
          <a:xfrm>
            <a:off x="5349240" y="1600200"/>
            <a:ext cx="1828800" cy="365760"/>
          </a:xfrm>
          <a:prstGeom prst="rect">
            <a:avLst/>
          </a:prstGeom>
          <a:noFill/>
          <a:ln/>
        </p:spPr>
        <p:txBody>
          <a:bodyPr wrap="square" lIns="0" tIns="0" rIns="0" bIns="0" rtlCol="0" anchor="ctr"/>
          <a:lstStyle/>
          <a:p>
            <a:pPr indent="0" marL="0">
              <a:buNone/>
            </a:pPr>
            <a:r>
              <a:rPr lang="en-US" sz="1800" b="1" dirty="0">
                <a:solidFill>
                  <a:srgbClr val="2D5016"/>
                </a:solidFill>
                <a:latin typeface="Calibri" pitchFamily="34" charset="0"/>
                <a:ea typeface="Calibri" pitchFamily="34" charset="-122"/>
                <a:cs typeface="Calibri" pitchFamily="34" charset="-120"/>
              </a:rPr>
              <a:t>Site B</a:t>
            </a:r>
            <a:endParaRPr lang="en-US" sz="1800" dirty="0"/>
          </a:p>
        </p:txBody>
      </p:sp>
      <p:sp>
        <p:nvSpPr>
          <p:cNvPr id="16" name="Text 12"/>
          <p:cNvSpPr/>
          <p:nvPr/>
        </p:nvSpPr>
        <p:spPr>
          <a:xfrm>
            <a:off x="4846320" y="2103120"/>
            <a:ext cx="3657600" cy="274320"/>
          </a:xfrm>
          <a:prstGeom prst="rect">
            <a:avLst/>
          </a:prstGeom>
          <a:noFill/>
          <a:ln/>
        </p:spPr>
        <p:txBody>
          <a:bodyPr wrap="square" lIns="0" tIns="0" rIns="0" bIns="0" rtlCol="0" anchor="ctr"/>
          <a:lstStyle/>
          <a:p>
            <a:pPr indent="0" marL="0">
              <a:buNone/>
            </a:pPr>
            <a:r>
              <a:rPr lang="en-US" sz="1100" i="1" dirty="0">
                <a:solidFill>
                  <a:srgbClr val="55657A"/>
                </a:solidFill>
                <a:latin typeface="Calibri" pitchFamily="34" charset="0"/>
                <a:ea typeface="Calibri" pitchFamily="34" charset="-122"/>
                <a:cs typeface="Calibri" pitchFamily="34" charset="-120"/>
              </a:rPr>
              <a:t>46°17′N · 71°55′W · 112 m</a:t>
            </a:r>
            <a:endParaRPr lang="en-US" sz="1100" dirty="0"/>
          </a:p>
        </p:txBody>
      </p:sp>
      <p:sp>
        <p:nvSpPr>
          <p:cNvPr id="17" name="Text 13"/>
          <p:cNvSpPr/>
          <p:nvPr/>
        </p:nvSpPr>
        <p:spPr>
          <a:xfrm>
            <a:off x="4846320" y="2377440"/>
            <a:ext cx="3657600" cy="960120"/>
          </a:xfrm>
          <a:prstGeom prst="rect">
            <a:avLst/>
          </a:prstGeom>
          <a:noFill/>
          <a:ln/>
        </p:spPr>
        <p:txBody>
          <a:bodyPr wrap="square" lIns="0" tIns="0" rIns="0" bIns="0" rtlCol="0" anchor="ctr"/>
          <a:lstStyle/>
          <a:p>
            <a:pPr indent="0" marL="0">
              <a:buNone/>
            </a:pPr>
            <a:r>
              <a:rPr lang="en-US" sz="1200" dirty="0">
                <a:solidFill>
                  <a:srgbClr val="1B1F3A"/>
                </a:solidFill>
                <a:latin typeface="Calibri" pitchFamily="34" charset="0"/>
                <a:ea typeface="Calibri" pitchFamily="34" charset="-122"/>
                <a:cs typeface="Calibri" pitchFamily="34" charset="-120"/>
              </a:rPr>
              <a:t>46 m × 460 m   ·   100 carottes</a:t>
            </a:r>
            <a:endParaRPr lang="en-US" sz="1200" dirty="0"/>
          </a:p>
          <a:p>
            <a:pPr indent="0" marL="0">
              <a:buNone/>
            </a:pPr>
            <a:r>
              <a:rPr lang="en-US" sz="1200" dirty="0">
                <a:solidFill>
                  <a:srgbClr val="1B1F3A"/>
                </a:solidFill>
                <a:latin typeface="Calibri" pitchFamily="34" charset="0"/>
                <a:ea typeface="Calibri" pitchFamily="34" charset="-122"/>
                <a:cs typeface="Calibri" pitchFamily="34" charset="-120"/>
              </a:rPr>
              <a:t>30 années en production conventionnelle</a:t>
            </a:r>
            <a:endParaRPr lang="en-US" sz="1200" dirty="0"/>
          </a:p>
          <a:p>
            <a:pPr indent="0" marL="0">
              <a:buNone/>
            </a:pPr>
            <a:r>
              <a:rPr lang="en-US" sz="1200" dirty="0">
                <a:solidFill>
                  <a:srgbClr val="1B1F3A"/>
                </a:solidFill>
                <a:latin typeface="Calibri" pitchFamily="34" charset="0"/>
                <a:ea typeface="Calibri" pitchFamily="34" charset="-122"/>
                <a:cs typeface="Calibri" pitchFamily="34" charset="-120"/>
              </a:rPr>
              <a:t>Fortes contrastes texturaux observés</a:t>
            </a:r>
            <a:endParaRPr lang="en-US" sz="1200" dirty="0"/>
          </a:p>
        </p:txBody>
      </p:sp>
      <p:sp>
        <p:nvSpPr>
          <p:cNvPr id="18" name="Shape 14"/>
          <p:cNvSpPr/>
          <p:nvPr/>
        </p:nvSpPr>
        <p:spPr>
          <a:xfrm>
            <a:off x="502920" y="3611880"/>
            <a:ext cx="8229600" cy="1005840"/>
          </a:xfrm>
          <a:prstGeom prst="rect">
            <a:avLst/>
          </a:prstGeom>
          <a:solidFill>
            <a:srgbClr val="0B3954"/>
          </a:solidFill>
          <a:ln w="12700">
            <a:solidFill>
              <a:srgbClr val="0B3954"/>
            </a:solidFill>
            <a:prstDash val="solid"/>
          </a:ln>
        </p:spPr>
      </p:sp>
      <p:pic>
        <p:nvPicPr>
          <p:cNvPr id="19" name="Image 2" descr="preencoded.png">    </p:cNvPr>
          <p:cNvPicPr>
            <a:picLocks noChangeAspect="1"/>
          </p:cNvPicPr>
          <p:nvPr/>
        </p:nvPicPr>
        <p:blipFill>
          <a:blip r:embed="rId3"/>
          <a:stretch>
            <a:fillRect/>
          </a:stretch>
        </p:blipFill>
        <p:spPr>
          <a:xfrm>
            <a:off x="685800" y="3794760"/>
            <a:ext cx="594360" cy="594360"/>
          </a:xfrm>
          <a:prstGeom prst="rect">
            <a:avLst/>
          </a:prstGeom>
        </p:spPr>
      </p:pic>
      <p:sp>
        <p:nvSpPr>
          <p:cNvPr id="20" name="Text 15"/>
          <p:cNvSpPr/>
          <p:nvPr/>
        </p:nvSpPr>
        <p:spPr>
          <a:xfrm>
            <a:off x="1417320" y="3749040"/>
            <a:ext cx="7315200" cy="868680"/>
          </a:xfrm>
          <a:prstGeom prst="rect">
            <a:avLst/>
          </a:prstGeom>
          <a:noFill/>
          <a:ln/>
        </p:spPr>
        <p:txBody>
          <a:bodyPr wrap="square" lIns="0" tIns="0" rIns="0" bIns="0" rtlCol="0" anchor="ctr"/>
          <a:lstStyle/>
          <a:p>
            <a:pPr indent="0" marL="0">
              <a:buNone/>
            </a:pPr>
            <a:r>
              <a:rPr lang="en-US" sz="1150" b="1" spc="200" kern="0" dirty="0">
                <a:solidFill>
                  <a:srgbClr val="F5EFE6"/>
                </a:solidFill>
                <a:latin typeface="Calibri" pitchFamily="34" charset="0"/>
                <a:ea typeface="Calibri" pitchFamily="34" charset="-122"/>
                <a:cs typeface="Calibri" pitchFamily="34" charset="-120"/>
              </a:rPr>
              <a:t>Conditions communes (2012)</a:t>
            </a:r>
            <a:endParaRPr lang="en-US" sz="1150" dirty="0"/>
          </a:p>
          <a:p>
            <a:pPr indent="0" marL="0">
              <a:buNone/>
            </a:pPr>
            <a:r>
              <a:rPr lang="en-US" sz="1150" dirty="0">
                <a:solidFill>
                  <a:srgbClr val="FFFFFF"/>
                </a:solidFill>
                <a:latin typeface="Calibri" pitchFamily="34" charset="0"/>
                <a:ea typeface="Calibri" pitchFamily="34" charset="-122"/>
                <a:cs typeface="Calibri" pitchFamily="34" charset="-120"/>
              </a:rPr>
              <a:t>Précipitations totales 978 mm (dont 186 mm de neige)  ·  ETP Hargreaves = 571 mm  ·  Cultivar Stevens  ·  Drains à 50 cm  ·  Asperseurs 4 mm/h.</a:t>
            </a:r>
            <a:endParaRPr lang="en-US" sz="1150" dirty="0"/>
          </a:p>
        </p:txBody>
      </p:sp>
      <p:sp>
        <p:nvSpPr>
          <p:cNvPr id="21" name="Text 16"/>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Mesures sur le terrain</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Un dispositif intensif pour échantillonner la variabilité</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6" name="Shape 4"/>
          <p:cNvSpPr/>
          <p:nvPr/>
        </p:nvSpPr>
        <p:spPr>
          <a:xfrm>
            <a:off x="502920" y="1280160"/>
            <a:ext cx="4023360" cy="1508760"/>
          </a:xfrm>
          <a:prstGeom prst="rect">
            <a:avLst/>
          </a:prstGeom>
          <a:solidFill>
            <a:srgbClr val="F5EFE6"/>
          </a:solidFill>
          <a:ln w="6350">
            <a:solidFill>
              <a:srgbClr val="DDD6CB"/>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685800" y="1554480"/>
            <a:ext cx="594360" cy="594360"/>
          </a:xfrm>
          <a:prstGeom prst="ellipse">
            <a:avLst/>
          </a:prstGeom>
          <a:solidFill>
            <a:srgbClr val="FFFFFF"/>
          </a:solidFill>
          <a:ln w="19050">
            <a:solidFill>
              <a:srgbClr val="0B3954"/>
            </a:solidFill>
            <a:prstDash val="solid"/>
          </a:ln>
        </p:spPr>
      </p:sp>
      <p:pic>
        <p:nvPicPr>
          <p:cNvPr id="8" name="Image 0" descr="preencoded.png">    </p:cNvPr>
          <p:cNvPicPr>
            <a:picLocks noChangeAspect="1"/>
          </p:cNvPicPr>
          <p:nvPr/>
        </p:nvPicPr>
        <p:blipFill>
          <a:blip r:embed="rId1"/>
          <a:stretch>
            <a:fillRect/>
          </a:stretch>
        </p:blipFill>
        <p:spPr>
          <a:xfrm>
            <a:off x="777240" y="1645920"/>
            <a:ext cx="411480" cy="411480"/>
          </a:xfrm>
          <a:prstGeom prst="rect">
            <a:avLst/>
          </a:prstGeom>
        </p:spPr>
      </p:pic>
      <p:sp>
        <p:nvSpPr>
          <p:cNvPr id="9" name="Text 6"/>
          <p:cNvSpPr/>
          <p:nvPr/>
        </p:nvSpPr>
        <p:spPr>
          <a:xfrm>
            <a:off x="1417320" y="1463040"/>
            <a:ext cx="3017520" cy="411480"/>
          </a:xfrm>
          <a:prstGeom prst="rect">
            <a:avLst/>
          </a:prstGeom>
          <a:noFill/>
          <a:ln/>
        </p:spPr>
        <p:txBody>
          <a:bodyPr wrap="square" lIns="0" tIns="0" rIns="0" bIns="0" rtlCol="0" anchor="ctr"/>
          <a:lstStyle/>
          <a:p>
            <a:pPr indent="0" marL="0">
              <a:buNone/>
            </a:pPr>
            <a:r>
              <a:rPr lang="en-US" sz="1300" b="1" dirty="0">
                <a:solidFill>
                  <a:srgbClr val="0B3954"/>
                </a:solidFill>
                <a:latin typeface="Calibri" pitchFamily="34" charset="0"/>
                <a:ea typeface="Calibri" pitchFamily="34" charset="-122"/>
                <a:cs typeface="Calibri" pitchFamily="34" charset="-120"/>
              </a:rPr>
              <a:t>Carottes de sol non perturbées</a:t>
            </a:r>
            <a:endParaRPr lang="en-US" sz="1300" dirty="0"/>
          </a:p>
        </p:txBody>
      </p:sp>
      <p:sp>
        <p:nvSpPr>
          <p:cNvPr id="10" name="Text 7"/>
          <p:cNvSpPr/>
          <p:nvPr/>
        </p:nvSpPr>
        <p:spPr>
          <a:xfrm>
            <a:off x="1417320" y="1920240"/>
            <a:ext cx="3017520" cy="82296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Ø 6 cm × 6 cm — deux profondeurs (0,20 et 0,40 m). Mesure de Ksat et courbes de rétention en laboratoire.</a:t>
            </a:r>
            <a:endParaRPr lang="en-US" sz="1100" dirty="0"/>
          </a:p>
        </p:txBody>
      </p:sp>
      <p:sp>
        <p:nvSpPr>
          <p:cNvPr id="11" name="Shape 8"/>
          <p:cNvSpPr/>
          <p:nvPr/>
        </p:nvSpPr>
        <p:spPr>
          <a:xfrm>
            <a:off x="4663440" y="1280160"/>
            <a:ext cx="4023360" cy="1508760"/>
          </a:xfrm>
          <a:prstGeom prst="rect">
            <a:avLst/>
          </a:prstGeom>
          <a:solidFill>
            <a:srgbClr val="F5EFE6"/>
          </a:solidFill>
          <a:ln w="6350">
            <a:solidFill>
              <a:srgbClr val="DDD6CB"/>
            </a:solidFill>
            <a:prstDash val="solid"/>
          </a:ln>
          <a:effectLst>
            <a:outerShdw sx="100000" sy="100000" kx="0" ky="0" algn="bl" rotWithShape="0" blurRad="101600" dist="25400" dir="5400000">
              <a:srgbClr val="000000">
                <a:alpha val="10000"/>
              </a:srgbClr>
            </a:outerShdw>
          </a:effectLst>
        </p:spPr>
      </p:sp>
      <p:sp>
        <p:nvSpPr>
          <p:cNvPr id="12" name="Shape 9"/>
          <p:cNvSpPr/>
          <p:nvPr/>
        </p:nvSpPr>
        <p:spPr>
          <a:xfrm>
            <a:off x="4846320" y="1554480"/>
            <a:ext cx="594360" cy="594360"/>
          </a:xfrm>
          <a:prstGeom prst="ellipse">
            <a:avLst/>
          </a:prstGeom>
          <a:solidFill>
            <a:srgbClr val="FFFFFF"/>
          </a:solidFill>
          <a:ln w="19050">
            <a:solidFill>
              <a:srgbClr val="0B3954"/>
            </a:solidFill>
            <a:prstDash val="solid"/>
          </a:ln>
        </p:spPr>
      </p:sp>
      <p:pic>
        <p:nvPicPr>
          <p:cNvPr id="13" name="Image 1" descr="preencoded.png">    </p:cNvPr>
          <p:cNvPicPr>
            <a:picLocks noChangeAspect="1"/>
          </p:cNvPicPr>
          <p:nvPr/>
        </p:nvPicPr>
        <p:blipFill>
          <a:blip r:embed="rId2"/>
          <a:stretch>
            <a:fillRect/>
          </a:stretch>
        </p:blipFill>
        <p:spPr>
          <a:xfrm>
            <a:off x="4937760" y="1645920"/>
            <a:ext cx="411480" cy="411480"/>
          </a:xfrm>
          <a:prstGeom prst="rect">
            <a:avLst/>
          </a:prstGeom>
        </p:spPr>
      </p:pic>
      <p:sp>
        <p:nvSpPr>
          <p:cNvPr id="14" name="Text 10"/>
          <p:cNvSpPr/>
          <p:nvPr/>
        </p:nvSpPr>
        <p:spPr>
          <a:xfrm>
            <a:off x="5577840" y="1463040"/>
            <a:ext cx="3017520" cy="411480"/>
          </a:xfrm>
          <a:prstGeom prst="rect">
            <a:avLst/>
          </a:prstGeom>
          <a:noFill/>
          <a:ln/>
        </p:spPr>
        <p:txBody>
          <a:bodyPr wrap="square" lIns="0" tIns="0" rIns="0" bIns="0" rtlCol="0" anchor="ctr"/>
          <a:lstStyle/>
          <a:p>
            <a:pPr indent="0" marL="0">
              <a:buNone/>
            </a:pPr>
            <a:r>
              <a:rPr lang="en-US" sz="1300" b="1" dirty="0">
                <a:solidFill>
                  <a:srgbClr val="0B3954"/>
                </a:solidFill>
                <a:latin typeface="Calibri" pitchFamily="34" charset="0"/>
                <a:ea typeface="Calibri" pitchFamily="34" charset="-122"/>
                <a:cs typeface="Calibri" pitchFamily="34" charset="-120"/>
              </a:rPr>
              <a:t>Tensiomètres</a:t>
            </a:r>
            <a:endParaRPr lang="en-US" sz="1300" dirty="0"/>
          </a:p>
        </p:txBody>
      </p:sp>
      <p:sp>
        <p:nvSpPr>
          <p:cNvPr id="15" name="Text 11"/>
          <p:cNvSpPr/>
          <p:nvPr/>
        </p:nvSpPr>
        <p:spPr>
          <a:xfrm>
            <a:off x="5577840" y="1920240"/>
            <a:ext cx="3017520" cy="82296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Suivi continu du potentiel matriciel à plusieurs profondeurs et plusieurs positions dans le champ.</a:t>
            </a:r>
            <a:endParaRPr lang="en-US" sz="1100" dirty="0"/>
          </a:p>
        </p:txBody>
      </p:sp>
      <p:sp>
        <p:nvSpPr>
          <p:cNvPr id="16" name="Shape 12"/>
          <p:cNvSpPr/>
          <p:nvPr/>
        </p:nvSpPr>
        <p:spPr>
          <a:xfrm>
            <a:off x="502920" y="2926080"/>
            <a:ext cx="4023360" cy="1508760"/>
          </a:xfrm>
          <a:prstGeom prst="rect">
            <a:avLst/>
          </a:prstGeom>
          <a:solidFill>
            <a:srgbClr val="F5EFE6"/>
          </a:solidFill>
          <a:ln w="6350">
            <a:solidFill>
              <a:srgbClr val="DDD6CB"/>
            </a:solidFill>
            <a:prstDash val="solid"/>
          </a:ln>
          <a:effectLst>
            <a:outerShdw sx="100000" sy="100000" kx="0" ky="0" algn="bl" rotWithShape="0" blurRad="101600" dist="25400" dir="5400000">
              <a:srgbClr val="000000">
                <a:alpha val="10000"/>
              </a:srgbClr>
            </a:outerShdw>
          </a:effectLst>
        </p:spPr>
      </p:sp>
      <p:sp>
        <p:nvSpPr>
          <p:cNvPr id="17" name="Shape 13"/>
          <p:cNvSpPr/>
          <p:nvPr/>
        </p:nvSpPr>
        <p:spPr>
          <a:xfrm>
            <a:off x="685800" y="3200400"/>
            <a:ext cx="594360" cy="594360"/>
          </a:xfrm>
          <a:prstGeom prst="ellipse">
            <a:avLst/>
          </a:prstGeom>
          <a:solidFill>
            <a:srgbClr val="FFFFFF"/>
          </a:solidFill>
          <a:ln w="19050">
            <a:solidFill>
              <a:srgbClr val="0B3954"/>
            </a:solidFill>
            <a:prstDash val="solid"/>
          </a:ln>
        </p:spPr>
      </p:sp>
      <p:pic>
        <p:nvPicPr>
          <p:cNvPr id="18" name="Image 2" descr="preencoded.png">    </p:cNvPr>
          <p:cNvPicPr>
            <a:picLocks noChangeAspect="1"/>
          </p:cNvPicPr>
          <p:nvPr/>
        </p:nvPicPr>
        <p:blipFill>
          <a:blip r:embed="rId3"/>
          <a:stretch>
            <a:fillRect/>
          </a:stretch>
        </p:blipFill>
        <p:spPr>
          <a:xfrm>
            <a:off x="777240" y="3291840"/>
            <a:ext cx="411480" cy="411480"/>
          </a:xfrm>
          <a:prstGeom prst="rect">
            <a:avLst/>
          </a:prstGeom>
        </p:spPr>
      </p:pic>
      <p:sp>
        <p:nvSpPr>
          <p:cNvPr id="19" name="Text 14"/>
          <p:cNvSpPr/>
          <p:nvPr/>
        </p:nvSpPr>
        <p:spPr>
          <a:xfrm>
            <a:off x="1417320" y="3108960"/>
            <a:ext cx="3017520" cy="411480"/>
          </a:xfrm>
          <a:prstGeom prst="rect">
            <a:avLst/>
          </a:prstGeom>
          <a:noFill/>
          <a:ln/>
        </p:spPr>
        <p:txBody>
          <a:bodyPr wrap="square" lIns="0" tIns="0" rIns="0" bIns="0" rtlCol="0" anchor="ctr"/>
          <a:lstStyle/>
          <a:p>
            <a:pPr indent="0" marL="0">
              <a:buNone/>
            </a:pPr>
            <a:r>
              <a:rPr lang="en-US" sz="1300" b="1" dirty="0">
                <a:solidFill>
                  <a:srgbClr val="0B3954"/>
                </a:solidFill>
                <a:latin typeface="Calibri" pitchFamily="34" charset="0"/>
                <a:ea typeface="Calibri" pitchFamily="34" charset="-122"/>
                <a:cs typeface="Calibri" pitchFamily="34" charset="-120"/>
              </a:rPr>
              <a:t>Niveau de la nappe</a:t>
            </a:r>
            <a:endParaRPr lang="en-US" sz="1300" dirty="0"/>
          </a:p>
        </p:txBody>
      </p:sp>
      <p:sp>
        <p:nvSpPr>
          <p:cNvPr id="20" name="Text 15"/>
          <p:cNvSpPr/>
          <p:nvPr/>
        </p:nvSpPr>
        <p:spPr>
          <a:xfrm>
            <a:off x="1417320" y="3566160"/>
            <a:ext cx="3017520" cy="82296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Piézomètres répartis dans les champs. La nappe est maintenue ~50 cm sous la surface.</a:t>
            </a:r>
            <a:endParaRPr lang="en-US" sz="1100" dirty="0"/>
          </a:p>
        </p:txBody>
      </p:sp>
      <p:sp>
        <p:nvSpPr>
          <p:cNvPr id="21" name="Shape 16"/>
          <p:cNvSpPr/>
          <p:nvPr/>
        </p:nvSpPr>
        <p:spPr>
          <a:xfrm>
            <a:off x="4663440" y="2926080"/>
            <a:ext cx="4023360" cy="1508760"/>
          </a:xfrm>
          <a:prstGeom prst="rect">
            <a:avLst/>
          </a:prstGeom>
          <a:solidFill>
            <a:srgbClr val="F5EFE6"/>
          </a:solidFill>
          <a:ln w="6350">
            <a:solidFill>
              <a:srgbClr val="DDD6CB"/>
            </a:solidFill>
            <a:prstDash val="solid"/>
          </a:ln>
          <a:effectLst>
            <a:outerShdw sx="100000" sy="100000" kx="0" ky="0" algn="bl" rotWithShape="0" blurRad="101600" dist="25400" dir="5400000">
              <a:srgbClr val="000000">
                <a:alpha val="10000"/>
              </a:srgbClr>
            </a:outerShdw>
          </a:effectLst>
        </p:spPr>
      </p:sp>
      <p:sp>
        <p:nvSpPr>
          <p:cNvPr id="22" name="Shape 17"/>
          <p:cNvSpPr/>
          <p:nvPr/>
        </p:nvSpPr>
        <p:spPr>
          <a:xfrm>
            <a:off x="4846320" y="3200400"/>
            <a:ext cx="594360" cy="594360"/>
          </a:xfrm>
          <a:prstGeom prst="ellipse">
            <a:avLst/>
          </a:prstGeom>
          <a:solidFill>
            <a:srgbClr val="FFFFFF"/>
          </a:solidFill>
          <a:ln w="19050">
            <a:solidFill>
              <a:srgbClr val="0B3954"/>
            </a:solidFill>
            <a:prstDash val="solid"/>
          </a:ln>
        </p:spPr>
      </p:sp>
      <p:pic>
        <p:nvPicPr>
          <p:cNvPr id="23" name="Image 3" descr="preencoded.png">    </p:cNvPr>
          <p:cNvPicPr>
            <a:picLocks noChangeAspect="1"/>
          </p:cNvPicPr>
          <p:nvPr/>
        </p:nvPicPr>
        <p:blipFill>
          <a:blip r:embed="rId4"/>
          <a:stretch>
            <a:fillRect/>
          </a:stretch>
        </p:blipFill>
        <p:spPr>
          <a:xfrm>
            <a:off x="4937760" y="3291840"/>
            <a:ext cx="411480" cy="411480"/>
          </a:xfrm>
          <a:prstGeom prst="rect">
            <a:avLst/>
          </a:prstGeom>
        </p:spPr>
      </p:pic>
      <p:sp>
        <p:nvSpPr>
          <p:cNvPr id="24" name="Text 18"/>
          <p:cNvSpPr/>
          <p:nvPr/>
        </p:nvSpPr>
        <p:spPr>
          <a:xfrm>
            <a:off x="5577840" y="3108960"/>
            <a:ext cx="3017520" cy="411480"/>
          </a:xfrm>
          <a:prstGeom prst="rect">
            <a:avLst/>
          </a:prstGeom>
          <a:noFill/>
          <a:ln/>
        </p:spPr>
        <p:txBody>
          <a:bodyPr wrap="square" lIns="0" tIns="0" rIns="0" bIns="0" rtlCol="0" anchor="ctr"/>
          <a:lstStyle/>
          <a:p>
            <a:pPr indent="0" marL="0">
              <a:buNone/>
            </a:pPr>
            <a:r>
              <a:rPr lang="en-US" sz="1300" b="1" dirty="0">
                <a:solidFill>
                  <a:srgbClr val="0B3954"/>
                </a:solidFill>
                <a:latin typeface="Calibri" pitchFamily="34" charset="0"/>
                <a:ea typeface="Calibri" pitchFamily="34" charset="-122"/>
                <a:cs typeface="Calibri" pitchFamily="34" charset="-120"/>
              </a:rPr>
              <a:t>Rendement</a:t>
            </a:r>
            <a:endParaRPr lang="en-US" sz="1300" dirty="0"/>
          </a:p>
        </p:txBody>
      </p:sp>
      <p:sp>
        <p:nvSpPr>
          <p:cNvPr id="25" name="Text 19"/>
          <p:cNvSpPr/>
          <p:nvPr/>
        </p:nvSpPr>
        <p:spPr>
          <a:xfrm>
            <a:off x="5577840" y="3566160"/>
            <a:ext cx="3017520" cy="82296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Cueillette manuelle dans des quadrats répartis sur l'ensemble du champ (octobre 2012).</a:t>
            </a:r>
            <a:endParaRPr lang="en-US" sz="1100" dirty="0"/>
          </a:p>
        </p:txBody>
      </p:sp>
      <p:sp>
        <p:nvSpPr>
          <p:cNvPr id="26" name="Text 20"/>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Trois méthodes d'interpolation comparées</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Du déterministe au géostatistique</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6" name="Shape 4"/>
          <p:cNvSpPr/>
          <p:nvPr/>
        </p:nvSpPr>
        <p:spPr>
          <a:xfrm>
            <a:off x="502920" y="1280160"/>
            <a:ext cx="2606040" cy="3246120"/>
          </a:xfrm>
          <a:prstGeom prst="rect">
            <a:avLst/>
          </a:prstGeom>
          <a:solidFill>
            <a:srgbClr val="FFFFFF"/>
          </a:solidFill>
          <a:ln w="12700">
            <a:solidFill>
              <a:srgbClr val="DDD6CB"/>
            </a:solidFill>
            <a:prstDash val="solid"/>
          </a:ln>
          <a:effectLst>
            <a:outerShdw sx="100000" sy="100000" kx="0" ky="0" algn="bl" rotWithShape="0" blurRad="101600" dist="25400" dir="5400000">
              <a:srgbClr val="000000">
                <a:alpha val="10000"/>
              </a:srgbClr>
            </a:outerShdw>
          </a:effectLst>
        </p:spPr>
      </p:sp>
      <p:sp>
        <p:nvSpPr>
          <p:cNvPr id="7" name="Shape 5"/>
          <p:cNvSpPr/>
          <p:nvPr/>
        </p:nvSpPr>
        <p:spPr>
          <a:xfrm>
            <a:off x="502920" y="1280160"/>
            <a:ext cx="2606040" cy="182880"/>
          </a:xfrm>
          <a:prstGeom prst="rect">
            <a:avLst/>
          </a:prstGeom>
          <a:solidFill>
            <a:srgbClr val="0B3954"/>
          </a:solidFill>
          <a:ln w="12700">
            <a:solidFill>
              <a:srgbClr val="0B3954"/>
            </a:solidFill>
            <a:prstDash val="solid"/>
          </a:ln>
        </p:spPr>
      </p:sp>
      <p:sp>
        <p:nvSpPr>
          <p:cNvPr id="8" name="Text 6"/>
          <p:cNvSpPr/>
          <p:nvPr/>
        </p:nvSpPr>
        <p:spPr>
          <a:xfrm>
            <a:off x="685800" y="1645920"/>
            <a:ext cx="2240280" cy="594360"/>
          </a:xfrm>
          <a:prstGeom prst="rect">
            <a:avLst/>
          </a:prstGeom>
          <a:noFill/>
          <a:ln/>
        </p:spPr>
        <p:txBody>
          <a:bodyPr wrap="square" lIns="0" tIns="0" rIns="0" bIns="0" rtlCol="0" anchor="ctr"/>
          <a:lstStyle/>
          <a:p>
            <a:pPr algn="ctr" indent="0" marL="0">
              <a:buNone/>
            </a:pPr>
            <a:r>
              <a:rPr lang="en-US" sz="3200" b="1" dirty="0">
                <a:solidFill>
                  <a:srgbClr val="0B3954"/>
                </a:solidFill>
                <a:latin typeface="Calibri" pitchFamily="34" charset="0"/>
                <a:ea typeface="Calibri" pitchFamily="34" charset="-122"/>
                <a:cs typeface="Calibri" pitchFamily="34" charset="-120"/>
              </a:rPr>
              <a:t>IDW</a:t>
            </a:r>
            <a:endParaRPr lang="en-US" sz="3200" dirty="0"/>
          </a:p>
        </p:txBody>
      </p:sp>
      <p:sp>
        <p:nvSpPr>
          <p:cNvPr id="9" name="Text 7"/>
          <p:cNvSpPr/>
          <p:nvPr/>
        </p:nvSpPr>
        <p:spPr>
          <a:xfrm>
            <a:off x="685800" y="2286000"/>
            <a:ext cx="2240280" cy="274320"/>
          </a:xfrm>
          <a:prstGeom prst="rect">
            <a:avLst/>
          </a:prstGeom>
          <a:noFill/>
          <a:ln/>
        </p:spPr>
        <p:txBody>
          <a:bodyPr wrap="square" lIns="0" tIns="0" rIns="0" bIns="0" rtlCol="0" anchor="ctr"/>
          <a:lstStyle/>
          <a:p>
            <a:pPr algn="ctr" indent="0" marL="0">
              <a:buNone/>
            </a:pPr>
            <a:r>
              <a:rPr lang="en-US" sz="1100" i="1" dirty="0">
                <a:solidFill>
                  <a:srgbClr val="55657A"/>
                </a:solidFill>
                <a:latin typeface="Calibri" pitchFamily="34" charset="0"/>
                <a:ea typeface="Calibri" pitchFamily="34" charset="-122"/>
                <a:cs typeface="Calibri" pitchFamily="34" charset="-120"/>
              </a:rPr>
              <a:t>Inverse Distance Weighting</a:t>
            </a:r>
            <a:endParaRPr lang="en-US" sz="1100" dirty="0"/>
          </a:p>
        </p:txBody>
      </p:sp>
      <p:sp>
        <p:nvSpPr>
          <p:cNvPr id="10" name="Shape 8"/>
          <p:cNvSpPr/>
          <p:nvPr/>
        </p:nvSpPr>
        <p:spPr>
          <a:xfrm>
            <a:off x="1481328" y="2606040"/>
            <a:ext cx="594360" cy="36576"/>
          </a:xfrm>
          <a:prstGeom prst="rect">
            <a:avLst/>
          </a:prstGeom>
          <a:solidFill>
            <a:srgbClr val="0B3954"/>
          </a:solidFill>
          <a:ln w="12700">
            <a:solidFill>
              <a:srgbClr val="0B3954"/>
            </a:solidFill>
            <a:prstDash val="solid"/>
          </a:ln>
        </p:spPr>
      </p:sp>
      <p:sp>
        <p:nvSpPr>
          <p:cNvPr id="11" name="Text 9"/>
          <p:cNvSpPr/>
          <p:nvPr/>
        </p:nvSpPr>
        <p:spPr>
          <a:xfrm>
            <a:off x="731520" y="2697480"/>
            <a:ext cx="2194560" cy="1783080"/>
          </a:xfrm>
          <a:prstGeom prst="rect">
            <a:avLst/>
          </a:prstGeom>
          <a:noFill/>
          <a:ln/>
        </p:spPr>
        <p:txBody>
          <a:bodyPr wrap="square" lIns="0" tIns="0" rIns="0" bIns="0" rtlCol="0" anchor="ctr"/>
          <a:lstStyle/>
          <a:p>
            <a:pPr indent="0" marL="0">
              <a:buNone/>
            </a:pPr>
            <a:r>
              <a:rPr lang="en-US" sz="1150" dirty="0">
                <a:solidFill>
                  <a:srgbClr val="1B1F3A"/>
                </a:solidFill>
                <a:latin typeface="Calibri" pitchFamily="34" charset="0"/>
                <a:ea typeface="Calibri" pitchFamily="34" charset="-122"/>
                <a:cs typeface="Calibri" pitchFamily="34" charset="-120"/>
              </a:rPr>
              <a:t>Pondération inverse de la distance entre points observés. Déterministe, sans discontinuités. Le choix de l'exposant p est arbitraire.</a:t>
            </a:r>
            <a:endParaRPr lang="en-US" sz="1150" dirty="0"/>
          </a:p>
        </p:txBody>
      </p:sp>
      <p:sp>
        <p:nvSpPr>
          <p:cNvPr id="12" name="Shape 10"/>
          <p:cNvSpPr/>
          <p:nvPr/>
        </p:nvSpPr>
        <p:spPr>
          <a:xfrm>
            <a:off x="3291840" y="1280160"/>
            <a:ext cx="2606040" cy="3246120"/>
          </a:xfrm>
          <a:prstGeom prst="rect">
            <a:avLst/>
          </a:prstGeom>
          <a:solidFill>
            <a:srgbClr val="FFFFFF"/>
          </a:solidFill>
          <a:ln w="12700">
            <a:solidFill>
              <a:srgbClr val="DDD6CB"/>
            </a:solidFill>
            <a:prstDash val="solid"/>
          </a:ln>
          <a:effectLst>
            <a:outerShdw sx="100000" sy="100000" kx="0" ky="0" algn="bl" rotWithShape="0" blurRad="101600" dist="25400" dir="5400000">
              <a:srgbClr val="000000">
                <a:alpha val="10000"/>
              </a:srgbClr>
            </a:outerShdw>
          </a:effectLst>
        </p:spPr>
      </p:sp>
      <p:sp>
        <p:nvSpPr>
          <p:cNvPr id="13" name="Shape 11"/>
          <p:cNvSpPr/>
          <p:nvPr/>
        </p:nvSpPr>
        <p:spPr>
          <a:xfrm>
            <a:off x="3291840" y="1280160"/>
            <a:ext cx="2606040" cy="182880"/>
          </a:xfrm>
          <a:prstGeom prst="rect">
            <a:avLst/>
          </a:prstGeom>
          <a:solidFill>
            <a:srgbClr val="6B0F1A"/>
          </a:solidFill>
          <a:ln w="12700">
            <a:solidFill>
              <a:srgbClr val="6B0F1A"/>
            </a:solidFill>
            <a:prstDash val="solid"/>
          </a:ln>
        </p:spPr>
      </p:sp>
      <p:sp>
        <p:nvSpPr>
          <p:cNvPr id="14" name="Text 12"/>
          <p:cNvSpPr/>
          <p:nvPr/>
        </p:nvSpPr>
        <p:spPr>
          <a:xfrm>
            <a:off x="3474720" y="1645920"/>
            <a:ext cx="2240280" cy="594360"/>
          </a:xfrm>
          <a:prstGeom prst="rect">
            <a:avLst/>
          </a:prstGeom>
          <a:noFill/>
          <a:ln/>
        </p:spPr>
        <p:txBody>
          <a:bodyPr wrap="square" lIns="0" tIns="0" rIns="0" bIns="0" rtlCol="0" anchor="ctr"/>
          <a:lstStyle/>
          <a:p>
            <a:pPr algn="ctr" indent="0" marL="0">
              <a:buNone/>
            </a:pPr>
            <a:r>
              <a:rPr lang="en-US" sz="3200" b="1" dirty="0">
                <a:solidFill>
                  <a:srgbClr val="6B0F1A"/>
                </a:solidFill>
                <a:latin typeface="Calibri" pitchFamily="34" charset="0"/>
                <a:ea typeface="Calibri" pitchFamily="34" charset="-122"/>
                <a:cs typeface="Calibri" pitchFamily="34" charset="-120"/>
              </a:rPr>
              <a:t>TPS</a:t>
            </a:r>
            <a:endParaRPr lang="en-US" sz="3200" dirty="0"/>
          </a:p>
        </p:txBody>
      </p:sp>
      <p:sp>
        <p:nvSpPr>
          <p:cNvPr id="15" name="Text 13"/>
          <p:cNvSpPr/>
          <p:nvPr/>
        </p:nvSpPr>
        <p:spPr>
          <a:xfrm>
            <a:off x="3474720" y="2286000"/>
            <a:ext cx="2240280" cy="274320"/>
          </a:xfrm>
          <a:prstGeom prst="rect">
            <a:avLst/>
          </a:prstGeom>
          <a:noFill/>
          <a:ln/>
        </p:spPr>
        <p:txBody>
          <a:bodyPr wrap="square" lIns="0" tIns="0" rIns="0" bIns="0" rtlCol="0" anchor="ctr"/>
          <a:lstStyle/>
          <a:p>
            <a:pPr algn="ctr" indent="0" marL="0">
              <a:buNone/>
            </a:pPr>
            <a:r>
              <a:rPr lang="en-US" sz="1100" i="1" dirty="0">
                <a:solidFill>
                  <a:srgbClr val="55657A"/>
                </a:solidFill>
                <a:latin typeface="Calibri" pitchFamily="34" charset="0"/>
                <a:ea typeface="Calibri" pitchFamily="34" charset="-122"/>
                <a:cs typeface="Calibri" pitchFamily="34" charset="-120"/>
              </a:rPr>
              <a:t>Thin Plate Splines</a:t>
            </a:r>
            <a:endParaRPr lang="en-US" sz="1100" dirty="0"/>
          </a:p>
        </p:txBody>
      </p:sp>
      <p:sp>
        <p:nvSpPr>
          <p:cNvPr id="16" name="Shape 14"/>
          <p:cNvSpPr/>
          <p:nvPr/>
        </p:nvSpPr>
        <p:spPr>
          <a:xfrm>
            <a:off x="4270248" y="2606040"/>
            <a:ext cx="594360" cy="36576"/>
          </a:xfrm>
          <a:prstGeom prst="rect">
            <a:avLst/>
          </a:prstGeom>
          <a:solidFill>
            <a:srgbClr val="6B0F1A"/>
          </a:solidFill>
          <a:ln w="12700">
            <a:solidFill>
              <a:srgbClr val="6B0F1A"/>
            </a:solidFill>
            <a:prstDash val="solid"/>
          </a:ln>
        </p:spPr>
      </p:sp>
      <p:sp>
        <p:nvSpPr>
          <p:cNvPr id="17" name="Text 15"/>
          <p:cNvSpPr/>
          <p:nvPr/>
        </p:nvSpPr>
        <p:spPr>
          <a:xfrm>
            <a:off x="3520440" y="2697480"/>
            <a:ext cx="2194560" cy="1783080"/>
          </a:xfrm>
          <a:prstGeom prst="rect">
            <a:avLst/>
          </a:prstGeom>
          <a:noFill/>
          <a:ln/>
        </p:spPr>
        <p:txBody>
          <a:bodyPr wrap="square" lIns="0" tIns="0" rIns="0" bIns="0" rtlCol="0" anchor="ctr"/>
          <a:lstStyle/>
          <a:p>
            <a:pPr indent="0" marL="0">
              <a:buNone/>
            </a:pPr>
            <a:r>
              <a:rPr lang="en-US" sz="1150" dirty="0">
                <a:solidFill>
                  <a:srgbClr val="1B1F3A"/>
                </a:solidFill>
                <a:latin typeface="Calibri" pitchFamily="34" charset="0"/>
                <a:ea typeface="Calibri" pitchFamily="34" charset="-122"/>
                <a:cs typeface="Calibri" pitchFamily="34" charset="-120"/>
              </a:rPr>
              <a:t>Surface lisse passant exactement (ou non) par les points. Déterministe avec composante stochastique locale. Robuste avec peu de données.</a:t>
            </a:r>
            <a:endParaRPr lang="en-US" sz="1150" dirty="0"/>
          </a:p>
        </p:txBody>
      </p:sp>
      <p:sp>
        <p:nvSpPr>
          <p:cNvPr id="18" name="Shape 16"/>
          <p:cNvSpPr/>
          <p:nvPr/>
        </p:nvSpPr>
        <p:spPr>
          <a:xfrm>
            <a:off x="6080760" y="1280160"/>
            <a:ext cx="2606040" cy="3246120"/>
          </a:xfrm>
          <a:prstGeom prst="rect">
            <a:avLst/>
          </a:prstGeom>
          <a:solidFill>
            <a:srgbClr val="FFFFFF"/>
          </a:solidFill>
          <a:ln w="12700">
            <a:solidFill>
              <a:srgbClr val="DDD6CB"/>
            </a:solidFill>
            <a:prstDash val="solid"/>
          </a:ln>
          <a:effectLst>
            <a:outerShdw sx="100000" sy="100000" kx="0" ky="0" algn="bl" rotWithShape="0" blurRad="101600" dist="25400" dir="5400000">
              <a:srgbClr val="000000">
                <a:alpha val="10000"/>
              </a:srgbClr>
            </a:outerShdw>
          </a:effectLst>
        </p:spPr>
      </p:sp>
      <p:sp>
        <p:nvSpPr>
          <p:cNvPr id="19" name="Shape 17"/>
          <p:cNvSpPr/>
          <p:nvPr/>
        </p:nvSpPr>
        <p:spPr>
          <a:xfrm>
            <a:off x="6080760" y="1280160"/>
            <a:ext cx="2606040" cy="182880"/>
          </a:xfrm>
          <a:prstGeom prst="rect">
            <a:avLst/>
          </a:prstGeom>
          <a:solidFill>
            <a:srgbClr val="2D5016"/>
          </a:solidFill>
          <a:ln w="12700">
            <a:solidFill>
              <a:srgbClr val="2D5016"/>
            </a:solidFill>
            <a:prstDash val="solid"/>
          </a:ln>
        </p:spPr>
      </p:sp>
      <p:sp>
        <p:nvSpPr>
          <p:cNvPr id="20" name="Text 18"/>
          <p:cNvSpPr/>
          <p:nvPr/>
        </p:nvSpPr>
        <p:spPr>
          <a:xfrm>
            <a:off x="6263640" y="1645920"/>
            <a:ext cx="2240280" cy="594360"/>
          </a:xfrm>
          <a:prstGeom prst="rect">
            <a:avLst/>
          </a:prstGeom>
          <a:noFill/>
          <a:ln/>
        </p:spPr>
        <p:txBody>
          <a:bodyPr wrap="square" lIns="0" tIns="0" rIns="0" bIns="0" rtlCol="0" anchor="ctr"/>
          <a:lstStyle/>
          <a:p>
            <a:pPr algn="ctr" indent="0" marL="0">
              <a:buNone/>
            </a:pPr>
            <a:r>
              <a:rPr lang="en-US" sz="3200" b="1" dirty="0">
                <a:solidFill>
                  <a:srgbClr val="2D5016"/>
                </a:solidFill>
                <a:latin typeface="Calibri" pitchFamily="34" charset="0"/>
                <a:ea typeface="Calibri" pitchFamily="34" charset="-122"/>
                <a:cs typeface="Calibri" pitchFamily="34" charset="-120"/>
              </a:rPr>
              <a:t>KED</a:t>
            </a:r>
            <a:endParaRPr lang="en-US" sz="3200" dirty="0"/>
          </a:p>
        </p:txBody>
      </p:sp>
      <p:sp>
        <p:nvSpPr>
          <p:cNvPr id="21" name="Text 19"/>
          <p:cNvSpPr/>
          <p:nvPr/>
        </p:nvSpPr>
        <p:spPr>
          <a:xfrm>
            <a:off x="6263640" y="2286000"/>
            <a:ext cx="2240280" cy="274320"/>
          </a:xfrm>
          <a:prstGeom prst="rect">
            <a:avLst/>
          </a:prstGeom>
          <a:noFill/>
          <a:ln/>
        </p:spPr>
        <p:txBody>
          <a:bodyPr wrap="square" lIns="0" tIns="0" rIns="0" bIns="0" rtlCol="0" anchor="ctr"/>
          <a:lstStyle/>
          <a:p>
            <a:pPr algn="ctr" indent="0" marL="0">
              <a:buNone/>
            </a:pPr>
            <a:r>
              <a:rPr lang="en-US" sz="1100" i="1" dirty="0">
                <a:solidFill>
                  <a:srgbClr val="55657A"/>
                </a:solidFill>
                <a:latin typeface="Calibri" pitchFamily="34" charset="0"/>
                <a:ea typeface="Calibri" pitchFamily="34" charset="-122"/>
                <a:cs typeface="Calibri" pitchFamily="34" charset="-120"/>
              </a:rPr>
              <a:t>Kriging with External Drift</a:t>
            </a:r>
            <a:endParaRPr lang="en-US" sz="1100" dirty="0"/>
          </a:p>
        </p:txBody>
      </p:sp>
      <p:sp>
        <p:nvSpPr>
          <p:cNvPr id="22" name="Shape 20"/>
          <p:cNvSpPr/>
          <p:nvPr/>
        </p:nvSpPr>
        <p:spPr>
          <a:xfrm>
            <a:off x="7059168" y="2606040"/>
            <a:ext cx="594360" cy="36576"/>
          </a:xfrm>
          <a:prstGeom prst="rect">
            <a:avLst/>
          </a:prstGeom>
          <a:solidFill>
            <a:srgbClr val="2D5016"/>
          </a:solidFill>
          <a:ln w="12700">
            <a:solidFill>
              <a:srgbClr val="2D5016"/>
            </a:solidFill>
            <a:prstDash val="solid"/>
          </a:ln>
        </p:spPr>
      </p:sp>
      <p:sp>
        <p:nvSpPr>
          <p:cNvPr id="23" name="Text 21"/>
          <p:cNvSpPr/>
          <p:nvPr/>
        </p:nvSpPr>
        <p:spPr>
          <a:xfrm>
            <a:off x="6309360" y="2697480"/>
            <a:ext cx="2194560" cy="1783080"/>
          </a:xfrm>
          <a:prstGeom prst="rect">
            <a:avLst/>
          </a:prstGeom>
          <a:noFill/>
          <a:ln/>
        </p:spPr>
        <p:txBody>
          <a:bodyPr wrap="square" lIns="0" tIns="0" rIns="0" bIns="0" rtlCol="0" anchor="ctr"/>
          <a:lstStyle/>
          <a:p>
            <a:pPr indent="0" marL="0">
              <a:buNone/>
            </a:pPr>
            <a:r>
              <a:rPr lang="en-US" sz="1150" dirty="0">
                <a:solidFill>
                  <a:srgbClr val="1B1F3A"/>
                </a:solidFill>
                <a:latin typeface="Calibri" pitchFamily="34" charset="0"/>
                <a:ea typeface="Calibri" pitchFamily="34" charset="-122"/>
                <a:cs typeface="Calibri" pitchFamily="34" charset="-120"/>
              </a:rPr>
              <a:t>Krigeage qui exploite la structure spatiale via un variogramme. Géostatistique. Demande un nombre suffisant de points pour être fiable.</a:t>
            </a:r>
            <a:endParaRPr lang="en-US" sz="1150" dirty="0"/>
          </a:p>
        </p:txBody>
      </p:sp>
      <p:sp>
        <p:nvSpPr>
          <p:cNvPr id="24" name="Text 22"/>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6B0F1A"/>
          </a:solidFill>
          <a:ln w="12700">
            <a:solidFill>
              <a:srgbClr val="6B0F1A"/>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Résultats — variabilité spatiale du rendement</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Même sur des champs « construits », le rendement n'est pas uniforme</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6" name="Shape 4"/>
          <p:cNvSpPr/>
          <p:nvPr/>
        </p:nvSpPr>
        <p:spPr>
          <a:xfrm>
            <a:off x="502920" y="1280160"/>
            <a:ext cx="3931920" cy="3246120"/>
          </a:xfrm>
          <a:prstGeom prst="rect">
            <a:avLst/>
          </a:prstGeom>
          <a:solidFill>
            <a:srgbClr val="FAFAF7"/>
          </a:solidFill>
          <a:ln w="12700">
            <a:solidFill>
              <a:srgbClr val="DDD6CB"/>
            </a:solidFill>
            <a:prstDash val="solid"/>
          </a:ln>
        </p:spPr>
      </p:sp>
      <p:sp>
        <p:nvSpPr>
          <p:cNvPr id="7" name="Text 5"/>
          <p:cNvSpPr/>
          <p:nvPr/>
        </p:nvSpPr>
        <p:spPr>
          <a:xfrm>
            <a:off x="594360" y="1371600"/>
            <a:ext cx="3749040" cy="274320"/>
          </a:xfrm>
          <a:prstGeom prst="rect">
            <a:avLst/>
          </a:prstGeom>
          <a:noFill/>
          <a:ln/>
        </p:spPr>
        <p:txBody>
          <a:bodyPr wrap="square" lIns="0" tIns="0" rIns="0" bIns="0" rtlCol="0" anchor="ctr"/>
          <a:lstStyle/>
          <a:p>
            <a:pPr indent="0" marL="0">
              <a:buNone/>
            </a:pPr>
            <a:r>
              <a:rPr lang="en-US" sz="1100" b="1" dirty="0">
                <a:solidFill>
                  <a:srgbClr val="6B0F1A"/>
                </a:solidFill>
                <a:latin typeface="Calibri" pitchFamily="34" charset="0"/>
                <a:ea typeface="Calibri" pitchFamily="34" charset="-122"/>
                <a:cs typeface="Calibri" pitchFamily="34" charset="-120"/>
              </a:rPr>
              <a:t>Site A — rendement octobre 2012</a:t>
            </a:r>
            <a:endParaRPr lang="en-US" sz="1100" dirty="0"/>
          </a:p>
        </p:txBody>
      </p:sp>
      <p:sp>
        <p:nvSpPr>
          <p:cNvPr id="8" name="Shape 6"/>
          <p:cNvSpPr/>
          <p:nvPr/>
        </p:nvSpPr>
        <p:spPr>
          <a:xfrm>
            <a:off x="594360" y="1691640"/>
            <a:ext cx="205740" cy="329184"/>
          </a:xfrm>
          <a:prstGeom prst="rect">
            <a:avLst/>
          </a:prstGeom>
          <a:solidFill>
            <a:srgbClr val="F4E5D9"/>
          </a:solidFill>
          <a:ln w="12700">
            <a:solidFill>
              <a:srgbClr val="F4E5D9"/>
            </a:solidFill>
            <a:prstDash val="solid"/>
          </a:ln>
        </p:spPr>
      </p:sp>
      <p:sp>
        <p:nvSpPr>
          <p:cNvPr id="9" name="Shape 7"/>
          <p:cNvSpPr/>
          <p:nvPr/>
        </p:nvSpPr>
        <p:spPr>
          <a:xfrm>
            <a:off x="818388" y="1691640"/>
            <a:ext cx="205740" cy="329184"/>
          </a:xfrm>
          <a:prstGeom prst="rect">
            <a:avLst/>
          </a:prstGeom>
          <a:solidFill>
            <a:srgbClr val="F4E5D9"/>
          </a:solidFill>
          <a:ln w="12700">
            <a:solidFill>
              <a:srgbClr val="F4E5D9"/>
            </a:solidFill>
            <a:prstDash val="solid"/>
          </a:ln>
        </p:spPr>
      </p:sp>
      <p:sp>
        <p:nvSpPr>
          <p:cNvPr id="10" name="Shape 8"/>
          <p:cNvSpPr/>
          <p:nvPr/>
        </p:nvSpPr>
        <p:spPr>
          <a:xfrm>
            <a:off x="1042416" y="1691640"/>
            <a:ext cx="205740" cy="329184"/>
          </a:xfrm>
          <a:prstGeom prst="rect">
            <a:avLst/>
          </a:prstGeom>
          <a:solidFill>
            <a:srgbClr val="E9C7A2"/>
          </a:solidFill>
          <a:ln w="12700">
            <a:solidFill>
              <a:srgbClr val="E9C7A2"/>
            </a:solidFill>
            <a:prstDash val="solid"/>
          </a:ln>
        </p:spPr>
      </p:sp>
      <p:sp>
        <p:nvSpPr>
          <p:cNvPr id="11" name="Shape 9"/>
          <p:cNvSpPr/>
          <p:nvPr/>
        </p:nvSpPr>
        <p:spPr>
          <a:xfrm>
            <a:off x="1266444" y="1691640"/>
            <a:ext cx="205740" cy="329184"/>
          </a:xfrm>
          <a:prstGeom prst="rect">
            <a:avLst/>
          </a:prstGeom>
          <a:solidFill>
            <a:srgbClr val="D4A574"/>
          </a:solidFill>
          <a:ln w="12700">
            <a:solidFill>
              <a:srgbClr val="D4A574"/>
            </a:solidFill>
            <a:prstDash val="solid"/>
          </a:ln>
        </p:spPr>
      </p:sp>
      <p:sp>
        <p:nvSpPr>
          <p:cNvPr id="12" name="Shape 10"/>
          <p:cNvSpPr/>
          <p:nvPr/>
        </p:nvSpPr>
        <p:spPr>
          <a:xfrm>
            <a:off x="1490472" y="1691640"/>
            <a:ext cx="205740" cy="329184"/>
          </a:xfrm>
          <a:prstGeom prst="rect">
            <a:avLst/>
          </a:prstGeom>
          <a:solidFill>
            <a:srgbClr val="B8741A"/>
          </a:solidFill>
          <a:ln w="12700">
            <a:solidFill>
              <a:srgbClr val="B8741A"/>
            </a:solidFill>
            <a:prstDash val="solid"/>
          </a:ln>
        </p:spPr>
      </p:sp>
      <p:sp>
        <p:nvSpPr>
          <p:cNvPr id="13" name="Shape 11"/>
          <p:cNvSpPr/>
          <p:nvPr/>
        </p:nvSpPr>
        <p:spPr>
          <a:xfrm>
            <a:off x="1714500" y="1691640"/>
            <a:ext cx="205740" cy="329184"/>
          </a:xfrm>
          <a:prstGeom prst="rect">
            <a:avLst/>
          </a:prstGeom>
          <a:solidFill>
            <a:srgbClr val="B8741A"/>
          </a:solidFill>
          <a:ln w="12700">
            <a:solidFill>
              <a:srgbClr val="B8741A"/>
            </a:solidFill>
            <a:prstDash val="solid"/>
          </a:ln>
        </p:spPr>
      </p:sp>
      <p:sp>
        <p:nvSpPr>
          <p:cNvPr id="14" name="Shape 12"/>
          <p:cNvSpPr/>
          <p:nvPr/>
        </p:nvSpPr>
        <p:spPr>
          <a:xfrm>
            <a:off x="1938528" y="1691640"/>
            <a:ext cx="205740" cy="329184"/>
          </a:xfrm>
          <a:prstGeom prst="rect">
            <a:avLst/>
          </a:prstGeom>
          <a:solidFill>
            <a:srgbClr val="D4A574"/>
          </a:solidFill>
          <a:ln w="12700">
            <a:solidFill>
              <a:srgbClr val="D4A574"/>
            </a:solidFill>
            <a:prstDash val="solid"/>
          </a:ln>
        </p:spPr>
      </p:sp>
      <p:sp>
        <p:nvSpPr>
          <p:cNvPr id="15" name="Shape 13"/>
          <p:cNvSpPr/>
          <p:nvPr/>
        </p:nvSpPr>
        <p:spPr>
          <a:xfrm>
            <a:off x="2162556" y="1691640"/>
            <a:ext cx="205740" cy="329184"/>
          </a:xfrm>
          <a:prstGeom prst="rect">
            <a:avLst/>
          </a:prstGeom>
          <a:solidFill>
            <a:srgbClr val="E9C7A2"/>
          </a:solidFill>
          <a:ln w="12700">
            <a:solidFill>
              <a:srgbClr val="E9C7A2"/>
            </a:solidFill>
            <a:prstDash val="solid"/>
          </a:ln>
        </p:spPr>
      </p:sp>
      <p:sp>
        <p:nvSpPr>
          <p:cNvPr id="16" name="Shape 14"/>
          <p:cNvSpPr/>
          <p:nvPr/>
        </p:nvSpPr>
        <p:spPr>
          <a:xfrm>
            <a:off x="2386584" y="1691640"/>
            <a:ext cx="205740" cy="329184"/>
          </a:xfrm>
          <a:prstGeom prst="rect">
            <a:avLst/>
          </a:prstGeom>
          <a:solidFill>
            <a:srgbClr val="F4E5D9"/>
          </a:solidFill>
          <a:ln w="12700">
            <a:solidFill>
              <a:srgbClr val="F4E5D9"/>
            </a:solidFill>
            <a:prstDash val="solid"/>
          </a:ln>
        </p:spPr>
      </p:sp>
      <p:sp>
        <p:nvSpPr>
          <p:cNvPr id="17" name="Shape 15"/>
          <p:cNvSpPr/>
          <p:nvPr/>
        </p:nvSpPr>
        <p:spPr>
          <a:xfrm>
            <a:off x="2610612" y="1691640"/>
            <a:ext cx="205740" cy="329184"/>
          </a:xfrm>
          <a:prstGeom prst="rect">
            <a:avLst/>
          </a:prstGeom>
          <a:solidFill>
            <a:srgbClr val="F4E5D9"/>
          </a:solidFill>
          <a:ln w="12700">
            <a:solidFill>
              <a:srgbClr val="F4E5D9"/>
            </a:solidFill>
            <a:prstDash val="solid"/>
          </a:ln>
        </p:spPr>
      </p:sp>
      <p:sp>
        <p:nvSpPr>
          <p:cNvPr id="18" name="Shape 16"/>
          <p:cNvSpPr/>
          <p:nvPr/>
        </p:nvSpPr>
        <p:spPr>
          <a:xfrm>
            <a:off x="2834640" y="1691640"/>
            <a:ext cx="205740" cy="329184"/>
          </a:xfrm>
          <a:prstGeom prst="rect">
            <a:avLst/>
          </a:prstGeom>
          <a:solidFill>
            <a:srgbClr val="F4E5D9"/>
          </a:solidFill>
          <a:ln w="12700">
            <a:solidFill>
              <a:srgbClr val="F4E5D9"/>
            </a:solidFill>
            <a:prstDash val="solid"/>
          </a:ln>
        </p:spPr>
      </p:sp>
      <p:sp>
        <p:nvSpPr>
          <p:cNvPr id="19" name="Shape 17"/>
          <p:cNvSpPr/>
          <p:nvPr/>
        </p:nvSpPr>
        <p:spPr>
          <a:xfrm>
            <a:off x="3058668" y="1691640"/>
            <a:ext cx="205740" cy="329184"/>
          </a:xfrm>
          <a:prstGeom prst="rect">
            <a:avLst/>
          </a:prstGeom>
          <a:solidFill>
            <a:srgbClr val="E9C7A2"/>
          </a:solidFill>
          <a:ln w="12700">
            <a:solidFill>
              <a:srgbClr val="E9C7A2"/>
            </a:solidFill>
            <a:prstDash val="solid"/>
          </a:ln>
        </p:spPr>
      </p:sp>
      <p:sp>
        <p:nvSpPr>
          <p:cNvPr id="20" name="Shape 18"/>
          <p:cNvSpPr/>
          <p:nvPr/>
        </p:nvSpPr>
        <p:spPr>
          <a:xfrm>
            <a:off x="3282696" y="1691640"/>
            <a:ext cx="205740" cy="329184"/>
          </a:xfrm>
          <a:prstGeom prst="rect">
            <a:avLst/>
          </a:prstGeom>
          <a:solidFill>
            <a:srgbClr val="D4A574"/>
          </a:solidFill>
          <a:ln w="12700">
            <a:solidFill>
              <a:srgbClr val="D4A574"/>
            </a:solidFill>
            <a:prstDash val="solid"/>
          </a:ln>
        </p:spPr>
      </p:sp>
      <p:sp>
        <p:nvSpPr>
          <p:cNvPr id="21" name="Shape 19"/>
          <p:cNvSpPr/>
          <p:nvPr/>
        </p:nvSpPr>
        <p:spPr>
          <a:xfrm>
            <a:off x="3506724" y="1691640"/>
            <a:ext cx="205740" cy="329184"/>
          </a:xfrm>
          <a:prstGeom prst="rect">
            <a:avLst/>
          </a:prstGeom>
          <a:solidFill>
            <a:srgbClr val="D4A574"/>
          </a:solidFill>
          <a:ln w="12700">
            <a:solidFill>
              <a:srgbClr val="D4A574"/>
            </a:solidFill>
            <a:prstDash val="solid"/>
          </a:ln>
        </p:spPr>
      </p:sp>
      <p:sp>
        <p:nvSpPr>
          <p:cNvPr id="22" name="Shape 20"/>
          <p:cNvSpPr/>
          <p:nvPr/>
        </p:nvSpPr>
        <p:spPr>
          <a:xfrm>
            <a:off x="3730752" y="1691640"/>
            <a:ext cx="205740" cy="329184"/>
          </a:xfrm>
          <a:prstGeom prst="rect">
            <a:avLst/>
          </a:prstGeom>
          <a:solidFill>
            <a:srgbClr val="B8741A"/>
          </a:solidFill>
          <a:ln w="12700">
            <a:solidFill>
              <a:srgbClr val="B8741A"/>
            </a:solidFill>
            <a:prstDash val="solid"/>
          </a:ln>
        </p:spPr>
      </p:sp>
      <p:sp>
        <p:nvSpPr>
          <p:cNvPr id="23" name="Shape 21"/>
          <p:cNvSpPr/>
          <p:nvPr/>
        </p:nvSpPr>
        <p:spPr>
          <a:xfrm>
            <a:off x="3954780" y="1691640"/>
            <a:ext cx="205740" cy="329184"/>
          </a:xfrm>
          <a:prstGeom prst="rect">
            <a:avLst/>
          </a:prstGeom>
          <a:solidFill>
            <a:srgbClr val="8B4513"/>
          </a:solidFill>
          <a:ln w="12700">
            <a:solidFill>
              <a:srgbClr val="8B4513"/>
            </a:solidFill>
            <a:prstDash val="solid"/>
          </a:ln>
        </p:spPr>
      </p:sp>
      <p:sp>
        <p:nvSpPr>
          <p:cNvPr id="24" name="Shape 22"/>
          <p:cNvSpPr/>
          <p:nvPr/>
        </p:nvSpPr>
        <p:spPr>
          <a:xfrm>
            <a:off x="594360" y="2057400"/>
            <a:ext cx="205740" cy="329184"/>
          </a:xfrm>
          <a:prstGeom prst="rect">
            <a:avLst/>
          </a:prstGeom>
          <a:solidFill>
            <a:srgbClr val="F4E5D9"/>
          </a:solidFill>
          <a:ln w="12700">
            <a:solidFill>
              <a:srgbClr val="F4E5D9"/>
            </a:solidFill>
            <a:prstDash val="solid"/>
          </a:ln>
        </p:spPr>
      </p:sp>
      <p:sp>
        <p:nvSpPr>
          <p:cNvPr id="25" name="Shape 23"/>
          <p:cNvSpPr/>
          <p:nvPr/>
        </p:nvSpPr>
        <p:spPr>
          <a:xfrm>
            <a:off x="818388" y="2057400"/>
            <a:ext cx="205740" cy="329184"/>
          </a:xfrm>
          <a:prstGeom prst="rect">
            <a:avLst/>
          </a:prstGeom>
          <a:solidFill>
            <a:srgbClr val="E9C7A2"/>
          </a:solidFill>
          <a:ln w="12700">
            <a:solidFill>
              <a:srgbClr val="E9C7A2"/>
            </a:solidFill>
            <a:prstDash val="solid"/>
          </a:ln>
        </p:spPr>
      </p:sp>
      <p:sp>
        <p:nvSpPr>
          <p:cNvPr id="26" name="Shape 24"/>
          <p:cNvSpPr/>
          <p:nvPr/>
        </p:nvSpPr>
        <p:spPr>
          <a:xfrm>
            <a:off x="1042416" y="2057400"/>
            <a:ext cx="205740" cy="329184"/>
          </a:xfrm>
          <a:prstGeom prst="rect">
            <a:avLst/>
          </a:prstGeom>
          <a:solidFill>
            <a:srgbClr val="D4A574"/>
          </a:solidFill>
          <a:ln w="12700">
            <a:solidFill>
              <a:srgbClr val="D4A574"/>
            </a:solidFill>
            <a:prstDash val="solid"/>
          </a:ln>
        </p:spPr>
      </p:sp>
      <p:sp>
        <p:nvSpPr>
          <p:cNvPr id="27" name="Shape 25"/>
          <p:cNvSpPr/>
          <p:nvPr/>
        </p:nvSpPr>
        <p:spPr>
          <a:xfrm>
            <a:off x="1266444" y="2057400"/>
            <a:ext cx="205740" cy="329184"/>
          </a:xfrm>
          <a:prstGeom prst="rect">
            <a:avLst/>
          </a:prstGeom>
          <a:solidFill>
            <a:srgbClr val="B8741A"/>
          </a:solidFill>
          <a:ln w="12700">
            <a:solidFill>
              <a:srgbClr val="B8741A"/>
            </a:solidFill>
            <a:prstDash val="solid"/>
          </a:ln>
        </p:spPr>
      </p:sp>
      <p:sp>
        <p:nvSpPr>
          <p:cNvPr id="28" name="Shape 26"/>
          <p:cNvSpPr/>
          <p:nvPr/>
        </p:nvSpPr>
        <p:spPr>
          <a:xfrm>
            <a:off x="1490472" y="2057400"/>
            <a:ext cx="205740" cy="329184"/>
          </a:xfrm>
          <a:prstGeom prst="rect">
            <a:avLst/>
          </a:prstGeom>
          <a:solidFill>
            <a:srgbClr val="8B4513"/>
          </a:solidFill>
          <a:ln w="12700">
            <a:solidFill>
              <a:srgbClr val="8B4513"/>
            </a:solidFill>
            <a:prstDash val="solid"/>
          </a:ln>
        </p:spPr>
      </p:sp>
      <p:sp>
        <p:nvSpPr>
          <p:cNvPr id="29" name="Shape 27"/>
          <p:cNvSpPr/>
          <p:nvPr/>
        </p:nvSpPr>
        <p:spPr>
          <a:xfrm>
            <a:off x="1714500" y="2057400"/>
            <a:ext cx="205740" cy="329184"/>
          </a:xfrm>
          <a:prstGeom prst="rect">
            <a:avLst/>
          </a:prstGeom>
          <a:solidFill>
            <a:srgbClr val="8B4513"/>
          </a:solidFill>
          <a:ln w="12700">
            <a:solidFill>
              <a:srgbClr val="8B4513"/>
            </a:solidFill>
            <a:prstDash val="solid"/>
          </a:ln>
        </p:spPr>
      </p:sp>
      <p:sp>
        <p:nvSpPr>
          <p:cNvPr id="30" name="Shape 28"/>
          <p:cNvSpPr/>
          <p:nvPr/>
        </p:nvSpPr>
        <p:spPr>
          <a:xfrm>
            <a:off x="1938528" y="2057400"/>
            <a:ext cx="205740" cy="329184"/>
          </a:xfrm>
          <a:prstGeom prst="rect">
            <a:avLst/>
          </a:prstGeom>
          <a:solidFill>
            <a:srgbClr val="B8741A"/>
          </a:solidFill>
          <a:ln w="12700">
            <a:solidFill>
              <a:srgbClr val="B8741A"/>
            </a:solidFill>
            <a:prstDash val="solid"/>
          </a:ln>
        </p:spPr>
      </p:sp>
      <p:sp>
        <p:nvSpPr>
          <p:cNvPr id="31" name="Shape 29"/>
          <p:cNvSpPr/>
          <p:nvPr/>
        </p:nvSpPr>
        <p:spPr>
          <a:xfrm>
            <a:off x="2162556" y="2057400"/>
            <a:ext cx="205740" cy="329184"/>
          </a:xfrm>
          <a:prstGeom prst="rect">
            <a:avLst/>
          </a:prstGeom>
          <a:solidFill>
            <a:srgbClr val="D4A574"/>
          </a:solidFill>
          <a:ln w="12700">
            <a:solidFill>
              <a:srgbClr val="D4A574"/>
            </a:solidFill>
            <a:prstDash val="solid"/>
          </a:ln>
        </p:spPr>
      </p:sp>
      <p:sp>
        <p:nvSpPr>
          <p:cNvPr id="32" name="Shape 30"/>
          <p:cNvSpPr/>
          <p:nvPr/>
        </p:nvSpPr>
        <p:spPr>
          <a:xfrm>
            <a:off x="2386584" y="2057400"/>
            <a:ext cx="205740" cy="329184"/>
          </a:xfrm>
          <a:prstGeom prst="rect">
            <a:avLst/>
          </a:prstGeom>
          <a:solidFill>
            <a:srgbClr val="E9C7A2"/>
          </a:solidFill>
          <a:ln w="12700">
            <a:solidFill>
              <a:srgbClr val="E9C7A2"/>
            </a:solidFill>
            <a:prstDash val="solid"/>
          </a:ln>
        </p:spPr>
      </p:sp>
      <p:sp>
        <p:nvSpPr>
          <p:cNvPr id="33" name="Shape 31"/>
          <p:cNvSpPr/>
          <p:nvPr/>
        </p:nvSpPr>
        <p:spPr>
          <a:xfrm>
            <a:off x="2610612" y="2057400"/>
            <a:ext cx="205740" cy="329184"/>
          </a:xfrm>
          <a:prstGeom prst="rect">
            <a:avLst/>
          </a:prstGeom>
          <a:solidFill>
            <a:srgbClr val="E9C7A2"/>
          </a:solidFill>
          <a:ln w="12700">
            <a:solidFill>
              <a:srgbClr val="E9C7A2"/>
            </a:solidFill>
            <a:prstDash val="solid"/>
          </a:ln>
        </p:spPr>
      </p:sp>
      <p:sp>
        <p:nvSpPr>
          <p:cNvPr id="34" name="Shape 32"/>
          <p:cNvSpPr/>
          <p:nvPr/>
        </p:nvSpPr>
        <p:spPr>
          <a:xfrm>
            <a:off x="2834640" y="2057400"/>
            <a:ext cx="205740" cy="329184"/>
          </a:xfrm>
          <a:prstGeom prst="rect">
            <a:avLst/>
          </a:prstGeom>
          <a:solidFill>
            <a:srgbClr val="E9C7A2"/>
          </a:solidFill>
          <a:ln w="12700">
            <a:solidFill>
              <a:srgbClr val="E9C7A2"/>
            </a:solidFill>
            <a:prstDash val="solid"/>
          </a:ln>
        </p:spPr>
      </p:sp>
      <p:sp>
        <p:nvSpPr>
          <p:cNvPr id="35" name="Shape 33"/>
          <p:cNvSpPr/>
          <p:nvPr/>
        </p:nvSpPr>
        <p:spPr>
          <a:xfrm>
            <a:off x="3058668" y="2057400"/>
            <a:ext cx="205740" cy="329184"/>
          </a:xfrm>
          <a:prstGeom prst="rect">
            <a:avLst/>
          </a:prstGeom>
          <a:solidFill>
            <a:srgbClr val="D4A574"/>
          </a:solidFill>
          <a:ln w="12700">
            <a:solidFill>
              <a:srgbClr val="D4A574"/>
            </a:solidFill>
            <a:prstDash val="solid"/>
          </a:ln>
        </p:spPr>
      </p:sp>
      <p:sp>
        <p:nvSpPr>
          <p:cNvPr id="36" name="Shape 34"/>
          <p:cNvSpPr/>
          <p:nvPr/>
        </p:nvSpPr>
        <p:spPr>
          <a:xfrm>
            <a:off x="3282696" y="2057400"/>
            <a:ext cx="205740" cy="329184"/>
          </a:xfrm>
          <a:prstGeom prst="rect">
            <a:avLst/>
          </a:prstGeom>
          <a:solidFill>
            <a:srgbClr val="B8741A"/>
          </a:solidFill>
          <a:ln w="12700">
            <a:solidFill>
              <a:srgbClr val="B8741A"/>
            </a:solidFill>
            <a:prstDash val="solid"/>
          </a:ln>
        </p:spPr>
      </p:sp>
      <p:sp>
        <p:nvSpPr>
          <p:cNvPr id="37" name="Shape 35"/>
          <p:cNvSpPr/>
          <p:nvPr/>
        </p:nvSpPr>
        <p:spPr>
          <a:xfrm>
            <a:off x="3506724" y="2057400"/>
            <a:ext cx="205740" cy="329184"/>
          </a:xfrm>
          <a:prstGeom prst="rect">
            <a:avLst/>
          </a:prstGeom>
          <a:solidFill>
            <a:srgbClr val="B8741A"/>
          </a:solidFill>
          <a:ln w="12700">
            <a:solidFill>
              <a:srgbClr val="B8741A"/>
            </a:solidFill>
            <a:prstDash val="solid"/>
          </a:ln>
        </p:spPr>
      </p:sp>
      <p:sp>
        <p:nvSpPr>
          <p:cNvPr id="38" name="Shape 36"/>
          <p:cNvSpPr/>
          <p:nvPr/>
        </p:nvSpPr>
        <p:spPr>
          <a:xfrm>
            <a:off x="3730752" y="2057400"/>
            <a:ext cx="205740" cy="329184"/>
          </a:xfrm>
          <a:prstGeom prst="rect">
            <a:avLst/>
          </a:prstGeom>
          <a:solidFill>
            <a:srgbClr val="8B4513"/>
          </a:solidFill>
          <a:ln w="12700">
            <a:solidFill>
              <a:srgbClr val="8B4513"/>
            </a:solidFill>
            <a:prstDash val="solid"/>
          </a:ln>
        </p:spPr>
      </p:sp>
      <p:sp>
        <p:nvSpPr>
          <p:cNvPr id="39" name="Shape 37"/>
          <p:cNvSpPr/>
          <p:nvPr/>
        </p:nvSpPr>
        <p:spPr>
          <a:xfrm>
            <a:off x="3954780" y="2057400"/>
            <a:ext cx="205740" cy="329184"/>
          </a:xfrm>
          <a:prstGeom prst="rect">
            <a:avLst/>
          </a:prstGeom>
          <a:solidFill>
            <a:srgbClr val="6B0F1A"/>
          </a:solidFill>
          <a:ln w="12700">
            <a:solidFill>
              <a:srgbClr val="6B0F1A"/>
            </a:solidFill>
            <a:prstDash val="solid"/>
          </a:ln>
        </p:spPr>
      </p:sp>
      <p:sp>
        <p:nvSpPr>
          <p:cNvPr id="40" name="Shape 38"/>
          <p:cNvSpPr/>
          <p:nvPr/>
        </p:nvSpPr>
        <p:spPr>
          <a:xfrm>
            <a:off x="594360" y="2423160"/>
            <a:ext cx="205740" cy="329184"/>
          </a:xfrm>
          <a:prstGeom prst="rect">
            <a:avLst/>
          </a:prstGeom>
          <a:solidFill>
            <a:srgbClr val="E9C7A2"/>
          </a:solidFill>
          <a:ln w="12700">
            <a:solidFill>
              <a:srgbClr val="E9C7A2"/>
            </a:solidFill>
            <a:prstDash val="solid"/>
          </a:ln>
        </p:spPr>
      </p:sp>
      <p:sp>
        <p:nvSpPr>
          <p:cNvPr id="41" name="Shape 39"/>
          <p:cNvSpPr/>
          <p:nvPr/>
        </p:nvSpPr>
        <p:spPr>
          <a:xfrm>
            <a:off x="818388" y="2423160"/>
            <a:ext cx="205740" cy="329184"/>
          </a:xfrm>
          <a:prstGeom prst="rect">
            <a:avLst/>
          </a:prstGeom>
          <a:solidFill>
            <a:srgbClr val="D4A574"/>
          </a:solidFill>
          <a:ln w="12700">
            <a:solidFill>
              <a:srgbClr val="D4A574"/>
            </a:solidFill>
            <a:prstDash val="solid"/>
          </a:ln>
        </p:spPr>
      </p:sp>
      <p:sp>
        <p:nvSpPr>
          <p:cNvPr id="42" name="Shape 40"/>
          <p:cNvSpPr/>
          <p:nvPr/>
        </p:nvSpPr>
        <p:spPr>
          <a:xfrm>
            <a:off x="1042416" y="2423160"/>
            <a:ext cx="205740" cy="329184"/>
          </a:xfrm>
          <a:prstGeom prst="rect">
            <a:avLst/>
          </a:prstGeom>
          <a:solidFill>
            <a:srgbClr val="B8741A"/>
          </a:solidFill>
          <a:ln w="12700">
            <a:solidFill>
              <a:srgbClr val="B8741A"/>
            </a:solidFill>
            <a:prstDash val="solid"/>
          </a:ln>
        </p:spPr>
      </p:sp>
      <p:sp>
        <p:nvSpPr>
          <p:cNvPr id="43" name="Shape 41"/>
          <p:cNvSpPr/>
          <p:nvPr/>
        </p:nvSpPr>
        <p:spPr>
          <a:xfrm>
            <a:off x="1266444" y="2423160"/>
            <a:ext cx="205740" cy="329184"/>
          </a:xfrm>
          <a:prstGeom prst="rect">
            <a:avLst/>
          </a:prstGeom>
          <a:solidFill>
            <a:srgbClr val="8B4513"/>
          </a:solidFill>
          <a:ln w="12700">
            <a:solidFill>
              <a:srgbClr val="8B4513"/>
            </a:solidFill>
            <a:prstDash val="solid"/>
          </a:ln>
        </p:spPr>
      </p:sp>
      <p:sp>
        <p:nvSpPr>
          <p:cNvPr id="44" name="Shape 42"/>
          <p:cNvSpPr/>
          <p:nvPr/>
        </p:nvSpPr>
        <p:spPr>
          <a:xfrm>
            <a:off x="1490472" y="2423160"/>
            <a:ext cx="205740" cy="329184"/>
          </a:xfrm>
          <a:prstGeom prst="rect">
            <a:avLst/>
          </a:prstGeom>
          <a:solidFill>
            <a:srgbClr val="6B0F1A"/>
          </a:solidFill>
          <a:ln w="12700">
            <a:solidFill>
              <a:srgbClr val="6B0F1A"/>
            </a:solidFill>
            <a:prstDash val="solid"/>
          </a:ln>
        </p:spPr>
      </p:sp>
      <p:sp>
        <p:nvSpPr>
          <p:cNvPr id="45" name="Shape 43"/>
          <p:cNvSpPr/>
          <p:nvPr/>
        </p:nvSpPr>
        <p:spPr>
          <a:xfrm>
            <a:off x="1714500" y="2423160"/>
            <a:ext cx="205740" cy="329184"/>
          </a:xfrm>
          <a:prstGeom prst="rect">
            <a:avLst/>
          </a:prstGeom>
          <a:solidFill>
            <a:srgbClr val="6B0F1A"/>
          </a:solidFill>
          <a:ln w="12700">
            <a:solidFill>
              <a:srgbClr val="6B0F1A"/>
            </a:solidFill>
            <a:prstDash val="solid"/>
          </a:ln>
        </p:spPr>
      </p:sp>
      <p:sp>
        <p:nvSpPr>
          <p:cNvPr id="46" name="Shape 44"/>
          <p:cNvSpPr/>
          <p:nvPr/>
        </p:nvSpPr>
        <p:spPr>
          <a:xfrm>
            <a:off x="1938528" y="2423160"/>
            <a:ext cx="205740" cy="329184"/>
          </a:xfrm>
          <a:prstGeom prst="rect">
            <a:avLst/>
          </a:prstGeom>
          <a:solidFill>
            <a:srgbClr val="8B4513"/>
          </a:solidFill>
          <a:ln w="12700">
            <a:solidFill>
              <a:srgbClr val="8B4513"/>
            </a:solidFill>
            <a:prstDash val="solid"/>
          </a:ln>
        </p:spPr>
      </p:sp>
      <p:sp>
        <p:nvSpPr>
          <p:cNvPr id="47" name="Shape 45"/>
          <p:cNvSpPr/>
          <p:nvPr/>
        </p:nvSpPr>
        <p:spPr>
          <a:xfrm>
            <a:off x="2162556" y="2423160"/>
            <a:ext cx="205740" cy="329184"/>
          </a:xfrm>
          <a:prstGeom prst="rect">
            <a:avLst/>
          </a:prstGeom>
          <a:solidFill>
            <a:srgbClr val="B8741A"/>
          </a:solidFill>
          <a:ln w="12700">
            <a:solidFill>
              <a:srgbClr val="B8741A"/>
            </a:solidFill>
            <a:prstDash val="solid"/>
          </a:ln>
        </p:spPr>
      </p:sp>
      <p:sp>
        <p:nvSpPr>
          <p:cNvPr id="48" name="Shape 46"/>
          <p:cNvSpPr/>
          <p:nvPr/>
        </p:nvSpPr>
        <p:spPr>
          <a:xfrm>
            <a:off x="2386584" y="2423160"/>
            <a:ext cx="205740" cy="329184"/>
          </a:xfrm>
          <a:prstGeom prst="rect">
            <a:avLst/>
          </a:prstGeom>
          <a:solidFill>
            <a:srgbClr val="D4A574"/>
          </a:solidFill>
          <a:ln w="12700">
            <a:solidFill>
              <a:srgbClr val="D4A574"/>
            </a:solidFill>
            <a:prstDash val="solid"/>
          </a:ln>
        </p:spPr>
      </p:sp>
      <p:sp>
        <p:nvSpPr>
          <p:cNvPr id="49" name="Shape 47"/>
          <p:cNvSpPr/>
          <p:nvPr/>
        </p:nvSpPr>
        <p:spPr>
          <a:xfrm>
            <a:off x="2610612" y="2423160"/>
            <a:ext cx="205740" cy="329184"/>
          </a:xfrm>
          <a:prstGeom prst="rect">
            <a:avLst/>
          </a:prstGeom>
          <a:solidFill>
            <a:srgbClr val="D4A574"/>
          </a:solidFill>
          <a:ln w="12700">
            <a:solidFill>
              <a:srgbClr val="D4A574"/>
            </a:solidFill>
            <a:prstDash val="solid"/>
          </a:ln>
        </p:spPr>
      </p:sp>
      <p:sp>
        <p:nvSpPr>
          <p:cNvPr id="50" name="Shape 48"/>
          <p:cNvSpPr/>
          <p:nvPr/>
        </p:nvSpPr>
        <p:spPr>
          <a:xfrm>
            <a:off x="2834640" y="2423160"/>
            <a:ext cx="205740" cy="329184"/>
          </a:xfrm>
          <a:prstGeom prst="rect">
            <a:avLst/>
          </a:prstGeom>
          <a:solidFill>
            <a:srgbClr val="D4A574"/>
          </a:solidFill>
          <a:ln w="12700">
            <a:solidFill>
              <a:srgbClr val="D4A574"/>
            </a:solidFill>
            <a:prstDash val="solid"/>
          </a:ln>
        </p:spPr>
      </p:sp>
      <p:sp>
        <p:nvSpPr>
          <p:cNvPr id="51" name="Shape 49"/>
          <p:cNvSpPr/>
          <p:nvPr/>
        </p:nvSpPr>
        <p:spPr>
          <a:xfrm>
            <a:off x="3058668" y="2423160"/>
            <a:ext cx="205740" cy="329184"/>
          </a:xfrm>
          <a:prstGeom prst="rect">
            <a:avLst/>
          </a:prstGeom>
          <a:solidFill>
            <a:srgbClr val="B8741A"/>
          </a:solidFill>
          <a:ln w="12700">
            <a:solidFill>
              <a:srgbClr val="B8741A"/>
            </a:solidFill>
            <a:prstDash val="solid"/>
          </a:ln>
        </p:spPr>
      </p:sp>
      <p:sp>
        <p:nvSpPr>
          <p:cNvPr id="52" name="Shape 50"/>
          <p:cNvSpPr/>
          <p:nvPr/>
        </p:nvSpPr>
        <p:spPr>
          <a:xfrm>
            <a:off x="3282696" y="2423160"/>
            <a:ext cx="205740" cy="329184"/>
          </a:xfrm>
          <a:prstGeom prst="rect">
            <a:avLst/>
          </a:prstGeom>
          <a:solidFill>
            <a:srgbClr val="8B4513"/>
          </a:solidFill>
          <a:ln w="12700">
            <a:solidFill>
              <a:srgbClr val="8B4513"/>
            </a:solidFill>
            <a:prstDash val="solid"/>
          </a:ln>
        </p:spPr>
      </p:sp>
      <p:sp>
        <p:nvSpPr>
          <p:cNvPr id="53" name="Shape 51"/>
          <p:cNvSpPr/>
          <p:nvPr/>
        </p:nvSpPr>
        <p:spPr>
          <a:xfrm>
            <a:off x="3506724" y="2423160"/>
            <a:ext cx="205740" cy="329184"/>
          </a:xfrm>
          <a:prstGeom prst="rect">
            <a:avLst/>
          </a:prstGeom>
          <a:solidFill>
            <a:srgbClr val="8B4513"/>
          </a:solidFill>
          <a:ln w="12700">
            <a:solidFill>
              <a:srgbClr val="8B4513"/>
            </a:solidFill>
            <a:prstDash val="solid"/>
          </a:ln>
        </p:spPr>
      </p:sp>
      <p:sp>
        <p:nvSpPr>
          <p:cNvPr id="54" name="Shape 52"/>
          <p:cNvSpPr/>
          <p:nvPr/>
        </p:nvSpPr>
        <p:spPr>
          <a:xfrm>
            <a:off x="3730752" y="2423160"/>
            <a:ext cx="205740" cy="329184"/>
          </a:xfrm>
          <a:prstGeom prst="rect">
            <a:avLst/>
          </a:prstGeom>
          <a:solidFill>
            <a:srgbClr val="6B0F1A"/>
          </a:solidFill>
          <a:ln w="12700">
            <a:solidFill>
              <a:srgbClr val="6B0F1A"/>
            </a:solidFill>
            <a:prstDash val="solid"/>
          </a:ln>
        </p:spPr>
      </p:sp>
      <p:sp>
        <p:nvSpPr>
          <p:cNvPr id="55" name="Shape 53"/>
          <p:cNvSpPr/>
          <p:nvPr/>
        </p:nvSpPr>
        <p:spPr>
          <a:xfrm>
            <a:off x="3954780" y="2423160"/>
            <a:ext cx="205740" cy="329184"/>
          </a:xfrm>
          <a:prstGeom prst="rect">
            <a:avLst/>
          </a:prstGeom>
          <a:solidFill>
            <a:srgbClr val="6B0F1A"/>
          </a:solidFill>
          <a:ln w="12700">
            <a:solidFill>
              <a:srgbClr val="6B0F1A"/>
            </a:solidFill>
            <a:prstDash val="solid"/>
          </a:ln>
        </p:spPr>
      </p:sp>
      <p:sp>
        <p:nvSpPr>
          <p:cNvPr id="56" name="Shape 54"/>
          <p:cNvSpPr/>
          <p:nvPr/>
        </p:nvSpPr>
        <p:spPr>
          <a:xfrm>
            <a:off x="594360" y="2788920"/>
            <a:ext cx="205740" cy="329184"/>
          </a:xfrm>
          <a:prstGeom prst="rect">
            <a:avLst/>
          </a:prstGeom>
          <a:solidFill>
            <a:srgbClr val="F4E5D9"/>
          </a:solidFill>
          <a:ln w="12700">
            <a:solidFill>
              <a:srgbClr val="F4E5D9"/>
            </a:solidFill>
            <a:prstDash val="solid"/>
          </a:ln>
        </p:spPr>
      </p:sp>
      <p:sp>
        <p:nvSpPr>
          <p:cNvPr id="57" name="Shape 55"/>
          <p:cNvSpPr/>
          <p:nvPr/>
        </p:nvSpPr>
        <p:spPr>
          <a:xfrm>
            <a:off x="818388" y="2788920"/>
            <a:ext cx="205740" cy="329184"/>
          </a:xfrm>
          <a:prstGeom prst="rect">
            <a:avLst/>
          </a:prstGeom>
          <a:solidFill>
            <a:srgbClr val="E9C7A2"/>
          </a:solidFill>
          <a:ln w="12700">
            <a:solidFill>
              <a:srgbClr val="E9C7A2"/>
            </a:solidFill>
            <a:prstDash val="solid"/>
          </a:ln>
        </p:spPr>
      </p:sp>
      <p:sp>
        <p:nvSpPr>
          <p:cNvPr id="58" name="Shape 56"/>
          <p:cNvSpPr/>
          <p:nvPr/>
        </p:nvSpPr>
        <p:spPr>
          <a:xfrm>
            <a:off x="1042416" y="2788920"/>
            <a:ext cx="205740" cy="329184"/>
          </a:xfrm>
          <a:prstGeom prst="rect">
            <a:avLst/>
          </a:prstGeom>
          <a:solidFill>
            <a:srgbClr val="D4A574"/>
          </a:solidFill>
          <a:ln w="12700">
            <a:solidFill>
              <a:srgbClr val="D4A574"/>
            </a:solidFill>
            <a:prstDash val="solid"/>
          </a:ln>
        </p:spPr>
      </p:sp>
      <p:sp>
        <p:nvSpPr>
          <p:cNvPr id="59" name="Shape 57"/>
          <p:cNvSpPr/>
          <p:nvPr/>
        </p:nvSpPr>
        <p:spPr>
          <a:xfrm>
            <a:off x="1266444" y="2788920"/>
            <a:ext cx="205740" cy="329184"/>
          </a:xfrm>
          <a:prstGeom prst="rect">
            <a:avLst/>
          </a:prstGeom>
          <a:solidFill>
            <a:srgbClr val="B8741A"/>
          </a:solidFill>
          <a:ln w="12700">
            <a:solidFill>
              <a:srgbClr val="B8741A"/>
            </a:solidFill>
            <a:prstDash val="solid"/>
          </a:ln>
        </p:spPr>
      </p:sp>
      <p:sp>
        <p:nvSpPr>
          <p:cNvPr id="60" name="Shape 58"/>
          <p:cNvSpPr/>
          <p:nvPr/>
        </p:nvSpPr>
        <p:spPr>
          <a:xfrm>
            <a:off x="1490472" y="2788920"/>
            <a:ext cx="205740" cy="329184"/>
          </a:xfrm>
          <a:prstGeom prst="rect">
            <a:avLst/>
          </a:prstGeom>
          <a:solidFill>
            <a:srgbClr val="8B4513"/>
          </a:solidFill>
          <a:ln w="12700">
            <a:solidFill>
              <a:srgbClr val="8B4513"/>
            </a:solidFill>
            <a:prstDash val="solid"/>
          </a:ln>
        </p:spPr>
      </p:sp>
      <p:sp>
        <p:nvSpPr>
          <p:cNvPr id="61" name="Shape 59"/>
          <p:cNvSpPr/>
          <p:nvPr/>
        </p:nvSpPr>
        <p:spPr>
          <a:xfrm>
            <a:off x="1714500" y="2788920"/>
            <a:ext cx="205740" cy="329184"/>
          </a:xfrm>
          <a:prstGeom prst="rect">
            <a:avLst/>
          </a:prstGeom>
          <a:solidFill>
            <a:srgbClr val="8B4513"/>
          </a:solidFill>
          <a:ln w="12700">
            <a:solidFill>
              <a:srgbClr val="8B4513"/>
            </a:solidFill>
            <a:prstDash val="solid"/>
          </a:ln>
        </p:spPr>
      </p:sp>
      <p:sp>
        <p:nvSpPr>
          <p:cNvPr id="62" name="Shape 60"/>
          <p:cNvSpPr/>
          <p:nvPr/>
        </p:nvSpPr>
        <p:spPr>
          <a:xfrm>
            <a:off x="1938528" y="2788920"/>
            <a:ext cx="205740" cy="329184"/>
          </a:xfrm>
          <a:prstGeom prst="rect">
            <a:avLst/>
          </a:prstGeom>
          <a:solidFill>
            <a:srgbClr val="B8741A"/>
          </a:solidFill>
          <a:ln w="12700">
            <a:solidFill>
              <a:srgbClr val="B8741A"/>
            </a:solidFill>
            <a:prstDash val="solid"/>
          </a:ln>
        </p:spPr>
      </p:sp>
      <p:sp>
        <p:nvSpPr>
          <p:cNvPr id="63" name="Shape 61"/>
          <p:cNvSpPr/>
          <p:nvPr/>
        </p:nvSpPr>
        <p:spPr>
          <a:xfrm>
            <a:off x="2162556" y="2788920"/>
            <a:ext cx="205740" cy="329184"/>
          </a:xfrm>
          <a:prstGeom prst="rect">
            <a:avLst/>
          </a:prstGeom>
          <a:solidFill>
            <a:srgbClr val="D4A574"/>
          </a:solidFill>
          <a:ln w="12700">
            <a:solidFill>
              <a:srgbClr val="D4A574"/>
            </a:solidFill>
            <a:prstDash val="solid"/>
          </a:ln>
        </p:spPr>
      </p:sp>
      <p:sp>
        <p:nvSpPr>
          <p:cNvPr id="64" name="Shape 62"/>
          <p:cNvSpPr/>
          <p:nvPr/>
        </p:nvSpPr>
        <p:spPr>
          <a:xfrm>
            <a:off x="2386584" y="2788920"/>
            <a:ext cx="205740" cy="329184"/>
          </a:xfrm>
          <a:prstGeom prst="rect">
            <a:avLst/>
          </a:prstGeom>
          <a:solidFill>
            <a:srgbClr val="E9C7A2"/>
          </a:solidFill>
          <a:ln w="12700">
            <a:solidFill>
              <a:srgbClr val="E9C7A2"/>
            </a:solidFill>
            <a:prstDash val="solid"/>
          </a:ln>
        </p:spPr>
      </p:sp>
      <p:sp>
        <p:nvSpPr>
          <p:cNvPr id="65" name="Shape 63"/>
          <p:cNvSpPr/>
          <p:nvPr/>
        </p:nvSpPr>
        <p:spPr>
          <a:xfrm>
            <a:off x="2610612" y="2788920"/>
            <a:ext cx="205740" cy="329184"/>
          </a:xfrm>
          <a:prstGeom prst="rect">
            <a:avLst/>
          </a:prstGeom>
          <a:solidFill>
            <a:srgbClr val="E9C7A2"/>
          </a:solidFill>
          <a:ln w="12700">
            <a:solidFill>
              <a:srgbClr val="E9C7A2"/>
            </a:solidFill>
            <a:prstDash val="solid"/>
          </a:ln>
        </p:spPr>
      </p:sp>
      <p:sp>
        <p:nvSpPr>
          <p:cNvPr id="66" name="Shape 64"/>
          <p:cNvSpPr/>
          <p:nvPr/>
        </p:nvSpPr>
        <p:spPr>
          <a:xfrm>
            <a:off x="2834640" y="2788920"/>
            <a:ext cx="205740" cy="329184"/>
          </a:xfrm>
          <a:prstGeom prst="rect">
            <a:avLst/>
          </a:prstGeom>
          <a:solidFill>
            <a:srgbClr val="E9C7A2"/>
          </a:solidFill>
          <a:ln w="12700">
            <a:solidFill>
              <a:srgbClr val="E9C7A2"/>
            </a:solidFill>
            <a:prstDash val="solid"/>
          </a:ln>
        </p:spPr>
      </p:sp>
      <p:sp>
        <p:nvSpPr>
          <p:cNvPr id="67" name="Shape 65"/>
          <p:cNvSpPr/>
          <p:nvPr/>
        </p:nvSpPr>
        <p:spPr>
          <a:xfrm>
            <a:off x="3058668" y="2788920"/>
            <a:ext cx="205740" cy="329184"/>
          </a:xfrm>
          <a:prstGeom prst="rect">
            <a:avLst/>
          </a:prstGeom>
          <a:solidFill>
            <a:srgbClr val="D4A574"/>
          </a:solidFill>
          <a:ln w="12700">
            <a:solidFill>
              <a:srgbClr val="D4A574"/>
            </a:solidFill>
            <a:prstDash val="solid"/>
          </a:ln>
        </p:spPr>
      </p:sp>
      <p:sp>
        <p:nvSpPr>
          <p:cNvPr id="68" name="Shape 66"/>
          <p:cNvSpPr/>
          <p:nvPr/>
        </p:nvSpPr>
        <p:spPr>
          <a:xfrm>
            <a:off x="3282696" y="2788920"/>
            <a:ext cx="205740" cy="329184"/>
          </a:xfrm>
          <a:prstGeom prst="rect">
            <a:avLst/>
          </a:prstGeom>
          <a:solidFill>
            <a:srgbClr val="B8741A"/>
          </a:solidFill>
          <a:ln w="12700">
            <a:solidFill>
              <a:srgbClr val="B8741A"/>
            </a:solidFill>
            <a:prstDash val="solid"/>
          </a:ln>
        </p:spPr>
      </p:sp>
      <p:sp>
        <p:nvSpPr>
          <p:cNvPr id="69" name="Shape 67"/>
          <p:cNvSpPr/>
          <p:nvPr/>
        </p:nvSpPr>
        <p:spPr>
          <a:xfrm>
            <a:off x="3506724" y="2788920"/>
            <a:ext cx="205740" cy="329184"/>
          </a:xfrm>
          <a:prstGeom prst="rect">
            <a:avLst/>
          </a:prstGeom>
          <a:solidFill>
            <a:srgbClr val="B8741A"/>
          </a:solidFill>
          <a:ln w="12700">
            <a:solidFill>
              <a:srgbClr val="B8741A"/>
            </a:solidFill>
            <a:prstDash val="solid"/>
          </a:ln>
        </p:spPr>
      </p:sp>
      <p:sp>
        <p:nvSpPr>
          <p:cNvPr id="70" name="Shape 68"/>
          <p:cNvSpPr/>
          <p:nvPr/>
        </p:nvSpPr>
        <p:spPr>
          <a:xfrm>
            <a:off x="3730752" y="2788920"/>
            <a:ext cx="205740" cy="329184"/>
          </a:xfrm>
          <a:prstGeom prst="rect">
            <a:avLst/>
          </a:prstGeom>
          <a:solidFill>
            <a:srgbClr val="8B4513"/>
          </a:solidFill>
          <a:ln w="12700">
            <a:solidFill>
              <a:srgbClr val="8B4513"/>
            </a:solidFill>
            <a:prstDash val="solid"/>
          </a:ln>
        </p:spPr>
      </p:sp>
      <p:sp>
        <p:nvSpPr>
          <p:cNvPr id="71" name="Shape 69"/>
          <p:cNvSpPr/>
          <p:nvPr/>
        </p:nvSpPr>
        <p:spPr>
          <a:xfrm>
            <a:off x="3954780" y="2788920"/>
            <a:ext cx="205740" cy="329184"/>
          </a:xfrm>
          <a:prstGeom prst="rect">
            <a:avLst/>
          </a:prstGeom>
          <a:solidFill>
            <a:srgbClr val="8B4513"/>
          </a:solidFill>
          <a:ln w="12700">
            <a:solidFill>
              <a:srgbClr val="8B4513"/>
            </a:solidFill>
            <a:prstDash val="solid"/>
          </a:ln>
        </p:spPr>
      </p:sp>
      <p:sp>
        <p:nvSpPr>
          <p:cNvPr id="72" name="Text 70"/>
          <p:cNvSpPr/>
          <p:nvPr/>
        </p:nvSpPr>
        <p:spPr>
          <a:xfrm>
            <a:off x="594360" y="3520440"/>
            <a:ext cx="914400" cy="228600"/>
          </a:xfrm>
          <a:prstGeom prst="rect">
            <a:avLst/>
          </a:prstGeom>
          <a:noFill/>
          <a:ln/>
        </p:spPr>
        <p:txBody>
          <a:bodyPr wrap="square" lIns="0" tIns="0" rIns="0" bIns="0" rtlCol="0" anchor="ctr"/>
          <a:lstStyle/>
          <a:p>
            <a:pPr indent="0" marL="0">
              <a:buNone/>
            </a:pPr>
            <a:r>
              <a:rPr lang="en-US" sz="900" dirty="0">
                <a:solidFill>
                  <a:srgbClr val="55657A"/>
                </a:solidFill>
                <a:latin typeface="Calibri" pitchFamily="34" charset="0"/>
                <a:ea typeface="Calibri" pitchFamily="34" charset="-122"/>
                <a:cs typeface="Calibri" pitchFamily="34" charset="-120"/>
              </a:rPr>
              <a:t>kg/m²</a:t>
            </a:r>
            <a:endParaRPr lang="en-US" sz="900" dirty="0"/>
          </a:p>
        </p:txBody>
      </p:sp>
      <p:sp>
        <p:nvSpPr>
          <p:cNvPr id="73" name="Shape 71"/>
          <p:cNvSpPr/>
          <p:nvPr/>
        </p:nvSpPr>
        <p:spPr>
          <a:xfrm>
            <a:off x="960120" y="3520440"/>
            <a:ext cx="457200" cy="201168"/>
          </a:xfrm>
          <a:prstGeom prst="rect">
            <a:avLst/>
          </a:prstGeom>
          <a:solidFill>
            <a:srgbClr val="F4E5D9"/>
          </a:solidFill>
          <a:ln w="12700">
            <a:solidFill>
              <a:srgbClr val="F4E5D9"/>
            </a:solidFill>
            <a:prstDash val="solid"/>
          </a:ln>
        </p:spPr>
      </p:sp>
      <p:sp>
        <p:nvSpPr>
          <p:cNvPr id="74" name="Shape 72"/>
          <p:cNvSpPr/>
          <p:nvPr/>
        </p:nvSpPr>
        <p:spPr>
          <a:xfrm>
            <a:off x="1463040" y="3520440"/>
            <a:ext cx="457200" cy="201168"/>
          </a:xfrm>
          <a:prstGeom prst="rect">
            <a:avLst/>
          </a:prstGeom>
          <a:solidFill>
            <a:srgbClr val="E9C7A2"/>
          </a:solidFill>
          <a:ln w="12700">
            <a:solidFill>
              <a:srgbClr val="E9C7A2"/>
            </a:solidFill>
            <a:prstDash val="solid"/>
          </a:ln>
        </p:spPr>
      </p:sp>
      <p:sp>
        <p:nvSpPr>
          <p:cNvPr id="75" name="Shape 73"/>
          <p:cNvSpPr/>
          <p:nvPr/>
        </p:nvSpPr>
        <p:spPr>
          <a:xfrm>
            <a:off x="1965960" y="3520440"/>
            <a:ext cx="457200" cy="201168"/>
          </a:xfrm>
          <a:prstGeom prst="rect">
            <a:avLst/>
          </a:prstGeom>
          <a:solidFill>
            <a:srgbClr val="D4A574"/>
          </a:solidFill>
          <a:ln w="12700">
            <a:solidFill>
              <a:srgbClr val="D4A574"/>
            </a:solidFill>
            <a:prstDash val="solid"/>
          </a:ln>
        </p:spPr>
      </p:sp>
      <p:sp>
        <p:nvSpPr>
          <p:cNvPr id="76" name="Shape 74"/>
          <p:cNvSpPr/>
          <p:nvPr/>
        </p:nvSpPr>
        <p:spPr>
          <a:xfrm>
            <a:off x="2468880" y="3520440"/>
            <a:ext cx="457200" cy="201168"/>
          </a:xfrm>
          <a:prstGeom prst="rect">
            <a:avLst/>
          </a:prstGeom>
          <a:solidFill>
            <a:srgbClr val="B8741A"/>
          </a:solidFill>
          <a:ln w="12700">
            <a:solidFill>
              <a:srgbClr val="B8741A"/>
            </a:solidFill>
            <a:prstDash val="solid"/>
          </a:ln>
        </p:spPr>
      </p:sp>
      <p:sp>
        <p:nvSpPr>
          <p:cNvPr id="77" name="Shape 75"/>
          <p:cNvSpPr/>
          <p:nvPr/>
        </p:nvSpPr>
        <p:spPr>
          <a:xfrm>
            <a:off x="2971800" y="3520440"/>
            <a:ext cx="457200" cy="201168"/>
          </a:xfrm>
          <a:prstGeom prst="rect">
            <a:avLst/>
          </a:prstGeom>
          <a:solidFill>
            <a:srgbClr val="8B4513"/>
          </a:solidFill>
          <a:ln w="12700">
            <a:solidFill>
              <a:srgbClr val="8B4513"/>
            </a:solidFill>
            <a:prstDash val="solid"/>
          </a:ln>
        </p:spPr>
      </p:sp>
      <p:sp>
        <p:nvSpPr>
          <p:cNvPr id="78" name="Shape 76"/>
          <p:cNvSpPr/>
          <p:nvPr/>
        </p:nvSpPr>
        <p:spPr>
          <a:xfrm>
            <a:off x="3474720" y="3520440"/>
            <a:ext cx="457200" cy="201168"/>
          </a:xfrm>
          <a:prstGeom prst="rect">
            <a:avLst/>
          </a:prstGeom>
          <a:solidFill>
            <a:srgbClr val="6B0F1A"/>
          </a:solidFill>
          <a:ln w="12700">
            <a:solidFill>
              <a:srgbClr val="6B0F1A"/>
            </a:solidFill>
            <a:prstDash val="solid"/>
          </a:ln>
        </p:spPr>
      </p:sp>
      <p:sp>
        <p:nvSpPr>
          <p:cNvPr id="79" name="Text 77"/>
          <p:cNvSpPr/>
          <p:nvPr/>
        </p:nvSpPr>
        <p:spPr>
          <a:xfrm>
            <a:off x="960120" y="3730752"/>
            <a:ext cx="457200" cy="182880"/>
          </a:xfrm>
          <a:prstGeom prst="rect">
            <a:avLst/>
          </a:prstGeom>
          <a:noFill/>
          <a:ln/>
        </p:spPr>
        <p:txBody>
          <a:bodyPr wrap="square" lIns="0" tIns="0" rIns="0" bIns="0" rtlCol="0" anchor="ctr"/>
          <a:lstStyle/>
          <a:p>
            <a:pPr algn="ctr" indent="0" marL="0">
              <a:buNone/>
            </a:pPr>
            <a:r>
              <a:rPr lang="en-US" sz="900" dirty="0">
                <a:solidFill>
                  <a:srgbClr val="55657A"/>
                </a:solidFill>
                <a:latin typeface="Calibri" pitchFamily="34" charset="0"/>
                <a:ea typeface="Calibri" pitchFamily="34" charset="-122"/>
                <a:cs typeface="Calibri" pitchFamily="34" charset="-120"/>
              </a:rPr>
              <a:t>0,5</a:t>
            </a:r>
            <a:endParaRPr lang="en-US" sz="900" dirty="0"/>
          </a:p>
        </p:txBody>
      </p:sp>
      <p:sp>
        <p:nvSpPr>
          <p:cNvPr id="80" name="Text 78"/>
          <p:cNvSpPr/>
          <p:nvPr/>
        </p:nvSpPr>
        <p:spPr>
          <a:xfrm>
            <a:off x="3474720" y="3730752"/>
            <a:ext cx="457200" cy="182880"/>
          </a:xfrm>
          <a:prstGeom prst="rect">
            <a:avLst/>
          </a:prstGeom>
          <a:noFill/>
          <a:ln/>
        </p:spPr>
        <p:txBody>
          <a:bodyPr wrap="square" lIns="0" tIns="0" rIns="0" bIns="0" rtlCol="0" anchor="ctr"/>
          <a:lstStyle/>
          <a:p>
            <a:pPr algn="ctr" indent="0" marL="0">
              <a:buNone/>
            </a:pPr>
            <a:r>
              <a:rPr lang="en-US" sz="900" dirty="0">
                <a:solidFill>
                  <a:srgbClr val="55657A"/>
                </a:solidFill>
                <a:latin typeface="Calibri" pitchFamily="34" charset="0"/>
                <a:ea typeface="Calibri" pitchFamily="34" charset="-122"/>
                <a:cs typeface="Calibri" pitchFamily="34" charset="-120"/>
              </a:rPr>
              <a:t>3,0</a:t>
            </a:r>
            <a:endParaRPr lang="en-US" sz="900" dirty="0"/>
          </a:p>
        </p:txBody>
      </p:sp>
      <p:sp>
        <p:nvSpPr>
          <p:cNvPr id="81" name="Text 79"/>
          <p:cNvSpPr/>
          <p:nvPr/>
        </p:nvSpPr>
        <p:spPr>
          <a:xfrm>
            <a:off x="594360" y="4023360"/>
            <a:ext cx="3749040" cy="457200"/>
          </a:xfrm>
          <a:prstGeom prst="rect">
            <a:avLst/>
          </a:prstGeom>
          <a:noFill/>
          <a:ln/>
        </p:spPr>
        <p:txBody>
          <a:bodyPr wrap="square" lIns="0" tIns="0" rIns="0" bIns="0" rtlCol="0" anchor="ctr"/>
          <a:lstStyle/>
          <a:p>
            <a:pPr indent="0" marL="0">
              <a:buNone/>
            </a:pPr>
            <a:r>
              <a:rPr lang="en-US" sz="950" i="1" dirty="0">
                <a:solidFill>
                  <a:srgbClr val="55657A"/>
                </a:solidFill>
                <a:latin typeface="Calibri" pitchFamily="34" charset="0"/>
                <a:ea typeface="Calibri" pitchFamily="34" charset="-122"/>
                <a:cs typeface="Calibri" pitchFamily="34" charset="-120"/>
              </a:rPr>
              <a:t>Site A : champ 50 × 400 m, n = 105 quadrats. Schéma indicatif basé sur les patrons rapportés.</a:t>
            </a:r>
            <a:endParaRPr lang="en-US" sz="950" dirty="0"/>
          </a:p>
        </p:txBody>
      </p:sp>
      <p:sp>
        <p:nvSpPr>
          <p:cNvPr id="82" name="Shape 80"/>
          <p:cNvSpPr/>
          <p:nvPr/>
        </p:nvSpPr>
        <p:spPr>
          <a:xfrm>
            <a:off x="4754880" y="1280160"/>
            <a:ext cx="4023360" cy="960120"/>
          </a:xfrm>
          <a:prstGeom prst="rect">
            <a:avLst/>
          </a:prstGeom>
          <a:solidFill>
            <a:srgbClr val="6B0F1A"/>
          </a:solidFill>
          <a:ln w="12700">
            <a:solidFill>
              <a:srgbClr val="6B0F1A"/>
            </a:solidFill>
            <a:prstDash val="solid"/>
          </a:ln>
          <a:effectLst>
            <a:outerShdw sx="100000" sy="100000" kx="0" ky="0" algn="bl" rotWithShape="0" blurRad="101600" dist="25400" dir="5400000">
              <a:srgbClr val="000000">
                <a:alpha val="10000"/>
              </a:srgbClr>
            </a:outerShdw>
          </a:effectLst>
        </p:spPr>
      </p:sp>
      <p:sp>
        <p:nvSpPr>
          <p:cNvPr id="83" name="Text 81"/>
          <p:cNvSpPr/>
          <p:nvPr/>
        </p:nvSpPr>
        <p:spPr>
          <a:xfrm>
            <a:off x="4846320" y="1371600"/>
            <a:ext cx="1828800" cy="77724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2,5 kg/m²</a:t>
            </a:r>
            <a:endParaRPr lang="en-US" sz="2800" dirty="0"/>
          </a:p>
        </p:txBody>
      </p:sp>
      <p:sp>
        <p:nvSpPr>
          <p:cNvPr id="84" name="Text 82"/>
          <p:cNvSpPr/>
          <p:nvPr/>
        </p:nvSpPr>
        <p:spPr>
          <a:xfrm>
            <a:off x="6675120" y="1417320"/>
            <a:ext cx="2011680" cy="822960"/>
          </a:xfrm>
          <a:prstGeom prst="rect">
            <a:avLst/>
          </a:prstGeom>
          <a:noFill/>
          <a:ln/>
        </p:spPr>
        <p:txBody>
          <a:bodyPr wrap="square" lIns="0" tIns="0" rIns="0" bIns="0" rtlCol="0" anchor="ctr"/>
          <a:lstStyle/>
          <a:p>
            <a:pPr indent="0" marL="0">
              <a:buNone/>
            </a:pPr>
            <a:r>
              <a:rPr lang="en-US" sz="1100" dirty="0">
                <a:solidFill>
                  <a:srgbClr val="F5EFE6"/>
                </a:solidFill>
                <a:latin typeface="Calibri" pitchFamily="34" charset="0"/>
                <a:ea typeface="Calibri" pitchFamily="34" charset="-122"/>
                <a:cs typeface="Calibri" pitchFamily="34" charset="-120"/>
              </a:rPr>
              <a:t>Différence maximale de rendement à l'intérieur d'un même champ.</a:t>
            </a:r>
            <a:endParaRPr lang="en-US" sz="1100" dirty="0"/>
          </a:p>
        </p:txBody>
      </p:sp>
      <p:sp>
        <p:nvSpPr>
          <p:cNvPr id="85" name="Shape 83"/>
          <p:cNvSpPr/>
          <p:nvPr/>
        </p:nvSpPr>
        <p:spPr>
          <a:xfrm>
            <a:off x="4754880" y="2423160"/>
            <a:ext cx="4023360" cy="960120"/>
          </a:xfrm>
          <a:prstGeom prst="rect">
            <a:avLst/>
          </a:prstGeom>
          <a:solidFill>
            <a:srgbClr val="2D5016"/>
          </a:solidFill>
          <a:ln w="12700">
            <a:solidFill>
              <a:srgbClr val="2D5016"/>
            </a:solidFill>
            <a:prstDash val="solid"/>
          </a:ln>
          <a:effectLst>
            <a:outerShdw sx="100000" sy="100000" kx="0" ky="0" algn="bl" rotWithShape="0" blurRad="101600" dist="25400" dir="5400000">
              <a:srgbClr val="000000">
                <a:alpha val="10000"/>
              </a:srgbClr>
            </a:outerShdw>
          </a:effectLst>
        </p:spPr>
      </p:sp>
      <p:sp>
        <p:nvSpPr>
          <p:cNvPr id="86" name="Text 84"/>
          <p:cNvSpPr/>
          <p:nvPr/>
        </p:nvSpPr>
        <p:spPr>
          <a:xfrm>
            <a:off x="4846320" y="2514600"/>
            <a:ext cx="1828800" cy="7772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2,33 kg/m²</a:t>
            </a:r>
            <a:endParaRPr lang="en-US" sz="2600" dirty="0"/>
          </a:p>
        </p:txBody>
      </p:sp>
      <p:sp>
        <p:nvSpPr>
          <p:cNvPr id="87" name="Text 85"/>
          <p:cNvSpPr/>
          <p:nvPr/>
        </p:nvSpPr>
        <p:spPr>
          <a:xfrm>
            <a:off x="6675120" y="2542032"/>
            <a:ext cx="2011680" cy="822960"/>
          </a:xfrm>
          <a:prstGeom prst="rect">
            <a:avLst/>
          </a:prstGeom>
          <a:noFill/>
          <a:ln/>
        </p:spPr>
        <p:txBody>
          <a:bodyPr wrap="square" lIns="0" tIns="0" rIns="0" bIns="0" rtlCol="0" anchor="ctr"/>
          <a:lstStyle/>
          <a:p>
            <a:pPr indent="0" marL="0">
              <a:buNone/>
            </a:pPr>
            <a:r>
              <a:rPr lang="en-US" sz="1050" dirty="0">
                <a:solidFill>
                  <a:srgbClr val="F5EFE6"/>
                </a:solidFill>
                <a:latin typeface="Calibri" pitchFamily="34" charset="0"/>
                <a:ea typeface="Calibri" pitchFamily="34" charset="-122"/>
                <a:cs typeface="Calibri" pitchFamily="34" charset="-120"/>
              </a:rPr>
              <a:t>Rendement moyen observé — l'amplitude de variation est plus grande que la moyenne elle-même.</a:t>
            </a:r>
            <a:endParaRPr lang="en-US" sz="1050" dirty="0"/>
          </a:p>
        </p:txBody>
      </p:sp>
      <p:sp>
        <p:nvSpPr>
          <p:cNvPr id="88" name="Shape 86"/>
          <p:cNvSpPr/>
          <p:nvPr/>
        </p:nvSpPr>
        <p:spPr>
          <a:xfrm>
            <a:off x="4754880" y="3566160"/>
            <a:ext cx="4023360" cy="960120"/>
          </a:xfrm>
          <a:prstGeom prst="rect">
            <a:avLst/>
          </a:prstGeom>
          <a:solidFill>
            <a:srgbClr val="0B3954"/>
          </a:solidFill>
          <a:ln w="12700">
            <a:solidFill>
              <a:srgbClr val="0B3954"/>
            </a:solidFill>
            <a:prstDash val="solid"/>
          </a:ln>
          <a:effectLst>
            <a:outerShdw sx="100000" sy="100000" kx="0" ky="0" algn="bl" rotWithShape="0" blurRad="101600" dist="25400" dir="5400000">
              <a:srgbClr val="000000">
                <a:alpha val="10000"/>
              </a:srgbClr>
            </a:outerShdw>
          </a:effectLst>
        </p:spPr>
      </p:sp>
      <p:pic>
        <p:nvPicPr>
          <p:cNvPr id="89" name="Image 0" descr="preencoded.png">    </p:cNvPr>
          <p:cNvPicPr>
            <a:picLocks noChangeAspect="1"/>
          </p:cNvPicPr>
          <p:nvPr/>
        </p:nvPicPr>
        <p:blipFill>
          <a:blip r:embed="rId1"/>
          <a:stretch>
            <a:fillRect/>
          </a:stretch>
        </p:blipFill>
        <p:spPr>
          <a:xfrm>
            <a:off x="4892040" y="3749040"/>
            <a:ext cx="411480" cy="411480"/>
          </a:xfrm>
          <a:prstGeom prst="rect">
            <a:avLst/>
          </a:prstGeom>
        </p:spPr>
      </p:pic>
      <p:sp>
        <p:nvSpPr>
          <p:cNvPr id="90" name="Text 87"/>
          <p:cNvSpPr/>
          <p:nvPr/>
        </p:nvSpPr>
        <p:spPr>
          <a:xfrm>
            <a:off x="5440680" y="3703320"/>
            <a:ext cx="3200400" cy="274320"/>
          </a:xfrm>
          <a:prstGeom prst="rect">
            <a:avLst/>
          </a:prstGeom>
          <a:noFill/>
          <a:ln/>
        </p:spPr>
        <p:txBody>
          <a:bodyPr wrap="square" lIns="0" tIns="0" rIns="0" bIns="0" rtlCol="0" anchor="ctr"/>
          <a:lstStyle/>
          <a:p>
            <a:pPr indent="0" marL="0">
              <a:buNone/>
            </a:pPr>
            <a:r>
              <a:rPr lang="en-US" sz="1000" b="1" spc="300" kern="0" dirty="0">
                <a:solidFill>
                  <a:srgbClr val="F5EFE6"/>
                </a:solidFill>
                <a:latin typeface="Calibri" pitchFamily="34" charset="0"/>
                <a:ea typeface="Calibri" pitchFamily="34" charset="-122"/>
                <a:cs typeface="Calibri" pitchFamily="34" charset="-120"/>
              </a:rPr>
              <a:t>Constat</a:t>
            </a:r>
            <a:endParaRPr lang="en-US" sz="1000" dirty="0"/>
          </a:p>
        </p:txBody>
      </p:sp>
      <p:sp>
        <p:nvSpPr>
          <p:cNvPr id="91" name="Text 88"/>
          <p:cNvSpPr/>
          <p:nvPr/>
        </p:nvSpPr>
        <p:spPr>
          <a:xfrm>
            <a:off x="5440680" y="3950208"/>
            <a:ext cx="3200400" cy="502920"/>
          </a:xfrm>
          <a:prstGeom prst="rect">
            <a:avLst/>
          </a:prstGeom>
          <a:noFill/>
          <a:ln/>
        </p:spPr>
        <p:txBody>
          <a:bodyPr wrap="square" lIns="0" tIns="0" rIns="0" bIns="0" rtlCol="0" anchor="ctr"/>
          <a:lstStyle/>
          <a:p>
            <a:pPr indent="0" marL="0">
              <a:buNone/>
            </a:pPr>
            <a:r>
              <a:rPr lang="en-US" sz="1200" dirty="0">
                <a:solidFill>
                  <a:srgbClr val="FFFFFF"/>
                </a:solidFill>
                <a:latin typeface="Calibri" pitchFamily="34" charset="0"/>
                <a:ea typeface="Calibri" pitchFamily="34" charset="-122"/>
                <a:cs typeface="Calibri" pitchFamily="34" charset="-120"/>
              </a:rPr>
              <a:t>Le rendement est corrélé aux propriétés hydrauliques du substrat.</a:t>
            </a:r>
            <a:endParaRPr lang="en-US" sz="1200" dirty="0"/>
          </a:p>
        </p:txBody>
      </p:sp>
      <p:sp>
        <p:nvSpPr>
          <p:cNvPr id="92" name="Text 89"/>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6B0F1A"/>
          </a:solidFill>
          <a:ln w="12700">
            <a:solidFill>
              <a:srgbClr val="6B0F1A"/>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Résultats — Ksat et potentiel matriciel</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Hétérogénéité marquée à courte distance</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6" name="Shape 4"/>
          <p:cNvSpPr/>
          <p:nvPr/>
        </p:nvSpPr>
        <p:spPr>
          <a:xfrm>
            <a:off x="502920" y="1280160"/>
            <a:ext cx="4023360" cy="3246120"/>
          </a:xfrm>
          <a:prstGeom prst="rect">
            <a:avLst/>
          </a:prstGeom>
          <a:solidFill>
            <a:srgbClr val="FAFAF7"/>
          </a:solidFill>
          <a:ln w="6350">
            <a:solidFill>
              <a:srgbClr val="DDD6CB"/>
            </a:solidFill>
            <a:prstDash val="solid"/>
          </a:ln>
          <a:effectLst>
            <a:outerShdw sx="100000" sy="100000" kx="0" ky="0" algn="bl" rotWithShape="0" blurRad="101600" dist="25400" dir="54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685800" y="1463040"/>
            <a:ext cx="411480" cy="411480"/>
          </a:xfrm>
          <a:prstGeom prst="rect">
            <a:avLst/>
          </a:prstGeom>
        </p:spPr>
      </p:pic>
      <p:sp>
        <p:nvSpPr>
          <p:cNvPr id="8" name="Text 5"/>
          <p:cNvSpPr/>
          <p:nvPr/>
        </p:nvSpPr>
        <p:spPr>
          <a:xfrm>
            <a:off x="1188720" y="1417320"/>
            <a:ext cx="3200400" cy="502920"/>
          </a:xfrm>
          <a:prstGeom prst="rect">
            <a:avLst/>
          </a:prstGeom>
          <a:noFill/>
          <a:ln/>
        </p:spPr>
        <p:txBody>
          <a:bodyPr wrap="square" lIns="0" tIns="0" rIns="0" bIns="0" rtlCol="0" anchor="ctr"/>
          <a:lstStyle/>
          <a:p>
            <a:pPr indent="0" marL="0">
              <a:buNone/>
            </a:pPr>
            <a:r>
              <a:rPr lang="en-US" sz="1300" b="1" dirty="0">
                <a:solidFill>
                  <a:srgbClr val="6B0F1A"/>
                </a:solidFill>
                <a:latin typeface="Calibri" pitchFamily="34" charset="0"/>
                <a:ea typeface="Calibri" pitchFamily="34" charset="-122"/>
                <a:cs typeface="Calibri" pitchFamily="34" charset="-120"/>
              </a:rPr>
              <a:t>Conductivité hydraulique à saturation (Ksat)</a:t>
            </a:r>
            <a:endParaRPr lang="en-US" sz="1300" dirty="0"/>
          </a:p>
        </p:txBody>
      </p:sp>
      <p:sp>
        <p:nvSpPr>
          <p:cNvPr id="9" name="Text 6"/>
          <p:cNvSpPr/>
          <p:nvPr/>
        </p:nvSpPr>
        <p:spPr>
          <a:xfrm>
            <a:off x="685800" y="2011680"/>
            <a:ext cx="3749040" cy="24231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B1F3A"/>
                </a:solidFill>
                <a:latin typeface="Calibri" pitchFamily="34" charset="0"/>
                <a:ea typeface="Calibri" pitchFamily="34" charset="-122"/>
                <a:cs typeface="Calibri" pitchFamily="34" charset="-120"/>
              </a:rPr>
              <a:t>Variation à courte distance détectée sur les deux sites.</a:t>
            </a:r>
            <a:endParaRPr lang="en-US" sz="1150" dirty="0"/>
          </a:p>
          <a:p>
            <a:pPr marL="342900" indent="-342900">
              <a:spcAft>
                <a:spcPts val="600"/>
              </a:spcAft>
              <a:buSzPct val="100000"/>
              <a:buChar char="•"/>
            </a:pPr>
            <a:r>
              <a:rPr lang="en-US" sz="1150" dirty="0">
                <a:solidFill>
                  <a:srgbClr val="1B1F3A"/>
                </a:solidFill>
                <a:latin typeface="Calibri" pitchFamily="34" charset="0"/>
                <a:ea typeface="Calibri" pitchFamily="34" charset="-122"/>
                <a:cs typeface="Calibri" pitchFamily="34" charset="-120"/>
              </a:rPr>
              <a:t>Plus grande hétérogénéité au site A → interpolation moins performante.</a:t>
            </a:r>
            <a:endParaRPr lang="en-US" sz="1150" dirty="0"/>
          </a:p>
          <a:p>
            <a:pPr marL="342900" indent="-342900">
              <a:spcAft>
                <a:spcPts val="600"/>
              </a:spcAft>
              <a:buSzPct val="100000"/>
              <a:buChar char="•"/>
            </a:pPr>
            <a:r>
              <a:rPr lang="en-US" sz="1150" dirty="0">
                <a:solidFill>
                  <a:srgbClr val="1B1F3A"/>
                </a:solidFill>
                <a:latin typeface="Calibri" pitchFamily="34" charset="0"/>
                <a:ea typeface="Calibri" pitchFamily="34" charset="-122"/>
                <a:cs typeface="Calibri" pitchFamily="34" charset="-120"/>
              </a:rPr>
              <a:t>À 0,4 m de profondeur : coefficient de variation des RMSE jusqu'à 26 %.</a:t>
            </a:r>
            <a:endParaRPr lang="en-US" sz="1150" dirty="0"/>
          </a:p>
          <a:p>
            <a:pPr marL="342900" indent="-342900">
              <a:spcAft>
                <a:spcPts val="600"/>
              </a:spcAft>
              <a:buSzPct val="100000"/>
              <a:buChar char="•"/>
            </a:pPr>
            <a:r>
              <a:rPr lang="en-US" sz="1150" dirty="0">
                <a:solidFill>
                  <a:srgbClr val="1B1F3A"/>
                </a:solidFill>
                <a:latin typeface="Calibri" pitchFamily="34" charset="0"/>
                <a:ea typeface="Calibri" pitchFamily="34" charset="-122"/>
                <a:cs typeface="Calibri" pitchFamily="34" charset="-120"/>
              </a:rPr>
              <a:t>À 0,2 m : 15 %, donc moins variable mais toujours significatif.</a:t>
            </a:r>
            <a:endParaRPr lang="en-US" sz="1150" dirty="0"/>
          </a:p>
        </p:txBody>
      </p:sp>
      <p:sp>
        <p:nvSpPr>
          <p:cNvPr id="10" name="Shape 7"/>
          <p:cNvSpPr/>
          <p:nvPr/>
        </p:nvSpPr>
        <p:spPr>
          <a:xfrm>
            <a:off x="4754880" y="1280160"/>
            <a:ext cx="4023360" cy="3246120"/>
          </a:xfrm>
          <a:prstGeom prst="rect">
            <a:avLst/>
          </a:prstGeom>
          <a:solidFill>
            <a:srgbClr val="FAFAF7"/>
          </a:solidFill>
          <a:ln w="6350">
            <a:solidFill>
              <a:srgbClr val="DDD6CB"/>
            </a:solidFill>
            <a:prstDash val="solid"/>
          </a:ln>
          <a:effectLst>
            <a:outerShdw sx="100000" sy="100000" kx="0" ky="0" algn="bl" rotWithShape="0" blurRad="101600" dist="25400" dir="5400000">
              <a:srgbClr val="000000">
                <a:alpha val="10000"/>
              </a:srgbClr>
            </a:outerShdw>
          </a:effectLst>
        </p:spPr>
      </p:sp>
      <p:pic>
        <p:nvPicPr>
          <p:cNvPr id="11" name="Image 1" descr="preencoded.png">    </p:cNvPr>
          <p:cNvPicPr>
            <a:picLocks noChangeAspect="1"/>
          </p:cNvPicPr>
          <p:nvPr/>
        </p:nvPicPr>
        <p:blipFill>
          <a:blip r:embed="rId2"/>
          <a:stretch>
            <a:fillRect/>
          </a:stretch>
        </p:blipFill>
        <p:spPr>
          <a:xfrm>
            <a:off x="4937760" y="1463040"/>
            <a:ext cx="411480" cy="411480"/>
          </a:xfrm>
          <a:prstGeom prst="rect">
            <a:avLst/>
          </a:prstGeom>
        </p:spPr>
      </p:pic>
      <p:sp>
        <p:nvSpPr>
          <p:cNvPr id="12" name="Text 8"/>
          <p:cNvSpPr/>
          <p:nvPr/>
        </p:nvSpPr>
        <p:spPr>
          <a:xfrm>
            <a:off x="5440680" y="1417320"/>
            <a:ext cx="3200400" cy="502920"/>
          </a:xfrm>
          <a:prstGeom prst="rect">
            <a:avLst/>
          </a:prstGeom>
          <a:noFill/>
          <a:ln/>
        </p:spPr>
        <p:txBody>
          <a:bodyPr wrap="square" lIns="0" tIns="0" rIns="0" bIns="0" rtlCol="0" anchor="ctr"/>
          <a:lstStyle/>
          <a:p>
            <a:pPr indent="0" marL="0">
              <a:buNone/>
            </a:pPr>
            <a:r>
              <a:rPr lang="en-US" sz="1300" b="1" dirty="0">
                <a:solidFill>
                  <a:srgbClr val="6B0F1A"/>
                </a:solidFill>
                <a:latin typeface="Calibri" pitchFamily="34" charset="0"/>
                <a:ea typeface="Calibri" pitchFamily="34" charset="-122"/>
                <a:cs typeface="Calibri" pitchFamily="34" charset="-120"/>
              </a:rPr>
              <a:t>Potentiel matriciel du sol</a:t>
            </a:r>
            <a:endParaRPr lang="en-US" sz="1300" dirty="0"/>
          </a:p>
        </p:txBody>
      </p:sp>
      <p:sp>
        <p:nvSpPr>
          <p:cNvPr id="13" name="Text 9"/>
          <p:cNvSpPr/>
          <p:nvPr/>
        </p:nvSpPr>
        <p:spPr>
          <a:xfrm>
            <a:off x="4937760" y="2011680"/>
            <a:ext cx="3749040" cy="242316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1B1F3A"/>
                </a:solidFill>
                <a:latin typeface="Calibri" pitchFamily="34" charset="0"/>
                <a:ea typeface="Calibri" pitchFamily="34" charset="-122"/>
                <a:cs typeface="Calibri" pitchFamily="34" charset="-120"/>
              </a:rPr>
              <a:t>Suivi temporel à plusieurs pas de temps T₀–Tₙ.</a:t>
            </a:r>
            <a:endParaRPr lang="en-US" sz="1150" dirty="0"/>
          </a:p>
          <a:p>
            <a:pPr marL="342900" indent="-342900">
              <a:spcAft>
                <a:spcPts val="600"/>
              </a:spcAft>
              <a:buSzPct val="100000"/>
              <a:buChar char="•"/>
            </a:pPr>
            <a:r>
              <a:rPr lang="en-US" sz="1150" dirty="0">
                <a:solidFill>
                  <a:srgbClr val="1B1F3A"/>
                </a:solidFill>
                <a:latin typeface="Calibri" pitchFamily="34" charset="0"/>
                <a:ea typeface="Calibri" pitchFamily="34" charset="-122"/>
                <a:cs typeface="Calibri" pitchFamily="34" charset="-120"/>
              </a:rPr>
              <a:t>Le biais (ME) reste très petit pour toutes les méthodes après quelques pas de temps.</a:t>
            </a:r>
            <a:endParaRPr lang="en-US" sz="1150" dirty="0"/>
          </a:p>
          <a:p>
            <a:pPr marL="342900" indent="-342900">
              <a:spcAft>
                <a:spcPts val="600"/>
              </a:spcAft>
              <a:buSzPct val="100000"/>
              <a:buChar char="•"/>
            </a:pPr>
            <a:r>
              <a:rPr lang="en-US" sz="1150" dirty="0">
                <a:solidFill>
                  <a:srgbClr val="1B1F3A"/>
                </a:solidFill>
                <a:latin typeface="Calibri" pitchFamily="34" charset="0"/>
                <a:ea typeface="Calibri" pitchFamily="34" charset="-122"/>
                <a:cs typeface="Calibri" pitchFamily="34" charset="-120"/>
              </a:rPr>
              <a:t>TPS surclasse les autres méthodes en RMSE, surtout pour les pas de temps initiaux.</a:t>
            </a:r>
            <a:endParaRPr lang="en-US" sz="1150" dirty="0"/>
          </a:p>
          <a:p>
            <a:pPr marL="342900" indent="-342900">
              <a:spcAft>
                <a:spcPts val="600"/>
              </a:spcAft>
              <a:buSzPct val="100000"/>
              <a:buChar char="•"/>
            </a:pPr>
            <a:r>
              <a:rPr lang="en-US" sz="1150" dirty="0">
                <a:solidFill>
                  <a:srgbClr val="1B1F3A"/>
                </a:solidFill>
                <a:latin typeface="Calibri" pitchFamily="34" charset="0"/>
                <a:ea typeface="Calibri" pitchFamily="34" charset="-122"/>
                <a:cs typeface="Calibri" pitchFamily="34" charset="-120"/>
              </a:rPr>
              <a:t>Confirme l'existence de zones de gestion à l'intérieur d'un même champ.</a:t>
            </a:r>
            <a:endParaRPr lang="en-US" sz="1150" dirty="0"/>
          </a:p>
        </p:txBody>
      </p:sp>
      <p:sp>
        <p:nvSpPr>
          <p:cNvPr id="14" name="Text 10"/>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Comparaison des méthodes — validation croisée</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RMSE le plus bas = meilleure méthode</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8229600" cy="914400"/>
        </p:xfrm>
        <a:graphic>
          <a:graphicData uri="http://schemas.openxmlformats.org/drawingml/2006/table">
            <a:tbl>
              <a:tblPr/>
              <a:tblGrid>
                <a:gridCol w="2194560"/>
                <a:gridCol w="822960"/>
                <a:gridCol w="1463040"/>
                <a:gridCol w="1463040"/>
                <a:gridCol w="1463040"/>
                <a:gridCol w="914400"/>
              </a:tblGrid>
              <a:tr h="365760">
                <a:tc>
                  <a:txBody>
                    <a:bodyPr/>
                    <a:lstStyle/>
                    <a:p>
                      <a:pPr algn="l" indent="0" marL="0">
                        <a:buNone/>
                      </a:pPr>
                      <a:r>
                        <a:rPr lang="en-US" sz="1200" b="1" dirty="0">
                          <a:solidFill>
                            <a:srgbClr val="FFFFFF"/>
                          </a:solidFill>
                        </a:rPr>
                        <a:t>Variable</a:t>
                      </a:r>
                      <a:endParaRPr lang="en-US" sz="1200" dirty="0"/>
                    </a:p>
                  </a:txBody>
                  <a:tcPr marL="91440" marR="91440" marT="45720" marB="45720">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solidFill>
                      <a:srgbClr val="0B3954"/>
                    </a:solidFill>
                  </a:tcPr>
                </a:tc>
                <a:tc>
                  <a:txBody>
                    <a:bodyPr/>
                    <a:lstStyle/>
                    <a:p>
                      <a:pPr algn="ctr" indent="0" marL="0">
                        <a:buNone/>
                      </a:pPr>
                      <a:r>
                        <a:rPr lang="en-US" sz="1200" b="1" dirty="0">
                          <a:solidFill>
                            <a:srgbClr val="FFFFFF"/>
                          </a:solidFill>
                        </a:rPr>
                        <a:t>Site</a:t>
                      </a:r>
                      <a:endParaRPr lang="en-US" sz="1200" dirty="0"/>
                    </a:p>
                  </a:txBody>
                  <a:tcPr marL="91440" marR="91440" marT="45720" marB="45720">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solidFill>
                      <a:srgbClr val="0B3954"/>
                    </a:solidFill>
                  </a:tcPr>
                </a:tc>
                <a:tc>
                  <a:txBody>
                    <a:bodyPr/>
                    <a:lstStyle/>
                    <a:p>
                      <a:pPr algn="ctr" indent="0" marL="0">
                        <a:buNone/>
                      </a:pPr>
                      <a:r>
                        <a:rPr lang="en-US" sz="1200" b="1" dirty="0">
                          <a:solidFill>
                            <a:srgbClr val="FFFFFF"/>
                          </a:solidFill>
                        </a:rPr>
                        <a:t>IDW (p = 0,5)</a:t>
                      </a:r>
                      <a:endParaRPr lang="en-US" sz="1200" dirty="0"/>
                    </a:p>
                  </a:txBody>
                  <a:tcPr marL="91440" marR="91440" marT="45720" marB="45720">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solidFill>
                      <a:srgbClr val="0B3954"/>
                    </a:solidFill>
                  </a:tcPr>
                </a:tc>
                <a:tc>
                  <a:txBody>
                    <a:bodyPr/>
                    <a:lstStyle/>
                    <a:p>
                      <a:pPr algn="ctr" indent="0" marL="0">
                        <a:buNone/>
                      </a:pPr>
                      <a:r>
                        <a:rPr lang="en-US" sz="1200" b="1" dirty="0">
                          <a:solidFill>
                            <a:srgbClr val="FFFFFF"/>
                          </a:solidFill>
                        </a:rPr>
                        <a:t>TPS</a:t>
                      </a:r>
                      <a:endParaRPr lang="en-US" sz="1200" dirty="0"/>
                    </a:p>
                  </a:txBody>
                  <a:tcPr marL="91440" marR="91440" marT="45720" marB="45720">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solidFill>
                      <a:srgbClr val="0B3954"/>
                    </a:solidFill>
                  </a:tcPr>
                </a:tc>
                <a:tc>
                  <a:txBody>
                    <a:bodyPr/>
                    <a:lstStyle/>
                    <a:p>
                      <a:pPr algn="ctr" indent="0" marL="0">
                        <a:buNone/>
                      </a:pPr>
                      <a:r>
                        <a:rPr lang="en-US" sz="1200" b="1" dirty="0">
                          <a:solidFill>
                            <a:srgbClr val="FFFFFF"/>
                          </a:solidFill>
                        </a:rPr>
                        <a:t>KED</a:t>
                      </a:r>
                      <a:endParaRPr lang="en-US" sz="1200" dirty="0"/>
                    </a:p>
                  </a:txBody>
                  <a:tcPr marL="91440" marR="91440" marT="45720" marB="45720">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solidFill>
                      <a:srgbClr val="0B3954"/>
                    </a:solidFill>
                  </a:tcPr>
                </a:tc>
                <a:tc>
                  <a:txBody>
                    <a:bodyPr/>
                    <a:lstStyle/>
                    <a:p>
                      <a:pPr algn="ctr" indent="0" marL="0">
                        <a:buNone/>
                      </a:pPr>
                      <a:r>
                        <a:rPr lang="en-US" sz="1200" b="1" dirty="0">
                          <a:solidFill>
                            <a:srgbClr val="FFFFFF"/>
                          </a:solidFill>
                        </a:rPr>
                        <a:t>Meilleure</a:t>
                      </a:r>
                      <a:endParaRPr lang="en-US" sz="1200" dirty="0"/>
                    </a:p>
                  </a:txBody>
                  <a:tcPr marL="91440" marR="91440" marT="45720" marB="45720">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solidFill>
                      <a:srgbClr val="0B3954"/>
                    </a:solidFill>
                  </a:tcPr>
                </a:tc>
              </a:tr>
              <a:tr h="365760">
                <a:tc>
                  <a:txBody>
                    <a:bodyPr/>
                    <a:lstStyle/>
                    <a:p>
                      <a:pPr indent="0" marL="0">
                        <a:buNone/>
                      </a:pPr>
                      <a:r>
                        <a:rPr lang="en-US" sz="1100" dirty="0">
                          <a:solidFill>
                            <a:srgbClr val="1B1F3A"/>
                          </a:solidFill>
                        </a:rPr>
                        <a:t>Rendement</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A</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b="1" dirty="0">
                          <a:solidFill>
                            <a:srgbClr val="2D5016"/>
                          </a:solidFill>
                        </a:rPr>
                        <a:t>0,713</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0,72</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0,73</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b="1" dirty="0">
                          <a:solidFill>
                            <a:srgbClr val="2D5016"/>
                          </a:solidFill>
                        </a:rPr>
                        <a:t>IDW</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r>
              <a:tr h="365760">
                <a:tc>
                  <a:txBody>
                    <a:bodyPr/>
                    <a:lstStyle/>
                    <a:p>
                      <a:pPr indent="0" marL="0">
                        <a:buNone/>
                      </a:pPr>
                      <a:r>
                        <a:rPr lang="en-US" sz="1100" dirty="0">
                          <a:solidFill>
                            <a:srgbClr val="1B1F3A"/>
                          </a:solidFill>
                        </a:rPr>
                        <a:t>Rendement</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B</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0,72</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b="1" dirty="0">
                          <a:solidFill>
                            <a:srgbClr val="2D5016"/>
                          </a:solidFill>
                        </a:rPr>
                        <a:t>0,704</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0,71</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b="1" dirty="0">
                          <a:solidFill>
                            <a:srgbClr val="2D5016"/>
                          </a:solidFill>
                        </a:rPr>
                        <a:t>TPS</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r>
              <a:tr h="365760">
                <a:tc>
                  <a:txBody>
                    <a:bodyPr/>
                    <a:lstStyle/>
                    <a:p>
                      <a:pPr indent="0" marL="0">
                        <a:buNone/>
                      </a:pPr>
                      <a:r>
                        <a:rPr lang="en-US" sz="1100" dirty="0">
                          <a:solidFill>
                            <a:srgbClr val="1B1F3A"/>
                          </a:solidFill>
                        </a:rPr>
                        <a:t>Ksat (0,2 m)</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A/B</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varies</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b="1" dirty="0">
                          <a:solidFill>
                            <a:srgbClr val="2D5016"/>
                          </a:solidFill>
                        </a:rPr>
                        <a:t>plus bas</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 TPS</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b="1" dirty="0">
                          <a:solidFill>
                            <a:srgbClr val="2D5016"/>
                          </a:solidFill>
                        </a:rPr>
                        <a:t>TPS</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r>
              <a:tr h="365760">
                <a:tc>
                  <a:txBody>
                    <a:bodyPr/>
                    <a:lstStyle/>
                    <a:p>
                      <a:pPr indent="0" marL="0">
                        <a:buNone/>
                      </a:pPr>
                      <a:r>
                        <a:rPr lang="en-US" sz="1100" dirty="0">
                          <a:solidFill>
                            <a:srgbClr val="1B1F3A"/>
                          </a:solidFill>
                        </a:rPr>
                        <a:t>Potentiel matriciel</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A/B</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biais OK</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b="1" dirty="0">
                          <a:solidFill>
                            <a:srgbClr val="2D5016"/>
                          </a:solidFill>
                        </a:rPr>
                        <a:t>RMSE min</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dirty="0">
                          <a:solidFill>
                            <a:srgbClr val="1B1F3A"/>
                          </a:solidFill>
                        </a:rPr>
                        <a:t>≈ TPS</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c>
                  <a:txBody>
                    <a:bodyPr/>
                    <a:lstStyle/>
                    <a:p>
                      <a:pPr algn="ctr" indent="0" marL="0">
                        <a:buNone/>
                      </a:pPr>
                      <a:r>
                        <a:rPr lang="en-US" sz="1100" b="1" dirty="0">
                          <a:solidFill>
                            <a:srgbClr val="2D5016"/>
                          </a:solidFill>
                        </a:rPr>
                        <a:t>TPS</a:t>
                      </a:r>
                      <a:endParaRPr lang="en-US" sz="1100" dirty="0"/>
                    </a:p>
                  </a:txBody>
                  <a:tcPr marL="45720" marR="45720" marT="45720" marB="45720" anchor="ctr">
                    <a:lnL w="6350" cap="flat" cmpd="sng" algn="ctr">
                      <a:solidFill>
                        <a:srgbClr val="DDD6CB"/>
                      </a:solidFill>
                      <a:prstDash val="solid"/>
                      <a:round/>
                      <a:headEnd type="none" w="med" len="med"/>
                      <a:tailEnd type="none" w="med" len="med"/>
                    </a:lnL>
                    <a:lnR w="6350" cap="flat" cmpd="sng" algn="ctr">
                      <a:solidFill>
                        <a:srgbClr val="DDD6CB"/>
                      </a:solidFill>
                      <a:prstDash val="solid"/>
                      <a:round/>
                      <a:headEnd type="none" w="med" len="med"/>
                      <a:tailEnd type="none" w="med" len="med"/>
                    </a:lnR>
                    <a:lnT w="6350" cap="flat" cmpd="sng" algn="ctr">
                      <a:solidFill>
                        <a:srgbClr val="DDD6CB"/>
                      </a:solidFill>
                      <a:prstDash val="solid"/>
                      <a:round/>
                      <a:headEnd type="none" w="med" len="med"/>
                      <a:tailEnd type="none" w="med" len="med"/>
                    </a:lnT>
                    <a:lnB w="6350" cap="flat" cmpd="sng" algn="ctr">
                      <a:solidFill>
                        <a:srgbClr val="DDD6CB"/>
                      </a:solidFill>
                      <a:prstDash val="solid"/>
                      <a:round/>
                      <a:headEnd type="none" w="med" len="med"/>
                      <a:tailEnd type="none" w="med" len="med"/>
                    </a:lnB>
                  </a:tcPr>
                </a:tc>
              </a:tr>
            </a:tbl>
          </a:graphicData>
        </a:graphic>
      </p:graphicFrame>
      <p:sp>
        <p:nvSpPr>
          <p:cNvPr id="7" name="Shape 4"/>
          <p:cNvSpPr/>
          <p:nvPr/>
        </p:nvSpPr>
        <p:spPr>
          <a:xfrm>
            <a:off x="502920" y="3246120"/>
            <a:ext cx="8229600" cy="1371600"/>
          </a:xfrm>
          <a:prstGeom prst="rect">
            <a:avLst/>
          </a:prstGeom>
          <a:solidFill>
            <a:srgbClr val="F5EFE6"/>
          </a:solidFill>
          <a:ln w="12700">
            <a:solidFill>
              <a:srgbClr val="F5EFE6"/>
            </a:solidFill>
            <a:prstDash val="solid"/>
          </a:ln>
        </p:spPr>
      </p:sp>
      <p:pic>
        <p:nvPicPr>
          <p:cNvPr id="8" name="Image 0" descr="preencoded.png">    </p:cNvPr>
          <p:cNvPicPr>
            <a:picLocks noChangeAspect="1"/>
          </p:cNvPicPr>
          <p:nvPr/>
        </p:nvPicPr>
        <p:blipFill>
          <a:blip r:embed="rId1"/>
          <a:stretch>
            <a:fillRect/>
          </a:stretch>
        </p:blipFill>
        <p:spPr>
          <a:xfrm>
            <a:off x="685800" y="3429000"/>
            <a:ext cx="502920" cy="502920"/>
          </a:xfrm>
          <a:prstGeom prst="rect">
            <a:avLst/>
          </a:prstGeom>
        </p:spPr>
      </p:pic>
      <p:sp>
        <p:nvSpPr>
          <p:cNvPr id="9" name="Text 5"/>
          <p:cNvSpPr/>
          <p:nvPr/>
        </p:nvSpPr>
        <p:spPr>
          <a:xfrm>
            <a:off x="1280160" y="3364992"/>
            <a:ext cx="7315200" cy="274320"/>
          </a:xfrm>
          <a:prstGeom prst="rect">
            <a:avLst/>
          </a:prstGeom>
          <a:noFill/>
          <a:ln/>
        </p:spPr>
        <p:txBody>
          <a:bodyPr wrap="square" lIns="0" tIns="0" rIns="0" bIns="0" rtlCol="0" anchor="ctr"/>
          <a:lstStyle/>
          <a:p>
            <a:pPr indent="0" marL="0">
              <a:buNone/>
            </a:pPr>
            <a:r>
              <a:rPr lang="en-US" sz="1100" b="1" spc="300" kern="0" dirty="0">
                <a:solidFill>
                  <a:srgbClr val="2D5016"/>
                </a:solidFill>
                <a:latin typeface="Calibri" pitchFamily="34" charset="0"/>
                <a:ea typeface="Calibri" pitchFamily="34" charset="-122"/>
                <a:cs typeface="Calibri" pitchFamily="34" charset="-120"/>
              </a:rPr>
              <a:t>Le verdict</a:t>
            </a:r>
            <a:endParaRPr lang="en-US" sz="1100" dirty="0"/>
          </a:p>
        </p:txBody>
      </p:sp>
      <p:sp>
        <p:nvSpPr>
          <p:cNvPr id="10" name="Text 6"/>
          <p:cNvSpPr/>
          <p:nvPr/>
        </p:nvSpPr>
        <p:spPr>
          <a:xfrm>
            <a:off x="1280160" y="3657600"/>
            <a:ext cx="7360920" cy="914400"/>
          </a:xfrm>
          <a:prstGeom prst="rect">
            <a:avLst/>
          </a:prstGeom>
          <a:noFill/>
          <a:ln/>
        </p:spPr>
        <p:txBody>
          <a:bodyPr wrap="square" lIns="0" tIns="0" rIns="0" bIns="0" rtlCol="0" anchor="ctr"/>
          <a:lstStyle/>
          <a:p>
            <a:pPr indent="0" marL="0">
              <a:buNone/>
            </a:pPr>
            <a:r>
              <a:rPr lang="en-US" sz="1300" b="1" dirty="0">
                <a:solidFill>
                  <a:srgbClr val="1B1F3A"/>
                </a:solidFill>
                <a:latin typeface="Calibri" pitchFamily="34" charset="0"/>
                <a:ea typeface="Calibri" pitchFamily="34" charset="-122"/>
                <a:cs typeface="Calibri" pitchFamily="34" charset="-120"/>
              </a:rPr>
              <a:t>TPS est la meilleure méthode globalement</a:t>
            </a:r>
            <a:pPr indent="0" marL="0">
              <a:buNone/>
            </a:pPr>
            <a:r>
              <a:rPr lang="en-US" sz="1300" dirty="0">
                <a:solidFill>
                  <a:srgbClr val="1B1F3A"/>
                </a:solidFill>
                <a:latin typeface="Calibri" pitchFamily="34" charset="0"/>
                <a:ea typeface="Calibri" pitchFamily="34" charset="-122"/>
                <a:cs typeface="Calibri" pitchFamily="34" charset="-120"/>
              </a:rPr>
              <a:t> — suivie de très près par IDW et KED. Pour les jeux de données plus petits, </a:t>
            </a:r>
            <a:pPr indent="0" marL="0">
              <a:buNone/>
            </a:pPr>
            <a:r>
              <a:rPr lang="en-US" sz="1300" b="1" dirty="0">
                <a:solidFill>
                  <a:srgbClr val="6B0F1A"/>
                </a:solidFill>
                <a:latin typeface="Calibri" pitchFamily="34" charset="0"/>
                <a:ea typeface="Calibri" pitchFamily="34" charset="-122"/>
                <a:cs typeface="Calibri" pitchFamily="34" charset="-120"/>
              </a:rPr>
              <a:t>TPS est recommandé</a:t>
            </a:r>
            <a:pPr indent="0" marL="0">
              <a:buNone/>
            </a:pPr>
            <a:r>
              <a:rPr lang="en-US" sz="1300" dirty="0">
                <a:solidFill>
                  <a:srgbClr val="1B1F3A"/>
                </a:solidFill>
                <a:latin typeface="Calibri" pitchFamily="34" charset="0"/>
                <a:ea typeface="Calibri" pitchFamily="34" charset="-122"/>
                <a:cs typeface="Calibri" pitchFamily="34" charset="-120"/>
              </a:rPr>
              <a:t> car le krigeage devient instable lorsque le variogramme est mal ajusté.</a:t>
            </a:r>
            <a:endParaRPr lang="en-US" sz="1300" dirty="0"/>
          </a:p>
        </p:txBody>
      </p:sp>
      <p:sp>
        <p:nvSpPr>
          <p:cNvPr id="11" name="Text 7"/>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0B3954"/>
          </a:solidFill>
          <a:ln w="12700">
            <a:solidFill>
              <a:srgbClr val="0B3954"/>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Simulations HYDRUS-1D — économie d'eau</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Quand on respecte la variabilité, on irrigue beaucoup moins</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6" name="Shape 4"/>
          <p:cNvSpPr/>
          <p:nvPr/>
        </p:nvSpPr>
        <p:spPr>
          <a:xfrm>
            <a:off x="502920" y="1280160"/>
            <a:ext cx="3840480" cy="3246120"/>
          </a:xfrm>
          <a:prstGeom prst="rect">
            <a:avLst/>
          </a:prstGeom>
          <a:solidFill>
            <a:srgbClr val="0B3954"/>
          </a:solidFill>
          <a:ln w="12700">
            <a:solidFill>
              <a:srgbClr val="0B3954"/>
            </a:solidFill>
            <a:prstDash val="solid"/>
          </a:ln>
          <a:effectLst>
            <a:outerShdw sx="100000" sy="100000" kx="0" ky="0" algn="bl" rotWithShape="0" blurRad="101600" dist="25400" dir="5400000">
              <a:srgbClr val="000000">
                <a:alpha val="10000"/>
              </a:srgbClr>
            </a:outerShdw>
          </a:effectLst>
        </p:spPr>
      </p:sp>
      <p:pic>
        <p:nvPicPr>
          <p:cNvPr id="7" name="Image 0" descr="preencoded.png">    </p:cNvPr>
          <p:cNvPicPr>
            <a:picLocks noChangeAspect="1"/>
          </p:cNvPicPr>
          <p:nvPr/>
        </p:nvPicPr>
        <p:blipFill>
          <a:blip r:embed="rId1"/>
          <a:stretch>
            <a:fillRect/>
          </a:stretch>
        </p:blipFill>
        <p:spPr>
          <a:xfrm>
            <a:off x="685800" y="1463040"/>
            <a:ext cx="502920" cy="502920"/>
          </a:xfrm>
          <a:prstGeom prst="rect">
            <a:avLst/>
          </a:prstGeom>
        </p:spPr>
      </p:pic>
      <p:sp>
        <p:nvSpPr>
          <p:cNvPr id="8" name="Text 5"/>
          <p:cNvSpPr/>
          <p:nvPr/>
        </p:nvSpPr>
        <p:spPr>
          <a:xfrm>
            <a:off x="1325880" y="1481328"/>
            <a:ext cx="2743200" cy="365760"/>
          </a:xfrm>
          <a:prstGeom prst="rect">
            <a:avLst/>
          </a:prstGeom>
          <a:noFill/>
          <a:ln/>
        </p:spPr>
        <p:txBody>
          <a:bodyPr wrap="square" lIns="0" tIns="0" rIns="0" bIns="0" rtlCol="0" anchor="ctr"/>
          <a:lstStyle/>
          <a:p>
            <a:pPr indent="0" marL="0">
              <a:buNone/>
            </a:pPr>
            <a:r>
              <a:rPr lang="en-US" sz="1400" spc="200" kern="0" dirty="0">
                <a:solidFill>
                  <a:srgbClr val="F5EFE6"/>
                </a:solidFill>
                <a:latin typeface="Calibri" pitchFamily="34" charset="0"/>
                <a:ea typeface="Calibri" pitchFamily="34" charset="-122"/>
                <a:cs typeface="Calibri" pitchFamily="34" charset="-120"/>
              </a:rPr>
              <a:t>Économie d'eau</a:t>
            </a:r>
            <a:endParaRPr lang="en-US" sz="1400" dirty="0"/>
          </a:p>
        </p:txBody>
      </p:sp>
      <p:sp>
        <p:nvSpPr>
          <p:cNvPr id="9" name="Text 6"/>
          <p:cNvSpPr/>
          <p:nvPr/>
        </p:nvSpPr>
        <p:spPr>
          <a:xfrm>
            <a:off x="685800" y="1965960"/>
            <a:ext cx="3520440" cy="1417320"/>
          </a:xfrm>
          <a:prstGeom prst="rect">
            <a:avLst/>
          </a:prstGeom>
          <a:noFill/>
          <a:ln/>
        </p:spPr>
        <p:txBody>
          <a:bodyPr wrap="square" lIns="0" tIns="0" rIns="0" bIns="0" rtlCol="0" anchor="ctr"/>
          <a:lstStyle/>
          <a:p>
            <a:pPr algn="ctr" indent="0" marL="0">
              <a:buNone/>
            </a:pPr>
            <a:r>
              <a:rPr lang="en-US" sz="9600" b="1" dirty="0">
                <a:solidFill>
                  <a:srgbClr val="FFFFFF"/>
                </a:solidFill>
                <a:latin typeface="Calibri" pitchFamily="34" charset="0"/>
                <a:ea typeface="Calibri" pitchFamily="34" charset="-122"/>
                <a:cs typeface="Calibri" pitchFamily="34" charset="-120"/>
              </a:rPr>
              <a:t>−75 %</a:t>
            </a:r>
            <a:endParaRPr lang="en-US" sz="9600" dirty="0"/>
          </a:p>
        </p:txBody>
      </p:sp>
      <p:sp>
        <p:nvSpPr>
          <p:cNvPr id="10" name="Text 7"/>
          <p:cNvSpPr/>
          <p:nvPr/>
        </p:nvSpPr>
        <p:spPr>
          <a:xfrm>
            <a:off x="685800" y="3474720"/>
            <a:ext cx="3520440" cy="960120"/>
          </a:xfrm>
          <a:prstGeom prst="rect">
            <a:avLst/>
          </a:prstGeom>
          <a:noFill/>
          <a:ln/>
        </p:spPr>
        <p:txBody>
          <a:bodyPr wrap="square" lIns="0" tIns="0" rIns="0" bIns="0" rtlCol="0" anchor="ctr"/>
          <a:lstStyle/>
          <a:p>
            <a:pPr algn="ctr" indent="0" marL="0">
              <a:buNone/>
            </a:pPr>
            <a:r>
              <a:rPr lang="en-US" sz="1200" i="1" dirty="0">
                <a:solidFill>
                  <a:srgbClr val="F5EFE6"/>
                </a:solidFill>
                <a:latin typeface="Calibri" pitchFamily="34" charset="0"/>
                <a:ea typeface="Calibri" pitchFamily="34" charset="-122"/>
                <a:cs typeface="Calibri" pitchFamily="34" charset="-120"/>
              </a:rPr>
              <a:t>D'irrigation potentielle si la stratégie tient compte des cartes de propriétés hydrauliques.</a:t>
            </a:r>
            <a:endParaRPr lang="en-US" sz="1200" dirty="0"/>
          </a:p>
        </p:txBody>
      </p:sp>
      <p:sp>
        <p:nvSpPr>
          <p:cNvPr id="11" name="Text 8"/>
          <p:cNvSpPr/>
          <p:nvPr/>
        </p:nvSpPr>
        <p:spPr>
          <a:xfrm>
            <a:off x="4617720" y="1280160"/>
            <a:ext cx="4114800" cy="365760"/>
          </a:xfrm>
          <a:prstGeom prst="rect">
            <a:avLst/>
          </a:prstGeom>
          <a:noFill/>
          <a:ln/>
        </p:spPr>
        <p:txBody>
          <a:bodyPr wrap="square" lIns="0" tIns="0" rIns="0" bIns="0" rtlCol="0" anchor="ctr"/>
          <a:lstStyle/>
          <a:p>
            <a:pPr indent="0" marL="0">
              <a:buNone/>
            </a:pPr>
            <a:r>
              <a:rPr lang="en-US" sz="1300" b="1" dirty="0">
                <a:solidFill>
                  <a:srgbClr val="0B3954"/>
                </a:solidFill>
                <a:latin typeface="Calibri" pitchFamily="34" charset="0"/>
                <a:ea typeface="Calibri" pitchFamily="34" charset="-122"/>
                <a:cs typeface="Calibri" pitchFamily="34" charset="-120"/>
              </a:rPr>
              <a:t>Comment cette économie est-elle obtenue?</a:t>
            </a:r>
            <a:endParaRPr lang="en-US" sz="1300" dirty="0"/>
          </a:p>
        </p:txBody>
      </p:sp>
      <p:sp>
        <p:nvSpPr>
          <p:cNvPr id="12" name="Shape 9"/>
          <p:cNvSpPr/>
          <p:nvPr/>
        </p:nvSpPr>
        <p:spPr>
          <a:xfrm>
            <a:off x="4617720" y="1691640"/>
            <a:ext cx="320040" cy="320040"/>
          </a:xfrm>
          <a:prstGeom prst="ellipse">
            <a:avLst/>
          </a:prstGeom>
          <a:solidFill>
            <a:srgbClr val="6B0F1A"/>
          </a:solidFill>
          <a:ln w="12700">
            <a:solidFill>
              <a:srgbClr val="6B0F1A"/>
            </a:solidFill>
            <a:prstDash val="solid"/>
          </a:ln>
        </p:spPr>
      </p:sp>
      <p:sp>
        <p:nvSpPr>
          <p:cNvPr id="13" name="Text 10"/>
          <p:cNvSpPr/>
          <p:nvPr/>
        </p:nvSpPr>
        <p:spPr>
          <a:xfrm>
            <a:off x="4617720" y="1691640"/>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1"/>
          <p:cNvSpPr/>
          <p:nvPr/>
        </p:nvSpPr>
        <p:spPr>
          <a:xfrm>
            <a:off x="5074920" y="1673352"/>
            <a:ext cx="3657600" cy="320040"/>
          </a:xfrm>
          <a:prstGeom prst="rect">
            <a:avLst/>
          </a:prstGeom>
          <a:noFill/>
          <a:ln/>
        </p:spPr>
        <p:txBody>
          <a:bodyPr wrap="square" lIns="0" tIns="0" rIns="0" bIns="0" rtlCol="0" anchor="ctr"/>
          <a:lstStyle/>
          <a:p>
            <a:pPr indent="0" marL="0">
              <a:buNone/>
            </a:pPr>
            <a:r>
              <a:rPr lang="en-US" sz="1200" b="1" dirty="0">
                <a:solidFill>
                  <a:srgbClr val="1B1F3A"/>
                </a:solidFill>
                <a:latin typeface="Calibri" pitchFamily="34" charset="0"/>
                <a:ea typeface="Calibri" pitchFamily="34" charset="-122"/>
                <a:cs typeface="Calibri" pitchFamily="34" charset="-120"/>
              </a:rPr>
              <a:t>Cartes interpolées de Ksat et de rétention</a:t>
            </a:r>
            <a:endParaRPr lang="en-US" sz="1200" dirty="0"/>
          </a:p>
        </p:txBody>
      </p:sp>
      <p:sp>
        <p:nvSpPr>
          <p:cNvPr id="15" name="Text 12"/>
          <p:cNvSpPr/>
          <p:nvPr/>
        </p:nvSpPr>
        <p:spPr>
          <a:xfrm>
            <a:off x="5074920" y="1965960"/>
            <a:ext cx="3657600" cy="365760"/>
          </a:xfrm>
          <a:prstGeom prst="rect">
            <a:avLst/>
          </a:prstGeom>
          <a:noFill/>
          <a:ln/>
        </p:spPr>
        <p:txBody>
          <a:bodyPr wrap="square" lIns="0" tIns="0" rIns="0" bIns="0" rtlCol="0" anchor="ctr"/>
          <a:lstStyle/>
          <a:p>
            <a:pPr indent="0" marL="0">
              <a:buNone/>
            </a:pPr>
            <a:r>
              <a:rPr lang="en-US" sz="1050" dirty="0">
                <a:solidFill>
                  <a:srgbClr val="55657A"/>
                </a:solidFill>
                <a:latin typeface="Calibri" pitchFamily="34" charset="0"/>
                <a:ea typeface="Calibri" pitchFamily="34" charset="-122"/>
                <a:cs typeface="Calibri" pitchFamily="34" charset="-120"/>
              </a:rPr>
              <a:t>On obtient une distribution spatiale des propriétés hydrauliques au lieu d'une moyenne globale.</a:t>
            </a:r>
            <a:endParaRPr lang="en-US" sz="1050" dirty="0"/>
          </a:p>
        </p:txBody>
      </p:sp>
      <p:sp>
        <p:nvSpPr>
          <p:cNvPr id="16" name="Shape 13"/>
          <p:cNvSpPr/>
          <p:nvPr/>
        </p:nvSpPr>
        <p:spPr>
          <a:xfrm>
            <a:off x="4617720" y="2404872"/>
            <a:ext cx="320040" cy="320040"/>
          </a:xfrm>
          <a:prstGeom prst="ellipse">
            <a:avLst/>
          </a:prstGeom>
          <a:solidFill>
            <a:srgbClr val="6B0F1A"/>
          </a:solidFill>
          <a:ln w="12700">
            <a:solidFill>
              <a:srgbClr val="6B0F1A"/>
            </a:solidFill>
            <a:prstDash val="solid"/>
          </a:ln>
        </p:spPr>
      </p:sp>
      <p:sp>
        <p:nvSpPr>
          <p:cNvPr id="17" name="Text 14"/>
          <p:cNvSpPr/>
          <p:nvPr/>
        </p:nvSpPr>
        <p:spPr>
          <a:xfrm>
            <a:off x="4617720" y="2404872"/>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5"/>
          <p:cNvSpPr/>
          <p:nvPr/>
        </p:nvSpPr>
        <p:spPr>
          <a:xfrm>
            <a:off x="5074920" y="2386584"/>
            <a:ext cx="3657600" cy="320040"/>
          </a:xfrm>
          <a:prstGeom prst="rect">
            <a:avLst/>
          </a:prstGeom>
          <a:noFill/>
          <a:ln/>
        </p:spPr>
        <p:txBody>
          <a:bodyPr wrap="square" lIns="0" tIns="0" rIns="0" bIns="0" rtlCol="0" anchor="ctr"/>
          <a:lstStyle/>
          <a:p>
            <a:pPr indent="0" marL="0">
              <a:buNone/>
            </a:pPr>
            <a:r>
              <a:rPr lang="en-US" sz="1200" b="1" dirty="0">
                <a:solidFill>
                  <a:srgbClr val="1B1F3A"/>
                </a:solidFill>
                <a:latin typeface="Calibri" pitchFamily="34" charset="0"/>
                <a:ea typeface="Calibri" pitchFamily="34" charset="-122"/>
                <a:cs typeface="Calibri" pitchFamily="34" charset="-120"/>
              </a:rPr>
              <a:t>Modèle HYDRUS-1D zone par zone</a:t>
            </a:r>
            <a:endParaRPr lang="en-US" sz="1200" dirty="0"/>
          </a:p>
        </p:txBody>
      </p:sp>
      <p:sp>
        <p:nvSpPr>
          <p:cNvPr id="19" name="Text 16"/>
          <p:cNvSpPr/>
          <p:nvPr/>
        </p:nvSpPr>
        <p:spPr>
          <a:xfrm>
            <a:off x="5074920" y="2679192"/>
            <a:ext cx="3657600" cy="365760"/>
          </a:xfrm>
          <a:prstGeom prst="rect">
            <a:avLst/>
          </a:prstGeom>
          <a:noFill/>
          <a:ln/>
        </p:spPr>
        <p:txBody>
          <a:bodyPr wrap="square" lIns="0" tIns="0" rIns="0" bIns="0" rtlCol="0" anchor="ctr"/>
          <a:lstStyle/>
          <a:p>
            <a:pPr indent="0" marL="0">
              <a:buNone/>
            </a:pPr>
            <a:r>
              <a:rPr lang="en-US" sz="1050" dirty="0">
                <a:solidFill>
                  <a:srgbClr val="55657A"/>
                </a:solidFill>
                <a:latin typeface="Calibri" pitchFamily="34" charset="0"/>
                <a:ea typeface="Calibri" pitchFamily="34" charset="-122"/>
                <a:cs typeface="Calibri" pitchFamily="34" charset="-120"/>
              </a:rPr>
              <a:t>On simule l'écoulement non saturé pour chaque pixel/zone identifié.</a:t>
            </a:r>
            <a:endParaRPr lang="en-US" sz="1050" dirty="0"/>
          </a:p>
        </p:txBody>
      </p:sp>
      <p:sp>
        <p:nvSpPr>
          <p:cNvPr id="20" name="Shape 17"/>
          <p:cNvSpPr/>
          <p:nvPr/>
        </p:nvSpPr>
        <p:spPr>
          <a:xfrm>
            <a:off x="4617720" y="3118104"/>
            <a:ext cx="320040" cy="320040"/>
          </a:xfrm>
          <a:prstGeom prst="ellipse">
            <a:avLst/>
          </a:prstGeom>
          <a:solidFill>
            <a:srgbClr val="6B0F1A"/>
          </a:solidFill>
          <a:ln w="12700">
            <a:solidFill>
              <a:srgbClr val="6B0F1A"/>
            </a:solidFill>
            <a:prstDash val="solid"/>
          </a:ln>
        </p:spPr>
      </p:sp>
      <p:sp>
        <p:nvSpPr>
          <p:cNvPr id="21" name="Text 18"/>
          <p:cNvSpPr/>
          <p:nvPr/>
        </p:nvSpPr>
        <p:spPr>
          <a:xfrm>
            <a:off x="4617720" y="3118104"/>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9"/>
          <p:cNvSpPr/>
          <p:nvPr/>
        </p:nvSpPr>
        <p:spPr>
          <a:xfrm>
            <a:off x="5074920" y="3099816"/>
            <a:ext cx="3657600" cy="320040"/>
          </a:xfrm>
          <a:prstGeom prst="rect">
            <a:avLst/>
          </a:prstGeom>
          <a:noFill/>
          <a:ln/>
        </p:spPr>
        <p:txBody>
          <a:bodyPr wrap="square" lIns="0" tIns="0" rIns="0" bIns="0" rtlCol="0" anchor="ctr"/>
          <a:lstStyle/>
          <a:p>
            <a:pPr indent="0" marL="0">
              <a:buNone/>
            </a:pPr>
            <a:r>
              <a:rPr lang="en-US" sz="1200" b="1" dirty="0">
                <a:solidFill>
                  <a:srgbClr val="1B1F3A"/>
                </a:solidFill>
                <a:latin typeface="Calibri" pitchFamily="34" charset="0"/>
                <a:ea typeface="Calibri" pitchFamily="34" charset="-122"/>
                <a:cs typeface="Calibri" pitchFamily="34" charset="-120"/>
              </a:rPr>
              <a:t>Calendrier d'irrigation différencié</a:t>
            </a:r>
            <a:endParaRPr lang="en-US" sz="1200" dirty="0"/>
          </a:p>
        </p:txBody>
      </p:sp>
      <p:sp>
        <p:nvSpPr>
          <p:cNvPr id="23" name="Text 20"/>
          <p:cNvSpPr/>
          <p:nvPr/>
        </p:nvSpPr>
        <p:spPr>
          <a:xfrm>
            <a:off x="5074920" y="3392424"/>
            <a:ext cx="3657600" cy="365760"/>
          </a:xfrm>
          <a:prstGeom prst="rect">
            <a:avLst/>
          </a:prstGeom>
          <a:noFill/>
          <a:ln/>
        </p:spPr>
        <p:txBody>
          <a:bodyPr wrap="square" lIns="0" tIns="0" rIns="0" bIns="0" rtlCol="0" anchor="ctr"/>
          <a:lstStyle/>
          <a:p>
            <a:pPr indent="0" marL="0">
              <a:buNone/>
            </a:pPr>
            <a:r>
              <a:rPr lang="en-US" sz="1050" dirty="0">
                <a:solidFill>
                  <a:srgbClr val="55657A"/>
                </a:solidFill>
                <a:latin typeface="Calibri" pitchFamily="34" charset="0"/>
                <a:ea typeface="Calibri" pitchFamily="34" charset="-122"/>
                <a:cs typeface="Calibri" pitchFamily="34" charset="-120"/>
              </a:rPr>
              <a:t>On n'irrigue que les zones réellement déficitaires, à la dose nécessaire.</a:t>
            </a:r>
            <a:endParaRPr lang="en-US" sz="1050" dirty="0"/>
          </a:p>
        </p:txBody>
      </p:sp>
      <p:sp>
        <p:nvSpPr>
          <p:cNvPr id="24" name="Shape 21"/>
          <p:cNvSpPr/>
          <p:nvPr/>
        </p:nvSpPr>
        <p:spPr>
          <a:xfrm>
            <a:off x="4617720" y="3831336"/>
            <a:ext cx="320040" cy="320040"/>
          </a:xfrm>
          <a:prstGeom prst="ellipse">
            <a:avLst/>
          </a:prstGeom>
          <a:solidFill>
            <a:srgbClr val="6B0F1A"/>
          </a:solidFill>
          <a:ln w="12700">
            <a:solidFill>
              <a:srgbClr val="6B0F1A"/>
            </a:solidFill>
            <a:prstDash val="solid"/>
          </a:ln>
        </p:spPr>
      </p:sp>
      <p:sp>
        <p:nvSpPr>
          <p:cNvPr id="25" name="Text 22"/>
          <p:cNvSpPr/>
          <p:nvPr/>
        </p:nvSpPr>
        <p:spPr>
          <a:xfrm>
            <a:off x="4617720" y="3831336"/>
            <a:ext cx="320040" cy="3200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p:nvPr/>
        </p:nvSpPr>
        <p:spPr>
          <a:xfrm>
            <a:off x="5074920" y="3813048"/>
            <a:ext cx="3657600" cy="320040"/>
          </a:xfrm>
          <a:prstGeom prst="rect">
            <a:avLst/>
          </a:prstGeom>
          <a:noFill/>
          <a:ln/>
        </p:spPr>
        <p:txBody>
          <a:bodyPr wrap="square" lIns="0" tIns="0" rIns="0" bIns="0" rtlCol="0" anchor="ctr"/>
          <a:lstStyle/>
          <a:p>
            <a:pPr indent="0" marL="0">
              <a:buNone/>
            </a:pPr>
            <a:r>
              <a:rPr lang="en-US" sz="1200" b="1" dirty="0">
                <a:solidFill>
                  <a:srgbClr val="1B1F3A"/>
                </a:solidFill>
                <a:latin typeface="Calibri" pitchFamily="34" charset="0"/>
                <a:ea typeface="Calibri" pitchFamily="34" charset="-122"/>
                <a:cs typeface="Calibri" pitchFamily="34" charset="-120"/>
              </a:rPr>
              <a:t>Drainage contrôlé tout aussi important</a:t>
            </a:r>
            <a:endParaRPr lang="en-US" sz="1200" dirty="0"/>
          </a:p>
        </p:txBody>
      </p:sp>
      <p:sp>
        <p:nvSpPr>
          <p:cNvPr id="27" name="Text 24"/>
          <p:cNvSpPr/>
          <p:nvPr/>
        </p:nvSpPr>
        <p:spPr>
          <a:xfrm>
            <a:off x="5074920" y="4105656"/>
            <a:ext cx="3657600" cy="365760"/>
          </a:xfrm>
          <a:prstGeom prst="rect">
            <a:avLst/>
          </a:prstGeom>
          <a:noFill/>
          <a:ln/>
        </p:spPr>
        <p:txBody>
          <a:bodyPr wrap="square" lIns="0" tIns="0" rIns="0" bIns="0" rtlCol="0" anchor="ctr"/>
          <a:lstStyle/>
          <a:p>
            <a:pPr indent="0" marL="0">
              <a:buNone/>
            </a:pPr>
            <a:r>
              <a:rPr lang="en-US" sz="1050" dirty="0">
                <a:solidFill>
                  <a:srgbClr val="55657A"/>
                </a:solidFill>
                <a:latin typeface="Calibri" pitchFamily="34" charset="0"/>
                <a:ea typeface="Calibri" pitchFamily="34" charset="-122"/>
                <a:cs typeface="Calibri" pitchFamily="34" charset="-120"/>
              </a:rPr>
              <a:t>L'évacuation maîtrisée de l'eau est aussi cruciale que l'apport.</a:t>
            </a:r>
            <a:endParaRPr lang="en-US" sz="1050" dirty="0"/>
          </a:p>
        </p:txBody>
      </p:sp>
      <p:sp>
        <p:nvSpPr>
          <p:cNvPr id="28" name="Text 25"/>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28600" cy="5143500"/>
          </a:xfrm>
          <a:prstGeom prst="rect">
            <a:avLst/>
          </a:prstGeom>
          <a:solidFill>
            <a:srgbClr val="2D5016"/>
          </a:solidFill>
          <a:ln w="12700">
            <a:solidFill>
              <a:srgbClr val="2D5016"/>
            </a:solidFill>
            <a:prstDash val="solid"/>
          </a:ln>
        </p:spPr>
      </p:sp>
      <p:sp>
        <p:nvSpPr>
          <p:cNvPr id="3" name="Text 1"/>
          <p:cNvSpPr/>
          <p:nvPr/>
        </p:nvSpPr>
        <p:spPr>
          <a:xfrm>
            <a:off x="502920" y="256032"/>
            <a:ext cx="8138160" cy="502920"/>
          </a:xfrm>
          <a:prstGeom prst="rect">
            <a:avLst/>
          </a:prstGeom>
          <a:noFill/>
          <a:ln/>
        </p:spPr>
        <p:txBody>
          <a:bodyPr wrap="square" lIns="0" tIns="0" rIns="0" bIns="0" rtlCol="0" anchor="ctr"/>
          <a:lstStyle/>
          <a:p>
            <a:pPr indent="0" marL="0">
              <a:buNone/>
            </a:pPr>
            <a:r>
              <a:rPr lang="en-US" sz="2600" b="1" dirty="0">
                <a:solidFill>
                  <a:srgbClr val="1B1F3A"/>
                </a:solidFill>
                <a:latin typeface="Calibri" pitchFamily="34" charset="0"/>
                <a:ea typeface="Calibri" pitchFamily="34" charset="-122"/>
                <a:cs typeface="Calibri" pitchFamily="34" charset="-120"/>
              </a:rPr>
              <a:t>Vers une irrigation par zones</a:t>
            </a:r>
            <a:endParaRPr lang="en-US" sz="2600" dirty="0"/>
          </a:p>
        </p:txBody>
      </p:sp>
      <p:sp>
        <p:nvSpPr>
          <p:cNvPr id="4" name="Text 2"/>
          <p:cNvSpPr/>
          <p:nvPr/>
        </p:nvSpPr>
        <p:spPr>
          <a:xfrm>
            <a:off x="502920" y="758952"/>
            <a:ext cx="8138160" cy="292608"/>
          </a:xfrm>
          <a:prstGeom prst="rect">
            <a:avLst/>
          </a:prstGeom>
          <a:noFill/>
          <a:ln/>
        </p:spPr>
        <p:txBody>
          <a:bodyPr wrap="square" lIns="0" tIns="0" rIns="0" bIns="0" rtlCol="0" anchor="ctr"/>
          <a:lstStyle/>
          <a:p>
            <a:pPr indent="0" marL="0">
              <a:buNone/>
            </a:pPr>
            <a:r>
              <a:rPr lang="en-US" sz="1200" i="1" dirty="0">
                <a:solidFill>
                  <a:srgbClr val="55657A"/>
                </a:solidFill>
                <a:latin typeface="Calibri" pitchFamily="34" charset="0"/>
                <a:ea typeface="Calibri" pitchFamily="34" charset="-122"/>
                <a:cs typeface="Calibri" pitchFamily="34" charset="-120"/>
              </a:rPr>
              <a:t>Recommandation pratique des auteurs</a:t>
            </a:r>
            <a:endParaRPr lang="en-US" sz="1200" dirty="0"/>
          </a:p>
        </p:txBody>
      </p:sp>
      <p:sp>
        <p:nvSpPr>
          <p:cNvPr id="5" name="Text 3"/>
          <p:cNvSpPr/>
          <p:nvPr/>
        </p:nvSpPr>
        <p:spPr>
          <a:xfrm>
            <a:off x="457200" y="4846320"/>
            <a:ext cx="6858000" cy="228600"/>
          </a:xfrm>
          <a:prstGeom prst="rect">
            <a:avLst/>
          </a:prstGeom>
          <a:noFill/>
          <a:ln/>
        </p:spPr>
        <p:txBody>
          <a:bodyPr wrap="square" lIns="0" tIns="0" rIns="0" bIns="0" rtlCol="0" anchor="ctr"/>
          <a:lstStyle/>
          <a:p>
            <a:pPr indent="0" marL="0">
              <a:buNone/>
            </a:pPr>
            <a:r>
              <a:rPr lang="en-US" sz="900" i="1" dirty="0">
                <a:solidFill>
                  <a:srgbClr val="55657A"/>
                </a:solidFill>
                <a:latin typeface="Calibri" pitchFamily="34" charset="0"/>
                <a:ea typeface="Calibri" pitchFamily="34" charset="-122"/>
                <a:cs typeface="Calibri" pitchFamily="34" charset="-120"/>
              </a:rPr>
              <a:t>Gumiere, Lafond, Hallema, Périard, Caron, Gallichand — Biosystems Engineering (2014)</a:t>
            </a:r>
            <a:endParaRPr lang="en-US" sz="900" dirty="0"/>
          </a:p>
        </p:txBody>
      </p:sp>
      <p:sp>
        <p:nvSpPr>
          <p:cNvPr id="6" name="Shape 4"/>
          <p:cNvSpPr/>
          <p:nvPr/>
        </p:nvSpPr>
        <p:spPr>
          <a:xfrm>
            <a:off x="502920" y="1280160"/>
            <a:ext cx="4846320" cy="3246120"/>
          </a:xfrm>
          <a:prstGeom prst="rect">
            <a:avLst/>
          </a:prstGeom>
          <a:solidFill>
            <a:srgbClr val="FAFAF7"/>
          </a:solidFill>
          <a:ln w="12700">
            <a:solidFill>
              <a:srgbClr val="DDD6CB"/>
            </a:solidFill>
            <a:prstDash val="solid"/>
          </a:ln>
        </p:spPr>
      </p:sp>
      <p:sp>
        <p:nvSpPr>
          <p:cNvPr id="7" name="Text 5"/>
          <p:cNvSpPr/>
          <p:nvPr/>
        </p:nvSpPr>
        <p:spPr>
          <a:xfrm>
            <a:off x="594360" y="1371600"/>
            <a:ext cx="4663440" cy="274320"/>
          </a:xfrm>
          <a:prstGeom prst="rect">
            <a:avLst/>
          </a:prstGeom>
          <a:noFill/>
          <a:ln/>
        </p:spPr>
        <p:txBody>
          <a:bodyPr wrap="square" lIns="0" tIns="0" rIns="0" bIns="0" rtlCol="0" anchor="ctr"/>
          <a:lstStyle/>
          <a:p>
            <a:pPr indent="0" marL="0">
              <a:buNone/>
            </a:pPr>
            <a:r>
              <a:rPr lang="en-US" sz="1100" b="1" dirty="0">
                <a:solidFill>
                  <a:srgbClr val="2D5016"/>
                </a:solidFill>
                <a:latin typeface="Calibri" pitchFamily="34" charset="0"/>
                <a:ea typeface="Calibri" pitchFamily="34" charset="-122"/>
                <a:cs typeface="Calibri" pitchFamily="34" charset="-120"/>
              </a:rPr>
              <a:t>Champ de canneberges — partition en 2 zones</a:t>
            </a:r>
            <a:endParaRPr lang="en-US" sz="1100" dirty="0"/>
          </a:p>
        </p:txBody>
      </p:sp>
      <p:sp>
        <p:nvSpPr>
          <p:cNvPr id="8" name="Shape 6"/>
          <p:cNvSpPr/>
          <p:nvPr/>
        </p:nvSpPr>
        <p:spPr>
          <a:xfrm>
            <a:off x="777240" y="1783080"/>
            <a:ext cx="4297680" cy="1234440"/>
          </a:xfrm>
          <a:prstGeom prst="rect">
            <a:avLst/>
          </a:prstGeom>
          <a:solidFill>
            <a:srgbClr val="D4A574"/>
          </a:solidFill>
          <a:ln w="12700">
            <a:solidFill>
              <a:srgbClr val="D4A574"/>
            </a:solidFill>
            <a:prstDash val="solid"/>
          </a:ln>
        </p:spPr>
      </p:sp>
      <p:sp>
        <p:nvSpPr>
          <p:cNvPr id="9" name="Text 7"/>
          <p:cNvSpPr/>
          <p:nvPr/>
        </p:nvSpPr>
        <p:spPr>
          <a:xfrm>
            <a:off x="914400" y="1874520"/>
            <a:ext cx="4023360" cy="274320"/>
          </a:xfrm>
          <a:prstGeom prst="rect">
            <a:avLst/>
          </a:prstGeom>
          <a:noFill/>
          <a:ln/>
        </p:spPr>
        <p:txBody>
          <a:bodyPr wrap="square" lIns="0" tIns="0" rIns="0" bIns="0" rtlCol="0" anchor="ctr"/>
          <a:lstStyle/>
          <a:p>
            <a:pPr indent="0" marL="0">
              <a:buNone/>
            </a:pPr>
            <a:r>
              <a:rPr lang="en-US" sz="1100" b="1" dirty="0">
                <a:solidFill>
                  <a:srgbClr val="1B1F3A"/>
                </a:solidFill>
                <a:latin typeface="Calibri" pitchFamily="34" charset="0"/>
                <a:ea typeface="Calibri" pitchFamily="34" charset="-122"/>
                <a:cs typeface="Calibri" pitchFamily="34" charset="-120"/>
              </a:rPr>
              <a:t>Zone 1 — Ksat élevée, drainage rapide</a:t>
            </a:r>
            <a:endParaRPr lang="en-US" sz="1100" dirty="0"/>
          </a:p>
        </p:txBody>
      </p:sp>
      <p:sp>
        <p:nvSpPr>
          <p:cNvPr id="10" name="Text 8"/>
          <p:cNvSpPr/>
          <p:nvPr/>
        </p:nvSpPr>
        <p:spPr>
          <a:xfrm>
            <a:off x="914400" y="2194560"/>
            <a:ext cx="4023360" cy="777240"/>
          </a:xfrm>
          <a:prstGeom prst="rect">
            <a:avLst/>
          </a:prstGeom>
          <a:noFill/>
          <a:ln/>
        </p:spPr>
        <p:txBody>
          <a:bodyPr wrap="square" lIns="0" tIns="0" rIns="0" bIns="0" rtlCol="0" anchor="ctr"/>
          <a:lstStyle/>
          <a:p>
            <a:pPr indent="0" marL="0">
              <a:buNone/>
            </a:pPr>
            <a:r>
              <a:rPr lang="en-US" sz="1100" dirty="0">
                <a:solidFill>
                  <a:srgbClr val="1B1F3A"/>
                </a:solidFill>
                <a:latin typeface="Calibri" pitchFamily="34" charset="0"/>
                <a:ea typeface="Calibri" pitchFamily="34" charset="-122"/>
                <a:cs typeface="Calibri" pitchFamily="34" charset="-120"/>
              </a:rPr>
              <a:t>Irrigation plus fréquente / dose ajustée à la baisse selon la rétention locale.</a:t>
            </a:r>
            <a:endParaRPr lang="en-US" sz="1100" dirty="0"/>
          </a:p>
        </p:txBody>
      </p:sp>
      <p:sp>
        <p:nvSpPr>
          <p:cNvPr id="11" name="Shape 9"/>
          <p:cNvSpPr/>
          <p:nvPr/>
        </p:nvSpPr>
        <p:spPr>
          <a:xfrm>
            <a:off x="777240" y="3108960"/>
            <a:ext cx="4297680" cy="1280160"/>
          </a:xfrm>
          <a:prstGeom prst="rect">
            <a:avLst/>
          </a:prstGeom>
          <a:solidFill>
            <a:srgbClr val="2D5016"/>
          </a:solidFill>
          <a:ln w="12700">
            <a:solidFill>
              <a:srgbClr val="2D5016"/>
            </a:solidFill>
            <a:prstDash val="solid"/>
          </a:ln>
        </p:spPr>
      </p:sp>
      <p:sp>
        <p:nvSpPr>
          <p:cNvPr id="12" name="Text 10"/>
          <p:cNvSpPr/>
          <p:nvPr/>
        </p:nvSpPr>
        <p:spPr>
          <a:xfrm>
            <a:off x="914400" y="3200400"/>
            <a:ext cx="4023360" cy="274320"/>
          </a:xfrm>
          <a:prstGeom prst="rect">
            <a:avLst/>
          </a:prstGeom>
          <a:noFill/>
          <a:ln/>
        </p:spPr>
        <p:txBody>
          <a:bodyPr wrap="square" lIns="0" tIns="0" rIns="0" bIns="0" rtlCol="0" anchor="ctr"/>
          <a:lstStyle/>
          <a:p>
            <a:pPr indent="0" marL="0">
              <a:buNone/>
            </a:pPr>
            <a:r>
              <a:rPr lang="en-US" sz="1100" b="1" dirty="0">
                <a:solidFill>
                  <a:srgbClr val="F5EFE6"/>
                </a:solidFill>
                <a:latin typeface="Calibri" pitchFamily="34" charset="0"/>
                <a:ea typeface="Calibri" pitchFamily="34" charset="-122"/>
                <a:cs typeface="Calibri" pitchFamily="34" charset="-120"/>
              </a:rPr>
              <a:t>Zone 2 — Ksat faible, rétention plus forte</a:t>
            </a:r>
            <a:endParaRPr lang="en-US" sz="1100" dirty="0"/>
          </a:p>
        </p:txBody>
      </p:sp>
      <p:sp>
        <p:nvSpPr>
          <p:cNvPr id="13" name="Text 11"/>
          <p:cNvSpPr/>
          <p:nvPr/>
        </p:nvSpPr>
        <p:spPr>
          <a:xfrm>
            <a:off x="914400" y="3520440"/>
            <a:ext cx="4023360" cy="777240"/>
          </a:xfrm>
          <a:prstGeom prst="rect">
            <a:avLst/>
          </a:prstGeom>
          <a:noFill/>
          <a:ln/>
        </p:spPr>
        <p:txBody>
          <a:bodyPr wrap="square" lIns="0" tIns="0" rIns="0" bIns="0" rtlCol="0" anchor="ctr"/>
          <a:lstStyle/>
          <a:p>
            <a:pPr indent="0" marL="0">
              <a:buNone/>
            </a:pPr>
            <a:r>
              <a:rPr lang="en-US" sz="1100" dirty="0">
                <a:solidFill>
                  <a:srgbClr val="F5EFE6"/>
                </a:solidFill>
                <a:latin typeface="Calibri" pitchFamily="34" charset="0"/>
                <a:ea typeface="Calibri" pitchFamily="34" charset="-122"/>
                <a:cs typeface="Calibri" pitchFamily="34" charset="-120"/>
              </a:rPr>
              <a:t>Irrigation plus espacée / risque d'asphyxie racinaire à surveiller via tensiomètres.</a:t>
            </a:r>
            <a:endParaRPr lang="en-US" sz="1100" dirty="0"/>
          </a:p>
        </p:txBody>
      </p:sp>
      <p:sp>
        <p:nvSpPr>
          <p:cNvPr id="14" name="Shape 12"/>
          <p:cNvSpPr/>
          <p:nvPr/>
        </p:nvSpPr>
        <p:spPr>
          <a:xfrm>
            <a:off x="5577840" y="1280160"/>
            <a:ext cx="3200400" cy="3246120"/>
          </a:xfrm>
          <a:prstGeom prst="rect">
            <a:avLst/>
          </a:prstGeom>
          <a:solidFill>
            <a:srgbClr val="6B0F1A"/>
          </a:solidFill>
          <a:ln w="12700">
            <a:solidFill>
              <a:srgbClr val="6B0F1A"/>
            </a:solidFill>
            <a:prstDash val="solid"/>
          </a:ln>
          <a:effectLst>
            <a:outerShdw sx="100000" sy="100000" kx="0" ky="0" algn="bl" rotWithShape="0" blurRad="101600" dist="25400" dir="5400000">
              <a:srgbClr val="000000">
                <a:alpha val="10000"/>
              </a:srgbClr>
            </a:outerShdw>
          </a:effectLst>
        </p:spPr>
      </p:sp>
      <p:pic>
        <p:nvPicPr>
          <p:cNvPr id="15" name="Image 0" descr="preencoded.png">    </p:cNvPr>
          <p:cNvPicPr>
            <a:picLocks noChangeAspect="1"/>
          </p:cNvPicPr>
          <p:nvPr/>
        </p:nvPicPr>
        <p:blipFill>
          <a:blip r:embed="rId1"/>
          <a:stretch>
            <a:fillRect/>
          </a:stretch>
        </p:blipFill>
        <p:spPr>
          <a:xfrm>
            <a:off x="5760720" y="1463040"/>
            <a:ext cx="411480" cy="411480"/>
          </a:xfrm>
          <a:prstGeom prst="rect">
            <a:avLst/>
          </a:prstGeom>
        </p:spPr>
      </p:pic>
      <p:sp>
        <p:nvSpPr>
          <p:cNvPr id="16" name="Text 13"/>
          <p:cNvSpPr/>
          <p:nvPr/>
        </p:nvSpPr>
        <p:spPr>
          <a:xfrm>
            <a:off x="6263640" y="1463040"/>
            <a:ext cx="237744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Bénéfices attendus</a:t>
            </a:r>
            <a:endParaRPr lang="en-US" sz="1300" dirty="0"/>
          </a:p>
        </p:txBody>
      </p:sp>
      <p:sp>
        <p:nvSpPr>
          <p:cNvPr id="17" name="Text 14"/>
          <p:cNvSpPr/>
          <p:nvPr/>
        </p:nvSpPr>
        <p:spPr>
          <a:xfrm>
            <a:off x="5760720" y="1965960"/>
            <a:ext cx="2926080" cy="251460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Économie d'eau substantielle</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Rendements plus uniformes</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Moins de stress hydrique localisé</a:t>
            </a:r>
            <a:endParaRPr lang="en-US" sz="1200" dirty="0"/>
          </a:p>
          <a:p>
            <a:pPr marL="342900" indent="-342900">
              <a:spcAft>
                <a:spcPts val="600"/>
              </a:spcAft>
              <a:buSzPct val="100000"/>
              <a:buChar char="•"/>
            </a:pPr>
            <a:r>
              <a:rPr lang="en-US" sz="1200" dirty="0">
                <a:solidFill>
                  <a:srgbClr val="FFFFFF"/>
                </a:solidFill>
                <a:latin typeface="Calibri" pitchFamily="34" charset="0"/>
                <a:ea typeface="Calibri" pitchFamily="34" charset="-122"/>
                <a:cs typeface="Calibri" pitchFamily="34" charset="-120"/>
              </a:rPr>
              <a:t>Meilleure adéquation eau ↔ besoin</a:t>
            </a:r>
            <a:endParaRPr lang="en-US" sz="1200" dirty="0"/>
          </a:p>
          <a:p>
            <a:pPr marL="342900" indent="-342900">
              <a:spcAft>
                <a:spcPts val="600"/>
              </a:spcAft>
              <a:buSzPct val="100000"/>
              <a:buChar char="•"/>
            </a:pPr>
            <a:r>
              <a:rPr lang="en-US" sz="1200" dirty="0">
                <a:solidFill>
                  <a:srgbClr val="F5EFE6"/>
                </a:solidFill>
                <a:latin typeface="Calibri" pitchFamily="34" charset="0"/>
                <a:ea typeface="Calibri" pitchFamily="34" charset="-122"/>
                <a:cs typeface="Calibri" pitchFamily="34" charset="-120"/>
              </a:rPr>
              <a:t>Approche extrapolable à d'autres cultures sur sols sableux construits</a:t>
            </a:r>
            <a:endParaRPr lang="en-US" sz="1200" dirty="0"/>
          </a:p>
        </p:txBody>
      </p:sp>
      <p:sp>
        <p:nvSpPr>
          <p:cNvPr id="18" name="Text 15"/>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55657A"/>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6B0F1A"/>
        </a:solidFill>
      </p:bgPr>
    </p:bg>
    <p:spTree>
      <p:nvGrpSpPr>
        <p:cNvPr id="1" name=""/>
        <p:cNvGrpSpPr/>
        <p:nvPr/>
      </p:nvGrpSpPr>
      <p:grpSpPr>
        <a:xfrm>
          <a:off x="0" y="0"/>
          <a:ext cx="0" cy="0"/>
          <a:chOff x="0" y="0"/>
          <a:chExt cx="0" cy="0"/>
        </a:xfrm>
      </p:grpSpPr>
      <p:sp>
        <p:nvSpPr>
          <p:cNvPr id="2" name="Shape 0"/>
          <p:cNvSpPr/>
          <p:nvPr/>
        </p:nvSpPr>
        <p:spPr>
          <a:xfrm>
            <a:off x="-2286000" y="2743200"/>
            <a:ext cx="4572000" cy="4572000"/>
          </a:xfrm>
          <a:prstGeom prst="ellipse">
            <a:avLst/>
          </a:prstGeom>
          <a:solidFill>
            <a:srgbClr val="2D5016">
              <a:alpha val="40000"/>
            </a:srgbClr>
          </a:solidFill>
          <a:ln w="12700">
            <a:solidFill>
              <a:srgbClr val="2D5016">
                <a:alpha val="0"/>
              </a:srgbClr>
            </a:solidFill>
            <a:prstDash val="solid"/>
          </a:ln>
        </p:spPr>
      </p:sp>
      <p:sp>
        <p:nvSpPr>
          <p:cNvPr id="3" name="Shape 1"/>
          <p:cNvSpPr/>
          <p:nvPr/>
        </p:nvSpPr>
        <p:spPr>
          <a:xfrm>
            <a:off x="6858000" y="-1828800"/>
            <a:ext cx="4572000" cy="4572000"/>
          </a:xfrm>
          <a:prstGeom prst="ellipse">
            <a:avLst/>
          </a:prstGeom>
          <a:solidFill>
            <a:srgbClr val="0B3954">
              <a:alpha val="50000"/>
            </a:srgbClr>
          </a:solidFill>
          <a:ln w="12700">
            <a:solidFill>
              <a:srgbClr val="0B3954">
                <a:alpha val="0"/>
              </a:srgbClr>
            </a:solidFill>
            <a:prstDash val="solid"/>
          </a:ln>
        </p:spPr>
      </p:sp>
      <p:sp>
        <p:nvSpPr>
          <p:cNvPr id="4" name="Text 2"/>
          <p:cNvSpPr/>
          <p:nvPr/>
        </p:nvSpPr>
        <p:spPr>
          <a:xfrm>
            <a:off x="548640" y="502920"/>
            <a:ext cx="8046720" cy="50292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Ce qu'il faut retenir</a:t>
            </a:r>
            <a:endParaRPr lang="en-US" sz="2800" dirty="0"/>
          </a:p>
        </p:txBody>
      </p:sp>
      <p:sp>
        <p:nvSpPr>
          <p:cNvPr id="5" name="Shape 3"/>
          <p:cNvSpPr/>
          <p:nvPr/>
        </p:nvSpPr>
        <p:spPr>
          <a:xfrm>
            <a:off x="548640" y="1005840"/>
            <a:ext cx="548640" cy="45720"/>
          </a:xfrm>
          <a:prstGeom prst="rect">
            <a:avLst/>
          </a:prstGeom>
          <a:solidFill>
            <a:srgbClr val="D4A574"/>
          </a:solidFill>
          <a:ln w="12700">
            <a:solidFill>
              <a:srgbClr val="D4A574"/>
            </a:solidFill>
            <a:prstDash val="solid"/>
          </a:ln>
        </p:spPr>
      </p:sp>
      <p:sp>
        <p:nvSpPr>
          <p:cNvPr id="6" name="Shape 4"/>
          <p:cNvSpPr/>
          <p:nvPr/>
        </p:nvSpPr>
        <p:spPr>
          <a:xfrm>
            <a:off x="548640" y="1417320"/>
            <a:ext cx="2606040" cy="2148840"/>
          </a:xfrm>
          <a:prstGeom prst="rect">
            <a:avLst/>
          </a:prstGeom>
          <a:solidFill>
            <a:srgbClr val="FFFFFF">
              <a:alpha val="12000"/>
            </a:srgbClr>
          </a:solidFill>
          <a:ln w="12700">
            <a:solidFill>
              <a:srgbClr val="F5EFE6"/>
            </a:solidFill>
            <a:prstDash val="solid"/>
          </a:ln>
        </p:spPr>
      </p:sp>
      <p:sp>
        <p:nvSpPr>
          <p:cNvPr id="7" name="Shape 5"/>
          <p:cNvSpPr/>
          <p:nvPr/>
        </p:nvSpPr>
        <p:spPr>
          <a:xfrm>
            <a:off x="731520" y="1600200"/>
            <a:ext cx="502920" cy="502920"/>
          </a:xfrm>
          <a:prstGeom prst="ellipse">
            <a:avLst/>
          </a:prstGeom>
          <a:solidFill>
            <a:srgbClr val="D4A574"/>
          </a:solidFill>
          <a:ln w="12700">
            <a:solidFill>
              <a:srgbClr val="D4A574"/>
            </a:solidFill>
            <a:prstDash val="solid"/>
          </a:ln>
        </p:spPr>
      </p:sp>
      <p:sp>
        <p:nvSpPr>
          <p:cNvPr id="8" name="Text 6"/>
          <p:cNvSpPr/>
          <p:nvPr/>
        </p:nvSpPr>
        <p:spPr>
          <a:xfrm>
            <a:off x="731520" y="1600200"/>
            <a:ext cx="502920" cy="502920"/>
          </a:xfrm>
          <a:prstGeom prst="rect">
            <a:avLst/>
          </a:prstGeom>
          <a:noFill/>
          <a:ln/>
        </p:spPr>
        <p:txBody>
          <a:bodyPr wrap="square" lIns="0" tIns="0" rIns="0" bIns="0" rtlCol="0" anchor="ctr"/>
          <a:lstStyle/>
          <a:p>
            <a:pPr algn="ctr" indent="0" marL="0">
              <a:buNone/>
            </a:pPr>
            <a:r>
              <a:rPr lang="en-US" sz="1800" b="1" dirty="0">
                <a:solidFill>
                  <a:srgbClr val="6B0F1A"/>
                </a:solidFill>
                <a:latin typeface="Calibri" pitchFamily="34" charset="0"/>
                <a:ea typeface="Calibri" pitchFamily="34" charset="-122"/>
                <a:cs typeface="Calibri" pitchFamily="34" charset="-120"/>
              </a:rPr>
              <a:t>1</a:t>
            </a:r>
            <a:endParaRPr lang="en-US" sz="1800" dirty="0"/>
          </a:p>
        </p:txBody>
      </p:sp>
      <p:sp>
        <p:nvSpPr>
          <p:cNvPr id="9" name="Text 7"/>
          <p:cNvSpPr/>
          <p:nvPr/>
        </p:nvSpPr>
        <p:spPr>
          <a:xfrm>
            <a:off x="1325880" y="1600200"/>
            <a:ext cx="18288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Hétérogénéité réelle</a:t>
            </a:r>
            <a:endParaRPr lang="en-US" sz="1400" dirty="0"/>
          </a:p>
        </p:txBody>
      </p:sp>
      <p:sp>
        <p:nvSpPr>
          <p:cNvPr id="10" name="Text 8"/>
          <p:cNvSpPr/>
          <p:nvPr/>
        </p:nvSpPr>
        <p:spPr>
          <a:xfrm>
            <a:off x="731520" y="2240280"/>
            <a:ext cx="2331720" cy="1280160"/>
          </a:xfrm>
          <a:prstGeom prst="rect">
            <a:avLst/>
          </a:prstGeom>
          <a:noFill/>
          <a:ln/>
        </p:spPr>
        <p:txBody>
          <a:bodyPr wrap="square" lIns="0" tIns="0" rIns="0" bIns="0" rtlCol="0" anchor="ctr"/>
          <a:lstStyle/>
          <a:p>
            <a:pPr indent="0" marL="0">
              <a:buNone/>
            </a:pPr>
            <a:r>
              <a:rPr lang="en-US" sz="1200" dirty="0">
                <a:solidFill>
                  <a:srgbClr val="F5EFE6"/>
                </a:solidFill>
                <a:latin typeface="Calibri" pitchFamily="34" charset="0"/>
                <a:ea typeface="Calibri" pitchFamily="34" charset="-122"/>
                <a:cs typeface="Calibri" pitchFamily="34" charset="-120"/>
              </a:rPr>
              <a:t>Même les champs « construits » de canneberge présentent une variabilité spatiale forte des propriétés hydrauliques.</a:t>
            </a:r>
            <a:endParaRPr lang="en-US" sz="1200" dirty="0"/>
          </a:p>
        </p:txBody>
      </p:sp>
      <p:sp>
        <p:nvSpPr>
          <p:cNvPr id="11" name="Shape 9"/>
          <p:cNvSpPr/>
          <p:nvPr/>
        </p:nvSpPr>
        <p:spPr>
          <a:xfrm>
            <a:off x="3337560" y="1417320"/>
            <a:ext cx="2606040" cy="2148840"/>
          </a:xfrm>
          <a:prstGeom prst="rect">
            <a:avLst/>
          </a:prstGeom>
          <a:solidFill>
            <a:srgbClr val="FFFFFF">
              <a:alpha val="12000"/>
            </a:srgbClr>
          </a:solidFill>
          <a:ln w="12700">
            <a:solidFill>
              <a:srgbClr val="F5EFE6"/>
            </a:solidFill>
            <a:prstDash val="solid"/>
          </a:ln>
        </p:spPr>
      </p:sp>
      <p:sp>
        <p:nvSpPr>
          <p:cNvPr id="12" name="Shape 10"/>
          <p:cNvSpPr/>
          <p:nvPr/>
        </p:nvSpPr>
        <p:spPr>
          <a:xfrm>
            <a:off x="3520440" y="1600200"/>
            <a:ext cx="502920" cy="502920"/>
          </a:xfrm>
          <a:prstGeom prst="ellipse">
            <a:avLst/>
          </a:prstGeom>
          <a:solidFill>
            <a:srgbClr val="D4A574"/>
          </a:solidFill>
          <a:ln w="12700">
            <a:solidFill>
              <a:srgbClr val="D4A574"/>
            </a:solidFill>
            <a:prstDash val="solid"/>
          </a:ln>
        </p:spPr>
      </p:sp>
      <p:sp>
        <p:nvSpPr>
          <p:cNvPr id="13" name="Text 11"/>
          <p:cNvSpPr/>
          <p:nvPr/>
        </p:nvSpPr>
        <p:spPr>
          <a:xfrm>
            <a:off x="3520440" y="1600200"/>
            <a:ext cx="502920" cy="502920"/>
          </a:xfrm>
          <a:prstGeom prst="rect">
            <a:avLst/>
          </a:prstGeom>
          <a:noFill/>
          <a:ln/>
        </p:spPr>
        <p:txBody>
          <a:bodyPr wrap="square" lIns="0" tIns="0" rIns="0" bIns="0" rtlCol="0" anchor="ctr"/>
          <a:lstStyle/>
          <a:p>
            <a:pPr algn="ctr" indent="0" marL="0">
              <a:buNone/>
            </a:pPr>
            <a:r>
              <a:rPr lang="en-US" sz="1800" b="1" dirty="0">
                <a:solidFill>
                  <a:srgbClr val="6B0F1A"/>
                </a:solidFill>
                <a:latin typeface="Calibri" pitchFamily="34" charset="0"/>
                <a:ea typeface="Calibri" pitchFamily="34" charset="-122"/>
                <a:cs typeface="Calibri" pitchFamily="34" charset="-120"/>
              </a:rPr>
              <a:t>2</a:t>
            </a:r>
            <a:endParaRPr lang="en-US" sz="1800" dirty="0"/>
          </a:p>
        </p:txBody>
      </p:sp>
      <p:sp>
        <p:nvSpPr>
          <p:cNvPr id="14" name="Text 12"/>
          <p:cNvSpPr/>
          <p:nvPr/>
        </p:nvSpPr>
        <p:spPr>
          <a:xfrm>
            <a:off x="4114800" y="1600200"/>
            <a:ext cx="18288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TPS recommandé</a:t>
            </a:r>
            <a:endParaRPr lang="en-US" sz="1400" dirty="0"/>
          </a:p>
        </p:txBody>
      </p:sp>
      <p:sp>
        <p:nvSpPr>
          <p:cNvPr id="15" name="Text 13"/>
          <p:cNvSpPr/>
          <p:nvPr/>
        </p:nvSpPr>
        <p:spPr>
          <a:xfrm>
            <a:off x="3520440" y="2240280"/>
            <a:ext cx="2331720" cy="1280160"/>
          </a:xfrm>
          <a:prstGeom prst="rect">
            <a:avLst/>
          </a:prstGeom>
          <a:noFill/>
          <a:ln/>
        </p:spPr>
        <p:txBody>
          <a:bodyPr wrap="square" lIns="0" tIns="0" rIns="0" bIns="0" rtlCol="0" anchor="ctr"/>
          <a:lstStyle/>
          <a:p>
            <a:pPr indent="0" marL="0">
              <a:buNone/>
            </a:pPr>
            <a:r>
              <a:rPr lang="en-US" sz="1200" dirty="0">
                <a:solidFill>
                  <a:srgbClr val="F5EFE6"/>
                </a:solidFill>
                <a:latin typeface="Calibri" pitchFamily="34" charset="0"/>
                <a:ea typeface="Calibri" pitchFamily="34" charset="-122"/>
                <a:cs typeface="Calibri" pitchFamily="34" charset="-120"/>
              </a:rPr>
              <a:t>Splines à plaque mince : meilleure précision globale, robuste avec peu de points.</a:t>
            </a:r>
            <a:endParaRPr lang="en-US" sz="1200" dirty="0"/>
          </a:p>
        </p:txBody>
      </p:sp>
      <p:sp>
        <p:nvSpPr>
          <p:cNvPr id="16" name="Shape 14"/>
          <p:cNvSpPr/>
          <p:nvPr/>
        </p:nvSpPr>
        <p:spPr>
          <a:xfrm>
            <a:off x="6126480" y="1417320"/>
            <a:ext cx="2606040" cy="2148840"/>
          </a:xfrm>
          <a:prstGeom prst="rect">
            <a:avLst/>
          </a:prstGeom>
          <a:solidFill>
            <a:srgbClr val="FFFFFF">
              <a:alpha val="12000"/>
            </a:srgbClr>
          </a:solidFill>
          <a:ln w="12700">
            <a:solidFill>
              <a:srgbClr val="F5EFE6"/>
            </a:solidFill>
            <a:prstDash val="solid"/>
          </a:ln>
        </p:spPr>
      </p:sp>
      <p:sp>
        <p:nvSpPr>
          <p:cNvPr id="17" name="Shape 15"/>
          <p:cNvSpPr/>
          <p:nvPr/>
        </p:nvSpPr>
        <p:spPr>
          <a:xfrm>
            <a:off x="6309360" y="1600200"/>
            <a:ext cx="502920" cy="502920"/>
          </a:xfrm>
          <a:prstGeom prst="ellipse">
            <a:avLst/>
          </a:prstGeom>
          <a:solidFill>
            <a:srgbClr val="D4A574"/>
          </a:solidFill>
          <a:ln w="12700">
            <a:solidFill>
              <a:srgbClr val="D4A574"/>
            </a:solidFill>
            <a:prstDash val="solid"/>
          </a:ln>
        </p:spPr>
      </p:sp>
      <p:sp>
        <p:nvSpPr>
          <p:cNvPr id="18" name="Text 16"/>
          <p:cNvSpPr/>
          <p:nvPr/>
        </p:nvSpPr>
        <p:spPr>
          <a:xfrm>
            <a:off x="6309360" y="1600200"/>
            <a:ext cx="502920" cy="502920"/>
          </a:xfrm>
          <a:prstGeom prst="rect">
            <a:avLst/>
          </a:prstGeom>
          <a:noFill/>
          <a:ln/>
        </p:spPr>
        <p:txBody>
          <a:bodyPr wrap="square" lIns="0" tIns="0" rIns="0" bIns="0" rtlCol="0" anchor="ctr"/>
          <a:lstStyle/>
          <a:p>
            <a:pPr algn="ctr" indent="0" marL="0">
              <a:buNone/>
            </a:pPr>
            <a:r>
              <a:rPr lang="en-US" sz="1800" b="1" dirty="0">
                <a:solidFill>
                  <a:srgbClr val="6B0F1A"/>
                </a:solidFill>
                <a:latin typeface="Calibri" pitchFamily="34" charset="0"/>
                <a:ea typeface="Calibri" pitchFamily="34" charset="-122"/>
                <a:cs typeface="Calibri" pitchFamily="34" charset="-120"/>
              </a:rPr>
              <a:t>3</a:t>
            </a:r>
            <a:endParaRPr lang="en-US" sz="1800" dirty="0"/>
          </a:p>
        </p:txBody>
      </p:sp>
      <p:sp>
        <p:nvSpPr>
          <p:cNvPr id="19" name="Text 17"/>
          <p:cNvSpPr/>
          <p:nvPr/>
        </p:nvSpPr>
        <p:spPr>
          <a:xfrm>
            <a:off x="6903720" y="1600200"/>
            <a:ext cx="1828800" cy="50292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−75 % d'eau possible</a:t>
            </a:r>
            <a:endParaRPr lang="en-US" sz="1400" dirty="0"/>
          </a:p>
        </p:txBody>
      </p:sp>
      <p:sp>
        <p:nvSpPr>
          <p:cNvPr id="20" name="Text 18"/>
          <p:cNvSpPr/>
          <p:nvPr/>
        </p:nvSpPr>
        <p:spPr>
          <a:xfrm>
            <a:off x="6309360" y="2240280"/>
            <a:ext cx="2331720" cy="1280160"/>
          </a:xfrm>
          <a:prstGeom prst="rect">
            <a:avLst/>
          </a:prstGeom>
          <a:noFill/>
          <a:ln/>
        </p:spPr>
        <p:txBody>
          <a:bodyPr wrap="square" lIns="0" tIns="0" rIns="0" bIns="0" rtlCol="0" anchor="ctr"/>
          <a:lstStyle/>
          <a:p>
            <a:pPr indent="0" marL="0">
              <a:buNone/>
            </a:pPr>
            <a:r>
              <a:rPr lang="en-US" sz="1200" dirty="0">
                <a:solidFill>
                  <a:srgbClr val="F5EFE6"/>
                </a:solidFill>
                <a:latin typeface="Calibri" pitchFamily="34" charset="0"/>
                <a:ea typeface="Calibri" pitchFamily="34" charset="-122"/>
                <a:cs typeface="Calibri" pitchFamily="34" charset="-120"/>
              </a:rPr>
              <a:t>Une irrigation par zones, fondée sur les cartes interpolées et HYDRUS-1D, peut réduire fortement la consommation.</a:t>
            </a:r>
            <a:endParaRPr lang="en-US" sz="1200" dirty="0"/>
          </a:p>
        </p:txBody>
      </p:sp>
      <p:sp>
        <p:nvSpPr>
          <p:cNvPr id="21" name="Shape 19"/>
          <p:cNvSpPr/>
          <p:nvPr/>
        </p:nvSpPr>
        <p:spPr>
          <a:xfrm>
            <a:off x="548640" y="3840480"/>
            <a:ext cx="8092440" cy="868680"/>
          </a:xfrm>
          <a:prstGeom prst="rect">
            <a:avLst/>
          </a:prstGeom>
          <a:solidFill>
            <a:srgbClr val="FFFFFF"/>
          </a:solidFill>
          <a:ln w="12700">
            <a:solidFill>
              <a:srgbClr val="FFFFFF"/>
            </a:solidFill>
            <a:prstDash val="solid"/>
          </a:ln>
          <a:effectLst>
            <a:outerShdw sx="100000" sy="100000" kx="0" ky="0" algn="bl" rotWithShape="0" blurRad="101600" dist="25400" dir="5400000">
              <a:srgbClr val="000000">
                <a:alpha val="10000"/>
              </a:srgbClr>
            </a:outerShdw>
          </a:effectLst>
        </p:spPr>
      </p:sp>
      <p:pic>
        <p:nvPicPr>
          <p:cNvPr id="22" name="Image 0" descr="preencoded.png">    </p:cNvPr>
          <p:cNvPicPr>
            <a:picLocks noChangeAspect="1"/>
          </p:cNvPicPr>
          <p:nvPr/>
        </p:nvPicPr>
        <p:blipFill>
          <a:blip r:embed="rId1"/>
          <a:stretch>
            <a:fillRect/>
          </a:stretch>
        </p:blipFill>
        <p:spPr>
          <a:xfrm>
            <a:off x="777240" y="4023360"/>
            <a:ext cx="457200" cy="457200"/>
          </a:xfrm>
          <a:prstGeom prst="rect">
            <a:avLst/>
          </a:prstGeom>
        </p:spPr>
      </p:pic>
      <p:sp>
        <p:nvSpPr>
          <p:cNvPr id="23" name="Text 20"/>
          <p:cNvSpPr/>
          <p:nvPr/>
        </p:nvSpPr>
        <p:spPr>
          <a:xfrm>
            <a:off x="1417320" y="3931920"/>
            <a:ext cx="5486400" cy="274320"/>
          </a:xfrm>
          <a:prstGeom prst="rect">
            <a:avLst/>
          </a:prstGeom>
          <a:noFill/>
          <a:ln/>
        </p:spPr>
        <p:txBody>
          <a:bodyPr wrap="square" lIns="0" tIns="0" rIns="0" bIns="0" rtlCol="0" anchor="ctr"/>
          <a:lstStyle/>
          <a:p>
            <a:pPr indent="0" marL="0">
              <a:buNone/>
            </a:pPr>
            <a:r>
              <a:rPr lang="en-US" sz="1000" b="1" spc="300" kern="0" dirty="0">
                <a:solidFill>
                  <a:srgbClr val="6B0F1A"/>
                </a:solidFill>
                <a:latin typeface="Calibri" pitchFamily="34" charset="0"/>
                <a:ea typeface="Calibri" pitchFamily="34" charset="-122"/>
                <a:cs typeface="Calibri" pitchFamily="34" charset="-120"/>
              </a:rPr>
              <a:t>Référence complète</a:t>
            </a:r>
            <a:endParaRPr lang="en-US" sz="1000" dirty="0"/>
          </a:p>
        </p:txBody>
      </p:sp>
      <p:sp>
        <p:nvSpPr>
          <p:cNvPr id="24" name="Text 21"/>
          <p:cNvSpPr/>
          <p:nvPr/>
        </p:nvSpPr>
        <p:spPr>
          <a:xfrm>
            <a:off x="1417320" y="4160520"/>
            <a:ext cx="7178040" cy="502920"/>
          </a:xfrm>
          <a:prstGeom prst="rect">
            <a:avLst/>
          </a:prstGeom>
          <a:noFill/>
          <a:ln/>
        </p:spPr>
        <p:txBody>
          <a:bodyPr wrap="square" lIns="0" tIns="0" rIns="0" bIns="0" rtlCol="0" anchor="ctr"/>
          <a:lstStyle/>
          <a:p>
            <a:pPr indent="0" marL="0">
              <a:buNone/>
            </a:pPr>
            <a:r>
              <a:rPr lang="en-US" sz="1050" dirty="0">
                <a:solidFill>
                  <a:srgbClr val="1B1F3A"/>
                </a:solidFill>
                <a:latin typeface="Calibri" pitchFamily="34" charset="0"/>
                <a:ea typeface="Calibri" pitchFamily="34" charset="-122"/>
                <a:cs typeface="Calibri" pitchFamily="34" charset="-120"/>
              </a:rPr>
              <a:t>Gumiere S. J., Lafond J. A., Hallema D. W., Périard Y., Caron J., Gallichand J. (2014). Mapping soil hydraulic conductivity and matric potential for water management of cranberry. Biosystems Engineering. doi:10.1016/j.biosystemseng.2014.09.002.</a:t>
            </a:r>
            <a:endParaRPr lang="en-US" sz="1050" dirty="0"/>
          </a:p>
        </p:txBody>
      </p:sp>
      <p:sp>
        <p:nvSpPr>
          <p:cNvPr id="25" name="Text 22"/>
          <p:cNvSpPr/>
          <p:nvPr/>
        </p:nvSpPr>
        <p:spPr>
          <a:xfrm>
            <a:off x="8046720" y="4846320"/>
            <a:ext cx="914400" cy="228600"/>
          </a:xfrm>
          <a:prstGeom prst="rect">
            <a:avLst/>
          </a:prstGeom>
          <a:noFill/>
          <a:ln/>
        </p:spPr>
        <p:txBody>
          <a:bodyPr wrap="square" lIns="0" tIns="0" rIns="0" bIns="0" rtlCol="0" anchor="ctr"/>
          <a:lstStyle/>
          <a:p>
            <a:pPr algn="r" indent="0" marL="0">
              <a:buNone/>
            </a:pPr>
            <a:r>
              <a:rPr lang="en-US" sz="900" dirty="0">
                <a:solidFill>
                  <a:srgbClr val="F5EFE6"/>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Cartographie hydraulique des canneberges — Gumiere et al. 2014</dc:title>
  <dc:subject>PptxGenJS Presentation</dc:subject>
  <dc:creator>Université Laval — FSAA</dc:creator>
  <cp:lastModifiedBy>Université Laval — FSAA</cp:lastModifiedBy>
  <cp:revision>1</cp:revision>
  <dcterms:created xsi:type="dcterms:W3CDTF">2026-05-10T18:32:36Z</dcterms:created>
  <dcterms:modified xsi:type="dcterms:W3CDTF">2026-05-10T18:32:36Z</dcterms:modified>
</cp:coreProperties>
</file>