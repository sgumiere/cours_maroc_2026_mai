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954"/>
        </a:solidFill>
      </p:bgPr>
    </p:bg>
    <p:spTree>
      <p:nvGrpSpPr>
        <p:cNvPr id="1" name=""/>
        <p:cNvGrpSpPr/>
        <p:nvPr/>
      </p:nvGrpSpPr>
      <p:grpSpPr>
        <a:xfrm>
          <a:off x="0" y="0"/>
          <a:ext cx="0" cy="0"/>
          <a:chOff x="0" y="0"/>
          <a:chExt cx="0" cy="0"/>
        </a:xfrm>
      </p:grpSpPr>
      <p:sp>
        <p:nvSpPr>
          <p:cNvPr id="2" name="Shape 0"/>
          <p:cNvSpPr/>
          <p:nvPr/>
        </p:nvSpPr>
        <p:spPr>
          <a:xfrm>
            <a:off x="5943600" y="-2286000"/>
            <a:ext cx="6400800" cy="6400800"/>
          </a:xfrm>
          <a:prstGeom prst="ellipse">
            <a:avLst/>
          </a:prstGeom>
          <a:solidFill>
            <a:srgbClr val="B85042">
              <a:alpha val="50000"/>
            </a:srgbClr>
          </a:solidFill>
          <a:ln w="12700">
            <a:solidFill>
              <a:srgbClr val="B85042">
                <a:alpha val="0"/>
              </a:srgbClr>
            </a:solidFill>
            <a:prstDash val="solid"/>
          </a:ln>
        </p:spPr>
      </p:sp>
      <p:sp>
        <p:nvSpPr>
          <p:cNvPr id="3" name="Shape 1"/>
          <p:cNvSpPr/>
          <p:nvPr/>
        </p:nvSpPr>
        <p:spPr>
          <a:xfrm>
            <a:off x="-2286000" y="2743200"/>
            <a:ext cx="4572000" cy="4572000"/>
          </a:xfrm>
          <a:prstGeom prst="ellipse">
            <a:avLst/>
          </a:prstGeom>
          <a:solidFill>
            <a:srgbClr val="5A8F29">
              <a:alpha val="40000"/>
            </a:srgbClr>
          </a:solidFill>
          <a:ln w="12700">
            <a:solidFill>
              <a:srgbClr val="5A8F29">
                <a:alpha val="0"/>
              </a:srgbClr>
            </a:solidFill>
            <a:prstDash val="solid"/>
          </a:ln>
        </p:spPr>
      </p:sp>
      <p:sp>
        <p:nvSpPr>
          <p:cNvPr id="4" name="Text 2"/>
          <p:cNvSpPr/>
          <p:nvPr/>
        </p:nvSpPr>
        <p:spPr>
          <a:xfrm>
            <a:off x="548640" y="868680"/>
            <a:ext cx="8229600" cy="77724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Irrigation optimale sur Histosols</a:t>
            </a:r>
            <a:endParaRPr lang="en-US" sz="3600" dirty="0"/>
          </a:p>
        </p:txBody>
      </p:sp>
      <p:sp>
        <p:nvSpPr>
          <p:cNvPr id="5" name="Text 3"/>
          <p:cNvSpPr/>
          <p:nvPr/>
        </p:nvSpPr>
        <p:spPr>
          <a:xfrm>
            <a:off x="548640" y="1691640"/>
            <a:ext cx="8229600" cy="777240"/>
          </a:xfrm>
          <a:prstGeom prst="rect">
            <a:avLst/>
          </a:prstGeom>
          <a:noFill/>
          <a:ln/>
        </p:spPr>
        <p:txBody>
          <a:bodyPr wrap="square" lIns="0" tIns="0" rIns="0" bIns="0" rtlCol="0" anchor="ctr"/>
          <a:lstStyle/>
          <a:p>
            <a:pPr indent="0" marL="0">
              <a:buNone/>
            </a:pPr>
            <a:r>
              <a:rPr lang="en-US" sz="1600" dirty="0">
                <a:solidFill>
                  <a:srgbClr val="F4F1DE"/>
                </a:solidFill>
                <a:latin typeface="Calibri" pitchFamily="34" charset="0"/>
                <a:ea typeface="Calibri" pitchFamily="34" charset="-122"/>
                <a:cs typeface="Calibri" pitchFamily="34" charset="-120"/>
              </a:rPr>
              <a:t>Oignon, céleri et germination de l'épinard — du potentiel matriciel mesuré au seuil dérivé d'un modèle physique</a:t>
            </a:r>
            <a:endParaRPr lang="en-US" sz="1600" dirty="0"/>
          </a:p>
        </p:txBody>
      </p:sp>
      <p:sp>
        <p:nvSpPr>
          <p:cNvPr id="6" name="Shape 4"/>
          <p:cNvSpPr/>
          <p:nvPr/>
        </p:nvSpPr>
        <p:spPr>
          <a:xfrm>
            <a:off x="548640" y="2606040"/>
            <a:ext cx="548640" cy="45720"/>
          </a:xfrm>
          <a:prstGeom prst="rect">
            <a:avLst/>
          </a:prstGeom>
          <a:solidFill>
            <a:srgbClr val="B85042"/>
          </a:solidFill>
          <a:ln w="12700">
            <a:solidFill>
              <a:srgbClr val="B85042"/>
            </a:solidFill>
            <a:prstDash val="solid"/>
          </a:ln>
        </p:spPr>
      </p:sp>
      <p:sp>
        <p:nvSpPr>
          <p:cNvPr id="7" name="Text 5"/>
          <p:cNvSpPr/>
          <p:nvPr/>
        </p:nvSpPr>
        <p:spPr>
          <a:xfrm>
            <a:off x="548640" y="2788920"/>
            <a:ext cx="8229600" cy="914400"/>
          </a:xfrm>
          <a:prstGeom prst="rect">
            <a:avLst/>
          </a:prstGeom>
          <a:noFill/>
          <a:ln/>
        </p:spPr>
        <p:txBody>
          <a:bodyPr wrap="square" lIns="0" tIns="0" rIns="0" bIns="0" rtlCol="0" anchor="ctr"/>
          <a:lstStyle/>
          <a:p>
            <a:pPr indent="0" marL="0">
              <a:buNone/>
            </a:pPr>
            <a:r>
              <a:rPr lang="en-US" sz="1300" dirty="0">
                <a:solidFill>
                  <a:srgbClr val="F4F1DE"/>
                </a:solidFill>
                <a:latin typeface="Calibri" pitchFamily="34" charset="0"/>
                <a:ea typeface="Calibri" pitchFamily="34" charset="-122"/>
                <a:cs typeface="Calibri" pitchFamily="34" charset="-120"/>
              </a:rPr>
              <a:t>Article : </a:t>
            </a:r>
            <a:pPr indent="0" marL="0">
              <a:buNone/>
            </a:pPr>
            <a:r>
              <a:rPr lang="en-US" sz="1300" b="1" dirty="0">
                <a:solidFill>
                  <a:srgbClr val="FFFFFF"/>
                </a:solidFill>
                <a:latin typeface="Calibri" pitchFamily="34" charset="0"/>
                <a:ea typeface="Calibri" pitchFamily="34" charset="-122"/>
                <a:cs typeface="Calibri" pitchFamily="34" charset="-120"/>
              </a:rPr>
              <a:t>Rekika, Caron, Théroux Rancourt, Lafond, Gumiere, Jenni, Gosselin</a:t>
            </a:r>
            <a:endParaRPr lang="en-US" sz="1300" dirty="0"/>
          </a:p>
          <a:p>
            <a:pPr indent="0" marL="0">
              <a:buNone/>
            </a:pPr>
            <a:r>
              <a:rPr lang="en-US" sz="1300" i="1" dirty="0">
                <a:solidFill>
                  <a:srgbClr val="F4F1DE"/>
                </a:solidFill>
                <a:latin typeface="Calibri" pitchFamily="34" charset="0"/>
                <a:ea typeface="Calibri" pitchFamily="34" charset="-122"/>
                <a:cs typeface="Calibri" pitchFamily="34" charset="-120"/>
              </a:rPr>
              <a:t>Agronomy Journal </a:t>
            </a:r>
            <a:pPr indent="0" marL="0">
              <a:buNone/>
            </a:pPr>
            <a:r>
              <a:rPr lang="en-US" sz="1300" dirty="0">
                <a:solidFill>
                  <a:srgbClr val="F4F1DE"/>
                </a:solidFill>
                <a:latin typeface="Calibri" pitchFamily="34" charset="0"/>
                <a:ea typeface="Calibri" pitchFamily="34" charset="-122"/>
                <a:cs typeface="Calibri" pitchFamily="34" charset="-120"/>
              </a:rPr>
              <a:t>106(2):981–994, 2014   ·   doi:10.2134/agronj2013.0235</a:t>
            </a:r>
            <a:endParaRPr lang="en-US" sz="1300" dirty="0"/>
          </a:p>
        </p:txBody>
      </p:sp>
      <p:sp>
        <p:nvSpPr>
          <p:cNvPr id="8" name="Text 6"/>
          <p:cNvSpPr/>
          <p:nvPr/>
        </p:nvSpPr>
        <p:spPr>
          <a:xfrm>
            <a:off x="548640" y="4434840"/>
            <a:ext cx="8229600" cy="274320"/>
          </a:xfrm>
          <a:prstGeom prst="rect">
            <a:avLst/>
          </a:prstGeom>
          <a:noFill/>
          <a:ln/>
        </p:spPr>
        <p:txBody>
          <a:bodyPr wrap="square" lIns="0" tIns="0" rIns="0" bIns="0" rtlCol="0" anchor="ctr"/>
          <a:lstStyle/>
          <a:p>
            <a:pPr indent="0" marL="0">
              <a:buNone/>
            </a:pPr>
            <a:r>
              <a:rPr lang="en-US" sz="1200" i="1" dirty="0">
                <a:solidFill>
                  <a:srgbClr val="F4F1DE"/>
                </a:solidFill>
                <a:latin typeface="Calibri" pitchFamily="34" charset="0"/>
                <a:ea typeface="Calibri" pitchFamily="34" charset="-122"/>
                <a:cs typeface="Calibri" pitchFamily="34" charset="-120"/>
              </a:rPr>
              <a:t>Présentation pour étudiant·e·s en génie</a:t>
            </a:r>
            <a:endParaRPr lang="en-US" sz="1200" dirty="0"/>
          </a:p>
        </p:txBody>
      </p:sp>
      <p:sp>
        <p:nvSpPr>
          <p:cNvPr id="9" name="Text 7"/>
          <p:cNvSpPr/>
          <p:nvPr/>
        </p:nvSpPr>
        <p:spPr>
          <a:xfrm>
            <a:off x="548640" y="4754880"/>
            <a:ext cx="8229600" cy="274320"/>
          </a:xfrm>
          <a:prstGeom prst="rect">
            <a:avLst/>
          </a:prstGeom>
          <a:noFill/>
          <a:ln/>
        </p:spPr>
        <p:txBody>
          <a:bodyPr wrap="square" lIns="0" tIns="0" rIns="0" bIns="0" rtlCol="0" anchor="ctr"/>
          <a:lstStyle/>
          <a:p>
            <a:pPr indent="0" marL="0">
              <a:buNone/>
            </a:pPr>
            <a:r>
              <a:rPr lang="en-US" sz="1100" dirty="0">
                <a:solidFill>
                  <a:srgbClr val="F4F1DE"/>
                </a:solidFill>
                <a:latin typeface="Calibri" pitchFamily="34" charset="0"/>
                <a:ea typeface="Calibri" pitchFamily="34" charset="-122"/>
                <a:cs typeface="Calibri" pitchFamily="34" charset="-120"/>
              </a:rPr>
              <a:t>Université Laval — Département des sols et de génie agroalimentaire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Contexte et problématique</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Pourquoi ré-écrire les seuils d'irrigation pour les sols organiques?</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sp>
        <p:nvSpPr>
          <p:cNvPr id="6" name="Text 4"/>
          <p:cNvSpPr/>
          <p:nvPr/>
        </p:nvSpPr>
        <p:spPr>
          <a:xfrm>
            <a:off x="502920" y="1280160"/>
            <a:ext cx="4572000" cy="3291840"/>
          </a:xfrm>
          <a:prstGeom prst="rect">
            <a:avLst/>
          </a:prstGeom>
          <a:noFill/>
          <a:ln/>
        </p:spPr>
        <p:txBody>
          <a:bodyPr wrap="square" lIns="0" tIns="0" rIns="0" bIns="0" rtlCol="0" anchor="ctr"/>
          <a:lstStyle/>
          <a:p>
            <a:pPr indent="0" marL="0">
              <a:spcAft>
                <a:spcPts val="400"/>
              </a:spcAft>
              <a:buNone/>
            </a:pPr>
            <a:r>
              <a:rPr lang="en-US" sz="1300" b="1" spc="200" kern="0" dirty="0">
                <a:solidFill>
                  <a:srgbClr val="0B3954"/>
                </a:solidFill>
                <a:latin typeface="Calibri" pitchFamily="34" charset="0"/>
                <a:ea typeface="Calibri" pitchFamily="34" charset="-122"/>
                <a:cs typeface="Calibri" pitchFamily="34" charset="-120"/>
              </a:rPr>
              <a:t>Le problème</a:t>
            </a:r>
            <a:endParaRPr lang="en-US" sz="1300" dirty="0"/>
          </a:p>
          <a:p>
            <a:pPr indent="0" marL="0">
              <a:spcAft>
                <a:spcPts val="400"/>
              </a:spcAft>
              <a:buNone/>
            </a:pPr>
            <a:endParaRPr lang="en-US" sz="1300" dirty="0"/>
          </a:p>
          <a:p>
            <a:pPr indent="0" marL="0">
              <a:spcAft>
                <a:spcPts val="400"/>
              </a:spcAft>
              <a:buNone/>
            </a:pPr>
            <a:r>
              <a:rPr lang="en-US" sz="1300" dirty="0">
                <a:solidFill>
                  <a:srgbClr val="1B1F3A"/>
                </a:solidFill>
                <a:latin typeface="Calibri" pitchFamily="34" charset="0"/>
                <a:ea typeface="Calibri" pitchFamily="34" charset="-122"/>
                <a:cs typeface="Calibri" pitchFamily="34" charset="-120"/>
              </a:rPr>
              <a:t>Au sud du Québec, l'irrigation d'appoint devient la norme pour sécuriser les rendements maraîchers : pluies suffisantes en moyenne (~760 mm/an) mais réparties de façon irrégulière.</a:t>
            </a:r>
            <a:endParaRPr lang="en-US" sz="1300" dirty="0"/>
          </a:p>
          <a:p>
            <a:pPr indent="0" marL="0">
              <a:spcAft>
                <a:spcPts val="400"/>
              </a:spcAft>
              <a:buNone/>
            </a:pPr>
            <a:endParaRPr lang="en-US" sz="1300" dirty="0"/>
          </a:p>
          <a:p>
            <a:pPr indent="0" marL="0">
              <a:spcAft>
                <a:spcPts val="400"/>
              </a:spcAft>
              <a:buNone/>
            </a:pPr>
            <a:r>
              <a:rPr lang="en-US" sz="1300" dirty="0">
                <a:solidFill>
                  <a:srgbClr val="1B1F3A"/>
                </a:solidFill>
                <a:latin typeface="Calibri" pitchFamily="34" charset="0"/>
                <a:ea typeface="Calibri" pitchFamily="34" charset="-122"/>
                <a:cs typeface="Calibri" pitchFamily="34" charset="-120"/>
              </a:rPr>
              <a:t>Les Histosols (sols organiques de muck) ont des propriétés hydrauliques très différentes des sols minéraux, donc les seuils standards ne s'y appliquent pas directement.</a:t>
            </a:r>
            <a:endParaRPr lang="en-US" sz="1300" dirty="0"/>
          </a:p>
        </p:txBody>
      </p:sp>
      <p:sp>
        <p:nvSpPr>
          <p:cNvPr id="7" name="Shape 5"/>
          <p:cNvSpPr/>
          <p:nvPr/>
        </p:nvSpPr>
        <p:spPr>
          <a:xfrm>
            <a:off x="5349240" y="1325880"/>
            <a:ext cx="3520440" cy="960120"/>
          </a:xfrm>
          <a:prstGeom prst="rect">
            <a:avLst/>
          </a:prstGeom>
          <a:solidFill>
            <a:srgbClr val="F4F1DE"/>
          </a:solidFill>
          <a:ln w="12700">
            <a:solidFill>
              <a:srgbClr val="F4F1DE"/>
            </a:solidFill>
            <a:prstDash val="solid"/>
          </a:ln>
          <a:effectLst>
            <a:outerShdw sx="100000" sy="100000" kx="0" ky="0" algn="bl" rotWithShape="0" blurRad="101600" dist="25400" dir="5400000">
              <a:srgbClr val="000000">
                <a:alpha val="10000"/>
              </a:srgbClr>
            </a:outerShdw>
          </a:effectLst>
        </p:spPr>
      </p:sp>
      <p:sp>
        <p:nvSpPr>
          <p:cNvPr id="8" name="Shape 6"/>
          <p:cNvSpPr/>
          <p:nvPr/>
        </p:nvSpPr>
        <p:spPr>
          <a:xfrm>
            <a:off x="5486400" y="1508760"/>
            <a:ext cx="594360" cy="594360"/>
          </a:xfrm>
          <a:prstGeom prst="ellipse">
            <a:avLst/>
          </a:prstGeom>
          <a:solidFill>
            <a:srgbClr val="FFFFFF"/>
          </a:solidFill>
          <a:ln w="19050">
            <a:solidFill>
              <a:srgbClr val="0B3954"/>
            </a:solidFill>
            <a:prstDash val="solid"/>
          </a:ln>
        </p:spPr>
      </p:sp>
      <p:pic>
        <p:nvPicPr>
          <p:cNvPr id="9" name="Image 0" descr="preencoded.png">    </p:cNvPr>
          <p:cNvPicPr>
            <a:picLocks noChangeAspect="1"/>
          </p:cNvPicPr>
          <p:nvPr/>
        </p:nvPicPr>
        <p:blipFill>
          <a:blip r:embed="rId1"/>
          <a:stretch>
            <a:fillRect/>
          </a:stretch>
        </p:blipFill>
        <p:spPr>
          <a:xfrm>
            <a:off x="5577840" y="1600200"/>
            <a:ext cx="411480" cy="411480"/>
          </a:xfrm>
          <a:prstGeom prst="rect">
            <a:avLst/>
          </a:prstGeom>
        </p:spPr>
      </p:pic>
      <p:sp>
        <p:nvSpPr>
          <p:cNvPr id="10" name="Text 7"/>
          <p:cNvSpPr/>
          <p:nvPr/>
        </p:nvSpPr>
        <p:spPr>
          <a:xfrm>
            <a:off x="6217920" y="1463040"/>
            <a:ext cx="2606040" cy="292608"/>
          </a:xfrm>
          <a:prstGeom prst="rect">
            <a:avLst/>
          </a:prstGeom>
          <a:noFill/>
          <a:ln/>
        </p:spPr>
        <p:txBody>
          <a:bodyPr wrap="square" lIns="0" tIns="0" rIns="0" bIns="0" rtlCol="0" anchor="ctr"/>
          <a:lstStyle/>
          <a:p>
            <a:pPr indent="0" marL="0">
              <a:buNone/>
            </a:pPr>
            <a:r>
              <a:rPr lang="en-US" sz="1300" b="1" dirty="0">
                <a:solidFill>
                  <a:srgbClr val="1B1F3A"/>
                </a:solidFill>
                <a:latin typeface="Calibri" pitchFamily="34" charset="0"/>
                <a:ea typeface="Calibri" pitchFamily="34" charset="-122"/>
                <a:cs typeface="Calibri" pitchFamily="34" charset="-120"/>
              </a:rPr>
              <a:t>Pluies irrégulières</a:t>
            </a:r>
            <a:endParaRPr lang="en-US" sz="1300" dirty="0"/>
          </a:p>
        </p:txBody>
      </p:sp>
      <p:sp>
        <p:nvSpPr>
          <p:cNvPr id="11" name="Text 8"/>
          <p:cNvSpPr/>
          <p:nvPr/>
        </p:nvSpPr>
        <p:spPr>
          <a:xfrm>
            <a:off x="6217920" y="1764792"/>
            <a:ext cx="2606040" cy="502920"/>
          </a:xfrm>
          <a:prstGeom prst="rect">
            <a:avLst/>
          </a:prstGeom>
          <a:noFill/>
          <a:ln/>
        </p:spPr>
        <p:txBody>
          <a:bodyPr wrap="square" lIns="0" tIns="0" rIns="0" bIns="0" rtlCol="0" anchor="ctr"/>
          <a:lstStyle/>
          <a:p>
            <a:pPr indent="0" marL="0">
              <a:buNone/>
            </a:pPr>
            <a:r>
              <a:rPr lang="en-US" sz="1050" dirty="0">
                <a:solidFill>
                  <a:srgbClr val="55657A"/>
                </a:solidFill>
                <a:latin typeface="Calibri" pitchFamily="34" charset="0"/>
                <a:ea typeface="Calibri" pitchFamily="34" charset="-122"/>
                <a:cs typeface="Calibri" pitchFamily="34" charset="-120"/>
              </a:rPr>
              <a:t>L'irrigation d'appoint est nécessaire pour stabiliser les rendements.</a:t>
            </a:r>
            <a:endParaRPr lang="en-US" sz="1050" dirty="0"/>
          </a:p>
        </p:txBody>
      </p:sp>
      <p:sp>
        <p:nvSpPr>
          <p:cNvPr id="12" name="Shape 9"/>
          <p:cNvSpPr/>
          <p:nvPr/>
        </p:nvSpPr>
        <p:spPr>
          <a:xfrm>
            <a:off x="5349240" y="2423160"/>
            <a:ext cx="3520440" cy="960120"/>
          </a:xfrm>
          <a:prstGeom prst="rect">
            <a:avLst/>
          </a:prstGeom>
          <a:solidFill>
            <a:srgbClr val="F4F1DE"/>
          </a:solidFill>
          <a:ln w="12700">
            <a:solidFill>
              <a:srgbClr val="F4F1DE"/>
            </a:solidFill>
            <a:prstDash val="solid"/>
          </a:ln>
          <a:effectLst>
            <a:outerShdw sx="100000" sy="100000" kx="0" ky="0" algn="bl" rotWithShape="0" blurRad="101600" dist="25400" dir="5400000">
              <a:srgbClr val="000000">
                <a:alpha val="10000"/>
              </a:srgbClr>
            </a:outerShdw>
          </a:effectLst>
        </p:spPr>
      </p:sp>
      <p:sp>
        <p:nvSpPr>
          <p:cNvPr id="13" name="Shape 10"/>
          <p:cNvSpPr/>
          <p:nvPr/>
        </p:nvSpPr>
        <p:spPr>
          <a:xfrm>
            <a:off x="5486400" y="2606040"/>
            <a:ext cx="594360" cy="594360"/>
          </a:xfrm>
          <a:prstGeom prst="ellipse">
            <a:avLst/>
          </a:prstGeom>
          <a:solidFill>
            <a:srgbClr val="FFFFFF"/>
          </a:solidFill>
          <a:ln w="19050">
            <a:solidFill>
              <a:srgbClr val="0B3954"/>
            </a:solidFill>
            <a:prstDash val="solid"/>
          </a:ln>
        </p:spPr>
      </p:sp>
      <p:pic>
        <p:nvPicPr>
          <p:cNvPr id="14" name="Image 1" descr="preencoded.png">    </p:cNvPr>
          <p:cNvPicPr>
            <a:picLocks noChangeAspect="1"/>
          </p:cNvPicPr>
          <p:nvPr/>
        </p:nvPicPr>
        <p:blipFill>
          <a:blip r:embed="rId2"/>
          <a:stretch>
            <a:fillRect/>
          </a:stretch>
        </p:blipFill>
        <p:spPr>
          <a:xfrm>
            <a:off x="5577840" y="2697480"/>
            <a:ext cx="411480" cy="411480"/>
          </a:xfrm>
          <a:prstGeom prst="rect">
            <a:avLst/>
          </a:prstGeom>
        </p:spPr>
      </p:pic>
      <p:sp>
        <p:nvSpPr>
          <p:cNvPr id="15" name="Text 11"/>
          <p:cNvSpPr/>
          <p:nvPr/>
        </p:nvSpPr>
        <p:spPr>
          <a:xfrm>
            <a:off x="6217920" y="2560320"/>
            <a:ext cx="2606040" cy="292608"/>
          </a:xfrm>
          <a:prstGeom prst="rect">
            <a:avLst/>
          </a:prstGeom>
          <a:noFill/>
          <a:ln/>
        </p:spPr>
        <p:txBody>
          <a:bodyPr wrap="square" lIns="0" tIns="0" rIns="0" bIns="0" rtlCol="0" anchor="ctr"/>
          <a:lstStyle/>
          <a:p>
            <a:pPr indent="0" marL="0">
              <a:buNone/>
            </a:pPr>
            <a:r>
              <a:rPr lang="en-US" sz="1300" b="1" dirty="0">
                <a:solidFill>
                  <a:srgbClr val="1B1F3A"/>
                </a:solidFill>
                <a:latin typeface="Calibri" pitchFamily="34" charset="0"/>
                <a:ea typeface="Calibri" pitchFamily="34" charset="-122"/>
                <a:cs typeface="Calibri" pitchFamily="34" charset="-120"/>
              </a:rPr>
              <a:t>Histosols spécifiques</a:t>
            </a:r>
            <a:endParaRPr lang="en-US" sz="1300" dirty="0"/>
          </a:p>
        </p:txBody>
      </p:sp>
      <p:sp>
        <p:nvSpPr>
          <p:cNvPr id="16" name="Text 12"/>
          <p:cNvSpPr/>
          <p:nvPr/>
        </p:nvSpPr>
        <p:spPr>
          <a:xfrm>
            <a:off x="6217920" y="2862072"/>
            <a:ext cx="2606040" cy="502920"/>
          </a:xfrm>
          <a:prstGeom prst="rect">
            <a:avLst/>
          </a:prstGeom>
          <a:noFill/>
          <a:ln/>
        </p:spPr>
        <p:txBody>
          <a:bodyPr wrap="square" lIns="0" tIns="0" rIns="0" bIns="0" rtlCol="0" anchor="ctr"/>
          <a:lstStyle/>
          <a:p>
            <a:pPr indent="0" marL="0">
              <a:buNone/>
            </a:pPr>
            <a:r>
              <a:rPr lang="en-US" sz="1050" dirty="0">
                <a:solidFill>
                  <a:srgbClr val="55657A"/>
                </a:solidFill>
                <a:latin typeface="Calibri" pitchFamily="34" charset="0"/>
                <a:ea typeface="Calibri" pitchFamily="34" charset="-122"/>
                <a:cs typeface="Calibri" pitchFamily="34" charset="-120"/>
              </a:rPr>
              <a:t>Forte porosité, conductivité non saturée originale.</a:t>
            </a:r>
            <a:endParaRPr lang="en-US" sz="1050" dirty="0"/>
          </a:p>
        </p:txBody>
      </p:sp>
      <p:sp>
        <p:nvSpPr>
          <p:cNvPr id="17" name="Shape 13"/>
          <p:cNvSpPr/>
          <p:nvPr/>
        </p:nvSpPr>
        <p:spPr>
          <a:xfrm>
            <a:off x="5349240" y="3520440"/>
            <a:ext cx="3520440" cy="960120"/>
          </a:xfrm>
          <a:prstGeom prst="rect">
            <a:avLst/>
          </a:prstGeom>
          <a:solidFill>
            <a:srgbClr val="F4F1DE"/>
          </a:solidFill>
          <a:ln w="12700">
            <a:solidFill>
              <a:srgbClr val="F4F1DE"/>
            </a:solidFill>
            <a:prstDash val="solid"/>
          </a:ln>
          <a:effectLst>
            <a:outerShdw sx="100000" sy="100000" kx="0" ky="0" algn="bl" rotWithShape="0" blurRad="101600" dist="25400" dir="5400000">
              <a:srgbClr val="000000">
                <a:alpha val="10000"/>
              </a:srgbClr>
            </a:outerShdw>
          </a:effectLst>
        </p:spPr>
      </p:sp>
      <p:sp>
        <p:nvSpPr>
          <p:cNvPr id="18" name="Shape 14"/>
          <p:cNvSpPr/>
          <p:nvPr/>
        </p:nvSpPr>
        <p:spPr>
          <a:xfrm>
            <a:off x="5486400" y="3703320"/>
            <a:ext cx="594360" cy="594360"/>
          </a:xfrm>
          <a:prstGeom prst="ellipse">
            <a:avLst/>
          </a:prstGeom>
          <a:solidFill>
            <a:srgbClr val="FFFFFF"/>
          </a:solidFill>
          <a:ln w="19050">
            <a:solidFill>
              <a:srgbClr val="0B3954"/>
            </a:solidFill>
            <a:prstDash val="solid"/>
          </a:ln>
        </p:spPr>
      </p:sp>
      <p:pic>
        <p:nvPicPr>
          <p:cNvPr id="19" name="Image 2" descr="preencoded.png">    </p:cNvPr>
          <p:cNvPicPr>
            <a:picLocks noChangeAspect="1"/>
          </p:cNvPicPr>
          <p:nvPr/>
        </p:nvPicPr>
        <p:blipFill>
          <a:blip r:embed="rId3"/>
          <a:stretch>
            <a:fillRect/>
          </a:stretch>
        </p:blipFill>
        <p:spPr>
          <a:xfrm>
            <a:off x="5577840" y="3794760"/>
            <a:ext cx="411480" cy="411480"/>
          </a:xfrm>
          <a:prstGeom prst="rect">
            <a:avLst/>
          </a:prstGeom>
        </p:spPr>
      </p:pic>
      <p:sp>
        <p:nvSpPr>
          <p:cNvPr id="20" name="Text 15"/>
          <p:cNvSpPr/>
          <p:nvPr/>
        </p:nvSpPr>
        <p:spPr>
          <a:xfrm>
            <a:off x="6217920" y="3657600"/>
            <a:ext cx="2606040" cy="292608"/>
          </a:xfrm>
          <a:prstGeom prst="rect">
            <a:avLst/>
          </a:prstGeom>
          <a:noFill/>
          <a:ln/>
        </p:spPr>
        <p:txBody>
          <a:bodyPr wrap="square" lIns="0" tIns="0" rIns="0" bIns="0" rtlCol="0" anchor="ctr"/>
          <a:lstStyle/>
          <a:p>
            <a:pPr indent="0" marL="0">
              <a:buNone/>
            </a:pPr>
            <a:r>
              <a:rPr lang="en-US" sz="1300" b="1" dirty="0">
                <a:solidFill>
                  <a:srgbClr val="1B1F3A"/>
                </a:solidFill>
                <a:latin typeface="Calibri" pitchFamily="34" charset="0"/>
                <a:ea typeface="Calibri" pitchFamily="34" charset="-122"/>
                <a:cs typeface="Calibri" pitchFamily="34" charset="-120"/>
              </a:rPr>
              <a:t>Cultures peu enracinées</a:t>
            </a:r>
            <a:endParaRPr lang="en-US" sz="1300" dirty="0"/>
          </a:p>
        </p:txBody>
      </p:sp>
      <p:sp>
        <p:nvSpPr>
          <p:cNvPr id="21" name="Text 16"/>
          <p:cNvSpPr/>
          <p:nvPr/>
        </p:nvSpPr>
        <p:spPr>
          <a:xfrm>
            <a:off x="6217920" y="3959352"/>
            <a:ext cx="2606040" cy="502920"/>
          </a:xfrm>
          <a:prstGeom prst="rect">
            <a:avLst/>
          </a:prstGeom>
          <a:noFill/>
          <a:ln/>
        </p:spPr>
        <p:txBody>
          <a:bodyPr wrap="square" lIns="0" tIns="0" rIns="0" bIns="0" rtlCol="0" anchor="ctr"/>
          <a:lstStyle/>
          <a:p>
            <a:pPr indent="0" marL="0">
              <a:buNone/>
            </a:pPr>
            <a:r>
              <a:rPr lang="en-US" sz="1050" dirty="0">
                <a:solidFill>
                  <a:srgbClr val="55657A"/>
                </a:solidFill>
                <a:latin typeface="Calibri" pitchFamily="34" charset="0"/>
                <a:ea typeface="Calibri" pitchFamily="34" charset="-122"/>
                <a:cs typeface="Calibri" pitchFamily="34" charset="-120"/>
              </a:rPr>
              <a:t>Oignon, céleri, épinard : sensibles au stress hydrique.</a:t>
            </a:r>
            <a:endParaRPr lang="en-US" sz="1050" dirty="0"/>
          </a:p>
        </p:txBody>
      </p:sp>
      <p:sp>
        <p:nvSpPr>
          <p:cNvPr id="22" name="Text 17"/>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Objectifs de l'étude</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Trois objectifs pour les ingénieurs agroalimentaires</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sp>
        <p:nvSpPr>
          <p:cNvPr id="6" name="Shape 4"/>
          <p:cNvSpPr/>
          <p:nvPr/>
        </p:nvSpPr>
        <p:spPr>
          <a:xfrm>
            <a:off x="502920" y="1280160"/>
            <a:ext cx="8229600" cy="960120"/>
          </a:xfrm>
          <a:prstGeom prst="rect">
            <a:avLst/>
          </a:prstGeom>
          <a:solidFill>
            <a:srgbClr val="FAFAF7"/>
          </a:solidFill>
          <a:ln w="12700">
            <a:solidFill>
              <a:srgbClr val="D4DBE2"/>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685800" y="1481328"/>
            <a:ext cx="594360" cy="594360"/>
          </a:xfrm>
          <a:prstGeom prst="ellipse">
            <a:avLst/>
          </a:prstGeom>
          <a:solidFill>
            <a:srgbClr val="0B3954"/>
          </a:solidFill>
          <a:ln w="12700">
            <a:solidFill>
              <a:srgbClr val="0B3954"/>
            </a:solidFill>
            <a:prstDash val="solid"/>
          </a:ln>
        </p:spPr>
      </p:sp>
      <p:sp>
        <p:nvSpPr>
          <p:cNvPr id="8" name="Text 6"/>
          <p:cNvSpPr/>
          <p:nvPr/>
        </p:nvSpPr>
        <p:spPr>
          <a:xfrm>
            <a:off x="685800" y="1481328"/>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1463040" y="1399032"/>
            <a:ext cx="7040880" cy="365760"/>
          </a:xfrm>
          <a:prstGeom prst="rect">
            <a:avLst/>
          </a:prstGeom>
          <a:noFill/>
          <a:ln/>
        </p:spPr>
        <p:txBody>
          <a:bodyPr wrap="square" lIns="0" tIns="0" rIns="0" bIns="0" rtlCol="0" anchor="ctr"/>
          <a:lstStyle/>
          <a:p>
            <a:pPr indent="0" marL="0">
              <a:buNone/>
            </a:pPr>
            <a:r>
              <a:rPr lang="en-US" sz="1500" b="1" dirty="0">
                <a:solidFill>
                  <a:srgbClr val="0B3954"/>
                </a:solidFill>
                <a:latin typeface="Calibri" pitchFamily="34" charset="0"/>
                <a:ea typeface="Calibri" pitchFamily="34" charset="-122"/>
                <a:cs typeface="Calibri" pitchFamily="34" charset="-120"/>
              </a:rPr>
              <a:t>Quantifier la réponse des cultures</a:t>
            </a:r>
            <a:endParaRPr lang="en-US" sz="1500" dirty="0"/>
          </a:p>
        </p:txBody>
      </p:sp>
      <p:sp>
        <p:nvSpPr>
          <p:cNvPr id="10" name="Text 8"/>
          <p:cNvSpPr/>
          <p:nvPr/>
        </p:nvSpPr>
        <p:spPr>
          <a:xfrm>
            <a:off x="1463040" y="1783080"/>
            <a:ext cx="7040880" cy="457200"/>
          </a:xfrm>
          <a:prstGeom prst="rect">
            <a:avLst/>
          </a:prstGeom>
          <a:noFill/>
          <a:ln/>
        </p:spPr>
        <p:txBody>
          <a:bodyPr wrap="square" lIns="0" tIns="0" rIns="0" bIns="0" rtlCol="0" anchor="ctr"/>
          <a:lstStyle/>
          <a:p>
            <a:pPr indent="0" marL="0">
              <a:buNone/>
            </a:pPr>
            <a:r>
              <a:rPr lang="en-US" sz="1200" dirty="0">
                <a:solidFill>
                  <a:srgbClr val="1B1F3A"/>
                </a:solidFill>
                <a:latin typeface="Calibri" pitchFamily="34" charset="0"/>
                <a:ea typeface="Calibri" pitchFamily="34" charset="-122"/>
                <a:cs typeface="Calibri" pitchFamily="34" charset="-120"/>
              </a:rPr>
              <a:t>Mesurer rendement, calibre et qualité de l'oignon, du céleri et la germination de l'épinard sous plusieurs seuils de potentiel matriciel.</a:t>
            </a:r>
            <a:endParaRPr lang="en-US" sz="1200" dirty="0"/>
          </a:p>
        </p:txBody>
      </p:sp>
      <p:sp>
        <p:nvSpPr>
          <p:cNvPr id="11" name="Shape 9"/>
          <p:cNvSpPr/>
          <p:nvPr/>
        </p:nvSpPr>
        <p:spPr>
          <a:xfrm>
            <a:off x="502920" y="2377440"/>
            <a:ext cx="8229600" cy="960120"/>
          </a:xfrm>
          <a:prstGeom prst="rect">
            <a:avLst/>
          </a:prstGeom>
          <a:solidFill>
            <a:srgbClr val="FAFAF7"/>
          </a:solidFill>
          <a:ln w="12700">
            <a:solidFill>
              <a:srgbClr val="D4DBE2"/>
            </a:solidFill>
            <a:prstDash val="solid"/>
          </a:ln>
          <a:effectLst>
            <a:outerShdw sx="100000" sy="100000" kx="0" ky="0" algn="bl" rotWithShape="0" blurRad="101600" dist="25400" dir="5400000">
              <a:srgbClr val="000000">
                <a:alpha val="10000"/>
              </a:srgbClr>
            </a:outerShdw>
          </a:effectLst>
        </p:spPr>
      </p:sp>
      <p:sp>
        <p:nvSpPr>
          <p:cNvPr id="12" name="Shape 10"/>
          <p:cNvSpPr/>
          <p:nvPr/>
        </p:nvSpPr>
        <p:spPr>
          <a:xfrm>
            <a:off x="685800" y="2578608"/>
            <a:ext cx="594360" cy="594360"/>
          </a:xfrm>
          <a:prstGeom prst="ellipse">
            <a:avLst/>
          </a:prstGeom>
          <a:solidFill>
            <a:srgbClr val="0B3954"/>
          </a:solidFill>
          <a:ln w="12700">
            <a:solidFill>
              <a:srgbClr val="0B3954"/>
            </a:solidFill>
            <a:prstDash val="solid"/>
          </a:ln>
        </p:spPr>
      </p:sp>
      <p:sp>
        <p:nvSpPr>
          <p:cNvPr id="13" name="Text 11"/>
          <p:cNvSpPr/>
          <p:nvPr/>
        </p:nvSpPr>
        <p:spPr>
          <a:xfrm>
            <a:off x="685800" y="2578608"/>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2"/>
          <p:cNvSpPr/>
          <p:nvPr/>
        </p:nvSpPr>
        <p:spPr>
          <a:xfrm>
            <a:off x="1463040" y="2496312"/>
            <a:ext cx="7040880" cy="365760"/>
          </a:xfrm>
          <a:prstGeom prst="rect">
            <a:avLst/>
          </a:prstGeom>
          <a:noFill/>
          <a:ln/>
        </p:spPr>
        <p:txBody>
          <a:bodyPr wrap="square" lIns="0" tIns="0" rIns="0" bIns="0" rtlCol="0" anchor="ctr"/>
          <a:lstStyle/>
          <a:p>
            <a:pPr indent="0" marL="0">
              <a:buNone/>
            </a:pPr>
            <a:r>
              <a:rPr lang="en-US" sz="1500" b="1" dirty="0">
                <a:solidFill>
                  <a:srgbClr val="0B3954"/>
                </a:solidFill>
                <a:latin typeface="Calibri" pitchFamily="34" charset="0"/>
                <a:ea typeface="Calibri" pitchFamily="34" charset="-122"/>
                <a:cs typeface="Calibri" pitchFamily="34" charset="-120"/>
              </a:rPr>
              <a:t>Lier seuils et propriétés du sol</a:t>
            </a:r>
            <a:endParaRPr lang="en-US" sz="1500" dirty="0"/>
          </a:p>
        </p:txBody>
      </p:sp>
      <p:sp>
        <p:nvSpPr>
          <p:cNvPr id="15" name="Text 13"/>
          <p:cNvSpPr/>
          <p:nvPr/>
        </p:nvSpPr>
        <p:spPr>
          <a:xfrm>
            <a:off x="1463040" y="2880360"/>
            <a:ext cx="7040880" cy="457200"/>
          </a:xfrm>
          <a:prstGeom prst="rect">
            <a:avLst/>
          </a:prstGeom>
          <a:noFill/>
          <a:ln/>
        </p:spPr>
        <p:txBody>
          <a:bodyPr wrap="square" lIns="0" tIns="0" rIns="0" bIns="0" rtlCol="0" anchor="ctr"/>
          <a:lstStyle/>
          <a:p>
            <a:pPr indent="0" marL="0">
              <a:buNone/>
            </a:pPr>
            <a:r>
              <a:rPr lang="en-US" sz="1200" dirty="0">
                <a:solidFill>
                  <a:srgbClr val="1B1F3A"/>
                </a:solidFill>
                <a:latin typeface="Calibri" pitchFamily="34" charset="0"/>
                <a:ea typeface="Calibri" pitchFamily="34" charset="-122"/>
                <a:cs typeface="Calibri" pitchFamily="34" charset="-120"/>
              </a:rPr>
              <a:t>Établir un lien entre seuils optimaux et caractéristiques hydrauliques mesurées (rétention, K(h)).</a:t>
            </a:r>
            <a:endParaRPr lang="en-US" sz="1200" dirty="0"/>
          </a:p>
        </p:txBody>
      </p:sp>
      <p:sp>
        <p:nvSpPr>
          <p:cNvPr id="16" name="Shape 14"/>
          <p:cNvSpPr/>
          <p:nvPr/>
        </p:nvSpPr>
        <p:spPr>
          <a:xfrm>
            <a:off x="502920" y="3474720"/>
            <a:ext cx="8229600" cy="960120"/>
          </a:xfrm>
          <a:prstGeom prst="rect">
            <a:avLst/>
          </a:prstGeom>
          <a:solidFill>
            <a:srgbClr val="FAFAF7"/>
          </a:solidFill>
          <a:ln w="12700">
            <a:solidFill>
              <a:srgbClr val="D4DBE2"/>
            </a:solidFill>
            <a:prstDash val="solid"/>
          </a:ln>
          <a:effectLst>
            <a:outerShdw sx="100000" sy="100000" kx="0" ky="0" algn="bl" rotWithShape="0" blurRad="101600" dist="25400" dir="5400000">
              <a:srgbClr val="000000">
                <a:alpha val="10000"/>
              </a:srgbClr>
            </a:outerShdw>
          </a:effectLst>
        </p:spPr>
      </p:sp>
      <p:sp>
        <p:nvSpPr>
          <p:cNvPr id="17" name="Shape 15"/>
          <p:cNvSpPr/>
          <p:nvPr/>
        </p:nvSpPr>
        <p:spPr>
          <a:xfrm>
            <a:off x="685800" y="3675888"/>
            <a:ext cx="594360" cy="594360"/>
          </a:xfrm>
          <a:prstGeom prst="ellipse">
            <a:avLst/>
          </a:prstGeom>
          <a:solidFill>
            <a:srgbClr val="0B3954"/>
          </a:solidFill>
          <a:ln w="12700">
            <a:solidFill>
              <a:srgbClr val="0B3954"/>
            </a:solidFill>
            <a:prstDash val="solid"/>
          </a:ln>
        </p:spPr>
      </p:sp>
      <p:sp>
        <p:nvSpPr>
          <p:cNvPr id="18" name="Text 16"/>
          <p:cNvSpPr/>
          <p:nvPr/>
        </p:nvSpPr>
        <p:spPr>
          <a:xfrm>
            <a:off x="685800" y="3675888"/>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1463040" y="3593592"/>
            <a:ext cx="7040880" cy="365760"/>
          </a:xfrm>
          <a:prstGeom prst="rect">
            <a:avLst/>
          </a:prstGeom>
          <a:noFill/>
          <a:ln/>
        </p:spPr>
        <p:txBody>
          <a:bodyPr wrap="square" lIns="0" tIns="0" rIns="0" bIns="0" rtlCol="0" anchor="ctr"/>
          <a:lstStyle/>
          <a:p>
            <a:pPr indent="0" marL="0">
              <a:buNone/>
            </a:pPr>
            <a:r>
              <a:rPr lang="en-US" sz="1500" b="1" dirty="0">
                <a:solidFill>
                  <a:srgbClr val="0B3954"/>
                </a:solidFill>
                <a:latin typeface="Calibri" pitchFamily="34" charset="0"/>
                <a:ea typeface="Calibri" pitchFamily="34" charset="-122"/>
                <a:cs typeface="Calibri" pitchFamily="34" charset="-120"/>
              </a:rPr>
              <a:t>Tester une solution analytique simple</a:t>
            </a:r>
            <a:endParaRPr lang="en-US" sz="1500" dirty="0"/>
          </a:p>
        </p:txBody>
      </p:sp>
      <p:sp>
        <p:nvSpPr>
          <p:cNvPr id="20" name="Text 18"/>
          <p:cNvSpPr/>
          <p:nvPr/>
        </p:nvSpPr>
        <p:spPr>
          <a:xfrm>
            <a:off x="1463040" y="3977640"/>
            <a:ext cx="7040880" cy="457200"/>
          </a:xfrm>
          <a:prstGeom prst="rect">
            <a:avLst/>
          </a:prstGeom>
          <a:noFill/>
          <a:ln/>
        </p:spPr>
        <p:txBody>
          <a:bodyPr wrap="square" lIns="0" tIns="0" rIns="0" bIns="0" rtlCol="0" anchor="ctr"/>
          <a:lstStyle/>
          <a:p>
            <a:pPr indent="0" marL="0">
              <a:buNone/>
            </a:pPr>
            <a:r>
              <a:rPr lang="en-US" sz="1200" dirty="0">
                <a:solidFill>
                  <a:srgbClr val="1B1F3A"/>
                </a:solidFill>
                <a:latin typeface="Calibri" pitchFamily="34" charset="0"/>
                <a:ea typeface="Calibri" pitchFamily="34" charset="-122"/>
                <a:cs typeface="Calibri" pitchFamily="34" charset="-120"/>
              </a:rPr>
              <a:t>Vérifier que la solution stationnaire de Yuan &amp; Lu (2005) approche bien les seuils — sans recourir à un modèle numérique complet.</a:t>
            </a:r>
            <a:endParaRPr lang="en-US" sz="1200" dirty="0"/>
          </a:p>
        </p:txBody>
      </p:sp>
      <p:sp>
        <p:nvSpPr>
          <p:cNvPr id="21" name="Text 19"/>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Sites et cultures étudiées</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Coop des Producteurs Multiveg, sud-ouest du Québec (45°12′N, 73°27′W)</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sp>
        <p:nvSpPr>
          <p:cNvPr id="6" name="Shape 4"/>
          <p:cNvSpPr/>
          <p:nvPr/>
        </p:nvSpPr>
        <p:spPr>
          <a:xfrm>
            <a:off x="502920" y="1280160"/>
            <a:ext cx="8229600" cy="777240"/>
          </a:xfrm>
          <a:prstGeom prst="rect">
            <a:avLst/>
          </a:prstGeom>
          <a:solidFill>
            <a:srgbClr val="F4F1DE"/>
          </a:solidFill>
          <a:ln w="12700">
            <a:solidFill>
              <a:srgbClr val="F4F1DE"/>
            </a:solidFill>
            <a:prstDash val="solid"/>
          </a:ln>
        </p:spPr>
      </p:sp>
      <p:pic>
        <p:nvPicPr>
          <p:cNvPr id="7" name="Image 0" descr="preencoded.png">    </p:cNvPr>
          <p:cNvPicPr>
            <a:picLocks noChangeAspect="1"/>
          </p:cNvPicPr>
          <p:nvPr/>
        </p:nvPicPr>
        <p:blipFill>
          <a:blip r:embed="rId1"/>
          <a:stretch>
            <a:fillRect/>
          </a:stretch>
        </p:blipFill>
        <p:spPr>
          <a:xfrm>
            <a:off x="685800" y="1417320"/>
            <a:ext cx="502920" cy="502920"/>
          </a:xfrm>
          <a:prstGeom prst="rect">
            <a:avLst/>
          </a:prstGeom>
        </p:spPr>
      </p:pic>
      <p:sp>
        <p:nvSpPr>
          <p:cNvPr id="8" name="Text 5"/>
          <p:cNvSpPr/>
          <p:nvPr/>
        </p:nvSpPr>
        <p:spPr>
          <a:xfrm>
            <a:off x="1325880" y="1371600"/>
            <a:ext cx="7315200" cy="685800"/>
          </a:xfrm>
          <a:prstGeom prst="rect">
            <a:avLst/>
          </a:prstGeom>
          <a:noFill/>
          <a:ln/>
        </p:spPr>
        <p:txBody>
          <a:bodyPr wrap="square" lIns="0" tIns="0" rIns="0" bIns="0" rtlCol="0" anchor="ctr"/>
          <a:lstStyle/>
          <a:p>
            <a:pPr indent="0" marL="0">
              <a:spcAft>
                <a:spcPts val="200"/>
              </a:spcAft>
              <a:buNone/>
            </a:pPr>
            <a:r>
              <a:rPr lang="en-US" sz="1200" b="1" dirty="0">
                <a:solidFill>
                  <a:srgbClr val="B85042"/>
                </a:solidFill>
                <a:latin typeface="Calibri" pitchFamily="34" charset="0"/>
                <a:ea typeface="Calibri" pitchFamily="34" charset="-122"/>
                <a:cs typeface="Calibri" pitchFamily="34" charset="-120"/>
              </a:rPr>
              <a:t>Sols étudiés — Histosols (sols organiques de muck)</a:t>
            </a:r>
            <a:endParaRPr lang="en-US" sz="1200" dirty="0"/>
          </a:p>
          <a:p>
            <a:pPr indent="0" marL="0">
              <a:spcAft>
                <a:spcPts val="200"/>
              </a:spcAft>
              <a:buNone/>
            </a:pPr>
            <a:r>
              <a:rPr lang="en-US" sz="1200" dirty="0">
                <a:solidFill>
                  <a:srgbClr val="1B1F3A"/>
                </a:solidFill>
                <a:latin typeface="Calibri" pitchFamily="34" charset="0"/>
                <a:ea typeface="Calibri" pitchFamily="34" charset="-122"/>
                <a:cs typeface="Calibri" pitchFamily="34" charset="-120"/>
              </a:rPr>
              <a:t>Stratifiés : couche humique 0–25 cm, compactée 25–45 cm, fibrique/mésique en dessous, drainage par fossés à ~1 m de profondeur.</a:t>
            </a:r>
            <a:endParaRPr lang="en-US" sz="1200" dirty="0"/>
          </a:p>
        </p:txBody>
      </p:sp>
      <p:sp>
        <p:nvSpPr>
          <p:cNvPr id="9" name="Shape 6"/>
          <p:cNvSpPr/>
          <p:nvPr/>
        </p:nvSpPr>
        <p:spPr>
          <a:xfrm>
            <a:off x="502920" y="2286000"/>
            <a:ext cx="2606040" cy="2331720"/>
          </a:xfrm>
          <a:prstGeom prst="rect">
            <a:avLst/>
          </a:prstGeom>
          <a:solidFill>
            <a:srgbClr val="FFFFFF"/>
          </a:solidFill>
          <a:ln w="12700">
            <a:solidFill>
              <a:srgbClr val="D4DBE2"/>
            </a:solidFill>
            <a:prstDash val="solid"/>
          </a:ln>
          <a:effectLst>
            <a:outerShdw sx="100000" sy="100000" kx="0" ky="0" algn="bl" rotWithShape="0" blurRad="101600" dist="25400" dir="5400000">
              <a:srgbClr val="000000">
                <a:alpha val="10000"/>
              </a:srgbClr>
            </a:outerShdw>
          </a:effectLst>
        </p:spPr>
      </p:sp>
      <p:sp>
        <p:nvSpPr>
          <p:cNvPr id="10" name="Shape 7"/>
          <p:cNvSpPr/>
          <p:nvPr/>
        </p:nvSpPr>
        <p:spPr>
          <a:xfrm>
            <a:off x="502920" y="2286000"/>
            <a:ext cx="2606040" cy="182880"/>
          </a:xfrm>
          <a:prstGeom prst="rect">
            <a:avLst/>
          </a:prstGeom>
          <a:solidFill>
            <a:srgbClr val="0B3954"/>
          </a:solidFill>
          <a:ln w="12700">
            <a:solidFill>
              <a:srgbClr val="0B3954"/>
            </a:solidFill>
            <a:prstDash val="solid"/>
          </a:ln>
        </p:spPr>
      </p:sp>
      <p:sp>
        <p:nvSpPr>
          <p:cNvPr id="11" name="Shape 8"/>
          <p:cNvSpPr/>
          <p:nvPr/>
        </p:nvSpPr>
        <p:spPr>
          <a:xfrm>
            <a:off x="1481328" y="2697480"/>
            <a:ext cx="640080" cy="640080"/>
          </a:xfrm>
          <a:prstGeom prst="ellipse">
            <a:avLst/>
          </a:prstGeom>
          <a:solidFill>
            <a:srgbClr val="F4F1DE"/>
          </a:solidFill>
          <a:ln w="25400">
            <a:solidFill>
              <a:srgbClr val="0B3954"/>
            </a:solidFill>
            <a:prstDash val="solid"/>
          </a:ln>
        </p:spPr>
      </p:sp>
      <p:pic>
        <p:nvPicPr>
          <p:cNvPr id="12" name="Image 1" descr="preencoded.png">    </p:cNvPr>
          <p:cNvPicPr>
            <a:picLocks noChangeAspect="1"/>
          </p:cNvPicPr>
          <p:nvPr/>
        </p:nvPicPr>
        <p:blipFill>
          <a:blip r:embed="rId2"/>
          <a:stretch>
            <a:fillRect/>
          </a:stretch>
        </p:blipFill>
        <p:spPr>
          <a:xfrm>
            <a:off x="1600200" y="2816352"/>
            <a:ext cx="411480" cy="411480"/>
          </a:xfrm>
          <a:prstGeom prst="rect">
            <a:avLst/>
          </a:prstGeom>
        </p:spPr>
      </p:pic>
      <p:sp>
        <p:nvSpPr>
          <p:cNvPr id="13" name="Text 9"/>
          <p:cNvSpPr/>
          <p:nvPr/>
        </p:nvSpPr>
        <p:spPr>
          <a:xfrm>
            <a:off x="685800" y="3429000"/>
            <a:ext cx="2240280" cy="320040"/>
          </a:xfrm>
          <a:prstGeom prst="rect">
            <a:avLst/>
          </a:prstGeom>
          <a:noFill/>
          <a:ln/>
        </p:spPr>
        <p:txBody>
          <a:bodyPr wrap="square" lIns="0" tIns="0" rIns="0" bIns="0" rtlCol="0" anchor="ctr"/>
          <a:lstStyle/>
          <a:p>
            <a:pPr algn="ctr" indent="0" marL="0">
              <a:buNone/>
            </a:pPr>
            <a:r>
              <a:rPr lang="en-US" sz="1600" b="1" dirty="0">
                <a:solidFill>
                  <a:srgbClr val="0B3954"/>
                </a:solidFill>
                <a:latin typeface="Calibri" pitchFamily="34" charset="0"/>
                <a:ea typeface="Calibri" pitchFamily="34" charset="-122"/>
                <a:cs typeface="Calibri" pitchFamily="34" charset="-120"/>
              </a:rPr>
              <a:t>Oignon</a:t>
            </a:r>
            <a:endParaRPr lang="en-US" sz="1600" dirty="0"/>
          </a:p>
        </p:txBody>
      </p:sp>
      <p:sp>
        <p:nvSpPr>
          <p:cNvPr id="14" name="Text 10"/>
          <p:cNvSpPr/>
          <p:nvPr/>
        </p:nvSpPr>
        <p:spPr>
          <a:xfrm>
            <a:off x="685800" y="3703320"/>
            <a:ext cx="2240280" cy="228600"/>
          </a:xfrm>
          <a:prstGeom prst="rect">
            <a:avLst/>
          </a:prstGeom>
          <a:noFill/>
          <a:ln/>
        </p:spPr>
        <p:txBody>
          <a:bodyPr wrap="square" lIns="0" tIns="0" rIns="0" bIns="0" rtlCol="0" anchor="ctr"/>
          <a:lstStyle/>
          <a:p>
            <a:pPr algn="ctr" indent="0" marL="0">
              <a:buNone/>
            </a:pPr>
            <a:r>
              <a:rPr lang="en-US" sz="1000" i="1" dirty="0">
                <a:solidFill>
                  <a:srgbClr val="55657A"/>
                </a:solidFill>
                <a:latin typeface="Calibri" pitchFamily="34" charset="0"/>
                <a:ea typeface="Calibri" pitchFamily="34" charset="-122"/>
                <a:cs typeface="Calibri" pitchFamily="34" charset="-120"/>
              </a:rPr>
              <a:t>Allium cepa</a:t>
            </a:r>
            <a:endParaRPr lang="en-US" sz="1000" dirty="0"/>
          </a:p>
        </p:txBody>
      </p:sp>
      <p:sp>
        <p:nvSpPr>
          <p:cNvPr id="15" name="Text 11"/>
          <p:cNvSpPr/>
          <p:nvPr/>
        </p:nvSpPr>
        <p:spPr>
          <a:xfrm>
            <a:off x="685800" y="3950208"/>
            <a:ext cx="2240280" cy="640080"/>
          </a:xfrm>
          <a:prstGeom prst="rect">
            <a:avLst/>
          </a:prstGeom>
          <a:noFill/>
          <a:ln/>
        </p:spPr>
        <p:txBody>
          <a:bodyPr wrap="square" lIns="0" tIns="0" rIns="0" bIns="0" rtlCol="0" anchor="ctr"/>
          <a:lstStyle/>
          <a:p>
            <a:pPr algn="ctr" indent="0" marL="0">
              <a:buNone/>
            </a:pPr>
            <a:r>
              <a:rPr lang="en-US" sz="1050" dirty="0">
                <a:solidFill>
                  <a:srgbClr val="1B1F3A"/>
                </a:solidFill>
                <a:latin typeface="Calibri" pitchFamily="34" charset="0"/>
                <a:ea typeface="Calibri" pitchFamily="34" charset="-122"/>
                <a:cs typeface="Calibri" pitchFamily="34" charset="-120"/>
              </a:rPr>
              <a:t>Norstar (2008), Timberline (2009).</a:t>
            </a:r>
            <a:endParaRPr lang="en-US" sz="1050" dirty="0"/>
          </a:p>
          <a:p>
            <a:pPr algn="ctr" indent="0" marL="0">
              <a:buNone/>
            </a:pPr>
            <a:r>
              <a:rPr lang="en-US" sz="1050" dirty="0">
                <a:solidFill>
                  <a:srgbClr val="1B1F3A"/>
                </a:solidFill>
                <a:latin typeface="Calibri" pitchFamily="34" charset="0"/>
                <a:ea typeface="Calibri" pitchFamily="34" charset="-122"/>
                <a:cs typeface="Calibri" pitchFamily="34" charset="-120"/>
              </a:rPr>
              <a:t>4 doubles rangs/planche · 125 j de croissance.</a:t>
            </a:r>
            <a:endParaRPr lang="en-US" sz="1050" dirty="0"/>
          </a:p>
        </p:txBody>
      </p:sp>
      <p:sp>
        <p:nvSpPr>
          <p:cNvPr id="16" name="Shape 12"/>
          <p:cNvSpPr/>
          <p:nvPr/>
        </p:nvSpPr>
        <p:spPr>
          <a:xfrm>
            <a:off x="3291840" y="2286000"/>
            <a:ext cx="2606040" cy="2331720"/>
          </a:xfrm>
          <a:prstGeom prst="rect">
            <a:avLst/>
          </a:prstGeom>
          <a:solidFill>
            <a:srgbClr val="FFFFFF"/>
          </a:solidFill>
          <a:ln w="12700">
            <a:solidFill>
              <a:srgbClr val="D4DBE2"/>
            </a:solidFill>
            <a:prstDash val="solid"/>
          </a:ln>
          <a:effectLst>
            <a:outerShdw sx="100000" sy="100000" kx="0" ky="0" algn="bl" rotWithShape="0" blurRad="101600" dist="25400" dir="5400000">
              <a:srgbClr val="000000">
                <a:alpha val="10000"/>
              </a:srgbClr>
            </a:outerShdw>
          </a:effectLst>
        </p:spPr>
      </p:sp>
      <p:sp>
        <p:nvSpPr>
          <p:cNvPr id="17" name="Shape 13"/>
          <p:cNvSpPr/>
          <p:nvPr/>
        </p:nvSpPr>
        <p:spPr>
          <a:xfrm>
            <a:off x="3291840" y="2286000"/>
            <a:ext cx="2606040" cy="182880"/>
          </a:xfrm>
          <a:prstGeom prst="rect">
            <a:avLst/>
          </a:prstGeom>
          <a:solidFill>
            <a:srgbClr val="5A8F29"/>
          </a:solidFill>
          <a:ln w="12700">
            <a:solidFill>
              <a:srgbClr val="5A8F29"/>
            </a:solidFill>
            <a:prstDash val="solid"/>
          </a:ln>
        </p:spPr>
      </p:sp>
      <p:sp>
        <p:nvSpPr>
          <p:cNvPr id="18" name="Shape 14"/>
          <p:cNvSpPr/>
          <p:nvPr/>
        </p:nvSpPr>
        <p:spPr>
          <a:xfrm>
            <a:off x="4270248" y="2697480"/>
            <a:ext cx="640080" cy="640080"/>
          </a:xfrm>
          <a:prstGeom prst="ellipse">
            <a:avLst/>
          </a:prstGeom>
          <a:solidFill>
            <a:srgbClr val="F4F1DE"/>
          </a:solidFill>
          <a:ln w="25400">
            <a:solidFill>
              <a:srgbClr val="5A8F29"/>
            </a:solidFill>
            <a:prstDash val="solid"/>
          </a:ln>
        </p:spPr>
      </p:sp>
      <p:pic>
        <p:nvPicPr>
          <p:cNvPr id="19" name="Image 2" descr="preencoded.png">    </p:cNvPr>
          <p:cNvPicPr>
            <a:picLocks noChangeAspect="1"/>
          </p:cNvPicPr>
          <p:nvPr/>
        </p:nvPicPr>
        <p:blipFill>
          <a:blip r:embed="rId3"/>
          <a:stretch>
            <a:fillRect/>
          </a:stretch>
        </p:blipFill>
        <p:spPr>
          <a:xfrm>
            <a:off x="4389120" y="2816352"/>
            <a:ext cx="411480" cy="411480"/>
          </a:xfrm>
          <a:prstGeom prst="rect">
            <a:avLst/>
          </a:prstGeom>
        </p:spPr>
      </p:pic>
      <p:sp>
        <p:nvSpPr>
          <p:cNvPr id="20" name="Text 15"/>
          <p:cNvSpPr/>
          <p:nvPr/>
        </p:nvSpPr>
        <p:spPr>
          <a:xfrm>
            <a:off x="3474720" y="3429000"/>
            <a:ext cx="2240280" cy="320040"/>
          </a:xfrm>
          <a:prstGeom prst="rect">
            <a:avLst/>
          </a:prstGeom>
          <a:noFill/>
          <a:ln/>
        </p:spPr>
        <p:txBody>
          <a:bodyPr wrap="square" lIns="0" tIns="0" rIns="0" bIns="0" rtlCol="0" anchor="ctr"/>
          <a:lstStyle/>
          <a:p>
            <a:pPr algn="ctr" indent="0" marL="0">
              <a:buNone/>
            </a:pPr>
            <a:r>
              <a:rPr lang="en-US" sz="1600" b="1" dirty="0">
                <a:solidFill>
                  <a:srgbClr val="5A8F29"/>
                </a:solidFill>
                <a:latin typeface="Calibri" pitchFamily="34" charset="0"/>
                <a:ea typeface="Calibri" pitchFamily="34" charset="-122"/>
                <a:cs typeface="Calibri" pitchFamily="34" charset="-120"/>
              </a:rPr>
              <a:t>Céleri</a:t>
            </a:r>
            <a:endParaRPr lang="en-US" sz="1600" dirty="0"/>
          </a:p>
        </p:txBody>
      </p:sp>
      <p:sp>
        <p:nvSpPr>
          <p:cNvPr id="21" name="Text 16"/>
          <p:cNvSpPr/>
          <p:nvPr/>
        </p:nvSpPr>
        <p:spPr>
          <a:xfrm>
            <a:off x="3474720" y="3703320"/>
            <a:ext cx="2240280" cy="228600"/>
          </a:xfrm>
          <a:prstGeom prst="rect">
            <a:avLst/>
          </a:prstGeom>
          <a:noFill/>
          <a:ln/>
        </p:spPr>
        <p:txBody>
          <a:bodyPr wrap="square" lIns="0" tIns="0" rIns="0" bIns="0" rtlCol="0" anchor="ctr"/>
          <a:lstStyle/>
          <a:p>
            <a:pPr algn="ctr" indent="0" marL="0">
              <a:buNone/>
            </a:pPr>
            <a:r>
              <a:rPr lang="en-US" sz="1000" i="1" dirty="0">
                <a:solidFill>
                  <a:srgbClr val="55657A"/>
                </a:solidFill>
                <a:latin typeface="Calibri" pitchFamily="34" charset="0"/>
                <a:ea typeface="Calibri" pitchFamily="34" charset="-122"/>
                <a:cs typeface="Calibri" pitchFamily="34" charset="-120"/>
              </a:rPr>
              <a:t>Apium graveolens</a:t>
            </a:r>
            <a:endParaRPr lang="en-US" sz="1000" dirty="0"/>
          </a:p>
        </p:txBody>
      </p:sp>
      <p:sp>
        <p:nvSpPr>
          <p:cNvPr id="22" name="Text 17"/>
          <p:cNvSpPr/>
          <p:nvPr/>
        </p:nvSpPr>
        <p:spPr>
          <a:xfrm>
            <a:off x="3474720" y="3950208"/>
            <a:ext cx="2240280" cy="640080"/>
          </a:xfrm>
          <a:prstGeom prst="rect">
            <a:avLst/>
          </a:prstGeom>
          <a:noFill/>
          <a:ln/>
        </p:spPr>
        <p:txBody>
          <a:bodyPr wrap="square" lIns="0" tIns="0" rIns="0" bIns="0" rtlCol="0" anchor="ctr"/>
          <a:lstStyle/>
          <a:p>
            <a:pPr algn="ctr" indent="0" marL="0">
              <a:buNone/>
            </a:pPr>
            <a:r>
              <a:rPr lang="en-US" sz="1050" dirty="0">
                <a:solidFill>
                  <a:srgbClr val="1B1F3A"/>
                </a:solidFill>
                <a:latin typeface="Calibri" pitchFamily="34" charset="0"/>
                <a:ea typeface="Calibri" pitchFamily="34" charset="-122"/>
                <a:cs typeface="Calibri" pitchFamily="34" charset="-120"/>
              </a:rPr>
              <a:t>Cv. XP266 · ~5 plants/m · 79–85 j.</a:t>
            </a:r>
            <a:endParaRPr lang="en-US" sz="1050" dirty="0"/>
          </a:p>
          <a:p>
            <a:pPr algn="ctr" indent="0" marL="0">
              <a:buNone/>
            </a:pPr>
            <a:r>
              <a:rPr lang="en-US" sz="1050" dirty="0">
                <a:solidFill>
                  <a:srgbClr val="1B1F3A"/>
                </a:solidFill>
                <a:latin typeface="Calibri" pitchFamily="34" charset="0"/>
                <a:ea typeface="Calibri" pitchFamily="34" charset="-122"/>
                <a:cs typeface="Calibri" pitchFamily="34" charset="-120"/>
              </a:rPr>
              <a:t>Irrigation immédiate après transplantation.</a:t>
            </a:r>
            <a:endParaRPr lang="en-US" sz="1050" dirty="0"/>
          </a:p>
        </p:txBody>
      </p:sp>
      <p:sp>
        <p:nvSpPr>
          <p:cNvPr id="23" name="Shape 18"/>
          <p:cNvSpPr/>
          <p:nvPr/>
        </p:nvSpPr>
        <p:spPr>
          <a:xfrm>
            <a:off x="6080760" y="2286000"/>
            <a:ext cx="2606040" cy="2331720"/>
          </a:xfrm>
          <a:prstGeom prst="rect">
            <a:avLst/>
          </a:prstGeom>
          <a:solidFill>
            <a:srgbClr val="FFFFFF"/>
          </a:solidFill>
          <a:ln w="12700">
            <a:solidFill>
              <a:srgbClr val="D4DBE2"/>
            </a:solidFill>
            <a:prstDash val="solid"/>
          </a:ln>
          <a:effectLst>
            <a:outerShdw sx="100000" sy="100000" kx="0" ky="0" algn="bl" rotWithShape="0" blurRad="101600" dist="25400" dir="5400000">
              <a:srgbClr val="000000">
                <a:alpha val="10000"/>
              </a:srgbClr>
            </a:outerShdw>
          </a:effectLst>
        </p:spPr>
      </p:sp>
      <p:sp>
        <p:nvSpPr>
          <p:cNvPr id="24" name="Shape 19"/>
          <p:cNvSpPr/>
          <p:nvPr/>
        </p:nvSpPr>
        <p:spPr>
          <a:xfrm>
            <a:off x="6080760" y="2286000"/>
            <a:ext cx="2606040" cy="182880"/>
          </a:xfrm>
          <a:prstGeom prst="rect">
            <a:avLst/>
          </a:prstGeom>
          <a:solidFill>
            <a:srgbClr val="B85042"/>
          </a:solidFill>
          <a:ln w="12700">
            <a:solidFill>
              <a:srgbClr val="B85042"/>
            </a:solidFill>
            <a:prstDash val="solid"/>
          </a:ln>
        </p:spPr>
      </p:sp>
      <p:sp>
        <p:nvSpPr>
          <p:cNvPr id="25" name="Shape 20"/>
          <p:cNvSpPr/>
          <p:nvPr/>
        </p:nvSpPr>
        <p:spPr>
          <a:xfrm>
            <a:off x="7059168" y="2697480"/>
            <a:ext cx="640080" cy="640080"/>
          </a:xfrm>
          <a:prstGeom prst="ellipse">
            <a:avLst/>
          </a:prstGeom>
          <a:solidFill>
            <a:srgbClr val="F4F1DE"/>
          </a:solidFill>
          <a:ln w="25400">
            <a:solidFill>
              <a:srgbClr val="B85042"/>
            </a:solidFill>
            <a:prstDash val="solid"/>
          </a:ln>
        </p:spPr>
      </p:sp>
      <p:pic>
        <p:nvPicPr>
          <p:cNvPr id="26" name="Image 3" descr="preencoded.png">    </p:cNvPr>
          <p:cNvPicPr>
            <a:picLocks noChangeAspect="1"/>
          </p:cNvPicPr>
          <p:nvPr/>
        </p:nvPicPr>
        <p:blipFill>
          <a:blip r:embed="rId4"/>
          <a:stretch>
            <a:fillRect/>
          </a:stretch>
        </p:blipFill>
        <p:spPr>
          <a:xfrm>
            <a:off x="7178040" y="2816352"/>
            <a:ext cx="411480" cy="411480"/>
          </a:xfrm>
          <a:prstGeom prst="rect">
            <a:avLst/>
          </a:prstGeom>
        </p:spPr>
      </p:pic>
      <p:sp>
        <p:nvSpPr>
          <p:cNvPr id="27" name="Text 21"/>
          <p:cNvSpPr/>
          <p:nvPr/>
        </p:nvSpPr>
        <p:spPr>
          <a:xfrm>
            <a:off x="6263640" y="3429000"/>
            <a:ext cx="2240280" cy="320040"/>
          </a:xfrm>
          <a:prstGeom prst="rect">
            <a:avLst/>
          </a:prstGeom>
          <a:noFill/>
          <a:ln/>
        </p:spPr>
        <p:txBody>
          <a:bodyPr wrap="square" lIns="0" tIns="0" rIns="0" bIns="0" rtlCol="0" anchor="ctr"/>
          <a:lstStyle/>
          <a:p>
            <a:pPr algn="ctr" indent="0" marL="0">
              <a:buNone/>
            </a:pPr>
            <a:r>
              <a:rPr lang="en-US" sz="1600" b="1" dirty="0">
                <a:solidFill>
                  <a:srgbClr val="B85042"/>
                </a:solidFill>
                <a:latin typeface="Calibri" pitchFamily="34" charset="0"/>
                <a:ea typeface="Calibri" pitchFamily="34" charset="-122"/>
                <a:cs typeface="Calibri" pitchFamily="34" charset="-120"/>
              </a:rPr>
              <a:t>Épinard</a:t>
            </a:r>
            <a:endParaRPr lang="en-US" sz="1600" dirty="0"/>
          </a:p>
        </p:txBody>
      </p:sp>
      <p:sp>
        <p:nvSpPr>
          <p:cNvPr id="28" name="Text 22"/>
          <p:cNvSpPr/>
          <p:nvPr/>
        </p:nvSpPr>
        <p:spPr>
          <a:xfrm>
            <a:off x="6263640" y="3703320"/>
            <a:ext cx="2240280" cy="228600"/>
          </a:xfrm>
          <a:prstGeom prst="rect">
            <a:avLst/>
          </a:prstGeom>
          <a:noFill/>
          <a:ln/>
        </p:spPr>
        <p:txBody>
          <a:bodyPr wrap="square" lIns="0" tIns="0" rIns="0" bIns="0" rtlCol="0" anchor="ctr"/>
          <a:lstStyle/>
          <a:p>
            <a:pPr algn="ctr" indent="0" marL="0">
              <a:buNone/>
            </a:pPr>
            <a:r>
              <a:rPr lang="en-US" sz="1000" i="1" dirty="0">
                <a:solidFill>
                  <a:srgbClr val="55657A"/>
                </a:solidFill>
                <a:latin typeface="Calibri" pitchFamily="34" charset="0"/>
                <a:ea typeface="Calibri" pitchFamily="34" charset="-122"/>
                <a:cs typeface="Calibri" pitchFamily="34" charset="-120"/>
              </a:rPr>
              <a:t>Spinacia oleracea</a:t>
            </a:r>
            <a:endParaRPr lang="en-US" sz="1000" dirty="0"/>
          </a:p>
        </p:txBody>
      </p:sp>
      <p:sp>
        <p:nvSpPr>
          <p:cNvPr id="29" name="Text 23"/>
          <p:cNvSpPr/>
          <p:nvPr/>
        </p:nvSpPr>
        <p:spPr>
          <a:xfrm>
            <a:off x="6263640" y="3950208"/>
            <a:ext cx="2240280" cy="640080"/>
          </a:xfrm>
          <a:prstGeom prst="rect">
            <a:avLst/>
          </a:prstGeom>
          <a:noFill/>
          <a:ln/>
        </p:spPr>
        <p:txBody>
          <a:bodyPr wrap="square" lIns="0" tIns="0" rIns="0" bIns="0" rtlCol="0" anchor="ctr"/>
          <a:lstStyle/>
          <a:p>
            <a:pPr algn="ctr" indent="0" marL="0">
              <a:buNone/>
            </a:pPr>
            <a:r>
              <a:rPr lang="en-US" sz="1050" dirty="0">
                <a:solidFill>
                  <a:srgbClr val="1B1F3A"/>
                </a:solidFill>
                <a:latin typeface="Calibri" pitchFamily="34" charset="0"/>
                <a:ea typeface="Calibri" pitchFamily="34" charset="-122"/>
                <a:cs typeface="Calibri" pitchFamily="34" charset="-120"/>
              </a:rPr>
              <a:t>Waitiki, C2-606, Toucon · 24 rangs.</a:t>
            </a:r>
            <a:endParaRPr lang="en-US" sz="1050" dirty="0"/>
          </a:p>
          <a:p>
            <a:pPr algn="ctr" indent="0" marL="0">
              <a:buNone/>
            </a:pPr>
            <a:r>
              <a:rPr lang="en-US" sz="1050" dirty="0">
                <a:solidFill>
                  <a:srgbClr val="1B1F3A"/>
                </a:solidFill>
                <a:latin typeface="Calibri" pitchFamily="34" charset="0"/>
                <a:ea typeface="Calibri" pitchFamily="34" charset="-122"/>
                <a:cs typeface="Calibri" pitchFamily="34" charset="-120"/>
              </a:rPr>
              <a:t>Objectif : germination optimale (semis peu profond).</a:t>
            </a:r>
            <a:endParaRPr lang="en-US" sz="1050" dirty="0"/>
          </a:p>
        </p:txBody>
      </p:sp>
      <p:sp>
        <p:nvSpPr>
          <p:cNvPr id="30" name="Text 24"/>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Plan expérimental</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Traitements de potentiel matriciel et contrôle</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1280160"/>
                <a:gridCol w="1188720"/>
                <a:gridCol w="3931920"/>
                <a:gridCol w="1828800"/>
              </a:tblGrid>
              <a:tr h="4114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Culture</a:t>
                      </a:r>
                      <a:endParaRPr lang="en-US" sz="1100" dirty="0">
                        <a:latin typeface="Calibri" charset="0"/>
                        <a:ea typeface="Calibri" charset="0"/>
                        <a:cs typeface="Calibri" charset="0"/>
                      </a:endParaRPr>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0B395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Année</a:t>
                      </a:r>
                      <a:endParaRPr lang="en-US" sz="1100" dirty="0">
                        <a:latin typeface="Calibri" charset="0"/>
                        <a:ea typeface="Calibri" charset="0"/>
                        <a:cs typeface="Calibri" charset="0"/>
                      </a:endParaRPr>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0B395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Seuils testés (kPa)</a:t>
                      </a:r>
                      <a:endParaRPr lang="en-US" sz="1100" dirty="0">
                        <a:latin typeface="Calibri" charset="0"/>
                        <a:ea typeface="Calibri" charset="0"/>
                        <a:cs typeface="Calibri" charset="0"/>
                      </a:endParaRPr>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0B395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Contrôle</a:t>
                      </a:r>
                      <a:endParaRPr lang="en-US" sz="1100" dirty="0">
                        <a:latin typeface="Calibri" charset="0"/>
                        <a:ea typeface="Calibri" charset="0"/>
                        <a:cs typeface="Calibri" charset="0"/>
                      </a:endParaRPr>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0B3954"/>
                    </a:solidFill>
                  </a:tcPr>
                </a:tc>
              </a:tr>
              <a:tr h="411480">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Oignon</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2008–2009</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−10  ·  −20 (en bulbaison et toute saison)</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Sans irrigation</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r>
              <a:tr h="411480">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Céleri</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2008</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−30  ·  −50</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Pratiques producteur</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r>
              <a:tr h="411480">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Céleri</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2009</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−15  ·  −30</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Sans irrigation</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r>
              <a:tr h="411480">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Épinard</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2010</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−10  ·  −20  (couche 0–3 cm)</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indent="0" marL="0">
                        <a:buNone/>
                      </a:pPr>
                      <a:r>
                        <a:rPr lang="en-US" sz="1100" dirty="0">
                          <a:solidFill>
                            <a:srgbClr val="1B1F3A"/>
                          </a:solidFill>
                          <a:latin typeface="Calibri" pitchFamily="34" charset="0"/>
                          <a:ea typeface="Calibri" pitchFamily="34" charset="-122"/>
                          <a:cs typeface="Calibri" pitchFamily="34" charset="-120"/>
                        </a:rPr>
                        <a:t>Pratiques producteur</a:t>
                      </a:r>
                      <a:endParaRPr lang="en-US" sz="1100" dirty="0">
                        <a:latin typeface="Calibri" charset="0"/>
                        <a:ea typeface="Calibri" charset="0"/>
                        <a:cs typeface="Calibri" charset="0"/>
                      </a:endParaRPr>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r>
            </a:tbl>
          </a:graphicData>
        </a:graphic>
      </p:graphicFrame>
      <p:sp>
        <p:nvSpPr>
          <p:cNvPr id="7" name="Shape 4"/>
          <p:cNvSpPr/>
          <p:nvPr/>
        </p:nvSpPr>
        <p:spPr>
          <a:xfrm>
            <a:off x="502920" y="3611880"/>
            <a:ext cx="8229600" cy="960120"/>
          </a:xfrm>
          <a:prstGeom prst="rect">
            <a:avLst/>
          </a:prstGeom>
          <a:solidFill>
            <a:srgbClr val="F4F1DE"/>
          </a:solidFill>
          <a:ln w="12700">
            <a:solidFill>
              <a:srgbClr val="F4F1DE"/>
            </a:solidFill>
            <a:prstDash val="solid"/>
          </a:ln>
        </p:spPr>
      </p:sp>
      <p:pic>
        <p:nvPicPr>
          <p:cNvPr id="8" name="Image 0" descr="preencoded.png">    </p:cNvPr>
          <p:cNvPicPr>
            <a:picLocks noChangeAspect="1"/>
          </p:cNvPicPr>
          <p:nvPr/>
        </p:nvPicPr>
        <p:blipFill>
          <a:blip r:embed="rId1"/>
          <a:stretch>
            <a:fillRect/>
          </a:stretch>
        </p:blipFill>
        <p:spPr>
          <a:xfrm>
            <a:off x="685800" y="3794760"/>
            <a:ext cx="502920" cy="502920"/>
          </a:xfrm>
          <a:prstGeom prst="rect">
            <a:avLst/>
          </a:prstGeom>
        </p:spPr>
      </p:pic>
      <p:sp>
        <p:nvSpPr>
          <p:cNvPr id="9" name="Text 5"/>
          <p:cNvSpPr/>
          <p:nvPr/>
        </p:nvSpPr>
        <p:spPr>
          <a:xfrm>
            <a:off x="1325880" y="3749040"/>
            <a:ext cx="7315200" cy="777240"/>
          </a:xfrm>
          <a:prstGeom prst="rect">
            <a:avLst/>
          </a:prstGeom>
          <a:noFill/>
          <a:ln/>
        </p:spPr>
        <p:txBody>
          <a:bodyPr wrap="square" lIns="0" tIns="0" rIns="0" bIns="0" rtlCol="0" anchor="ctr"/>
          <a:lstStyle/>
          <a:p>
            <a:pPr indent="0" marL="0">
              <a:spcAft>
                <a:spcPts val="200"/>
              </a:spcAft>
              <a:buNone/>
            </a:pPr>
            <a:r>
              <a:rPr lang="en-US" sz="1150" b="1" dirty="0">
                <a:solidFill>
                  <a:srgbClr val="0B3954"/>
                </a:solidFill>
                <a:latin typeface="Calibri" pitchFamily="34" charset="0"/>
                <a:ea typeface="Calibri" pitchFamily="34" charset="-122"/>
                <a:cs typeface="Calibri" pitchFamily="34" charset="-120"/>
              </a:rPr>
              <a:t>Méthode de mesure</a:t>
            </a:r>
            <a:endParaRPr lang="en-US" sz="1150" dirty="0"/>
          </a:p>
          <a:p>
            <a:pPr indent="0" marL="0">
              <a:spcAft>
                <a:spcPts val="200"/>
              </a:spcAft>
              <a:buNone/>
            </a:pPr>
            <a:r>
              <a:rPr lang="en-US" sz="1150" dirty="0">
                <a:solidFill>
                  <a:srgbClr val="1B1F3A"/>
                </a:solidFill>
                <a:latin typeface="Calibri" pitchFamily="34" charset="0"/>
                <a:ea typeface="Calibri" pitchFamily="34" charset="-122"/>
                <a:cs typeface="Calibri" pitchFamily="34" charset="-120"/>
              </a:rPr>
              <a:t>Tensiomètres sans fil (Hortau TX-80-WL/TX3) à 0,2 et 0,3 m. Lecture toutes les 15 min, irrigation déclenchée quand 2–3 mesures consécutives atteignent le seuil.</a:t>
            </a:r>
            <a:endParaRPr lang="en-US" sz="1150" dirty="0"/>
          </a:p>
        </p:txBody>
      </p:sp>
      <p:sp>
        <p:nvSpPr>
          <p:cNvPr id="10" name="Text 6"/>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5A8F29"/>
          </a:solidFill>
          <a:ln w="12700">
            <a:solidFill>
              <a:srgbClr val="5A8F29"/>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Résultats — Oignon (Allium cepa)</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Seuils de bulbaison maintenus à −20 kPa (ou plus humide)</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sp>
        <p:nvSpPr>
          <p:cNvPr id="6" name="Text 4"/>
          <p:cNvSpPr/>
          <p:nvPr/>
        </p:nvSpPr>
        <p:spPr>
          <a:xfrm>
            <a:off x="502920" y="1280160"/>
            <a:ext cx="4114800" cy="274320"/>
          </a:xfrm>
          <a:prstGeom prst="rect">
            <a:avLst/>
          </a:prstGeom>
          <a:noFill/>
          <a:ln/>
        </p:spPr>
        <p:txBody>
          <a:bodyPr wrap="square" lIns="0" tIns="0" rIns="0" bIns="0" rtlCol="0" anchor="ctr"/>
          <a:lstStyle/>
          <a:p>
            <a:pPr indent="0" marL="0">
              <a:buNone/>
            </a:pPr>
            <a:r>
              <a:rPr lang="en-US" sz="1100" b="1" spc="200" kern="0" dirty="0">
                <a:solidFill>
                  <a:srgbClr val="5A8F29"/>
                </a:solidFill>
                <a:latin typeface="Calibri" pitchFamily="34" charset="0"/>
                <a:ea typeface="Calibri" pitchFamily="34" charset="-122"/>
                <a:cs typeface="Calibri" pitchFamily="34" charset="-120"/>
              </a:rPr>
              <a:t>2008 — rendements (Mg/ha)</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4114800" cy="914400"/>
        </p:xfrm>
        <a:graphic>
          <a:graphicData uri="http://schemas.openxmlformats.org/drawingml/2006/table">
            <a:tbl>
              <a:tblPr/>
              <a:tblGrid>
                <a:gridCol w="1554480"/>
                <a:gridCol w="1188720"/>
                <a:gridCol w="1371600"/>
              </a:tblGrid>
              <a:tr h="329184">
                <a:tc>
                  <a:txBody>
                    <a:bodyPr/>
                    <a:lstStyle/>
                    <a:p>
                      <a:pPr algn="ctr" indent="0" marL="0">
                        <a:buNone/>
                      </a:pPr>
                      <a:r>
                        <a:rPr lang="en-US" sz="1100" b="1" dirty="0">
                          <a:solidFill>
                            <a:srgbClr val="FFFFFF"/>
                          </a:solidFill>
                        </a:rPr>
                        <a:t>Traitement</a:t>
                      </a:r>
                      <a:endParaRPr lang="en-US" sz="1100" dirty="0"/>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5A8F29"/>
                    </a:solidFill>
                  </a:tcPr>
                </a:tc>
                <a:tc>
                  <a:txBody>
                    <a:bodyPr/>
                    <a:lstStyle/>
                    <a:p>
                      <a:pPr algn="ctr" indent="0" marL="0">
                        <a:buNone/>
                      </a:pPr>
                      <a:r>
                        <a:rPr lang="en-US" sz="1100" b="1" dirty="0">
                          <a:solidFill>
                            <a:srgbClr val="FFFFFF"/>
                          </a:solidFill>
                        </a:rPr>
                        <a:t>Rend. tot.</a:t>
                      </a:r>
                      <a:endParaRPr lang="en-US" sz="1100" dirty="0"/>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5A8F29"/>
                    </a:solidFill>
                  </a:tcPr>
                </a:tc>
                <a:tc>
                  <a:txBody>
                    <a:bodyPr/>
                    <a:lstStyle/>
                    <a:p>
                      <a:pPr algn="ctr" indent="0" marL="0">
                        <a:buNone/>
                      </a:pPr>
                      <a:r>
                        <a:rPr lang="en-US" sz="1100" b="1" dirty="0">
                          <a:solidFill>
                            <a:srgbClr val="FFFFFF"/>
                          </a:solidFill>
                        </a:rPr>
                        <a:t>Jumbo (&gt;76mm)</a:t>
                      </a:r>
                      <a:endParaRPr lang="en-US" sz="1100" dirty="0"/>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5A8F29"/>
                    </a:solidFill>
                  </a:tcPr>
                </a:tc>
              </a:tr>
              <a:tr h="329184">
                <a:tc>
                  <a:txBody>
                    <a:bodyPr/>
                    <a:lstStyle/>
                    <a:p>
                      <a:pPr algn="l" indent="0" marL="0">
                        <a:buNone/>
                      </a:pPr>
                      <a:r>
                        <a:rPr lang="en-US" sz="1050" dirty="0">
                          <a:solidFill>
                            <a:srgbClr val="1B1F3A"/>
                          </a:solidFill>
                        </a:rPr>
                        <a:t>Saison complète</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77,8 ab</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5,3 a</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r>
              <a:tr h="329184">
                <a:tc>
                  <a:txBody>
                    <a:bodyPr/>
                    <a:lstStyle/>
                    <a:p>
                      <a:pPr algn="l" indent="0" marL="0">
                        <a:buNone/>
                      </a:pPr>
                      <a:r>
                        <a:rPr lang="en-US" sz="1050" dirty="0">
                          <a:solidFill>
                            <a:srgbClr val="1B1F3A"/>
                          </a:solidFill>
                        </a:rPr>
                        <a:t>Bulbaison</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78,8 a</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6,3 a</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r>
              <a:tr h="329184">
                <a:tc>
                  <a:txBody>
                    <a:bodyPr/>
                    <a:lstStyle/>
                    <a:p>
                      <a:pPr algn="l" indent="0" marL="0">
                        <a:buNone/>
                      </a:pPr>
                      <a:r>
                        <a:rPr lang="en-US" sz="1050" dirty="0">
                          <a:solidFill>
                            <a:srgbClr val="1B1F3A"/>
                          </a:solidFill>
                        </a:rPr>
                        <a:t>Contrôle</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73,5 b</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2,1 b</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r>
            </a:tbl>
          </a:graphicData>
        </a:graphic>
      </p:graphicFrame>
      <p:sp>
        <p:nvSpPr>
          <p:cNvPr id="8" name="Text 5"/>
          <p:cNvSpPr/>
          <p:nvPr/>
        </p:nvSpPr>
        <p:spPr>
          <a:xfrm>
            <a:off x="502920" y="2926080"/>
            <a:ext cx="4114800" cy="274320"/>
          </a:xfrm>
          <a:prstGeom prst="rect">
            <a:avLst/>
          </a:prstGeom>
          <a:noFill/>
          <a:ln/>
        </p:spPr>
        <p:txBody>
          <a:bodyPr wrap="square" lIns="0" tIns="0" rIns="0" bIns="0" rtlCol="0" anchor="ctr"/>
          <a:lstStyle/>
          <a:p>
            <a:pPr indent="0" marL="0">
              <a:buNone/>
            </a:pPr>
            <a:r>
              <a:rPr lang="en-US" sz="1100" b="1" spc="200" kern="0" dirty="0">
                <a:solidFill>
                  <a:srgbClr val="5A8F29"/>
                </a:solidFill>
                <a:latin typeface="Calibri" pitchFamily="34" charset="0"/>
                <a:ea typeface="Calibri" pitchFamily="34" charset="-122"/>
                <a:cs typeface="Calibri" pitchFamily="34" charset="-120"/>
              </a:rPr>
              <a:t>2009 — rendements (Mg/ha)</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02920" y="3218688"/>
          <a:ext cx="4114800" cy="914400"/>
        </p:xfrm>
        <a:graphic>
          <a:graphicData uri="http://schemas.openxmlformats.org/drawingml/2006/table">
            <a:tbl>
              <a:tblPr/>
              <a:tblGrid>
                <a:gridCol w="1554480"/>
                <a:gridCol w="1188720"/>
                <a:gridCol w="1371600"/>
              </a:tblGrid>
              <a:tr h="329184">
                <a:tc>
                  <a:txBody>
                    <a:bodyPr/>
                    <a:lstStyle/>
                    <a:p>
                      <a:pPr algn="ctr" indent="0" marL="0">
                        <a:buNone/>
                      </a:pPr>
                      <a:r>
                        <a:rPr lang="en-US" sz="1100" b="1" dirty="0">
                          <a:solidFill>
                            <a:srgbClr val="FFFFFF"/>
                          </a:solidFill>
                        </a:rPr>
                        <a:t>Traitement</a:t>
                      </a:r>
                      <a:endParaRPr lang="en-US" sz="1100" dirty="0"/>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5A8F29"/>
                    </a:solidFill>
                  </a:tcPr>
                </a:tc>
                <a:tc>
                  <a:txBody>
                    <a:bodyPr/>
                    <a:lstStyle/>
                    <a:p>
                      <a:pPr algn="ctr" indent="0" marL="0">
                        <a:buNone/>
                      </a:pPr>
                      <a:r>
                        <a:rPr lang="en-US" sz="1100" b="1" dirty="0">
                          <a:solidFill>
                            <a:srgbClr val="FFFFFF"/>
                          </a:solidFill>
                        </a:rPr>
                        <a:t>Rend. tot.</a:t>
                      </a:r>
                      <a:endParaRPr lang="en-US" sz="1100" dirty="0"/>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5A8F29"/>
                    </a:solidFill>
                  </a:tcPr>
                </a:tc>
                <a:tc>
                  <a:txBody>
                    <a:bodyPr/>
                    <a:lstStyle/>
                    <a:p>
                      <a:pPr algn="ctr" indent="0" marL="0">
                        <a:buNone/>
                      </a:pPr>
                      <a:r>
                        <a:rPr lang="en-US" sz="1100" b="1" dirty="0">
                          <a:solidFill>
                            <a:srgbClr val="FFFFFF"/>
                          </a:solidFill>
                        </a:rPr>
                        <a:t>Jumbo (&gt;76mm)</a:t>
                      </a:r>
                      <a:endParaRPr lang="en-US" sz="1100" dirty="0"/>
                    </a:p>
                  </a:txBody>
                  <a:tcPr marL="91440" marR="91440" marT="45720" marB="45720">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solidFill>
                      <a:srgbClr val="5A8F29"/>
                    </a:solidFill>
                  </a:tcPr>
                </a:tc>
              </a:tr>
              <a:tr h="329184">
                <a:tc>
                  <a:txBody>
                    <a:bodyPr/>
                    <a:lstStyle/>
                    <a:p>
                      <a:pPr algn="l" indent="0" marL="0">
                        <a:buNone/>
                      </a:pPr>
                      <a:r>
                        <a:rPr lang="en-US" sz="1050" dirty="0">
                          <a:solidFill>
                            <a:srgbClr val="1B1F3A"/>
                          </a:solidFill>
                        </a:rPr>
                        <a:t>Bulbaison</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71,0 a</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7,1 a</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r>
              <a:tr h="329184">
                <a:tc>
                  <a:txBody>
                    <a:bodyPr/>
                    <a:lstStyle/>
                    <a:p>
                      <a:pPr algn="l" indent="0" marL="0">
                        <a:buNone/>
                      </a:pPr>
                      <a:r>
                        <a:rPr lang="en-US" sz="1050" dirty="0">
                          <a:solidFill>
                            <a:srgbClr val="1B1F3A"/>
                          </a:solidFill>
                        </a:rPr>
                        <a:t>Contrôle</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65,1 b</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c>
                  <a:txBody>
                    <a:bodyPr/>
                    <a:lstStyle/>
                    <a:p>
                      <a:pPr algn="ctr" indent="0" marL="0">
                        <a:buNone/>
                      </a:pPr>
                      <a:r>
                        <a:rPr lang="en-US" sz="1050" dirty="0">
                          <a:solidFill>
                            <a:srgbClr val="1B1F3A"/>
                          </a:solidFill>
                        </a:rPr>
                        <a:t>1,9 b</a:t>
                      </a:r>
                      <a:endParaRPr lang="en-US" sz="1050" dirty="0"/>
                    </a:p>
                  </a:txBody>
                  <a:tcPr marL="45720" marR="45720" marT="45720" marB="45720" anchor="ctr">
                    <a:lnL w="6350" cap="flat" cmpd="sng" algn="ctr">
                      <a:solidFill>
                        <a:srgbClr val="D4DBE2"/>
                      </a:solidFill>
                      <a:prstDash val="solid"/>
                      <a:round/>
                      <a:headEnd type="none" w="med" len="med"/>
                      <a:tailEnd type="none" w="med" len="med"/>
                    </a:lnL>
                    <a:lnR w="6350" cap="flat" cmpd="sng" algn="ctr">
                      <a:solidFill>
                        <a:srgbClr val="D4DBE2"/>
                      </a:solidFill>
                      <a:prstDash val="solid"/>
                      <a:round/>
                      <a:headEnd type="none" w="med" len="med"/>
                      <a:tailEnd type="none" w="med" len="med"/>
                    </a:lnR>
                    <a:lnT w="6350" cap="flat" cmpd="sng" algn="ctr">
                      <a:solidFill>
                        <a:srgbClr val="D4DBE2"/>
                      </a:solidFill>
                      <a:prstDash val="solid"/>
                      <a:round/>
                      <a:headEnd type="none" w="med" len="med"/>
                      <a:tailEnd type="none" w="med" len="med"/>
                    </a:lnT>
                    <a:lnB w="6350" cap="flat" cmpd="sng" algn="ctr">
                      <a:solidFill>
                        <a:srgbClr val="D4DBE2"/>
                      </a:solidFill>
                      <a:prstDash val="solid"/>
                      <a:round/>
                      <a:headEnd type="none" w="med" len="med"/>
                      <a:tailEnd type="none" w="med" len="med"/>
                    </a:lnB>
                  </a:tcPr>
                </a:tc>
              </a:tr>
            </a:tbl>
          </a:graphicData>
        </a:graphic>
      </p:graphicFrame>
      <p:sp>
        <p:nvSpPr>
          <p:cNvPr id="10" name="Shape 6"/>
          <p:cNvSpPr/>
          <p:nvPr/>
        </p:nvSpPr>
        <p:spPr>
          <a:xfrm>
            <a:off x="4983480" y="1280160"/>
            <a:ext cx="3749040" cy="3246120"/>
          </a:xfrm>
          <a:prstGeom prst="rect">
            <a:avLst/>
          </a:prstGeom>
          <a:solidFill>
            <a:srgbClr val="5A8F29"/>
          </a:solidFill>
          <a:ln w="12700">
            <a:solidFill>
              <a:srgbClr val="5A8F29"/>
            </a:solidFill>
            <a:prstDash val="solid"/>
          </a:ln>
          <a:effectLst>
            <a:outerShdw sx="100000" sy="100000" kx="0" ky="0" algn="bl" rotWithShape="0" blurRad="101600" dist="25400" dir="5400000">
              <a:srgbClr val="000000">
                <a:alpha val="10000"/>
              </a:srgbClr>
            </a:outerShdw>
          </a:effectLst>
        </p:spPr>
      </p:sp>
      <p:pic>
        <p:nvPicPr>
          <p:cNvPr id="11" name="Image 0" descr="preencoded.png">    </p:cNvPr>
          <p:cNvPicPr>
            <a:picLocks noChangeAspect="1"/>
          </p:cNvPicPr>
          <p:nvPr/>
        </p:nvPicPr>
        <p:blipFill>
          <a:blip r:embed="rId1"/>
          <a:stretch>
            <a:fillRect/>
          </a:stretch>
        </p:blipFill>
        <p:spPr>
          <a:xfrm>
            <a:off x="5166360" y="1463040"/>
            <a:ext cx="502920" cy="502920"/>
          </a:xfrm>
          <a:prstGeom prst="rect">
            <a:avLst/>
          </a:prstGeom>
        </p:spPr>
      </p:pic>
      <p:sp>
        <p:nvSpPr>
          <p:cNvPr id="12" name="Text 7"/>
          <p:cNvSpPr/>
          <p:nvPr/>
        </p:nvSpPr>
        <p:spPr>
          <a:xfrm>
            <a:off x="5166360" y="2011680"/>
            <a:ext cx="3383280" cy="274320"/>
          </a:xfrm>
          <a:prstGeom prst="rect">
            <a:avLst/>
          </a:prstGeom>
          <a:noFill/>
          <a:ln/>
        </p:spPr>
        <p:txBody>
          <a:bodyPr wrap="square" lIns="0" tIns="0" rIns="0" bIns="0" rtlCol="0" anchor="ctr"/>
          <a:lstStyle/>
          <a:p>
            <a:pPr indent="0" marL="0">
              <a:buNone/>
            </a:pPr>
            <a:r>
              <a:rPr lang="en-US" sz="1100" spc="300" kern="0" dirty="0">
                <a:solidFill>
                  <a:srgbClr val="F4F1DE"/>
                </a:solidFill>
                <a:latin typeface="Calibri" pitchFamily="34" charset="0"/>
                <a:ea typeface="Calibri" pitchFamily="34" charset="-122"/>
                <a:cs typeface="Calibri" pitchFamily="34" charset="-120"/>
              </a:rPr>
              <a:t>Message clé</a:t>
            </a:r>
            <a:endParaRPr lang="en-US" sz="1100" dirty="0"/>
          </a:p>
        </p:txBody>
      </p:sp>
      <p:sp>
        <p:nvSpPr>
          <p:cNvPr id="13" name="Text 8"/>
          <p:cNvSpPr/>
          <p:nvPr/>
        </p:nvSpPr>
        <p:spPr>
          <a:xfrm>
            <a:off x="5166360" y="2331720"/>
            <a:ext cx="3383280" cy="11887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Maintenir le potentiel ≥ −20 kPa pendant la bulbaison maximise le rendement total et triple presque le calibre Jumbo.</a:t>
            </a:r>
            <a:endParaRPr lang="en-US" sz="1400" dirty="0"/>
          </a:p>
        </p:txBody>
      </p:sp>
      <p:sp>
        <p:nvSpPr>
          <p:cNvPr id="14" name="Shape 9"/>
          <p:cNvSpPr/>
          <p:nvPr/>
        </p:nvSpPr>
        <p:spPr>
          <a:xfrm>
            <a:off x="5166360" y="3520440"/>
            <a:ext cx="457200" cy="36576"/>
          </a:xfrm>
          <a:prstGeom prst="rect">
            <a:avLst/>
          </a:prstGeom>
          <a:solidFill>
            <a:srgbClr val="F4F1DE"/>
          </a:solidFill>
          <a:ln w="12700">
            <a:solidFill>
              <a:srgbClr val="F4F1DE"/>
            </a:solidFill>
            <a:prstDash val="solid"/>
          </a:ln>
        </p:spPr>
      </p:sp>
      <p:sp>
        <p:nvSpPr>
          <p:cNvPr id="15" name="Text 10"/>
          <p:cNvSpPr/>
          <p:nvPr/>
        </p:nvSpPr>
        <p:spPr>
          <a:xfrm>
            <a:off x="5166360" y="3657600"/>
            <a:ext cx="3383280" cy="777240"/>
          </a:xfrm>
          <a:prstGeom prst="rect">
            <a:avLst/>
          </a:prstGeom>
          <a:noFill/>
          <a:ln/>
        </p:spPr>
        <p:txBody>
          <a:bodyPr wrap="square" lIns="0" tIns="0" rIns="0" bIns="0" rtlCol="0" anchor="ctr"/>
          <a:lstStyle/>
          <a:p>
            <a:pPr indent="0" marL="0">
              <a:buNone/>
            </a:pPr>
            <a:r>
              <a:rPr lang="en-US" sz="1000" i="1" dirty="0">
                <a:solidFill>
                  <a:srgbClr val="F4F1DE"/>
                </a:solidFill>
                <a:latin typeface="Calibri" pitchFamily="34" charset="0"/>
                <a:ea typeface="Calibri" pitchFamily="34" charset="-122"/>
                <a:cs typeface="Calibri" pitchFamily="34" charset="-120"/>
              </a:rPr>
              <a:t>Lettres a/b : différences significatives à p ≤ 0,05 (PROC MIXED, SAS).</a:t>
            </a:r>
            <a:endParaRPr lang="en-US" sz="1000" dirty="0"/>
          </a:p>
        </p:txBody>
      </p:sp>
      <p:sp>
        <p:nvSpPr>
          <p:cNvPr id="16" name="Text 11"/>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5A8F29"/>
          </a:solidFill>
          <a:ln w="12700">
            <a:solidFill>
              <a:srgbClr val="5A8F29"/>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Résultats — Céleri et germination de l'épinard</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Seuils crop-spécifiques</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pic>
        <p:nvPicPr>
          <p:cNvPr id="6" name="Image 0" descr="/sessions/lucid-laughing-allen/mnt/outputs/build/fig_thresholds.png">    </p:cNvPr>
          <p:cNvPicPr>
            <a:picLocks noChangeAspect="1"/>
          </p:cNvPicPr>
          <p:nvPr/>
        </p:nvPicPr>
        <p:blipFill>
          <a:blip r:embed="rId1"/>
          <a:stretch>
            <a:fillRect/>
          </a:stretch>
        </p:blipFill>
        <p:spPr>
          <a:xfrm>
            <a:off x="502920" y="1325880"/>
            <a:ext cx="4937760" cy="2606040"/>
          </a:xfrm>
          <a:prstGeom prst="rect">
            <a:avLst/>
          </a:prstGeom>
        </p:spPr>
      </p:pic>
      <p:sp>
        <p:nvSpPr>
          <p:cNvPr id="7" name="Shape 4"/>
          <p:cNvSpPr/>
          <p:nvPr/>
        </p:nvSpPr>
        <p:spPr>
          <a:xfrm>
            <a:off x="5669280" y="1325880"/>
            <a:ext cx="3108960" cy="1234440"/>
          </a:xfrm>
          <a:prstGeom prst="rect">
            <a:avLst/>
          </a:prstGeom>
          <a:solidFill>
            <a:srgbClr val="F4F1DE"/>
          </a:solidFill>
          <a:ln w="12700">
            <a:solidFill>
              <a:srgbClr val="F4F1DE"/>
            </a:solidFill>
            <a:prstDash val="solid"/>
          </a:ln>
        </p:spPr>
      </p:sp>
      <p:pic>
        <p:nvPicPr>
          <p:cNvPr id="8" name="Image 1" descr="preencoded.png">    </p:cNvPr>
          <p:cNvPicPr>
            <a:picLocks noChangeAspect="1"/>
          </p:cNvPicPr>
          <p:nvPr/>
        </p:nvPicPr>
        <p:blipFill>
          <a:blip r:embed="rId2"/>
          <a:stretch>
            <a:fillRect/>
          </a:stretch>
        </p:blipFill>
        <p:spPr>
          <a:xfrm>
            <a:off x="5806440" y="1463040"/>
            <a:ext cx="365760" cy="365760"/>
          </a:xfrm>
          <a:prstGeom prst="rect">
            <a:avLst/>
          </a:prstGeom>
        </p:spPr>
      </p:pic>
      <p:sp>
        <p:nvSpPr>
          <p:cNvPr id="9" name="Text 5"/>
          <p:cNvSpPr/>
          <p:nvPr/>
        </p:nvSpPr>
        <p:spPr>
          <a:xfrm>
            <a:off x="6263640" y="1417320"/>
            <a:ext cx="2377440" cy="274320"/>
          </a:xfrm>
          <a:prstGeom prst="rect">
            <a:avLst/>
          </a:prstGeom>
          <a:noFill/>
          <a:ln/>
        </p:spPr>
        <p:txBody>
          <a:bodyPr wrap="square" lIns="0" tIns="0" rIns="0" bIns="0" rtlCol="0" anchor="ctr"/>
          <a:lstStyle/>
          <a:p>
            <a:pPr indent="0" marL="0">
              <a:buNone/>
            </a:pPr>
            <a:r>
              <a:rPr lang="en-US" sz="1300" b="1" dirty="0">
                <a:solidFill>
                  <a:srgbClr val="5A8F29"/>
                </a:solidFill>
                <a:latin typeface="Calibri" pitchFamily="34" charset="0"/>
                <a:ea typeface="Calibri" pitchFamily="34" charset="-122"/>
                <a:cs typeface="Calibri" pitchFamily="34" charset="-120"/>
              </a:rPr>
              <a:t>Céleri</a:t>
            </a:r>
            <a:endParaRPr lang="en-US" sz="1300" dirty="0"/>
          </a:p>
        </p:txBody>
      </p:sp>
      <p:sp>
        <p:nvSpPr>
          <p:cNvPr id="10" name="Text 6"/>
          <p:cNvSpPr/>
          <p:nvPr/>
        </p:nvSpPr>
        <p:spPr>
          <a:xfrm>
            <a:off x="5806440" y="1828800"/>
            <a:ext cx="2697480" cy="68580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Meilleurs rendements en 2009 avec −15 kPa, par rapport au contrôle non irrigué.</a:t>
            </a:r>
            <a:endParaRPr lang="en-US" sz="1100" dirty="0"/>
          </a:p>
        </p:txBody>
      </p:sp>
      <p:sp>
        <p:nvSpPr>
          <p:cNvPr id="11" name="Shape 7"/>
          <p:cNvSpPr/>
          <p:nvPr/>
        </p:nvSpPr>
        <p:spPr>
          <a:xfrm>
            <a:off x="5669280" y="2697480"/>
            <a:ext cx="3108960" cy="1234440"/>
          </a:xfrm>
          <a:prstGeom prst="rect">
            <a:avLst/>
          </a:prstGeom>
          <a:solidFill>
            <a:srgbClr val="F4F1DE"/>
          </a:solidFill>
          <a:ln w="12700">
            <a:solidFill>
              <a:srgbClr val="F4F1DE"/>
            </a:solidFill>
            <a:prstDash val="solid"/>
          </a:ln>
        </p:spPr>
      </p:sp>
      <p:pic>
        <p:nvPicPr>
          <p:cNvPr id="12" name="Image 2" descr="preencoded.png">    </p:cNvPr>
          <p:cNvPicPr>
            <a:picLocks noChangeAspect="1"/>
          </p:cNvPicPr>
          <p:nvPr/>
        </p:nvPicPr>
        <p:blipFill>
          <a:blip r:embed="rId3"/>
          <a:stretch>
            <a:fillRect/>
          </a:stretch>
        </p:blipFill>
        <p:spPr>
          <a:xfrm>
            <a:off x="5806440" y="2834640"/>
            <a:ext cx="365760" cy="365760"/>
          </a:xfrm>
          <a:prstGeom prst="rect">
            <a:avLst/>
          </a:prstGeom>
        </p:spPr>
      </p:pic>
      <p:sp>
        <p:nvSpPr>
          <p:cNvPr id="13" name="Text 8"/>
          <p:cNvSpPr/>
          <p:nvPr/>
        </p:nvSpPr>
        <p:spPr>
          <a:xfrm>
            <a:off x="6263640" y="2788920"/>
            <a:ext cx="2377440" cy="274320"/>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Épinard</a:t>
            </a:r>
            <a:endParaRPr lang="en-US" sz="1300" dirty="0"/>
          </a:p>
        </p:txBody>
      </p:sp>
      <p:sp>
        <p:nvSpPr>
          <p:cNvPr id="14" name="Text 9"/>
          <p:cNvSpPr/>
          <p:nvPr/>
        </p:nvSpPr>
        <p:spPr>
          <a:xfrm>
            <a:off x="5806440" y="3200400"/>
            <a:ext cx="2697480" cy="68580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Taux de germination et rendement maximaux à −10 kPa dans la couche 0–3 cm.</a:t>
            </a:r>
            <a:endParaRPr lang="en-US" sz="1100" dirty="0"/>
          </a:p>
        </p:txBody>
      </p:sp>
      <p:sp>
        <p:nvSpPr>
          <p:cNvPr id="15" name="Shape 10"/>
          <p:cNvSpPr/>
          <p:nvPr/>
        </p:nvSpPr>
        <p:spPr>
          <a:xfrm>
            <a:off x="502920" y="4114800"/>
            <a:ext cx="8275320" cy="502920"/>
          </a:xfrm>
          <a:prstGeom prst="rect">
            <a:avLst/>
          </a:prstGeom>
          <a:solidFill>
            <a:srgbClr val="0B3954"/>
          </a:solidFill>
          <a:ln w="12700">
            <a:solidFill>
              <a:srgbClr val="0B3954"/>
            </a:solidFill>
            <a:prstDash val="solid"/>
          </a:ln>
        </p:spPr>
      </p:sp>
      <p:sp>
        <p:nvSpPr>
          <p:cNvPr id="16" name="Text 11"/>
          <p:cNvSpPr/>
          <p:nvPr/>
        </p:nvSpPr>
        <p:spPr>
          <a:xfrm>
            <a:off x="685800" y="4160520"/>
            <a:ext cx="7955280" cy="411480"/>
          </a:xfrm>
          <a:prstGeom prst="rect">
            <a:avLst/>
          </a:prstGeom>
          <a:noFill/>
          <a:ln/>
        </p:spPr>
        <p:txBody>
          <a:bodyPr wrap="square" lIns="0" tIns="0" rIns="0" bIns="0" rtlCol="0" anchor="ctr"/>
          <a:lstStyle/>
          <a:p>
            <a:pPr indent="0" marL="0">
              <a:buNone/>
            </a:pPr>
            <a:r>
              <a:rPr lang="en-US" sz="1100" b="1" spc="200" kern="0" dirty="0">
                <a:solidFill>
                  <a:srgbClr val="F4F1DE"/>
                </a:solidFill>
                <a:latin typeface="Calibri" pitchFamily="34" charset="0"/>
                <a:ea typeface="Calibri" pitchFamily="34" charset="-122"/>
                <a:cs typeface="Calibri" pitchFamily="34" charset="-120"/>
              </a:rPr>
              <a:t>WUE (efficience d'utilisation de l'eau)  —  </a:t>
            </a:r>
            <a:pPr indent="0" marL="0">
              <a:buNone/>
            </a:pPr>
            <a:r>
              <a:rPr lang="en-US" sz="1100" dirty="0">
                <a:solidFill>
                  <a:srgbClr val="FFFFFF"/>
                </a:solidFill>
                <a:latin typeface="Calibri" pitchFamily="34" charset="0"/>
                <a:ea typeface="Calibri" pitchFamily="34" charset="-122"/>
                <a:cs typeface="Calibri" pitchFamily="34" charset="-120"/>
              </a:rPr>
              <a:t>0,16–0,18 Mg/ha/mm pour l'oignon  ·  0,19–0,26 pour le céleri.</a:t>
            </a:r>
            <a:endParaRPr lang="en-US" sz="1100" dirty="0"/>
          </a:p>
        </p:txBody>
      </p:sp>
      <p:sp>
        <p:nvSpPr>
          <p:cNvPr id="17" name="Text 12"/>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B85042"/>
          </a:solidFill>
          <a:ln w="12700">
            <a:solidFill>
              <a:srgbClr val="B85042"/>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Cadre théorique — équations utiles</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De Richards à Buckingham–Darcy, en passant par Gardner</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sp>
        <p:nvSpPr>
          <p:cNvPr id="6" name="Shape 4"/>
          <p:cNvSpPr/>
          <p:nvPr/>
        </p:nvSpPr>
        <p:spPr>
          <a:xfrm>
            <a:off x="502920" y="1280160"/>
            <a:ext cx="8229600" cy="1005840"/>
          </a:xfrm>
          <a:prstGeom prst="rect">
            <a:avLst/>
          </a:prstGeom>
          <a:solidFill>
            <a:srgbClr val="F4F1DE"/>
          </a:solidFill>
          <a:ln w="12700">
            <a:solidFill>
              <a:srgbClr val="D4DBE2"/>
            </a:solidFill>
            <a:prstDash val="solid"/>
          </a:ln>
        </p:spPr>
      </p:sp>
      <p:sp>
        <p:nvSpPr>
          <p:cNvPr id="7" name="Shape 5"/>
          <p:cNvSpPr/>
          <p:nvPr/>
        </p:nvSpPr>
        <p:spPr>
          <a:xfrm>
            <a:off x="502920" y="1280160"/>
            <a:ext cx="73152" cy="1005840"/>
          </a:xfrm>
          <a:prstGeom prst="rect">
            <a:avLst/>
          </a:prstGeom>
          <a:solidFill>
            <a:srgbClr val="0B3954"/>
          </a:solidFill>
          <a:ln w="12700">
            <a:solidFill>
              <a:srgbClr val="0B3954"/>
            </a:solidFill>
            <a:prstDash val="solid"/>
          </a:ln>
        </p:spPr>
      </p:sp>
      <p:sp>
        <p:nvSpPr>
          <p:cNvPr id="8" name="Text 6"/>
          <p:cNvSpPr/>
          <p:nvPr/>
        </p:nvSpPr>
        <p:spPr>
          <a:xfrm>
            <a:off x="685800" y="1353312"/>
            <a:ext cx="7955280" cy="274320"/>
          </a:xfrm>
          <a:prstGeom prst="rect">
            <a:avLst/>
          </a:prstGeom>
          <a:noFill/>
          <a:ln/>
        </p:spPr>
        <p:txBody>
          <a:bodyPr wrap="square" lIns="0" tIns="0" rIns="0" bIns="0" rtlCol="0" anchor="ctr"/>
          <a:lstStyle/>
          <a:p>
            <a:pPr indent="0" marL="0">
              <a:buNone/>
            </a:pPr>
            <a:r>
              <a:rPr lang="en-US" sz="1000" b="1" spc="200" kern="0" dirty="0">
                <a:solidFill>
                  <a:srgbClr val="0B3954"/>
                </a:solidFill>
                <a:latin typeface="Calibri" pitchFamily="34" charset="0"/>
                <a:ea typeface="Calibri" pitchFamily="34" charset="-122"/>
                <a:cs typeface="Calibri" pitchFamily="34" charset="-120"/>
              </a:rPr>
              <a:t>1 · Conservation (Richards, forme h)</a:t>
            </a:r>
            <a:endParaRPr lang="en-US" sz="1000" dirty="0"/>
          </a:p>
        </p:txBody>
      </p:sp>
      <p:sp>
        <p:nvSpPr>
          <p:cNvPr id="9" name="Text 7"/>
          <p:cNvSpPr/>
          <p:nvPr/>
        </p:nvSpPr>
        <p:spPr>
          <a:xfrm>
            <a:off x="685800" y="1645920"/>
            <a:ext cx="7955280" cy="502920"/>
          </a:xfrm>
          <a:prstGeom prst="rect">
            <a:avLst/>
          </a:prstGeom>
          <a:noFill/>
          <a:ln/>
        </p:spPr>
        <p:txBody>
          <a:bodyPr wrap="square" lIns="0" tIns="0" rIns="0" bIns="0" rtlCol="0" anchor="ctr"/>
          <a:lstStyle/>
          <a:p>
            <a:pPr indent="0" marL="0">
              <a:buNone/>
            </a:pPr>
            <a:r>
              <a:rPr lang="en-US" sz="1600" i="1" dirty="0">
                <a:solidFill>
                  <a:srgbClr val="1B1F3A"/>
                </a:solidFill>
                <a:latin typeface="Cambria Math" pitchFamily="34" charset="0"/>
                <a:ea typeface="Cambria Math" pitchFamily="34" charset="-122"/>
                <a:cs typeface="Cambria Math" pitchFamily="34" charset="-120"/>
              </a:rPr>
              <a:t>∂θ/∂t  =  ∂/∂z [ K(h) ( ∂h/∂z + 1 ) ]  −  S(h, z)</a:t>
            </a:r>
            <a:endParaRPr lang="en-US" sz="1600" dirty="0"/>
          </a:p>
        </p:txBody>
      </p:sp>
      <p:sp>
        <p:nvSpPr>
          <p:cNvPr id="10" name="Shape 8"/>
          <p:cNvSpPr/>
          <p:nvPr/>
        </p:nvSpPr>
        <p:spPr>
          <a:xfrm>
            <a:off x="502920" y="2423160"/>
            <a:ext cx="8229600" cy="960120"/>
          </a:xfrm>
          <a:prstGeom prst="rect">
            <a:avLst/>
          </a:prstGeom>
          <a:solidFill>
            <a:srgbClr val="F4F1DE"/>
          </a:solidFill>
          <a:ln w="12700">
            <a:solidFill>
              <a:srgbClr val="D4DBE2"/>
            </a:solidFill>
            <a:prstDash val="solid"/>
          </a:ln>
        </p:spPr>
      </p:sp>
      <p:sp>
        <p:nvSpPr>
          <p:cNvPr id="11" name="Shape 9"/>
          <p:cNvSpPr/>
          <p:nvPr/>
        </p:nvSpPr>
        <p:spPr>
          <a:xfrm>
            <a:off x="502920" y="2423160"/>
            <a:ext cx="73152" cy="960120"/>
          </a:xfrm>
          <a:prstGeom prst="rect">
            <a:avLst/>
          </a:prstGeom>
          <a:solidFill>
            <a:srgbClr val="B85042"/>
          </a:solidFill>
          <a:ln w="12700">
            <a:solidFill>
              <a:srgbClr val="B85042"/>
            </a:solidFill>
            <a:prstDash val="solid"/>
          </a:ln>
        </p:spPr>
      </p:sp>
      <p:sp>
        <p:nvSpPr>
          <p:cNvPr id="12" name="Text 10"/>
          <p:cNvSpPr/>
          <p:nvPr/>
        </p:nvSpPr>
        <p:spPr>
          <a:xfrm>
            <a:off x="685800" y="2496312"/>
            <a:ext cx="7955280" cy="274320"/>
          </a:xfrm>
          <a:prstGeom prst="rect">
            <a:avLst/>
          </a:prstGeom>
          <a:noFill/>
          <a:ln/>
        </p:spPr>
        <p:txBody>
          <a:bodyPr wrap="square" lIns="0" tIns="0" rIns="0" bIns="0"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2 · Loi de Buckingham–Darcy (flux)</a:t>
            </a:r>
            <a:endParaRPr lang="en-US" sz="1000" dirty="0"/>
          </a:p>
        </p:txBody>
      </p:sp>
      <p:sp>
        <p:nvSpPr>
          <p:cNvPr id="13" name="Text 11"/>
          <p:cNvSpPr/>
          <p:nvPr/>
        </p:nvSpPr>
        <p:spPr>
          <a:xfrm>
            <a:off x="685800" y="2788920"/>
            <a:ext cx="7955280" cy="457200"/>
          </a:xfrm>
          <a:prstGeom prst="rect">
            <a:avLst/>
          </a:prstGeom>
          <a:noFill/>
          <a:ln/>
        </p:spPr>
        <p:txBody>
          <a:bodyPr wrap="square" lIns="0" tIns="0" rIns="0" bIns="0" rtlCol="0" anchor="ctr"/>
          <a:lstStyle/>
          <a:p>
            <a:pPr indent="0" marL="0">
              <a:buNone/>
            </a:pPr>
            <a:r>
              <a:rPr lang="en-US" sz="1600" i="1" dirty="0">
                <a:solidFill>
                  <a:srgbClr val="1B1F3A"/>
                </a:solidFill>
                <a:latin typeface="Cambria Math" pitchFamily="34" charset="0"/>
                <a:ea typeface="Cambria Math" pitchFamily="34" charset="-122"/>
                <a:cs typeface="Cambria Math" pitchFamily="34" charset="-120"/>
              </a:rPr>
              <a:t>q_z  =  − K(h) · ( dh/dz  +  1 )       (cm/j)</a:t>
            </a:r>
            <a:endParaRPr lang="en-US" sz="1600" dirty="0"/>
          </a:p>
        </p:txBody>
      </p:sp>
      <p:sp>
        <p:nvSpPr>
          <p:cNvPr id="14" name="Shape 12"/>
          <p:cNvSpPr/>
          <p:nvPr/>
        </p:nvSpPr>
        <p:spPr>
          <a:xfrm>
            <a:off x="502920" y="3520440"/>
            <a:ext cx="8229600" cy="960120"/>
          </a:xfrm>
          <a:prstGeom prst="rect">
            <a:avLst/>
          </a:prstGeom>
          <a:solidFill>
            <a:srgbClr val="F4F1DE"/>
          </a:solidFill>
          <a:ln w="12700">
            <a:solidFill>
              <a:srgbClr val="D4DBE2"/>
            </a:solidFill>
            <a:prstDash val="solid"/>
          </a:ln>
        </p:spPr>
      </p:sp>
      <p:sp>
        <p:nvSpPr>
          <p:cNvPr id="15" name="Shape 13"/>
          <p:cNvSpPr/>
          <p:nvPr/>
        </p:nvSpPr>
        <p:spPr>
          <a:xfrm>
            <a:off x="502920" y="3520440"/>
            <a:ext cx="73152" cy="960120"/>
          </a:xfrm>
          <a:prstGeom prst="rect">
            <a:avLst/>
          </a:prstGeom>
          <a:solidFill>
            <a:srgbClr val="5A8F29"/>
          </a:solidFill>
          <a:ln w="12700">
            <a:solidFill>
              <a:srgbClr val="5A8F29"/>
            </a:solidFill>
            <a:prstDash val="solid"/>
          </a:ln>
        </p:spPr>
      </p:sp>
      <p:sp>
        <p:nvSpPr>
          <p:cNvPr id="16" name="Text 14"/>
          <p:cNvSpPr/>
          <p:nvPr/>
        </p:nvSpPr>
        <p:spPr>
          <a:xfrm>
            <a:off x="685800" y="3593592"/>
            <a:ext cx="7955280" cy="274320"/>
          </a:xfrm>
          <a:prstGeom prst="rect">
            <a:avLst/>
          </a:prstGeom>
          <a:noFill/>
          <a:ln/>
        </p:spPr>
        <p:txBody>
          <a:bodyPr wrap="square" lIns="0" tIns="0" rIns="0" bIns="0" rtlCol="0" anchor="ctr"/>
          <a:lstStyle/>
          <a:p>
            <a:pPr indent="0" marL="0">
              <a:buNone/>
            </a:pPr>
            <a:r>
              <a:rPr lang="en-US" sz="1000" b="1" spc="200" kern="0" dirty="0">
                <a:solidFill>
                  <a:srgbClr val="5A8F29"/>
                </a:solidFill>
                <a:latin typeface="Calibri" pitchFamily="34" charset="0"/>
                <a:ea typeface="Calibri" pitchFamily="34" charset="-122"/>
                <a:cs typeface="Calibri" pitchFamily="34" charset="-120"/>
              </a:rPr>
              <a:t>3 · Modèle de Gardner pour K(h)</a:t>
            </a:r>
            <a:endParaRPr lang="en-US" sz="1000" dirty="0"/>
          </a:p>
        </p:txBody>
      </p:sp>
      <p:sp>
        <p:nvSpPr>
          <p:cNvPr id="17" name="Text 15"/>
          <p:cNvSpPr/>
          <p:nvPr/>
        </p:nvSpPr>
        <p:spPr>
          <a:xfrm>
            <a:off x="685800" y="3886200"/>
            <a:ext cx="7955280" cy="457200"/>
          </a:xfrm>
          <a:prstGeom prst="rect">
            <a:avLst/>
          </a:prstGeom>
          <a:noFill/>
          <a:ln/>
        </p:spPr>
        <p:txBody>
          <a:bodyPr wrap="square" lIns="0" tIns="0" rIns="0" bIns="0" rtlCol="0" anchor="ctr"/>
          <a:lstStyle/>
          <a:p>
            <a:pPr indent="0" marL="0">
              <a:buNone/>
            </a:pPr>
            <a:r>
              <a:rPr lang="en-US" sz="1600" i="1" dirty="0">
                <a:solidFill>
                  <a:srgbClr val="1B1F3A"/>
                </a:solidFill>
                <a:latin typeface="Cambria Math" pitchFamily="34" charset="0"/>
                <a:ea typeface="Cambria Math" pitchFamily="34" charset="-122"/>
                <a:cs typeface="Cambria Math" pitchFamily="34" charset="-120"/>
              </a:rPr>
              <a:t>K(h)  =  K_sG · exp( α* · h )    avec  h &lt; 0  (succion)</a:t>
            </a:r>
            <a:endParaRPr lang="en-US" sz="1600" dirty="0"/>
          </a:p>
        </p:txBody>
      </p:sp>
      <p:sp>
        <p:nvSpPr>
          <p:cNvPr id="18" name="Text 16"/>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B85042"/>
          </a:solidFill>
          <a:ln w="12700">
            <a:solidFill>
              <a:srgbClr val="B85042"/>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Dérivation du seuil critique h_c</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Approche macroscopique recommandée à l'éq. A10 de l'article</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sp>
        <p:nvSpPr>
          <p:cNvPr id="6" name="Shape 4"/>
          <p:cNvSpPr/>
          <p:nvPr/>
        </p:nvSpPr>
        <p:spPr>
          <a:xfrm>
            <a:off x="502920" y="1371600"/>
            <a:ext cx="457200" cy="457200"/>
          </a:xfrm>
          <a:prstGeom prst="ellipse">
            <a:avLst/>
          </a:prstGeom>
          <a:solidFill>
            <a:srgbClr val="B85042"/>
          </a:solidFill>
          <a:ln w="12700">
            <a:solidFill>
              <a:srgbClr val="B85042"/>
            </a:solidFill>
            <a:prstDash val="solid"/>
          </a:ln>
        </p:spPr>
      </p:sp>
      <p:sp>
        <p:nvSpPr>
          <p:cNvPr id="7" name="Text 5"/>
          <p:cNvSpPr/>
          <p:nvPr/>
        </p:nvSpPr>
        <p:spPr>
          <a:xfrm>
            <a:off x="50292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97280" y="1325880"/>
            <a:ext cx="2926080" cy="365760"/>
          </a:xfrm>
          <a:prstGeom prst="rect">
            <a:avLst/>
          </a:prstGeom>
          <a:noFill/>
          <a:ln/>
        </p:spPr>
        <p:txBody>
          <a:bodyPr wrap="square" lIns="0" tIns="0" rIns="0" bIns="0" rtlCol="0" anchor="ctr"/>
          <a:lstStyle/>
          <a:p>
            <a:pPr indent="0" marL="0">
              <a:buNone/>
            </a:pPr>
            <a:r>
              <a:rPr lang="en-US" sz="1300" b="1" dirty="0">
                <a:solidFill>
                  <a:srgbClr val="0B3954"/>
                </a:solidFill>
                <a:latin typeface="Calibri" pitchFamily="34" charset="0"/>
                <a:ea typeface="Calibri" pitchFamily="34" charset="-122"/>
                <a:cs typeface="Calibri" pitchFamily="34" charset="-120"/>
              </a:rPr>
              <a:t>État stationnaire</a:t>
            </a:r>
            <a:endParaRPr lang="en-US" sz="1300" dirty="0"/>
          </a:p>
        </p:txBody>
      </p:sp>
      <p:sp>
        <p:nvSpPr>
          <p:cNvPr id="9" name="Shape 7"/>
          <p:cNvSpPr/>
          <p:nvPr/>
        </p:nvSpPr>
        <p:spPr>
          <a:xfrm>
            <a:off x="3977640" y="1280160"/>
            <a:ext cx="4754880" cy="640080"/>
          </a:xfrm>
          <a:prstGeom prst="rect">
            <a:avLst/>
          </a:prstGeom>
          <a:solidFill>
            <a:srgbClr val="F4F1DE"/>
          </a:solidFill>
          <a:ln w="6350">
            <a:solidFill>
              <a:srgbClr val="D4DBE2"/>
            </a:solidFill>
            <a:prstDash val="solid"/>
          </a:ln>
        </p:spPr>
      </p:sp>
      <p:sp>
        <p:nvSpPr>
          <p:cNvPr id="10" name="Text 8"/>
          <p:cNvSpPr/>
          <p:nvPr/>
        </p:nvSpPr>
        <p:spPr>
          <a:xfrm>
            <a:off x="4069080" y="1325880"/>
            <a:ext cx="4572000" cy="548640"/>
          </a:xfrm>
          <a:prstGeom prst="rect">
            <a:avLst/>
          </a:prstGeom>
          <a:noFill/>
          <a:ln/>
        </p:spPr>
        <p:txBody>
          <a:bodyPr wrap="square" lIns="0" tIns="0" rIns="0" bIns="0" rtlCol="0" anchor="ctr"/>
          <a:lstStyle/>
          <a:p>
            <a:pPr indent="0" marL="0">
              <a:buNone/>
            </a:pPr>
            <a:r>
              <a:rPr lang="en-US" sz="1400" i="1" dirty="0">
                <a:solidFill>
                  <a:srgbClr val="1B1F3A"/>
                </a:solidFill>
                <a:latin typeface="Cambria Math" pitchFamily="34" charset="0"/>
                <a:ea typeface="Cambria Math" pitchFamily="34" charset="-122"/>
                <a:cs typeface="Cambria Math" pitchFamily="34" charset="-120"/>
              </a:rPr>
              <a:t>∂θ/∂t = 0 :  le flux ascendant doit compenser l'ET.</a:t>
            </a:r>
            <a:endParaRPr lang="en-US" sz="1400" dirty="0"/>
          </a:p>
        </p:txBody>
      </p:sp>
      <p:sp>
        <p:nvSpPr>
          <p:cNvPr id="11" name="Shape 9"/>
          <p:cNvSpPr/>
          <p:nvPr/>
        </p:nvSpPr>
        <p:spPr>
          <a:xfrm>
            <a:off x="502920" y="2148840"/>
            <a:ext cx="457200" cy="457200"/>
          </a:xfrm>
          <a:prstGeom prst="ellipse">
            <a:avLst/>
          </a:prstGeom>
          <a:solidFill>
            <a:srgbClr val="B85042"/>
          </a:solidFill>
          <a:ln w="12700">
            <a:solidFill>
              <a:srgbClr val="B85042"/>
            </a:solidFill>
            <a:prstDash val="solid"/>
          </a:ln>
        </p:spPr>
      </p:sp>
      <p:sp>
        <p:nvSpPr>
          <p:cNvPr id="12" name="Text 10"/>
          <p:cNvSpPr/>
          <p:nvPr/>
        </p:nvSpPr>
        <p:spPr>
          <a:xfrm>
            <a:off x="502920" y="2148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097280" y="2103120"/>
            <a:ext cx="2926080" cy="365760"/>
          </a:xfrm>
          <a:prstGeom prst="rect">
            <a:avLst/>
          </a:prstGeom>
          <a:noFill/>
          <a:ln/>
        </p:spPr>
        <p:txBody>
          <a:bodyPr wrap="square" lIns="0" tIns="0" rIns="0" bIns="0" rtlCol="0" anchor="ctr"/>
          <a:lstStyle/>
          <a:p>
            <a:pPr indent="0" marL="0">
              <a:buNone/>
            </a:pPr>
            <a:r>
              <a:rPr lang="en-US" sz="1300" b="1" dirty="0">
                <a:solidFill>
                  <a:srgbClr val="0B3954"/>
                </a:solidFill>
                <a:latin typeface="Calibri" pitchFamily="34" charset="0"/>
                <a:ea typeface="Calibri" pitchFamily="34" charset="-122"/>
                <a:cs typeface="Calibri" pitchFamily="34" charset="-120"/>
              </a:rPr>
              <a:t>Faible profondeur racinaire</a:t>
            </a:r>
            <a:endParaRPr lang="en-US" sz="1300" dirty="0"/>
          </a:p>
        </p:txBody>
      </p:sp>
      <p:sp>
        <p:nvSpPr>
          <p:cNvPr id="14" name="Shape 12"/>
          <p:cNvSpPr/>
          <p:nvPr/>
        </p:nvSpPr>
        <p:spPr>
          <a:xfrm>
            <a:off x="3977640" y="2057400"/>
            <a:ext cx="4754880" cy="640080"/>
          </a:xfrm>
          <a:prstGeom prst="rect">
            <a:avLst/>
          </a:prstGeom>
          <a:solidFill>
            <a:srgbClr val="F4F1DE"/>
          </a:solidFill>
          <a:ln w="6350">
            <a:solidFill>
              <a:srgbClr val="D4DBE2"/>
            </a:solidFill>
            <a:prstDash val="solid"/>
          </a:ln>
        </p:spPr>
      </p:sp>
      <p:sp>
        <p:nvSpPr>
          <p:cNvPr id="15" name="Text 13"/>
          <p:cNvSpPr/>
          <p:nvPr/>
        </p:nvSpPr>
        <p:spPr>
          <a:xfrm>
            <a:off x="4069080" y="2103120"/>
            <a:ext cx="4572000" cy="548640"/>
          </a:xfrm>
          <a:prstGeom prst="rect">
            <a:avLst/>
          </a:prstGeom>
          <a:noFill/>
          <a:ln/>
        </p:spPr>
        <p:txBody>
          <a:bodyPr wrap="square" lIns="0" tIns="0" rIns="0" bIns="0" rtlCol="0" anchor="ctr"/>
          <a:lstStyle/>
          <a:p>
            <a:pPr indent="0" marL="0">
              <a:buNone/>
            </a:pPr>
            <a:r>
              <a:rPr lang="en-US" sz="1400" i="1" dirty="0">
                <a:solidFill>
                  <a:srgbClr val="1B1F3A"/>
                </a:solidFill>
                <a:latin typeface="Cambria Math" pitchFamily="34" charset="0"/>
                <a:ea typeface="Cambria Math" pitchFamily="34" charset="-122"/>
                <a:cs typeface="Cambria Math" pitchFamily="34" charset="-120"/>
              </a:rPr>
              <a:t>À la limite L → 0,  |J_w(h)| ≈ K(h).</a:t>
            </a:r>
            <a:endParaRPr lang="en-US" sz="1400" dirty="0"/>
          </a:p>
        </p:txBody>
      </p:sp>
      <p:sp>
        <p:nvSpPr>
          <p:cNvPr id="16" name="Shape 14"/>
          <p:cNvSpPr/>
          <p:nvPr/>
        </p:nvSpPr>
        <p:spPr>
          <a:xfrm>
            <a:off x="502920" y="2926080"/>
            <a:ext cx="457200" cy="457200"/>
          </a:xfrm>
          <a:prstGeom prst="ellipse">
            <a:avLst/>
          </a:prstGeom>
          <a:solidFill>
            <a:srgbClr val="B85042"/>
          </a:solidFill>
          <a:ln w="12700">
            <a:solidFill>
              <a:srgbClr val="B85042"/>
            </a:solidFill>
            <a:prstDash val="solid"/>
          </a:ln>
        </p:spPr>
      </p:sp>
      <p:sp>
        <p:nvSpPr>
          <p:cNvPr id="17" name="Text 15"/>
          <p:cNvSpPr/>
          <p:nvPr/>
        </p:nvSpPr>
        <p:spPr>
          <a:xfrm>
            <a:off x="502920" y="2926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097280" y="2880360"/>
            <a:ext cx="2926080" cy="365760"/>
          </a:xfrm>
          <a:prstGeom prst="rect">
            <a:avLst/>
          </a:prstGeom>
          <a:noFill/>
          <a:ln/>
        </p:spPr>
        <p:txBody>
          <a:bodyPr wrap="square" lIns="0" tIns="0" rIns="0" bIns="0" rtlCol="0" anchor="ctr"/>
          <a:lstStyle/>
          <a:p>
            <a:pPr indent="0" marL="0">
              <a:buNone/>
            </a:pPr>
            <a:r>
              <a:rPr lang="en-US" sz="1300" b="1" dirty="0">
                <a:solidFill>
                  <a:srgbClr val="0B3954"/>
                </a:solidFill>
                <a:latin typeface="Calibri" pitchFamily="34" charset="0"/>
                <a:ea typeface="Calibri" pitchFamily="34" charset="-122"/>
                <a:cs typeface="Calibri" pitchFamily="34" charset="-120"/>
              </a:rPr>
              <a:t>Égalité flux = demande</a:t>
            </a:r>
            <a:endParaRPr lang="en-US" sz="1300" dirty="0"/>
          </a:p>
        </p:txBody>
      </p:sp>
      <p:sp>
        <p:nvSpPr>
          <p:cNvPr id="19" name="Shape 17"/>
          <p:cNvSpPr/>
          <p:nvPr/>
        </p:nvSpPr>
        <p:spPr>
          <a:xfrm>
            <a:off x="3977640" y="2834640"/>
            <a:ext cx="4754880" cy="640080"/>
          </a:xfrm>
          <a:prstGeom prst="rect">
            <a:avLst/>
          </a:prstGeom>
          <a:solidFill>
            <a:srgbClr val="F4F1DE"/>
          </a:solidFill>
          <a:ln w="6350">
            <a:solidFill>
              <a:srgbClr val="D4DBE2"/>
            </a:solidFill>
            <a:prstDash val="solid"/>
          </a:ln>
        </p:spPr>
      </p:sp>
      <p:sp>
        <p:nvSpPr>
          <p:cNvPr id="20" name="Text 18"/>
          <p:cNvSpPr/>
          <p:nvPr/>
        </p:nvSpPr>
        <p:spPr>
          <a:xfrm>
            <a:off x="4069080" y="2880360"/>
            <a:ext cx="4572000" cy="548640"/>
          </a:xfrm>
          <a:prstGeom prst="rect">
            <a:avLst/>
          </a:prstGeom>
          <a:noFill/>
          <a:ln/>
        </p:spPr>
        <p:txBody>
          <a:bodyPr wrap="square" lIns="0" tIns="0" rIns="0" bIns="0" rtlCol="0" anchor="ctr"/>
          <a:lstStyle/>
          <a:p>
            <a:pPr indent="0" marL="0">
              <a:buNone/>
            </a:pPr>
            <a:r>
              <a:rPr lang="en-US" sz="1400" i="1" dirty="0">
                <a:solidFill>
                  <a:srgbClr val="1B1F3A"/>
                </a:solidFill>
                <a:latin typeface="Cambria Math" pitchFamily="34" charset="0"/>
                <a:ea typeface="Cambria Math" pitchFamily="34" charset="-122"/>
                <a:cs typeface="Cambria Math" pitchFamily="34" charset="-120"/>
              </a:rPr>
              <a:t>K(h_c) = ET</a:t>
            </a:r>
            <a:endParaRPr lang="en-US" sz="1400" dirty="0"/>
          </a:p>
        </p:txBody>
      </p:sp>
      <p:sp>
        <p:nvSpPr>
          <p:cNvPr id="21" name="Shape 19"/>
          <p:cNvSpPr/>
          <p:nvPr/>
        </p:nvSpPr>
        <p:spPr>
          <a:xfrm>
            <a:off x="502920" y="3703320"/>
            <a:ext cx="457200" cy="457200"/>
          </a:xfrm>
          <a:prstGeom prst="ellipse">
            <a:avLst/>
          </a:prstGeom>
          <a:solidFill>
            <a:srgbClr val="B85042"/>
          </a:solidFill>
          <a:ln w="12700">
            <a:solidFill>
              <a:srgbClr val="B85042"/>
            </a:solidFill>
            <a:prstDash val="solid"/>
          </a:ln>
        </p:spPr>
      </p:sp>
      <p:sp>
        <p:nvSpPr>
          <p:cNvPr id="22" name="Text 20"/>
          <p:cNvSpPr/>
          <p:nvPr/>
        </p:nvSpPr>
        <p:spPr>
          <a:xfrm>
            <a:off x="502920" y="3703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097280" y="3657600"/>
            <a:ext cx="2926080" cy="365760"/>
          </a:xfrm>
          <a:prstGeom prst="rect">
            <a:avLst/>
          </a:prstGeom>
          <a:noFill/>
          <a:ln/>
        </p:spPr>
        <p:txBody>
          <a:bodyPr wrap="square" lIns="0" tIns="0" rIns="0" bIns="0" rtlCol="0" anchor="ctr"/>
          <a:lstStyle/>
          <a:p>
            <a:pPr indent="0" marL="0">
              <a:buNone/>
            </a:pPr>
            <a:r>
              <a:rPr lang="en-US" sz="1300" b="1" dirty="0">
                <a:solidFill>
                  <a:srgbClr val="0B3954"/>
                </a:solidFill>
                <a:latin typeface="Calibri" pitchFamily="34" charset="0"/>
                <a:ea typeface="Calibri" pitchFamily="34" charset="-122"/>
                <a:cs typeface="Calibri" pitchFamily="34" charset="-120"/>
              </a:rPr>
              <a:t>Inversion de Gardner</a:t>
            </a:r>
            <a:endParaRPr lang="en-US" sz="1300" dirty="0"/>
          </a:p>
        </p:txBody>
      </p:sp>
      <p:sp>
        <p:nvSpPr>
          <p:cNvPr id="24" name="Shape 22"/>
          <p:cNvSpPr/>
          <p:nvPr/>
        </p:nvSpPr>
        <p:spPr>
          <a:xfrm>
            <a:off x="3977640" y="3611880"/>
            <a:ext cx="4754880" cy="640080"/>
          </a:xfrm>
          <a:prstGeom prst="rect">
            <a:avLst/>
          </a:prstGeom>
          <a:solidFill>
            <a:srgbClr val="F4F1DE"/>
          </a:solidFill>
          <a:ln w="6350">
            <a:solidFill>
              <a:srgbClr val="D4DBE2"/>
            </a:solidFill>
            <a:prstDash val="solid"/>
          </a:ln>
        </p:spPr>
      </p:sp>
      <p:sp>
        <p:nvSpPr>
          <p:cNvPr id="25" name="Text 23"/>
          <p:cNvSpPr/>
          <p:nvPr/>
        </p:nvSpPr>
        <p:spPr>
          <a:xfrm>
            <a:off x="4069080" y="3657600"/>
            <a:ext cx="4572000" cy="548640"/>
          </a:xfrm>
          <a:prstGeom prst="rect">
            <a:avLst/>
          </a:prstGeom>
          <a:noFill/>
          <a:ln/>
        </p:spPr>
        <p:txBody>
          <a:bodyPr wrap="square" lIns="0" tIns="0" rIns="0" bIns="0" rtlCol="0" anchor="ctr"/>
          <a:lstStyle/>
          <a:p>
            <a:pPr indent="0" marL="0">
              <a:buNone/>
            </a:pPr>
            <a:r>
              <a:rPr lang="en-US" sz="1400" i="1" dirty="0">
                <a:solidFill>
                  <a:srgbClr val="1B1F3A"/>
                </a:solidFill>
                <a:latin typeface="Cambria Math" pitchFamily="34" charset="0"/>
                <a:ea typeface="Cambria Math" pitchFamily="34" charset="-122"/>
                <a:cs typeface="Cambria Math" pitchFamily="34" charset="-120"/>
              </a:rPr>
              <a:t>h_c  =  (1 / α*) · ln ( ET / K_sG )</a:t>
            </a:r>
            <a:endParaRPr lang="en-US" sz="1400" dirty="0"/>
          </a:p>
        </p:txBody>
      </p:sp>
      <p:sp>
        <p:nvSpPr>
          <p:cNvPr id="26" name="Shape 24"/>
          <p:cNvSpPr/>
          <p:nvPr/>
        </p:nvSpPr>
        <p:spPr>
          <a:xfrm>
            <a:off x="502920" y="4434840"/>
            <a:ext cx="8229600" cy="274320"/>
          </a:xfrm>
          <a:prstGeom prst="rect">
            <a:avLst/>
          </a:prstGeom>
          <a:solidFill>
            <a:srgbClr val="0B3954"/>
          </a:solidFill>
          <a:ln w="12700">
            <a:solidFill>
              <a:srgbClr val="0B3954"/>
            </a:solidFill>
            <a:prstDash val="solid"/>
          </a:ln>
        </p:spPr>
      </p:sp>
      <p:sp>
        <p:nvSpPr>
          <p:cNvPr id="27" name="Text 25"/>
          <p:cNvSpPr/>
          <p:nvPr/>
        </p:nvSpPr>
        <p:spPr>
          <a:xfrm>
            <a:off x="594360" y="4434840"/>
            <a:ext cx="8092440" cy="274320"/>
          </a:xfrm>
          <a:prstGeom prst="rect">
            <a:avLst/>
          </a:prstGeom>
          <a:noFill/>
          <a:ln/>
        </p:spPr>
        <p:txBody>
          <a:bodyPr wrap="square" lIns="0" tIns="0" rIns="0" bIns="0" rtlCol="0" anchor="ctr"/>
          <a:lstStyle/>
          <a:p>
            <a:pPr indent="0" marL="0">
              <a:buNone/>
            </a:pPr>
            <a:r>
              <a:rPr lang="en-US" sz="1000" i="1" dirty="0">
                <a:solidFill>
                  <a:srgbClr val="F4F1DE"/>
                </a:solidFill>
                <a:latin typeface="Calibri" pitchFamily="34" charset="0"/>
                <a:ea typeface="Calibri" pitchFamily="34" charset="-122"/>
                <a:cs typeface="Calibri" pitchFamily="34" charset="-120"/>
              </a:rPr>
              <a:t>La forme complète (Yuan &amp; Lu, 2005, eq. A5–A7) ajoute un terme de correction pour la profondeur racinaire L et l'extraction S₀.</a:t>
            </a:r>
            <a:endParaRPr lang="en-US" sz="1000" dirty="0"/>
          </a:p>
        </p:txBody>
      </p:sp>
      <p:sp>
        <p:nvSpPr>
          <p:cNvPr id="28" name="Text 26"/>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Mise en œuvre Python</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Implémenter K(h) et calculer h_c en quelques lignes</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sp>
        <p:nvSpPr>
          <p:cNvPr id="6" name="Shape 4"/>
          <p:cNvSpPr/>
          <p:nvPr/>
        </p:nvSpPr>
        <p:spPr>
          <a:xfrm>
            <a:off x="502920" y="1280160"/>
            <a:ext cx="4160520" cy="3337560"/>
          </a:xfrm>
          <a:prstGeom prst="rect">
            <a:avLst/>
          </a:prstGeom>
          <a:solidFill>
            <a:srgbClr val="1E1E2E"/>
          </a:solidFill>
          <a:ln w="12700">
            <a:solidFill>
              <a:srgbClr val="1E1E2E"/>
            </a:solidFill>
            <a:prstDash val="solid"/>
          </a:ln>
        </p:spPr>
      </p:sp>
      <p:sp>
        <p:nvSpPr>
          <p:cNvPr id="7" name="Text 5"/>
          <p:cNvSpPr/>
          <p:nvPr/>
        </p:nvSpPr>
        <p:spPr>
          <a:xfrm>
            <a:off x="640080" y="1417320"/>
            <a:ext cx="3931920" cy="3108960"/>
          </a:xfrm>
          <a:prstGeom prst="rect">
            <a:avLst/>
          </a:prstGeom>
          <a:noFill/>
          <a:ln/>
        </p:spPr>
        <p:txBody>
          <a:bodyPr wrap="square" lIns="0" tIns="0" rIns="0" bIns="0" rtlCol="0" anchor="ctr"/>
          <a:lstStyle/>
          <a:p>
            <a:pPr indent="0" marL="0">
              <a:buNone/>
            </a:pPr>
            <a:r>
              <a:rPr lang="en-US" sz="1100" dirty="0">
                <a:solidFill>
                  <a:srgbClr val="E2E8F0"/>
                </a:solidFill>
                <a:latin typeface="Courier New" pitchFamily="34" charset="0"/>
                <a:ea typeface="Courier New" pitchFamily="34" charset="-122"/>
                <a:cs typeface="Courier New" pitchFamily="34" charset="-120"/>
              </a:rPr>
              <a:t>import numpy as np</a:t>
            </a:r>
            <a:endParaRPr lang="en-US" sz="1100" dirty="0"/>
          </a:p>
          <a:p>
            <a:pPr indent="0" marL="0">
              <a:buNone/>
            </a:pPr>
            <a:endParaRPr lang="en-US" sz="1100" dirty="0"/>
          </a:p>
          <a:p>
            <a:pPr indent="0" marL="0">
              <a:buNone/>
            </a:pPr>
            <a:r>
              <a:rPr lang="en-US" sz="1100" dirty="0">
                <a:solidFill>
                  <a:srgbClr val="94A3B8"/>
                </a:solidFill>
                <a:latin typeface="Courier New" pitchFamily="34" charset="0"/>
                <a:ea typeface="Courier New" pitchFamily="34" charset="-122"/>
                <a:cs typeface="Courier New" pitchFamily="34" charset="-120"/>
              </a:rPr>
              <a:t># 1) Modele de Gardner</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def K(h, K_sG, alpha):</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return K_sG * np.exp(alpha * h)</a:t>
            </a:r>
            <a:endParaRPr lang="en-US" sz="1100" dirty="0"/>
          </a:p>
          <a:p>
            <a:pPr indent="0" marL="0">
              <a:buNone/>
            </a:pPr>
            <a:endParaRPr lang="en-US" sz="1100" dirty="0"/>
          </a:p>
          <a:p>
            <a:pPr indent="0" marL="0">
              <a:buNone/>
            </a:pPr>
            <a:r>
              <a:rPr lang="en-US" sz="1100" dirty="0">
                <a:solidFill>
                  <a:srgbClr val="94A3B8"/>
                </a:solidFill>
                <a:latin typeface="Courier New" pitchFamily="34" charset="0"/>
                <a:ea typeface="Courier New" pitchFamily="34" charset="-122"/>
                <a:cs typeface="Courier New" pitchFamily="34" charset="-120"/>
              </a:rPr>
              <a:t># 2) Seuil macroscopique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def h_c(ET, K_sG, alpha):</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return (1/alpha) * np.log(ET / K_sG)</a:t>
            </a:r>
            <a:endParaRPr lang="en-US" sz="1100" dirty="0"/>
          </a:p>
          <a:p>
            <a:pPr indent="0" marL="0">
              <a:buNone/>
            </a:pPr>
            <a:endParaRPr lang="en-US" sz="1100" dirty="0"/>
          </a:p>
          <a:p>
            <a:pPr indent="0" marL="0">
              <a:buNone/>
            </a:pPr>
            <a:r>
              <a:rPr lang="en-US" sz="1100" dirty="0">
                <a:solidFill>
                  <a:srgbClr val="94A3B8"/>
                </a:solidFill>
                <a:latin typeface="Courier New" pitchFamily="34" charset="0"/>
                <a:ea typeface="Courier New" pitchFamily="34" charset="-122"/>
                <a:cs typeface="Courier New" pitchFamily="34" charset="-120"/>
              </a:rPr>
              <a:t># Exemple oignon (annexe)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K_sG, alpha = 0.222, 0.01    # cm/j, /cm</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ET = 0.20                   # cm/j (2 mm/j)</a:t>
            </a:r>
            <a:endParaRPr lang="en-US" sz="1100" dirty="0"/>
          </a:p>
          <a:p>
            <a:pPr indent="0" marL="0">
              <a:buNone/>
            </a:pP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h = h_c(ET, K_sG, alpha)    # h en cm</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print(h, 'cm =', h/9.81, 'kPa')</a:t>
            </a:r>
            <a:endParaRPr lang="en-US" sz="1100" dirty="0"/>
          </a:p>
        </p:txBody>
      </p:sp>
      <p:pic>
        <p:nvPicPr>
          <p:cNvPr id="8" name="Image 0" descr="/sessions/lucid-laughing-allen/mnt/outputs/build/fig_gardner.png">    </p:cNvPr>
          <p:cNvPicPr>
            <a:picLocks noChangeAspect="1"/>
          </p:cNvPicPr>
          <p:nvPr/>
        </p:nvPicPr>
        <p:blipFill>
          <a:blip r:embed="rId1"/>
          <a:stretch>
            <a:fillRect/>
          </a:stretch>
        </p:blipFill>
        <p:spPr>
          <a:xfrm>
            <a:off x="4800600" y="1325880"/>
            <a:ext cx="4023360" cy="2103120"/>
          </a:xfrm>
          <a:prstGeom prst="rect">
            <a:avLst/>
          </a:prstGeom>
        </p:spPr>
      </p:pic>
      <p:sp>
        <p:nvSpPr>
          <p:cNvPr id="9" name="Shape 6"/>
          <p:cNvSpPr/>
          <p:nvPr/>
        </p:nvSpPr>
        <p:spPr>
          <a:xfrm>
            <a:off x="4800600" y="3566160"/>
            <a:ext cx="4023360" cy="1005840"/>
          </a:xfrm>
          <a:prstGeom prst="rect">
            <a:avLst/>
          </a:prstGeom>
          <a:solidFill>
            <a:srgbClr val="F4F1DE"/>
          </a:solidFill>
          <a:ln w="12700">
            <a:solidFill>
              <a:srgbClr val="D4DBE2"/>
            </a:solidFill>
            <a:prstDash val="solid"/>
          </a:ln>
        </p:spPr>
      </p:sp>
      <p:pic>
        <p:nvPicPr>
          <p:cNvPr id="10" name="Image 1" descr="preencoded.png">    </p:cNvPr>
          <p:cNvPicPr>
            <a:picLocks noChangeAspect="1"/>
          </p:cNvPicPr>
          <p:nvPr/>
        </p:nvPicPr>
        <p:blipFill>
          <a:blip r:embed="rId2"/>
          <a:stretch>
            <a:fillRect/>
          </a:stretch>
        </p:blipFill>
        <p:spPr>
          <a:xfrm>
            <a:off x="4937760" y="3703320"/>
            <a:ext cx="365760" cy="365760"/>
          </a:xfrm>
          <a:prstGeom prst="rect">
            <a:avLst/>
          </a:prstGeom>
        </p:spPr>
      </p:pic>
      <p:sp>
        <p:nvSpPr>
          <p:cNvPr id="11" name="Text 7"/>
          <p:cNvSpPr/>
          <p:nvPr/>
        </p:nvSpPr>
        <p:spPr>
          <a:xfrm>
            <a:off x="5349240" y="3657600"/>
            <a:ext cx="3383280" cy="274320"/>
          </a:xfrm>
          <a:prstGeom prst="rect">
            <a:avLst/>
          </a:prstGeom>
          <a:noFill/>
          <a:ln/>
        </p:spPr>
        <p:txBody>
          <a:bodyPr wrap="square" lIns="0" tIns="0" rIns="0" bIns="0" rtlCol="0" anchor="ctr"/>
          <a:lstStyle/>
          <a:p>
            <a:pPr indent="0" marL="0">
              <a:buNone/>
            </a:pPr>
            <a:r>
              <a:rPr lang="en-US" sz="1000" b="1" spc="300" kern="0" dirty="0">
                <a:solidFill>
                  <a:srgbClr val="B85042"/>
                </a:solidFill>
                <a:latin typeface="Calibri" pitchFamily="34" charset="0"/>
                <a:ea typeface="Calibri" pitchFamily="34" charset="-122"/>
                <a:cs typeface="Calibri" pitchFamily="34" charset="-120"/>
              </a:rPr>
              <a:t>Lecture</a:t>
            </a:r>
            <a:endParaRPr lang="en-US" sz="1000" dirty="0"/>
          </a:p>
        </p:txBody>
      </p:sp>
      <p:sp>
        <p:nvSpPr>
          <p:cNvPr id="12" name="Text 8"/>
          <p:cNvSpPr/>
          <p:nvPr/>
        </p:nvSpPr>
        <p:spPr>
          <a:xfrm>
            <a:off x="4937760" y="3931920"/>
            <a:ext cx="3840480" cy="594360"/>
          </a:xfrm>
          <a:prstGeom prst="rect">
            <a:avLst/>
          </a:prstGeom>
          <a:noFill/>
          <a:ln/>
        </p:spPr>
        <p:txBody>
          <a:bodyPr wrap="square" lIns="0" tIns="0" rIns="0" bIns="0" rtlCol="0" anchor="ctr"/>
          <a:lstStyle/>
          <a:p>
            <a:pPr indent="0" marL="0">
              <a:buNone/>
            </a:pPr>
            <a:r>
              <a:rPr lang="en-US" sz="1050" b="1" dirty="0">
                <a:solidFill>
                  <a:srgbClr val="1B1F3A"/>
                </a:solidFill>
                <a:latin typeface="Calibri" pitchFamily="34" charset="0"/>
                <a:ea typeface="Calibri" pitchFamily="34" charset="-122"/>
                <a:cs typeface="Calibri" pitchFamily="34" charset="-120"/>
              </a:rPr>
              <a:t>h_c ≈ −1,1 kPa  pour ET = 2 mm/j.  </a:t>
            </a:r>
            <a:pPr indent="0" marL="0">
              <a:buNone/>
            </a:pPr>
            <a:r>
              <a:rPr lang="en-US" sz="1050" dirty="0">
                <a:solidFill>
                  <a:srgbClr val="55657A"/>
                </a:solidFill>
                <a:latin typeface="Calibri" pitchFamily="34" charset="0"/>
                <a:ea typeface="Calibri" pitchFamily="34" charset="-122"/>
                <a:cs typeface="Calibri" pitchFamily="34" charset="-120"/>
              </a:rPr>
              <a:t>L'ordre de grandeur est cohérent avec les seuils observés (−10 à −25 kPa) une fois les corrections de Yuan &amp; Lu prises en compte.</a:t>
            </a:r>
            <a:endParaRPr lang="en-US" sz="1050" dirty="0"/>
          </a:p>
        </p:txBody>
      </p:sp>
      <p:sp>
        <p:nvSpPr>
          <p:cNvPr id="13" name="Text 9"/>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Analyse de sensibilité</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Quel paramètre fait le plus bouger h_c?</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pic>
        <p:nvPicPr>
          <p:cNvPr id="6" name="Image 0" descr="/sessions/lucid-laughing-allen/mnt/outputs/build/fig_sensitivity.png">    </p:cNvPr>
          <p:cNvPicPr>
            <a:picLocks noChangeAspect="1"/>
          </p:cNvPicPr>
          <p:nvPr/>
        </p:nvPicPr>
        <p:blipFill>
          <a:blip r:embed="rId1"/>
          <a:stretch>
            <a:fillRect/>
          </a:stretch>
        </p:blipFill>
        <p:spPr>
          <a:xfrm>
            <a:off x="411480" y="1188720"/>
            <a:ext cx="8412480" cy="2697480"/>
          </a:xfrm>
          <a:prstGeom prst="rect">
            <a:avLst/>
          </a:prstGeom>
        </p:spPr>
      </p:pic>
      <p:sp>
        <p:nvSpPr>
          <p:cNvPr id="7" name="Shape 4"/>
          <p:cNvSpPr/>
          <p:nvPr/>
        </p:nvSpPr>
        <p:spPr>
          <a:xfrm>
            <a:off x="502920" y="3977640"/>
            <a:ext cx="2606040" cy="685800"/>
          </a:xfrm>
          <a:prstGeom prst="rect">
            <a:avLst/>
          </a:prstGeom>
          <a:solidFill>
            <a:srgbClr val="F4F1DE"/>
          </a:solidFill>
          <a:ln w="6350">
            <a:solidFill>
              <a:srgbClr val="D4DBE2"/>
            </a:solidFill>
            <a:prstDash val="solid"/>
          </a:ln>
        </p:spPr>
      </p:sp>
      <p:sp>
        <p:nvSpPr>
          <p:cNvPr id="8" name="Text 5"/>
          <p:cNvSpPr/>
          <p:nvPr/>
        </p:nvSpPr>
        <p:spPr>
          <a:xfrm>
            <a:off x="594360" y="4023360"/>
            <a:ext cx="731520" cy="594360"/>
          </a:xfrm>
          <a:prstGeom prst="rect">
            <a:avLst/>
          </a:prstGeom>
          <a:noFill/>
          <a:ln/>
        </p:spPr>
        <p:txBody>
          <a:bodyPr wrap="square" lIns="0" tIns="0" rIns="0" bIns="0" rtlCol="0" anchor="ctr"/>
          <a:lstStyle/>
          <a:p>
            <a:pPr algn="ctr" indent="0" marL="0">
              <a:buNone/>
            </a:pPr>
            <a:r>
              <a:rPr lang="en-US" sz="1800" b="1" dirty="0">
                <a:solidFill>
                  <a:srgbClr val="0B3954"/>
                </a:solidFill>
                <a:latin typeface="Calibri" pitchFamily="34" charset="0"/>
                <a:ea typeface="Calibri" pitchFamily="34" charset="-122"/>
                <a:cs typeface="Calibri" pitchFamily="34" charset="-120"/>
              </a:rPr>
              <a:t>α*</a:t>
            </a:r>
            <a:endParaRPr lang="en-US" sz="1800" dirty="0"/>
          </a:p>
        </p:txBody>
      </p:sp>
      <p:sp>
        <p:nvSpPr>
          <p:cNvPr id="9" name="Text 6"/>
          <p:cNvSpPr/>
          <p:nvPr/>
        </p:nvSpPr>
        <p:spPr>
          <a:xfrm>
            <a:off x="1371600" y="4023360"/>
            <a:ext cx="1691640" cy="594360"/>
          </a:xfrm>
          <a:prstGeom prst="rect">
            <a:avLst/>
          </a:prstGeom>
          <a:noFill/>
          <a:ln/>
        </p:spPr>
        <p:txBody>
          <a:bodyPr wrap="square" lIns="0" tIns="0" rIns="0" bIns="0" rtlCol="0" anchor="ctr"/>
          <a:lstStyle/>
          <a:p>
            <a:pPr indent="0" marL="0">
              <a:buNone/>
            </a:pPr>
            <a:r>
              <a:rPr lang="en-US" sz="950" dirty="0">
                <a:solidFill>
                  <a:srgbClr val="1B1F3A"/>
                </a:solidFill>
                <a:latin typeface="Calibri" pitchFamily="34" charset="0"/>
                <a:ea typeface="Calibri" pitchFamily="34" charset="-122"/>
                <a:cs typeface="Calibri" pitchFamily="34" charset="-120"/>
              </a:rPr>
              <a:t>Plus α* est grand, plus K(h) chute vite avec la succion : h_c se rapproche de zéro.</a:t>
            </a:r>
            <a:endParaRPr lang="en-US" sz="950" dirty="0"/>
          </a:p>
        </p:txBody>
      </p:sp>
      <p:sp>
        <p:nvSpPr>
          <p:cNvPr id="10" name="Shape 7"/>
          <p:cNvSpPr/>
          <p:nvPr/>
        </p:nvSpPr>
        <p:spPr>
          <a:xfrm>
            <a:off x="3291840" y="3977640"/>
            <a:ext cx="2606040" cy="685800"/>
          </a:xfrm>
          <a:prstGeom prst="rect">
            <a:avLst/>
          </a:prstGeom>
          <a:solidFill>
            <a:srgbClr val="F4F1DE"/>
          </a:solidFill>
          <a:ln w="6350">
            <a:solidFill>
              <a:srgbClr val="D4DBE2"/>
            </a:solidFill>
            <a:prstDash val="solid"/>
          </a:ln>
        </p:spPr>
      </p:sp>
      <p:sp>
        <p:nvSpPr>
          <p:cNvPr id="11" name="Text 8"/>
          <p:cNvSpPr/>
          <p:nvPr/>
        </p:nvSpPr>
        <p:spPr>
          <a:xfrm>
            <a:off x="3383280" y="4023360"/>
            <a:ext cx="731520" cy="594360"/>
          </a:xfrm>
          <a:prstGeom prst="rect">
            <a:avLst/>
          </a:prstGeom>
          <a:noFill/>
          <a:ln/>
        </p:spPr>
        <p:txBody>
          <a:bodyPr wrap="square" lIns="0" tIns="0" rIns="0" bIns="0" rtlCol="0" anchor="ctr"/>
          <a:lstStyle/>
          <a:p>
            <a:pPr algn="ctr" indent="0" marL="0">
              <a:buNone/>
            </a:pPr>
            <a:r>
              <a:rPr lang="en-US" sz="1800" b="1" dirty="0">
                <a:solidFill>
                  <a:srgbClr val="0B3954"/>
                </a:solidFill>
                <a:latin typeface="Calibri" pitchFamily="34" charset="0"/>
                <a:ea typeface="Calibri" pitchFamily="34" charset="-122"/>
                <a:cs typeface="Calibri" pitchFamily="34" charset="-120"/>
              </a:rPr>
              <a:t>K_sG</a:t>
            </a:r>
            <a:endParaRPr lang="en-US" sz="1800" dirty="0"/>
          </a:p>
        </p:txBody>
      </p:sp>
      <p:sp>
        <p:nvSpPr>
          <p:cNvPr id="12" name="Text 9"/>
          <p:cNvSpPr/>
          <p:nvPr/>
        </p:nvSpPr>
        <p:spPr>
          <a:xfrm>
            <a:off x="4160520" y="4023360"/>
            <a:ext cx="1691640" cy="594360"/>
          </a:xfrm>
          <a:prstGeom prst="rect">
            <a:avLst/>
          </a:prstGeom>
          <a:noFill/>
          <a:ln/>
        </p:spPr>
        <p:txBody>
          <a:bodyPr wrap="square" lIns="0" tIns="0" rIns="0" bIns="0" rtlCol="0" anchor="ctr"/>
          <a:lstStyle/>
          <a:p>
            <a:pPr indent="0" marL="0">
              <a:buNone/>
            </a:pPr>
            <a:r>
              <a:rPr lang="en-US" sz="950" dirty="0">
                <a:solidFill>
                  <a:srgbClr val="1B1F3A"/>
                </a:solidFill>
                <a:latin typeface="Calibri" pitchFamily="34" charset="0"/>
                <a:ea typeface="Calibri" pitchFamily="34" charset="-122"/>
                <a:cs typeface="Calibri" pitchFamily="34" charset="-120"/>
              </a:rPr>
              <a:t>Un sol plus conducteur permet de descendre à des potentiels plus négatifs.</a:t>
            </a:r>
            <a:endParaRPr lang="en-US" sz="950" dirty="0"/>
          </a:p>
        </p:txBody>
      </p:sp>
      <p:sp>
        <p:nvSpPr>
          <p:cNvPr id="13" name="Shape 10"/>
          <p:cNvSpPr/>
          <p:nvPr/>
        </p:nvSpPr>
        <p:spPr>
          <a:xfrm>
            <a:off x="6080760" y="3977640"/>
            <a:ext cx="2606040" cy="685800"/>
          </a:xfrm>
          <a:prstGeom prst="rect">
            <a:avLst/>
          </a:prstGeom>
          <a:solidFill>
            <a:srgbClr val="F4F1DE"/>
          </a:solidFill>
          <a:ln w="6350">
            <a:solidFill>
              <a:srgbClr val="D4DBE2"/>
            </a:solidFill>
            <a:prstDash val="solid"/>
          </a:ln>
        </p:spPr>
      </p:sp>
      <p:sp>
        <p:nvSpPr>
          <p:cNvPr id="14" name="Text 11"/>
          <p:cNvSpPr/>
          <p:nvPr/>
        </p:nvSpPr>
        <p:spPr>
          <a:xfrm>
            <a:off x="6172200" y="4023360"/>
            <a:ext cx="731520" cy="594360"/>
          </a:xfrm>
          <a:prstGeom prst="rect">
            <a:avLst/>
          </a:prstGeom>
          <a:noFill/>
          <a:ln/>
        </p:spPr>
        <p:txBody>
          <a:bodyPr wrap="square" lIns="0" tIns="0" rIns="0" bIns="0" rtlCol="0" anchor="ctr"/>
          <a:lstStyle/>
          <a:p>
            <a:pPr algn="ctr" indent="0" marL="0">
              <a:buNone/>
            </a:pPr>
            <a:r>
              <a:rPr lang="en-US" sz="1800" b="1" dirty="0">
                <a:solidFill>
                  <a:srgbClr val="B85042"/>
                </a:solidFill>
                <a:latin typeface="Calibri" pitchFamily="34" charset="0"/>
                <a:ea typeface="Calibri" pitchFamily="34" charset="-122"/>
                <a:cs typeface="Calibri" pitchFamily="34" charset="-120"/>
              </a:rPr>
              <a:t>ET</a:t>
            </a:r>
            <a:endParaRPr lang="en-US" sz="1800" dirty="0"/>
          </a:p>
        </p:txBody>
      </p:sp>
      <p:sp>
        <p:nvSpPr>
          <p:cNvPr id="15" name="Text 12"/>
          <p:cNvSpPr/>
          <p:nvPr/>
        </p:nvSpPr>
        <p:spPr>
          <a:xfrm>
            <a:off x="6949440" y="4023360"/>
            <a:ext cx="1691640" cy="594360"/>
          </a:xfrm>
          <a:prstGeom prst="rect">
            <a:avLst/>
          </a:prstGeom>
          <a:noFill/>
          <a:ln/>
        </p:spPr>
        <p:txBody>
          <a:bodyPr wrap="square" lIns="0" tIns="0" rIns="0" bIns="0" rtlCol="0" anchor="ctr"/>
          <a:lstStyle/>
          <a:p>
            <a:pPr indent="0" marL="0">
              <a:buNone/>
            </a:pPr>
            <a:r>
              <a:rPr lang="en-US" sz="950" dirty="0">
                <a:solidFill>
                  <a:srgbClr val="1B1F3A"/>
                </a:solidFill>
                <a:latin typeface="Calibri" pitchFamily="34" charset="0"/>
                <a:ea typeface="Calibri" pitchFamily="34" charset="-122"/>
                <a:cs typeface="Calibri" pitchFamily="34" charset="-120"/>
              </a:rPr>
              <a:t>Quand l'ET monte, il faut maintenir un sol plus humide (h_c moins négatif).</a:t>
            </a:r>
            <a:endParaRPr lang="en-US" sz="950" dirty="0"/>
          </a:p>
        </p:txBody>
      </p:sp>
      <p:sp>
        <p:nvSpPr>
          <p:cNvPr id="16" name="Text 13"/>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5A8F29"/>
          </a:solidFill>
          <a:ln w="12700">
            <a:solidFill>
              <a:srgbClr val="5A8F29"/>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Validation et portée</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Le modèle simple suffit-il à l'ingénieur·e?</a:t>
            </a:r>
            <a:endParaRPr lang="en-US" sz="1200" dirty="0"/>
          </a:p>
        </p:txBody>
      </p:sp>
      <p:sp>
        <p:nvSpPr>
          <p:cNvPr id="5" name="Text 3"/>
          <p:cNvSpPr/>
          <p:nvPr/>
        </p:nvSpPr>
        <p:spPr>
          <a:xfrm>
            <a:off x="457200" y="4846320"/>
            <a:ext cx="59436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Rekika et al., Agronomy Journal 106:981–994 (2014)</a:t>
            </a:r>
            <a:endParaRPr lang="en-US" sz="900" dirty="0"/>
          </a:p>
        </p:txBody>
      </p:sp>
      <p:sp>
        <p:nvSpPr>
          <p:cNvPr id="6" name="Shape 4"/>
          <p:cNvSpPr/>
          <p:nvPr/>
        </p:nvSpPr>
        <p:spPr>
          <a:xfrm>
            <a:off x="502920" y="1325880"/>
            <a:ext cx="4114800" cy="914400"/>
          </a:xfrm>
          <a:prstGeom prst="rect">
            <a:avLst/>
          </a:prstGeom>
          <a:solidFill>
            <a:srgbClr val="FAFAF7"/>
          </a:solidFill>
          <a:ln w="6350">
            <a:solidFill>
              <a:srgbClr val="D4DBE2"/>
            </a:solidFill>
            <a:prstDash val="solid"/>
          </a:ln>
          <a:effectLst>
            <a:outerShdw sx="100000" sy="100000" kx="0" ky="0" algn="bl" rotWithShape="0" blurRad="101600" dist="25400" dir="54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640080" y="1417320"/>
            <a:ext cx="365760" cy="365760"/>
          </a:xfrm>
          <a:prstGeom prst="rect">
            <a:avLst/>
          </a:prstGeom>
        </p:spPr>
      </p:pic>
      <p:sp>
        <p:nvSpPr>
          <p:cNvPr id="8" name="Text 5"/>
          <p:cNvSpPr/>
          <p:nvPr/>
        </p:nvSpPr>
        <p:spPr>
          <a:xfrm>
            <a:off x="1097280" y="1399032"/>
            <a:ext cx="3383280" cy="320040"/>
          </a:xfrm>
          <a:prstGeom prst="rect">
            <a:avLst/>
          </a:prstGeom>
          <a:noFill/>
          <a:ln/>
        </p:spPr>
        <p:txBody>
          <a:bodyPr wrap="square" lIns="0" tIns="0" rIns="0" bIns="0" rtlCol="0" anchor="ctr"/>
          <a:lstStyle/>
          <a:p>
            <a:pPr indent="0" marL="0">
              <a:buNone/>
            </a:pPr>
            <a:r>
              <a:rPr lang="en-US" sz="1300" b="1" dirty="0">
                <a:solidFill>
                  <a:srgbClr val="5A8F29"/>
                </a:solidFill>
                <a:latin typeface="Calibri" pitchFamily="34" charset="0"/>
                <a:ea typeface="Calibri" pitchFamily="34" charset="-122"/>
                <a:cs typeface="Calibri" pitchFamily="34" charset="-120"/>
              </a:rPr>
              <a:t>Bonne cohérence</a:t>
            </a:r>
            <a:endParaRPr lang="en-US" sz="1300" dirty="0"/>
          </a:p>
        </p:txBody>
      </p:sp>
      <p:sp>
        <p:nvSpPr>
          <p:cNvPr id="9" name="Text 6"/>
          <p:cNvSpPr/>
          <p:nvPr/>
        </p:nvSpPr>
        <p:spPr>
          <a:xfrm>
            <a:off x="1097280" y="1737360"/>
            <a:ext cx="3383280" cy="50292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Les seuils analytiques (Yuan &amp; Lu, 2005) tombent dans la plage des seuils mesurés sur le terrain pour les trois cultures.</a:t>
            </a:r>
            <a:endParaRPr lang="en-US" sz="1100" dirty="0"/>
          </a:p>
        </p:txBody>
      </p:sp>
      <p:sp>
        <p:nvSpPr>
          <p:cNvPr id="10" name="Shape 7"/>
          <p:cNvSpPr/>
          <p:nvPr/>
        </p:nvSpPr>
        <p:spPr>
          <a:xfrm>
            <a:off x="502920" y="2377440"/>
            <a:ext cx="4114800" cy="914400"/>
          </a:xfrm>
          <a:prstGeom prst="rect">
            <a:avLst/>
          </a:prstGeom>
          <a:solidFill>
            <a:srgbClr val="FAFAF7"/>
          </a:solidFill>
          <a:ln w="6350">
            <a:solidFill>
              <a:srgbClr val="D4DBE2"/>
            </a:solidFill>
            <a:prstDash val="solid"/>
          </a:ln>
          <a:effectLst>
            <a:outerShdw sx="100000" sy="100000" kx="0" ky="0" algn="bl" rotWithShape="0" blurRad="101600" dist="25400" dir="5400000">
              <a:srgbClr val="000000">
                <a:alpha val="10000"/>
              </a:srgbClr>
            </a:outerShdw>
          </a:effectLst>
        </p:spPr>
      </p:sp>
      <p:pic>
        <p:nvPicPr>
          <p:cNvPr id="11" name="Image 1" descr="preencoded.png">    </p:cNvPr>
          <p:cNvPicPr>
            <a:picLocks noChangeAspect="1"/>
          </p:cNvPicPr>
          <p:nvPr/>
        </p:nvPicPr>
        <p:blipFill>
          <a:blip r:embed="rId2"/>
          <a:stretch>
            <a:fillRect/>
          </a:stretch>
        </p:blipFill>
        <p:spPr>
          <a:xfrm>
            <a:off x="640080" y="2468880"/>
            <a:ext cx="365760" cy="365760"/>
          </a:xfrm>
          <a:prstGeom prst="rect">
            <a:avLst/>
          </a:prstGeom>
        </p:spPr>
      </p:pic>
      <p:sp>
        <p:nvSpPr>
          <p:cNvPr id="12" name="Text 8"/>
          <p:cNvSpPr/>
          <p:nvPr/>
        </p:nvSpPr>
        <p:spPr>
          <a:xfrm>
            <a:off x="1097280" y="2450592"/>
            <a:ext cx="3383280" cy="320040"/>
          </a:xfrm>
          <a:prstGeom prst="rect">
            <a:avLst/>
          </a:prstGeom>
          <a:noFill/>
          <a:ln/>
        </p:spPr>
        <p:txBody>
          <a:bodyPr wrap="square" lIns="0" tIns="0" rIns="0" bIns="0" rtlCol="0" anchor="ctr"/>
          <a:lstStyle/>
          <a:p>
            <a:pPr indent="0" marL="0">
              <a:buNone/>
            </a:pPr>
            <a:r>
              <a:rPr lang="en-US" sz="1300" b="1" dirty="0">
                <a:solidFill>
                  <a:srgbClr val="5A8F29"/>
                </a:solidFill>
                <a:latin typeface="Calibri" pitchFamily="34" charset="0"/>
                <a:ea typeface="Calibri" pitchFamily="34" charset="-122"/>
                <a:cs typeface="Calibri" pitchFamily="34" charset="-120"/>
              </a:rPr>
              <a:t>Coût de calcul faible</a:t>
            </a:r>
            <a:endParaRPr lang="en-US" sz="1300" dirty="0"/>
          </a:p>
        </p:txBody>
      </p:sp>
      <p:sp>
        <p:nvSpPr>
          <p:cNvPr id="13" name="Text 9"/>
          <p:cNvSpPr/>
          <p:nvPr/>
        </p:nvSpPr>
        <p:spPr>
          <a:xfrm>
            <a:off x="1097280" y="2788920"/>
            <a:ext cx="3383280" cy="50292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Pas besoin d'un modèle Hydrus-1D complet : 4 paramètres (K_sG, α*, ET, L) suffisent à une première approximation.</a:t>
            </a:r>
            <a:endParaRPr lang="en-US" sz="1100" dirty="0"/>
          </a:p>
        </p:txBody>
      </p:sp>
      <p:sp>
        <p:nvSpPr>
          <p:cNvPr id="14" name="Shape 10"/>
          <p:cNvSpPr/>
          <p:nvPr/>
        </p:nvSpPr>
        <p:spPr>
          <a:xfrm>
            <a:off x="502920" y="3429000"/>
            <a:ext cx="4114800" cy="914400"/>
          </a:xfrm>
          <a:prstGeom prst="rect">
            <a:avLst/>
          </a:prstGeom>
          <a:solidFill>
            <a:srgbClr val="FAFAF7"/>
          </a:solidFill>
          <a:ln w="6350">
            <a:solidFill>
              <a:srgbClr val="D4DBE2"/>
            </a:solidFill>
            <a:prstDash val="solid"/>
          </a:ln>
          <a:effectLst>
            <a:outerShdw sx="100000" sy="100000" kx="0" ky="0" algn="bl" rotWithShape="0" blurRad="101600" dist="25400" dir="5400000">
              <a:srgbClr val="000000">
                <a:alpha val="10000"/>
              </a:srgbClr>
            </a:outerShdw>
          </a:effectLst>
        </p:spPr>
      </p:sp>
      <p:pic>
        <p:nvPicPr>
          <p:cNvPr id="15" name="Image 2" descr="preencoded.png">    </p:cNvPr>
          <p:cNvPicPr>
            <a:picLocks noChangeAspect="1"/>
          </p:cNvPicPr>
          <p:nvPr/>
        </p:nvPicPr>
        <p:blipFill>
          <a:blip r:embed="rId3"/>
          <a:stretch>
            <a:fillRect/>
          </a:stretch>
        </p:blipFill>
        <p:spPr>
          <a:xfrm>
            <a:off x="640080" y="3520440"/>
            <a:ext cx="365760" cy="365760"/>
          </a:xfrm>
          <a:prstGeom prst="rect">
            <a:avLst/>
          </a:prstGeom>
        </p:spPr>
      </p:pic>
      <p:sp>
        <p:nvSpPr>
          <p:cNvPr id="16" name="Text 11"/>
          <p:cNvSpPr/>
          <p:nvPr/>
        </p:nvSpPr>
        <p:spPr>
          <a:xfrm>
            <a:off x="1097280" y="3502152"/>
            <a:ext cx="3383280" cy="320040"/>
          </a:xfrm>
          <a:prstGeom prst="rect">
            <a:avLst/>
          </a:prstGeom>
          <a:noFill/>
          <a:ln/>
        </p:spPr>
        <p:txBody>
          <a:bodyPr wrap="square" lIns="0" tIns="0" rIns="0" bIns="0" rtlCol="0" anchor="ctr"/>
          <a:lstStyle/>
          <a:p>
            <a:pPr indent="0" marL="0">
              <a:buNone/>
            </a:pPr>
            <a:r>
              <a:rPr lang="en-US" sz="1300" b="1" dirty="0">
                <a:solidFill>
                  <a:srgbClr val="5A8F29"/>
                </a:solidFill>
                <a:latin typeface="Calibri" pitchFamily="34" charset="0"/>
                <a:ea typeface="Calibri" pitchFamily="34" charset="-122"/>
                <a:cs typeface="Calibri" pitchFamily="34" charset="-120"/>
              </a:rPr>
              <a:t>Site et culture</a:t>
            </a:r>
            <a:endParaRPr lang="en-US" sz="1300" dirty="0"/>
          </a:p>
        </p:txBody>
      </p:sp>
      <p:sp>
        <p:nvSpPr>
          <p:cNvPr id="17" name="Text 12"/>
          <p:cNvSpPr/>
          <p:nvPr/>
        </p:nvSpPr>
        <p:spPr>
          <a:xfrm>
            <a:off x="1097280" y="3840480"/>
            <a:ext cx="3383280" cy="50292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Les seuils varient avec le sol et le stade phénologique : la même équation, mais des paramètres différents.</a:t>
            </a:r>
            <a:endParaRPr lang="en-US" sz="1100" dirty="0"/>
          </a:p>
        </p:txBody>
      </p:sp>
      <p:sp>
        <p:nvSpPr>
          <p:cNvPr id="18" name="Shape 13"/>
          <p:cNvSpPr/>
          <p:nvPr/>
        </p:nvSpPr>
        <p:spPr>
          <a:xfrm>
            <a:off x="4846320" y="1325880"/>
            <a:ext cx="3931920" cy="3246120"/>
          </a:xfrm>
          <a:prstGeom prst="rect">
            <a:avLst/>
          </a:prstGeom>
          <a:solidFill>
            <a:srgbClr val="0B3954"/>
          </a:solidFill>
          <a:ln w="12700">
            <a:solidFill>
              <a:srgbClr val="0B3954"/>
            </a:solidFill>
            <a:prstDash val="solid"/>
          </a:ln>
          <a:effectLst>
            <a:outerShdw sx="100000" sy="100000" kx="0" ky="0" algn="bl" rotWithShape="0" blurRad="101600" dist="25400" dir="5400000">
              <a:srgbClr val="000000">
                <a:alpha val="10000"/>
              </a:srgbClr>
            </a:outerShdw>
          </a:effectLst>
        </p:spPr>
      </p:sp>
      <p:pic>
        <p:nvPicPr>
          <p:cNvPr id="19" name="Image 3" descr="preencoded.png">    </p:cNvPr>
          <p:cNvPicPr>
            <a:picLocks noChangeAspect="1"/>
          </p:cNvPicPr>
          <p:nvPr/>
        </p:nvPicPr>
        <p:blipFill>
          <a:blip r:embed="rId4"/>
          <a:stretch>
            <a:fillRect/>
          </a:stretch>
        </p:blipFill>
        <p:spPr>
          <a:xfrm>
            <a:off x="5029200" y="1508760"/>
            <a:ext cx="411480" cy="411480"/>
          </a:xfrm>
          <a:prstGeom prst="rect">
            <a:avLst/>
          </a:prstGeom>
        </p:spPr>
      </p:pic>
      <p:sp>
        <p:nvSpPr>
          <p:cNvPr id="20" name="Text 14"/>
          <p:cNvSpPr/>
          <p:nvPr/>
        </p:nvSpPr>
        <p:spPr>
          <a:xfrm>
            <a:off x="5532120" y="1508760"/>
            <a:ext cx="3108960" cy="365760"/>
          </a:xfrm>
          <a:prstGeom prst="rect">
            <a:avLst/>
          </a:prstGeom>
          <a:noFill/>
          <a:ln/>
        </p:spPr>
        <p:txBody>
          <a:bodyPr wrap="square" lIns="0" tIns="0" rIns="0" bIns="0" rtlCol="0" anchor="ctr"/>
          <a:lstStyle/>
          <a:p>
            <a:pPr indent="0" marL="0">
              <a:buNone/>
            </a:pPr>
            <a:r>
              <a:rPr lang="en-US" sz="1300" b="1" dirty="0">
                <a:solidFill>
                  <a:srgbClr val="F4F1DE"/>
                </a:solidFill>
                <a:latin typeface="Calibri" pitchFamily="34" charset="0"/>
                <a:ea typeface="Calibri" pitchFamily="34" charset="-122"/>
                <a:cs typeface="Calibri" pitchFamily="34" charset="-120"/>
              </a:rPr>
              <a:t>Limites à garder en tête</a:t>
            </a:r>
            <a:endParaRPr lang="en-US" sz="1300" dirty="0"/>
          </a:p>
        </p:txBody>
      </p:sp>
      <p:sp>
        <p:nvSpPr>
          <p:cNvPr id="21" name="Text 15"/>
          <p:cNvSpPr/>
          <p:nvPr/>
        </p:nvSpPr>
        <p:spPr>
          <a:xfrm>
            <a:off x="5029200" y="2011680"/>
            <a:ext cx="3611880" cy="246888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Hypothèse de stationnarité : peu valide après une pluie ou une irrigation forte.</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Gardner ne décrit bien K(h) que sur une plage limitée (−5 à −50 kPa ici).</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Champ racinaire supposé uniforme : ok pour cultures peu enracinées comme l'oignon.</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Nécessite de mesurer K(h) et la rétention au moins une fois par sol.</a:t>
            </a:r>
            <a:endParaRPr lang="en-US" sz="1150" dirty="0"/>
          </a:p>
        </p:txBody>
      </p:sp>
      <p:sp>
        <p:nvSpPr>
          <p:cNvPr id="22" name="Text 16"/>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954"/>
        </a:solidFill>
      </p:bgPr>
    </p:bg>
    <p:spTree>
      <p:nvGrpSpPr>
        <p:cNvPr id="1" name=""/>
        <p:cNvGrpSpPr/>
        <p:nvPr/>
      </p:nvGrpSpPr>
      <p:grpSpPr>
        <a:xfrm>
          <a:off x="0" y="0"/>
          <a:ext cx="0" cy="0"/>
          <a:chOff x="0" y="0"/>
          <a:chExt cx="0" cy="0"/>
        </a:xfrm>
      </p:grpSpPr>
      <p:sp>
        <p:nvSpPr>
          <p:cNvPr id="2" name="Shape 0"/>
          <p:cNvSpPr/>
          <p:nvPr/>
        </p:nvSpPr>
        <p:spPr>
          <a:xfrm>
            <a:off x="-2286000" y="2743200"/>
            <a:ext cx="4572000" cy="4572000"/>
          </a:xfrm>
          <a:prstGeom prst="ellipse">
            <a:avLst/>
          </a:prstGeom>
          <a:solidFill>
            <a:srgbClr val="5A8F29">
              <a:alpha val="40000"/>
            </a:srgbClr>
          </a:solidFill>
          <a:ln w="12700">
            <a:solidFill>
              <a:srgbClr val="5A8F29">
                <a:alpha val="0"/>
              </a:srgbClr>
            </a:solidFill>
            <a:prstDash val="solid"/>
          </a:ln>
        </p:spPr>
      </p:sp>
      <p:sp>
        <p:nvSpPr>
          <p:cNvPr id="3" name="Shape 1"/>
          <p:cNvSpPr/>
          <p:nvPr/>
        </p:nvSpPr>
        <p:spPr>
          <a:xfrm>
            <a:off x="6858000" y="-1828800"/>
            <a:ext cx="4572000" cy="4572000"/>
          </a:xfrm>
          <a:prstGeom prst="ellipse">
            <a:avLst/>
          </a:prstGeom>
          <a:solidFill>
            <a:srgbClr val="B85042">
              <a:alpha val="50000"/>
            </a:srgbClr>
          </a:solidFill>
          <a:ln w="12700">
            <a:solidFill>
              <a:srgbClr val="B85042">
                <a:alpha val="0"/>
              </a:srgbClr>
            </a:solidFill>
            <a:prstDash val="solid"/>
          </a:ln>
        </p:spPr>
      </p:sp>
      <p:sp>
        <p:nvSpPr>
          <p:cNvPr id="4" name="Text 2"/>
          <p:cNvSpPr/>
          <p:nvPr/>
        </p:nvSpPr>
        <p:spPr>
          <a:xfrm>
            <a:off x="548640" y="50292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Ce qu'il faut retenir</a:t>
            </a:r>
            <a:endParaRPr lang="en-US" sz="2800" dirty="0"/>
          </a:p>
        </p:txBody>
      </p:sp>
      <p:sp>
        <p:nvSpPr>
          <p:cNvPr id="5" name="Shape 3"/>
          <p:cNvSpPr/>
          <p:nvPr/>
        </p:nvSpPr>
        <p:spPr>
          <a:xfrm>
            <a:off x="548640" y="1005840"/>
            <a:ext cx="548640" cy="45720"/>
          </a:xfrm>
          <a:prstGeom prst="rect">
            <a:avLst/>
          </a:prstGeom>
          <a:solidFill>
            <a:srgbClr val="B85042"/>
          </a:solidFill>
          <a:ln w="12700">
            <a:solidFill>
              <a:srgbClr val="B85042"/>
            </a:solidFill>
            <a:prstDash val="solid"/>
          </a:ln>
        </p:spPr>
      </p:sp>
      <p:sp>
        <p:nvSpPr>
          <p:cNvPr id="6" name="Shape 4"/>
          <p:cNvSpPr/>
          <p:nvPr/>
        </p:nvSpPr>
        <p:spPr>
          <a:xfrm>
            <a:off x="548640" y="1417320"/>
            <a:ext cx="2606040" cy="2148840"/>
          </a:xfrm>
          <a:prstGeom prst="rect">
            <a:avLst/>
          </a:prstGeom>
          <a:solidFill>
            <a:srgbClr val="FFFFFF">
              <a:alpha val="12000"/>
            </a:srgbClr>
          </a:solidFill>
          <a:ln w="12700">
            <a:solidFill>
              <a:srgbClr val="F4F1DE"/>
            </a:solidFill>
            <a:prstDash val="solid"/>
          </a:ln>
        </p:spPr>
      </p:sp>
      <p:sp>
        <p:nvSpPr>
          <p:cNvPr id="7" name="Shape 5"/>
          <p:cNvSpPr/>
          <p:nvPr/>
        </p:nvSpPr>
        <p:spPr>
          <a:xfrm>
            <a:off x="731520" y="1600200"/>
            <a:ext cx="502920" cy="502920"/>
          </a:xfrm>
          <a:prstGeom prst="ellipse">
            <a:avLst/>
          </a:prstGeom>
          <a:solidFill>
            <a:srgbClr val="B85042"/>
          </a:solidFill>
          <a:ln w="12700">
            <a:solidFill>
              <a:srgbClr val="B85042"/>
            </a:solidFill>
            <a:prstDash val="solid"/>
          </a:ln>
        </p:spPr>
      </p:sp>
      <p:sp>
        <p:nvSpPr>
          <p:cNvPr id="8" name="Text 6"/>
          <p:cNvSpPr/>
          <p:nvPr/>
        </p:nvSpPr>
        <p:spPr>
          <a:xfrm>
            <a:off x="73152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325880" y="1600200"/>
            <a:ext cx="18288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Seuils crop-spécifiques</a:t>
            </a:r>
            <a:endParaRPr lang="en-US" sz="1400" dirty="0"/>
          </a:p>
        </p:txBody>
      </p:sp>
      <p:sp>
        <p:nvSpPr>
          <p:cNvPr id="10" name="Text 8"/>
          <p:cNvSpPr/>
          <p:nvPr/>
        </p:nvSpPr>
        <p:spPr>
          <a:xfrm>
            <a:off x="731520" y="2240280"/>
            <a:ext cx="2331720" cy="1280160"/>
          </a:xfrm>
          <a:prstGeom prst="rect">
            <a:avLst/>
          </a:prstGeom>
          <a:noFill/>
          <a:ln/>
        </p:spPr>
        <p:txBody>
          <a:bodyPr wrap="square" lIns="0" tIns="0" rIns="0" bIns="0" rtlCol="0" anchor="ctr"/>
          <a:lstStyle/>
          <a:p>
            <a:pPr indent="0" marL="0">
              <a:buNone/>
            </a:pPr>
            <a:r>
              <a:rPr lang="en-US" sz="1200" dirty="0">
                <a:solidFill>
                  <a:srgbClr val="F4F1DE"/>
                </a:solidFill>
                <a:latin typeface="Calibri" pitchFamily="34" charset="0"/>
                <a:ea typeface="Calibri" pitchFamily="34" charset="-122"/>
                <a:cs typeface="Calibri" pitchFamily="34" charset="-120"/>
              </a:rPr>
              <a:t>Oignon −20 kPa · Céleri −15 kPa · Épinard −10 kPa.</a:t>
            </a:r>
            <a:endParaRPr lang="en-US" sz="1200" dirty="0"/>
          </a:p>
        </p:txBody>
      </p:sp>
      <p:sp>
        <p:nvSpPr>
          <p:cNvPr id="11" name="Shape 9"/>
          <p:cNvSpPr/>
          <p:nvPr/>
        </p:nvSpPr>
        <p:spPr>
          <a:xfrm>
            <a:off x="3337560" y="1417320"/>
            <a:ext cx="2606040" cy="2148840"/>
          </a:xfrm>
          <a:prstGeom prst="rect">
            <a:avLst/>
          </a:prstGeom>
          <a:solidFill>
            <a:srgbClr val="FFFFFF">
              <a:alpha val="12000"/>
            </a:srgbClr>
          </a:solidFill>
          <a:ln w="12700">
            <a:solidFill>
              <a:srgbClr val="F4F1DE"/>
            </a:solidFill>
            <a:prstDash val="solid"/>
          </a:ln>
        </p:spPr>
      </p:sp>
      <p:sp>
        <p:nvSpPr>
          <p:cNvPr id="12" name="Shape 10"/>
          <p:cNvSpPr/>
          <p:nvPr/>
        </p:nvSpPr>
        <p:spPr>
          <a:xfrm>
            <a:off x="3520440" y="1600200"/>
            <a:ext cx="502920" cy="502920"/>
          </a:xfrm>
          <a:prstGeom prst="ellipse">
            <a:avLst/>
          </a:prstGeom>
          <a:solidFill>
            <a:srgbClr val="B85042"/>
          </a:solidFill>
          <a:ln w="12700">
            <a:solidFill>
              <a:srgbClr val="B85042"/>
            </a:solidFill>
            <a:prstDash val="solid"/>
          </a:ln>
        </p:spPr>
      </p:sp>
      <p:sp>
        <p:nvSpPr>
          <p:cNvPr id="13" name="Text 11"/>
          <p:cNvSpPr/>
          <p:nvPr/>
        </p:nvSpPr>
        <p:spPr>
          <a:xfrm>
            <a:off x="352044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4114800" y="1600200"/>
            <a:ext cx="18288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Modèle physique simple</a:t>
            </a:r>
            <a:endParaRPr lang="en-US" sz="1400" dirty="0"/>
          </a:p>
        </p:txBody>
      </p:sp>
      <p:sp>
        <p:nvSpPr>
          <p:cNvPr id="15" name="Text 13"/>
          <p:cNvSpPr/>
          <p:nvPr/>
        </p:nvSpPr>
        <p:spPr>
          <a:xfrm>
            <a:off x="3520440" y="2240280"/>
            <a:ext cx="2331720" cy="1280160"/>
          </a:xfrm>
          <a:prstGeom prst="rect">
            <a:avLst/>
          </a:prstGeom>
          <a:noFill/>
          <a:ln/>
        </p:spPr>
        <p:txBody>
          <a:bodyPr wrap="square" lIns="0" tIns="0" rIns="0" bIns="0" rtlCol="0" anchor="ctr"/>
          <a:lstStyle/>
          <a:p>
            <a:pPr indent="0" marL="0">
              <a:buNone/>
            </a:pPr>
            <a:r>
              <a:rPr lang="en-US" sz="1200" dirty="0">
                <a:solidFill>
                  <a:srgbClr val="F4F1DE"/>
                </a:solidFill>
                <a:latin typeface="Calibri" pitchFamily="34" charset="0"/>
                <a:ea typeface="Calibri" pitchFamily="34" charset="-122"/>
                <a:cs typeface="Calibri" pitchFamily="34" charset="-120"/>
              </a:rPr>
              <a:t>K(h_c) = ET via Gardner :  h_c = (1/α*)·ln(ET/K_sG).</a:t>
            </a:r>
            <a:endParaRPr lang="en-US" sz="1200" dirty="0"/>
          </a:p>
        </p:txBody>
      </p:sp>
      <p:sp>
        <p:nvSpPr>
          <p:cNvPr id="16" name="Shape 14"/>
          <p:cNvSpPr/>
          <p:nvPr/>
        </p:nvSpPr>
        <p:spPr>
          <a:xfrm>
            <a:off x="6126480" y="1417320"/>
            <a:ext cx="2606040" cy="2148840"/>
          </a:xfrm>
          <a:prstGeom prst="rect">
            <a:avLst/>
          </a:prstGeom>
          <a:solidFill>
            <a:srgbClr val="FFFFFF">
              <a:alpha val="12000"/>
            </a:srgbClr>
          </a:solidFill>
          <a:ln w="12700">
            <a:solidFill>
              <a:srgbClr val="F4F1DE"/>
            </a:solidFill>
            <a:prstDash val="solid"/>
          </a:ln>
        </p:spPr>
      </p:sp>
      <p:sp>
        <p:nvSpPr>
          <p:cNvPr id="17" name="Shape 15"/>
          <p:cNvSpPr/>
          <p:nvPr/>
        </p:nvSpPr>
        <p:spPr>
          <a:xfrm>
            <a:off x="6309360" y="1600200"/>
            <a:ext cx="502920" cy="502920"/>
          </a:xfrm>
          <a:prstGeom prst="ellipse">
            <a:avLst/>
          </a:prstGeom>
          <a:solidFill>
            <a:srgbClr val="B85042"/>
          </a:solidFill>
          <a:ln w="12700">
            <a:solidFill>
              <a:srgbClr val="B85042"/>
            </a:solidFill>
            <a:prstDash val="solid"/>
          </a:ln>
        </p:spPr>
      </p:sp>
      <p:sp>
        <p:nvSpPr>
          <p:cNvPr id="18" name="Text 16"/>
          <p:cNvSpPr/>
          <p:nvPr/>
        </p:nvSpPr>
        <p:spPr>
          <a:xfrm>
            <a:off x="630936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6903720" y="1600200"/>
            <a:ext cx="18288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Outil pour l'ingénieur·e</a:t>
            </a:r>
            <a:endParaRPr lang="en-US" sz="1400" dirty="0"/>
          </a:p>
        </p:txBody>
      </p:sp>
      <p:sp>
        <p:nvSpPr>
          <p:cNvPr id="20" name="Text 18"/>
          <p:cNvSpPr/>
          <p:nvPr/>
        </p:nvSpPr>
        <p:spPr>
          <a:xfrm>
            <a:off x="6309360" y="2240280"/>
            <a:ext cx="2331720" cy="1280160"/>
          </a:xfrm>
          <a:prstGeom prst="rect">
            <a:avLst/>
          </a:prstGeom>
          <a:noFill/>
          <a:ln/>
        </p:spPr>
        <p:txBody>
          <a:bodyPr wrap="square" lIns="0" tIns="0" rIns="0" bIns="0" rtlCol="0" anchor="ctr"/>
          <a:lstStyle/>
          <a:p>
            <a:pPr indent="0" marL="0">
              <a:buNone/>
            </a:pPr>
            <a:r>
              <a:rPr lang="en-US" sz="1200" dirty="0">
                <a:solidFill>
                  <a:srgbClr val="F4F1DE"/>
                </a:solidFill>
                <a:latin typeface="Calibri" pitchFamily="34" charset="0"/>
                <a:ea typeface="Calibri" pitchFamily="34" charset="-122"/>
                <a:cs typeface="Calibri" pitchFamily="34" charset="-120"/>
              </a:rPr>
              <a:t>Tensiomètres + 4 paramètres → calendrier d'irrigation.</a:t>
            </a:r>
            <a:endParaRPr lang="en-US" sz="1200" dirty="0"/>
          </a:p>
        </p:txBody>
      </p:sp>
      <p:sp>
        <p:nvSpPr>
          <p:cNvPr id="21" name="Shape 19"/>
          <p:cNvSpPr/>
          <p:nvPr/>
        </p:nvSpPr>
        <p:spPr>
          <a:xfrm>
            <a:off x="548640" y="3840480"/>
            <a:ext cx="8092440" cy="86868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pic>
        <p:nvPicPr>
          <p:cNvPr id="22" name="Image 0" descr="preencoded.png">    </p:cNvPr>
          <p:cNvPicPr>
            <a:picLocks noChangeAspect="1"/>
          </p:cNvPicPr>
          <p:nvPr/>
        </p:nvPicPr>
        <p:blipFill>
          <a:blip r:embed="rId1"/>
          <a:stretch>
            <a:fillRect/>
          </a:stretch>
        </p:blipFill>
        <p:spPr>
          <a:xfrm>
            <a:off x="777240" y="4023360"/>
            <a:ext cx="457200" cy="457200"/>
          </a:xfrm>
          <a:prstGeom prst="rect">
            <a:avLst/>
          </a:prstGeom>
        </p:spPr>
      </p:pic>
      <p:sp>
        <p:nvSpPr>
          <p:cNvPr id="23" name="Text 20"/>
          <p:cNvSpPr/>
          <p:nvPr/>
        </p:nvSpPr>
        <p:spPr>
          <a:xfrm>
            <a:off x="1417320" y="3931920"/>
            <a:ext cx="5486400" cy="274320"/>
          </a:xfrm>
          <a:prstGeom prst="rect">
            <a:avLst/>
          </a:prstGeom>
          <a:noFill/>
          <a:ln/>
        </p:spPr>
        <p:txBody>
          <a:bodyPr wrap="square" lIns="0" tIns="0" rIns="0" bIns="0" rtlCol="0" anchor="ctr"/>
          <a:lstStyle/>
          <a:p>
            <a:pPr indent="0" marL="0">
              <a:buNone/>
            </a:pPr>
            <a:r>
              <a:rPr lang="en-US" sz="1000" b="1" spc="300" kern="0" dirty="0">
                <a:solidFill>
                  <a:srgbClr val="0B3954"/>
                </a:solidFill>
                <a:latin typeface="Calibri" pitchFamily="34" charset="0"/>
                <a:ea typeface="Calibri" pitchFamily="34" charset="-122"/>
                <a:cs typeface="Calibri" pitchFamily="34" charset="-120"/>
              </a:rPr>
              <a:t>Référence complète</a:t>
            </a:r>
            <a:endParaRPr lang="en-US" sz="1000" dirty="0"/>
          </a:p>
        </p:txBody>
      </p:sp>
      <p:sp>
        <p:nvSpPr>
          <p:cNvPr id="24" name="Text 21"/>
          <p:cNvSpPr/>
          <p:nvPr/>
        </p:nvSpPr>
        <p:spPr>
          <a:xfrm>
            <a:off x="1417320" y="4160520"/>
            <a:ext cx="7178040" cy="502920"/>
          </a:xfrm>
          <a:prstGeom prst="rect">
            <a:avLst/>
          </a:prstGeom>
          <a:noFill/>
          <a:ln/>
        </p:spPr>
        <p:txBody>
          <a:bodyPr wrap="square" lIns="0" tIns="0" rIns="0" bIns="0" rtlCol="0" anchor="ctr"/>
          <a:lstStyle/>
          <a:p>
            <a:pPr indent="0" marL="0">
              <a:buNone/>
            </a:pPr>
            <a:r>
              <a:rPr lang="en-US" sz="1050" dirty="0">
                <a:solidFill>
                  <a:srgbClr val="1B1F3A"/>
                </a:solidFill>
                <a:latin typeface="Calibri" pitchFamily="34" charset="0"/>
                <a:ea typeface="Calibri" pitchFamily="34" charset="-122"/>
                <a:cs typeface="Calibri" pitchFamily="34" charset="-120"/>
              </a:rPr>
              <a:t>Rekika D., Caron J., Théroux Rancourt G., Lafond J. A., Gumiere S. J., Jenni S., Gosselin A. (2014). Optimal Irrigation for Onion and Celery Production and Spinach Seed Germination in Histosols. Agron. J. 106(2):981–994.</a:t>
            </a:r>
            <a:endParaRPr lang="en-US" sz="1050" dirty="0"/>
          </a:p>
        </p:txBody>
      </p:sp>
      <p:sp>
        <p:nvSpPr>
          <p:cNvPr id="25" name="Text 22"/>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F4F1DE"/>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Rekika et al. 2014 — Irrigation optimale sur Histosols</dc:title>
  <dc:subject>PptxGenJS Presentation</dc:subject>
  <dc:creator>Université Laval — FSAA</dc:creator>
  <cp:lastModifiedBy>Université Laval — FSAA</cp:lastModifiedBy>
  <cp:revision>1</cp:revision>
  <dcterms:created xsi:type="dcterms:W3CDTF">2026-05-10T17:59:19Z</dcterms:created>
  <dcterms:modified xsi:type="dcterms:W3CDTF">2026-05-10T17:59:19Z</dcterms:modified>
</cp:coreProperties>
</file>