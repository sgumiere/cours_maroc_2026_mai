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1" r:id="rId3"/>
    <p:sldId id="272" r:id="rId4"/>
    <p:sldId id="273" r:id="rId5"/>
    <p:sldId id="469" r:id="rId6"/>
    <p:sldId id="470" r:id="rId7"/>
    <p:sldId id="471" r:id="rId8"/>
    <p:sldId id="472" r:id="rId9"/>
    <p:sldId id="473" r:id="rId10"/>
    <p:sldId id="503" r:id="rId11"/>
    <p:sldId id="504" r:id="rId12"/>
    <p:sldId id="505" r:id="rId13"/>
    <p:sldId id="474" r:id="rId14"/>
    <p:sldId id="476" r:id="rId15"/>
    <p:sldId id="477" r:id="rId16"/>
    <p:sldId id="478" r:id="rId17"/>
    <p:sldId id="501" r:id="rId18"/>
    <p:sldId id="479" r:id="rId19"/>
    <p:sldId id="508" r:id="rId20"/>
    <p:sldId id="475" r:id="rId21"/>
    <p:sldId id="481" r:id="rId22"/>
    <p:sldId id="482" r:id="rId23"/>
    <p:sldId id="485" r:id="rId24"/>
    <p:sldId id="486" r:id="rId25"/>
    <p:sldId id="487" r:id="rId26"/>
    <p:sldId id="506" r:id="rId27"/>
    <p:sldId id="507" r:id="rId28"/>
    <p:sldId id="500" r:id="rId29"/>
    <p:sldId id="488" r:id="rId30"/>
    <p:sldId id="483" r:id="rId31"/>
    <p:sldId id="484" r:id="rId32"/>
    <p:sldId id="50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2"/>
            <p14:sldId id="273"/>
            <p14:sldId id="469"/>
            <p14:sldId id="470"/>
            <p14:sldId id="471"/>
            <p14:sldId id="472"/>
            <p14:sldId id="473"/>
            <p14:sldId id="503"/>
            <p14:sldId id="504"/>
            <p14:sldId id="505"/>
            <p14:sldId id="474"/>
            <p14:sldId id="476"/>
            <p14:sldId id="477"/>
            <p14:sldId id="478"/>
            <p14:sldId id="501"/>
            <p14:sldId id="479"/>
            <p14:sldId id="508"/>
            <p14:sldId id="475"/>
            <p14:sldId id="481"/>
            <p14:sldId id="482"/>
            <p14:sldId id="485"/>
            <p14:sldId id="486"/>
            <p14:sldId id="487"/>
            <p14:sldId id="506"/>
            <p14:sldId id="507"/>
            <p14:sldId id="500"/>
            <p14:sldId id="488"/>
            <p14:sldId id="483"/>
            <p14:sldId id="484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241" autoAdjust="0"/>
  </p:normalViewPr>
  <p:slideViewPr>
    <p:cSldViewPr snapToGrid="0">
      <p:cViewPr varScale="1">
        <p:scale>
          <a:sx n="81" d="100"/>
          <a:sy n="81" d="100"/>
        </p:scale>
        <p:origin x="443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78E30-9129-42B6-A2E1-B0F166BCD68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B32AE-8257-4B48-BE94-3771921922E7}">
      <dgm:prSet phldrT="[Text]"/>
      <dgm:spPr/>
      <dgm:t>
        <a:bodyPr/>
        <a:lstStyle/>
        <a:p>
          <a:r>
            <a:rPr lang="en-US" dirty="0"/>
            <a:t>Gravimetric</a:t>
          </a:r>
        </a:p>
      </dgm:t>
    </dgm:pt>
    <dgm:pt modelId="{EAC0C8FB-F266-4C79-9E64-8A9A3AF10FF8}" type="parTrans" cxnId="{B5CFC7B2-0546-4FF1-81B5-9A4B17BBD04D}">
      <dgm:prSet/>
      <dgm:spPr/>
      <dgm:t>
        <a:bodyPr/>
        <a:lstStyle/>
        <a:p>
          <a:endParaRPr lang="en-US"/>
        </a:p>
      </dgm:t>
    </dgm:pt>
    <dgm:pt modelId="{015CF9CF-E9E4-4BCE-804F-10835371D668}" type="sibTrans" cxnId="{B5CFC7B2-0546-4FF1-81B5-9A4B17BBD04D}">
      <dgm:prSet/>
      <dgm:spPr/>
      <dgm:t>
        <a:bodyPr/>
        <a:lstStyle/>
        <a:p>
          <a:endParaRPr lang="en-US"/>
        </a:p>
      </dgm:t>
    </dgm:pt>
    <dgm:pt modelId="{5C611B2C-F66D-4678-8ADE-290170693F6D}">
      <dgm:prSet phldrT="[Text]" phldr="1"/>
      <dgm:spPr/>
      <dgm:t>
        <a:bodyPr/>
        <a:lstStyle/>
        <a:p>
          <a:endParaRPr lang="en-US" dirty="0"/>
        </a:p>
      </dgm:t>
    </dgm:pt>
    <dgm:pt modelId="{929D91C5-590A-4598-AFC2-8087BF6EAF6D}" type="parTrans" cxnId="{6A599E00-2205-4F79-8CBE-2F1AAC6F5A84}">
      <dgm:prSet/>
      <dgm:spPr/>
      <dgm:t>
        <a:bodyPr/>
        <a:lstStyle/>
        <a:p>
          <a:endParaRPr lang="en-US"/>
        </a:p>
      </dgm:t>
    </dgm:pt>
    <dgm:pt modelId="{748CA1B7-AB6D-4AE5-8A23-8DAD0439D96F}" type="sibTrans" cxnId="{6A599E00-2205-4F79-8CBE-2F1AAC6F5A84}">
      <dgm:prSet/>
      <dgm:spPr/>
      <dgm:t>
        <a:bodyPr/>
        <a:lstStyle/>
        <a:p>
          <a:endParaRPr lang="en-US"/>
        </a:p>
      </dgm:t>
    </dgm:pt>
    <dgm:pt modelId="{5A277B5A-E84C-4BBE-9387-F2BBB1174C21}">
      <dgm:prSet phldrT="[Text]"/>
      <dgm:spPr/>
      <dgm:t>
        <a:bodyPr/>
        <a:lstStyle/>
        <a:p>
          <a:r>
            <a:rPr lang="en-US" dirty="0"/>
            <a:t>TDR</a:t>
          </a:r>
        </a:p>
      </dgm:t>
    </dgm:pt>
    <dgm:pt modelId="{B4BBA8D9-043F-4E31-8DB8-4D49BFA89D44}" type="parTrans" cxnId="{0E540A5B-DC97-4BD7-8A62-BE45C163482C}">
      <dgm:prSet/>
      <dgm:spPr/>
      <dgm:t>
        <a:bodyPr/>
        <a:lstStyle/>
        <a:p>
          <a:endParaRPr lang="en-US"/>
        </a:p>
      </dgm:t>
    </dgm:pt>
    <dgm:pt modelId="{92937588-41AF-4350-8367-B8B7BB46DBED}" type="sibTrans" cxnId="{0E540A5B-DC97-4BD7-8A62-BE45C163482C}">
      <dgm:prSet/>
      <dgm:spPr/>
      <dgm:t>
        <a:bodyPr/>
        <a:lstStyle/>
        <a:p>
          <a:endParaRPr lang="en-US"/>
        </a:p>
      </dgm:t>
    </dgm:pt>
    <dgm:pt modelId="{91AD9BE5-345A-415F-A02B-DD01C5AA194B}">
      <dgm:prSet phldrT="[Text]" phldr="1"/>
      <dgm:spPr/>
      <dgm:t>
        <a:bodyPr/>
        <a:lstStyle/>
        <a:p>
          <a:endParaRPr lang="en-US"/>
        </a:p>
      </dgm:t>
    </dgm:pt>
    <dgm:pt modelId="{D9630163-02BB-4934-851F-7FB190B6C641}" type="parTrans" cxnId="{59F6BB72-3E5C-479A-9A9A-6F567440FA6D}">
      <dgm:prSet/>
      <dgm:spPr/>
      <dgm:t>
        <a:bodyPr/>
        <a:lstStyle/>
        <a:p>
          <a:endParaRPr lang="en-US"/>
        </a:p>
      </dgm:t>
    </dgm:pt>
    <dgm:pt modelId="{D4B95C44-26E1-4230-A755-7E904828C5A7}" type="sibTrans" cxnId="{59F6BB72-3E5C-479A-9A9A-6F567440FA6D}">
      <dgm:prSet/>
      <dgm:spPr/>
      <dgm:t>
        <a:bodyPr/>
        <a:lstStyle/>
        <a:p>
          <a:endParaRPr lang="en-US"/>
        </a:p>
      </dgm:t>
    </dgm:pt>
    <dgm:pt modelId="{3C6A8AC6-DD41-415A-B9AF-660D70A2B744}">
      <dgm:prSet phldrT="[Text]" phldr="1"/>
      <dgm:spPr/>
      <dgm:t>
        <a:bodyPr/>
        <a:lstStyle/>
        <a:p>
          <a:endParaRPr lang="en-US" dirty="0"/>
        </a:p>
      </dgm:t>
    </dgm:pt>
    <dgm:pt modelId="{65441D66-36D9-4067-A964-7BE2563D0AF8}" type="parTrans" cxnId="{7846FF4B-2152-4593-B91F-A2B697DE03B1}">
      <dgm:prSet/>
      <dgm:spPr/>
      <dgm:t>
        <a:bodyPr/>
        <a:lstStyle/>
        <a:p>
          <a:endParaRPr lang="en-US"/>
        </a:p>
      </dgm:t>
    </dgm:pt>
    <dgm:pt modelId="{52885F1A-C263-4456-A977-955BCA04F1D7}" type="sibTrans" cxnId="{7846FF4B-2152-4593-B91F-A2B697DE03B1}">
      <dgm:prSet/>
      <dgm:spPr/>
      <dgm:t>
        <a:bodyPr/>
        <a:lstStyle/>
        <a:p>
          <a:endParaRPr lang="en-US"/>
        </a:p>
      </dgm:t>
    </dgm:pt>
    <dgm:pt modelId="{3E553819-5549-4310-9F92-E5A16D97FECE}">
      <dgm:prSet phldrT="[Text]"/>
      <dgm:spPr/>
      <dgm:t>
        <a:bodyPr/>
        <a:lstStyle/>
        <a:p>
          <a:r>
            <a:rPr lang="en-US" dirty="0"/>
            <a:t>n-Probe</a:t>
          </a:r>
        </a:p>
      </dgm:t>
    </dgm:pt>
    <dgm:pt modelId="{8CEE59FA-A2E2-4469-A840-5E6E46B728A5}" type="parTrans" cxnId="{F4B4A32C-4BC5-4D0B-AB75-B0D00FD6C0E4}">
      <dgm:prSet/>
      <dgm:spPr/>
      <dgm:t>
        <a:bodyPr/>
        <a:lstStyle/>
        <a:p>
          <a:endParaRPr lang="en-US"/>
        </a:p>
      </dgm:t>
    </dgm:pt>
    <dgm:pt modelId="{B8C6F218-0070-4BFA-8264-3E1199AA06B5}" type="sibTrans" cxnId="{F4B4A32C-4BC5-4D0B-AB75-B0D00FD6C0E4}">
      <dgm:prSet/>
      <dgm:spPr/>
      <dgm:t>
        <a:bodyPr/>
        <a:lstStyle/>
        <a:p>
          <a:endParaRPr lang="en-US"/>
        </a:p>
      </dgm:t>
    </dgm:pt>
    <dgm:pt modelId="{4C48A613-243C-4AFA-B58F-DE728F5A269B}">
      <dgm:prSet phldrT="[Text]" phldr="1"/>
      <dgm:spPr/>
      <dgm:t>
        <a:bodyPr/>
        <a:lstStyle/>
        <a:p>
          <a:endParaRPr lang="en-US"/>
        </a:p>
      </dgm:t>
    </dgm:pt>
    <dgm:pt modelId="{5D52504B-24AE-4EF1-AA23-276E34322919}" type="parTrans" cxnId="{1B0AA0C9-6C84-4582-BBD1-E3652A429F47}">
      <dgm:prSet/>
      <dgm:spPr/>
      <dgm:t>
        <a:bodyPr/>
        <a:lstStyle/>
        <a:p>
          <a:endParaRPr lang="en-US"/>
        </a:p>
      </dgm:t>
    </dgm:pt>
    <dgm:pt modelId="{68517DE4-5FD2-4019-B7B7-5A847859C534}" type="sibTrans" cxnId="{1B0AA0C9-6C84-4582-BBD1-E3652A429F47}">
      <dgm:prSet/>
      <dgm:spPr/>
      <dgm:t>
        <a:bodyPr/>
        <a:lstStyle/>
        <a:p>
          <a:endParaRPr lang="en-US"/>
        </a:p>
      </dgm:t>
    </dgm:pt>
    <dgm:pt modelId="{EF0FDAAC-BD48-4656-9729-E45669177F81}">
      <dgm:prSet phldrT="[Text]" phldr="1"/>
      <dgm:spPr/>
      <dgm:t>
        <a:bodyPr/>
        <a:lstStyle/>
        <a:p>
          <a:endParaRPr lang="en-US"/>
        </a:p>
      </dgm:t>
    </dgm:pt>
    <dgm:pt modelId="{0D62597F-54F9-43DC-97C9-19D516C5181E}" type="parTrans" cxnId="{BF98C9F5-0DF8-4901-A98A-023E90212177}">
      <dgm:prSet/>
      <dgm:spPr/>
      <dgm:t>
        <a:bodyPr/>
        <a:lstStyle/>
        <a:p>
          <a:endParaRPr lang="en-US"/>
        </a:p>
      </dgm:t>
    </dgm:pt>
    <dgm:pt modelId="{DEFE061D-A95E-4789-A6BC-B69FD1C6F38F}" type="sibTrans" cxnId="{BF98C9F5-0DF8-4901-A98A-023E90212177}">
      <dgm:prSet/>
      <dgm:spPr/>
      <dgm:t>
        <a:bodyPr/>
        <a:lstStyle/>
        <a:p>
          <a:endParaRPr lang="en-US"/>
        </a:p>
      </dgm:t>
    </dgm:pt>
    <dgm:pt modelId="{E254A0A4-477D-4797-ACBA-1152EAF23BA7}" type="pres">
      <dgm:prSet presAssocID="{BD578E30-9129-42B6-A2E1-B0F166BCD683}" presName="Name0" presStyleCnt="0">
        <dgm:presLayoutVars>
          <dgm:dir/>
          <dgm:animLvl val="lvl"/>
          <dgm:resizeHandles val="exact"/>
        </dgm:presLayoutVars>
      </dgm:prSet>
      <dgm:spPr/>
    </dgm:pt>
    <dgm:pt modelId="{1876C8D0-CA97-46E7-AC0C-571B0D94A436}" type="pres">
      <dgm:prSet presAssocID="{0BAB32AE-8257-4B48-BE94-3771921922E7}" presName="composite" presStyleCnt="0"/>
      <dgm:spPr/>
    </dgm:pt>
    <dgm:pt modelId="{D62135F8-DFB6-4E73-BEDF-08B281E5F5D3}" type="pres">
      <dgm:prSet presAssocID="{0BAB32AE-8257-4B48-BE94-3771921922E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AB43EC5-9FD9-44EB-BAA2-F62BFAEA9623}" type="pres">
      <dgm:prSet presAssocID="{0BAB32AE-8257-4B48-BE94-3771921922E7}" presName="desTx" presStyleLbl="alignAccFollowNode1" presStyleIdx="0" presStyleCnt="3">
        <dgm:presLayoutVars>
          <dgm:bulletEnabled val="1"/>
        </dgm:presLayoutVars>
      </dgm:prSet>
      <dgm:spPr/>
    </dgm:pt>
    <dgm:pt modelId="{1071A646-1C4F-4173-9F54-8CFE9E235645}" type="pres">
      <dgm:prSet presAssocID="{015CF9CF-E9E4-4BCE-804F-10835371D668}" presName="space" presStyleCnt="0"/>
      <dgm:spPr/>
    </dgm:pt>
    <dgm:pt modelId="{3FC953D0-EDFB-464D-B8C9-BA801B04643C}" type="pres">
      <dgm:prSet presAssocID="{5A277B5A-E84C-4BBE-9387-F2BBB1174C21}" presName="composite" presStyleCnt="0"/>
      <dgm:spPr/>
    </dgm:pt>
    <dgm:pt modelId="{595A3FBB-C7EF-4D45-9E06-C3338DF4C2FA}" type="pres">
      <dgm:prSet presAssocID="{5A277B5A-E84C-4BBE-9387-F2BBB1174C2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DB21788-9DF3-45D0-BCBB-C3C123ECAB0B}" type="pres">
      <dgm:prSet presAssocID="{5A277B5A-E84C-4BBE-9387-F2BBB1174C21}" presName="desTx" presStyleLbl="alignAccFollowNode1" presStyleIdx="1" presStyleCnt="3">
        <dgm:presLayoutVars>
          <dgm:bulletEnabled val="1"/>
        </dgm:presLayoutVars>
      </dgm:prSet>
      <dgm:spPr/>
    </dgm:pt>
    <dgm:pt modelId="{C6A944CE-5B50-43E6-84C3-25A031886E75}" type="pres">
      <dgm:prSet presAssocID="{92937588-41AF-4350-8367-B8B7BB46DBED}" presName="space" presStyleCnt="0"/>
      <dgm:spPr/>
    </dgm:pt>
    <dgm:pt modelId="{10D9C98D-06B7-40CD-9C86-922FAE7D0C25}" type="pres">
      <dgm:prSet presAssocID="{3E553819-5549-4310-9F92-E5A16D97FECE}" presName="composite" presStyleCnt="0"/>
      <dgm:spPr/>
    </dgm:pt>
    <dgm:pt modelId="{74E64A5B-1A9B-4A14-AC6F-7ECC6953C1D2}" type="pres">
      <dgm:prSet presAssocID="{3E553819-5549-4310-9F92-E5A16D97FEC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0AC410D-27D9-46FC-BEB0-26C6625C1301}" type="pres">
      <dgm:prSet presAssocID="{3E553819-5549-4310-9F92-E5A16D97FEC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A599E00-2205-4F79-8CBE-2F1AAC6F5A84}" srcId="{0BAB32AE-8257-4B48-BE94-3771921922E7}" destId="{5C611B2C-F66D-4678-8ADE-290170693F6D}" srcOrd="0" destOrd="0" parTransId="{929D91C5-590A-4598-AFC2-8087BF6EAF6D}" sibTransId="{748CA1B7-AB6D-4AE5-8A23-8DAD0439D96F}"/>
    <dgm:cxn modelId="{77305808-FCCC-4186-B86A-BFAF35F90A7F}" type="presOf" srcId="{0BAB32AE-8257-4B48-BE94-3771921922E7}" destId="{D62135F8-DFB6-4E73-BEDF-08B281E5F5D3}" srcOrd="0" destOrd="0" presId="urn:microsoft.com/office/officeart/2005/8/layout/hList1"/>
    <dgm:cxn modelId="{F4B4A32C-4BC5-4D0B-AB75-B0D00FD6C0E4}" srcId="{BD578E30-9129-42B6-A2E1-B0F166BCD683}" destId="{3E553819-5549-4310-9F92-E5A16D97FECE}" srcOrd="2" destOrd="0" parTransId="{8CEE59FA-A2E2-4469-A840-5E6E46B728A5}" sibTransId="{B8C6F218-0070-4BFA-8264-3E1199AA06B5}"/>
    <dgm:cxn modelId="{32E32739-6570-4DA6-B396-2C4E95CE0A84}" type="presOf" srcId="{BD578E30-9129-42B6-A2E1-B0F166BCD683}" destId="{E254A0A4-477D-4797-ACBA-1152EAF23BA7}" srcOrd="0" destOrd="0" presId="urn:microsoft.com/office/officeart/2005/8/layout/hList1"/>
    <dgm:cxn modelId="{0E540A5B-DC97-4BD7-8A62-BE45C163482C}" srcId="{BD578E30-9129-42B6-A2E1-B0F166BCD683}" destId="{5A277B5A-E84C-4BBE-9387-F2BBB1174C21}" srcOrd="1" destOrd="0" parTransId="{B4BBA8D9-043F-4E31-8DB8-4D49BFA89D44}" sibTransId="{92937588-41AF-4350-8367-B8B7BB46DBED}"/>
    <dgm:cxn modelId="{7846FF4B-2152-4593-B91F-A2B697DE03B1}" srcId="{5A277B5A-E84C-4BBE-9387-F2BBB1174C21}" destId="{3C6A8AC6-DD41-415A-B9AF-660D70A2B744}" srcOrd="1" destOrd="0" parTransId="{65441D66-36D9-4067-A964-7BE2563D0AF8}" sibTransId="{52885F1A-C263-4456-A977-955BCA04F1D7}"/>
    <dgm:cxn modelId="{59F6BB72-3E5C-479A-9A9A-6F567440FA6D}" srcId="{5A277B5A-E84C-4BBE-9387-F2BBB1174C21}" destId="{91AD9BE5-345A-415F-A02B-DD01C5AA194B}" srcOrd="0" destOrd="0" parTransId="{D9630163-02BB-4934-851F-7FB190B6C641}" sibTransId="{D4B95C44-26E1-4230-A755-7E904828C5A7}"/>
    <dgm:cxn modelId="{D5596074-058A-43A7-AB44-B29C9A9E2248}" type="presOf" srcId="{EF0FDAAC-BD48-4656-9729-E45669177F81}" destId="{80AC410D-27D9-46FC-BEB0-26C6625C1301}" srcOrd="0" destOrd="1" presId="urn:microsoft.com/office/officeart/2005/8/layout/hList1"/>
    <dgm:cxn modelId="{E150FA93-0677-4B7C-AE51-CEF57DF5778C}" type="presOf" srcId="{5A277B5A-E84C-4BBE-9387-F2BBB1174C21}" destId="{595A3FBB-C7EF-4D45-9E06-C3338DF4C2FA}" srcOrd="0" destOrd="0" presId="urn:microsoft.com/office/officeart/2005/8/layout/hList1"/>
    <dgm:cxn modelId="{529250A8-3812-4362-8D7E-A3D12E034D67}" type="presOf" srcId="{5C611B2C-F66D-4678-8ADE-290170693F6D}" destId="{6AB43EC5-9FD9-44EB-BAA2-F62BFAEA9623}" srcOrd="0" destOrd="0" presId="urn:microsoft.com/office/officeart/2005/8/layout/hList1"/>
    <dgm:cxn modelId="{767106AB-8AA6-4D00-AA15-F9EF90777613}" type="presOf" srcId="{91AD9BE5-345A-415F-A02B-DD01C5AA194B}" destId="{CDB21788-9DF3-45D0-BCBB-C3C123ECAB0B}" srcOrd="0" destOrd="0" presId="urn:microsoft.com/office/officeart/2005/8/layout/hList1"/>
    <dgm:cxn modelId="{B5CFC7B2-0546-4FF1-81B5-9A4B17BBD04D}" srcId="{BD578E30-9129-42B6-A2E1-B0F166BCD683}" destId="{0BAB32AE-8257-4B48-BE94-3771921922E7}" srcOrd="0" destOrd="0" parTransId="{EAC0C8FB-F266-4C79-9E64-8A9A3AF10FF8}" sibTransId="{015CF9CF-E9E4-4BCE-804F-10835371D668}"/>
    <dgm:cxn modelId="{1B0AA0C9-6C84-4582-BBD1-E3652A429F47}" srcId="{3E553819-5549-4310-9F92-E5A16D97FECE}" destId="{4C48A613-243C-4AFA-B58F-DE728F5A269B}" srcOrd="0" destOrd="0" parTransId="{5D52504B-24AE-4EF1-AA23-276E34322919}" sibTransId="{68517DE4-5FD2-4019-B7B7-5A847859C534}"/>
    <dgm:cxn modelId="{FA9E00EB-1F0E-4089-B589-60E715088503}" type="presOf" srcId="{4C48A613-243C-4AFA-B58F-DE728F5A269B}" destId="{80AC410D-27D9-46FC-BEB0-26C6625C1301}" srcOrd="0" destOrd="0" presId="urn:microsoft.com/office/officeart/2005/8/layout/hList1"/>
    <dgm:cxn modelId="{3BA9E5ED-CF41-49C1-8D7D-047A3376D2A4}" type="presOf" srcId="{3C6A8AC6-DD41-415A-B9AF-660D70A2B744}" destId="{CDB21788-9DF3-45D0-BCBB-C3C123ECAB0B}" srcOrd="0" destOrd="1" presId="urn:microsoft.com/office/officeart/2005/8/layout/hList1"/>
    <dgm:cxn modelId="{BF98C9F5-0DF8-4901-A98A-023E90212177}" srcId="{3E553819-5549-4310-9F92-E5A16D97FECE}" destId="{EF0FDAAC-BD48-4656-9729-E45669177F81}" srcOrd="1" destOrd="0" parTransId="{0D62597F-54F9-43DC-97C9-19D516C5181E}" sibTransId="{DEFE061D-A95E-4789-A6BC-B69FD1C6F38F}"/>
    <dgm:cxn modelId="{81DD0CFD-AFD7-44ED-B221-CE070F8CB87B}" type="presOf" srcId="{3E553819-5549-4310-9F92-E5A16D97FECE}" destId="{74E64A5B-1A9B-4A14-AC6F-7ECC6953C1D2}" srcOrd="0" destOrd="0" presId="urn:microsoft.com/office/officeart/2005/8/layout/hList1"/>
    <dgm:cxn modelId="{D88CBAB0-C289-4901-8377-0575C0C2AB49}" type="presParOf" srcId="{E254A0A4-477D-4797-ACBA-1152EAF23BA7}" destId="{1876C8D0-CA97-46E7-AC0C-571B0D94A436}" srcOrd="0" destOrd="0" presId="urn:microsoft.com/office/officeart/2005/8/layout/hList1"/>
    <dgm:cxn modelId="{4BFB7E81-E978-439D-BFF3-E5B637F638AB}" type="presParOf" srcId="{1876C8D0-CA97-46E7-AC0C-571B0D94A436}" destId="{D62135F8-DFB6-4E73-BEDF-08B281E5F5D3}" srcOrd="0" destOrd="0" presId="urn:microsoft.com/office/officeart/2005/8/layout/hList1"/>
    <dgm:cxn modelId="{B67521C5-49EE-425A-8A3C-7412A4750DE5}" type="presParOf" srcId="{1876C8D0-CA97-46E7-AC0C-571B0D94A436}" destId="{6AB43EC5-9FD9-44EB-BAA2-F62BFAEA9623}" srcOrd="1" destOrd="0" presId="urn:microsoft.com/office/officeart/2005/8/layout/hList1"/>
    <dgm:cxn modelId="{F6296DE3-7635-499B-BBE8-B141EBA029A6}" type="presParOf" srcId="{E254A0A4-477D-4797-ACBA-1152EAF23BA7}" destId="{1071A646-1C4F-4173-9F54-8CFE9E235645}" srcOrd="1" destOrd="0" presId="urn:microsoft.com/office/officeart/2005/8/layout/hList1"/>
    <dgm:cxn modelId="{ABB7550C-0099-4A07-B32D-BB9C1B5F211F}" type="presParOf" srcId="{E254A0A4-477D-4797-ACBA-1152EAF23BA7}" destId="{3FC953D0-EDFB-464D-B8C9-BA801B04643C}" srcOrd="2" destOrd="0" presId="urn:microsoft.com/office/officeart/2005/8/layout/hList1"/>
    <dgm:cxn modelId="{C2D1A440-4311-409A-8FC0-166CD3677628}" type="presParOf" srcId="{3FC953D0-EDFB-464D-B8C9-BA801B04643C}" destId="{595A3FBB-C7EF-4D45-9E06-C3338DF4C2FA}" srcOrd="0" destOrd="0" presId="urn:microsoft.com/office/officeart/2005/8/layout/hList1"/>
    <dgm:cxn modelId="{1883DE2E-D56B-4720-8DDD-79C49AFE3DCE}" type="presParOf" srcId="{3FC953D0-EDFB-464D-B8C9-BA801B04643C}" destId="{CDB21788-9DF3-45D0-BCBB-C3C123ECAB0B}" srcOrd="1" destOrd="0" presId="urn:microsoft.com/office/officeart/2005/8/layout/hList1"/>
    <dgm:cxn modelId="{F6BFBA29-9BB1-4470-A74F-CE6BF41BF8EB}" type="presParOf" srcId="{E254A0A4-477D-4797-ACBA-1152EAF23BA7}" destId="{C6A944CE-5B50-43E6-84C3-25A031886E75}" srcOrd="3" destOrd="0" presId="urn:microsoft.com/office/officeart/2005/8/layout/hList1"/>
    <dgm:cxn modelId="{86A3E9DB-66D1-4648-9D90-EDD6E216AE25}" type="presParOf" srcId="{E254A0A4-477D-4797-ACBA-1152EAF23BA7}" destId="{10D9C98D-06B7-40CD-9C86-922FAE7D0C25}" srcOrd="4" destOrd="0" presId="urn:microsoft.com/office/officeart/2005/8/layout/hList1"/>
    <dgm:cxn modelId="{568F5410-13C0-4E05-A717-45DCE00DFD1F}" type="presParOf" srcId="{10D9C98D-06B7-40CD-9C86-922FAE7D0C25}" destId="{74E64A5B-1A9B-4A14-AC6F-7ECC6953C1D2}" srcOrd="0" destOrd="0" presId="urn:microsoft.com/office/officeart/2005/8/layout/hList1"/>
    <dgm:cxn modelId="{46BEDF76-5DD5-42D9-9E17-E1AAAED007DD}" type="presParOf" srcId="{10D9C98D-06B7-40CD-9C86-922FAE7D0C25}" destId="{80AC410D-27D9-46FC-BEB0-26C6625C13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135F8-DFB6-4E73-BEDF-08B281E5F5D3}">
      <dsp:nvSpPr>
        <dsp:cNvPr id="0" name=""/>
        <dsp:cNvSpPr/>
      </dsp:nvSpPr>
      <dsp:spPr>
        <a:xfrm>
          <a:off x="2540" y="1187889"/>
          <a:ext cx="2476500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Gravimetric</a:t>
          </a:r>
        </a:p>
      </dsp:txBody>
      <dsp:txXfrm>
        <a:off x="2540" y="1187889"/>
        <a:ext cx="2476500" cy="892800"/>
      </dsp:txXfrm>
    </dsp:sp>
    <dsp:sp modelId="{6AB43EC5-9FD9-44EB-BAA2-F62BFAEA9623}">
      <dsp:nvSpPr>
        <dsp:cNvPr id="0" name=""/>
        <dsp:cNvSpPr/>
      </dsp:nvSpPr>
      <dsp:spPr>
        <a:xfrm>
          <a:off x="2540" y="2080689"/>
          <a:ext cx="2476500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/>
        </a:p>
      </dsp:txBody>
      <dsp:txXfrm>
        <a:off x="2540" y="2080689"/>
        <a:ext cx="2476500" cy="1361520"/>
      </dsp:txXfrm>
    </dsp:sp>
    <dsp:sp modelId="{595A3FBB-C7EF-4D45-9E06-C3338DF4C2FA}">
      <dsp:nvSpPr>
        <dsp:cNvPr id="0" name=""/>
        <dsp:cNvSpPr/>
      </dsp:nvSpPr>
      <dsp:spPr>
        <a:xfrm>
          <a:off x="2825750" y="1187889"/>
          <a:ext cx="2476500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TDR</a:t>
          </a:r>
        </a:p>
      </dsp:txBody>
      <dsp:txXfrm>
        <a:off x="2825750" y="1187889"/>
        <a:ext cx="2476500" cy="892800"/>
      </dsp:txXfrm>
    </dsp:sp>
    <dsp:sp modelId="{CDB21788-9DF3-45D0-BCBB-C3C123ECAB0B}">
      <dsp:nvSpPr>
        <dsp:cNvPr id="0" name=""/>
        <dsp:cNvSpPr/>
      </dsp:nvSpPr>
      <dsp:spPr>
        <a:xfrm>
          <a:off x="2825750" y="2080689"/>
          <a:ext cx="2476500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/>
        </a:p>
      </dsp:txBody>
      <dsp:txXfrm>
        <a:off x="2825750" y="2080689"/>
        <a:ext cx="2476500" cy="1361520"/>
      </dsp:txXfrm>
    </dsp:sp>
    <dsp:sp modelId="{74E64A5B-1A9B-4A14-AC6F-7ECC6953C1D2}">
      <dsp:nvSpPr>
        <dsp:cNvPr id="0" name=""/>
        <dsp:cNvSpPr/>
      </dsp:nvSpPr>
      <dsp:spPr>
        <a:xfrm>
          <a:off x="5648960" y="1187889"/>
          <a:ext cx="2476500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n-Probe</a:t>
          </a:r>
        </a:p>
      </dsp:txBody>
      <dsp:txXfrm>
        <a:off x="5648960" y="1187889"/>
        <a:ext cx="2476500" cy="892800"/>
      </dsp:txXfrm>
    </dsp:sp>
    <dsp:sp modelId="{80AC410D-27D9-46FC-BEB0-26C6625C1301}">
      <dsp:nvSpPr>
        <dsp:cNvPr id="0" name=""/>
        <dsp:cNvSpPr/>
      </dsp:nvSpPr>
      <dsp:spPr>
        <a:xfrm>
          <a:off x="5648960" y="2080689"/>
          <a:ext cx="2476500" cy="13615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/>
        </a:p>
      </dsp:txBody>
      <dsp:txXfrm>
        <a:off x="5648960" y="2080689"/>
        <a:ext cx="2476500" cy="136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12/14/2021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85C090CC-03EC-468F-9D59-704C1016A3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289448-3ABD-4BDA-AF95-EB8BBDBBC02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A894FABA-A363-440A-A7B7-0350C5E68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400800" cy="3600450"/>
          </a:xfrm>
          <a:ln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BF680020-42AB-471D-B91B-6FC2F3D3E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A7EF25-08E9-4275-ADF5-1167A82A514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8D73A7F4-F626-4CEF-A604-3033F4880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9138"/>
            <a:ext cx="6400800" cy="3600450"/>
          </a:xfrm>
          <a:ln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05FDED9E-13AC-4686-BD7D-431953B12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1E0150-8FE1-4DF2-AE74-A0E657806AA2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F1DF690B-B640-4329-9B9D-B33767421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12/12/2021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2991-A345-4E5C-827D-6C2A6E8F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A38D3-2020-4526-A8E8-A1CF4DE2A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838200"/>
            <a:ext cx="52324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519FC-B7EB-4889-BA6A-8629CA61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838200"/>
            <a:ext cx="52324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32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F880-D920-46E3-BB23-0ED4BD26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F4CB-A28D-4796-BE55-EBAAECF8F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975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38F4-77B1-4E64-A49E-18D0A39B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52400"/>
            <a:ext cx="10363200" cy="579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5C469-900C-460E-805E-806D1DC46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838200"/>
            <a:ext cx="5232400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406D8-83EC-4809-9DF4-79CF8E28089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350000" y="8382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E47255-921E-4595-9567-13C594E8E9F1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350000" y="38100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11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6897-43CE-4B11-8F73-620FB647D1A6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1219200" y="152400"/>
            <a:ext cx="10363200" cy="579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DBD5F-5FB5-42A8-8222-9635B4A85B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8382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93D14-F7F2-473D-BFF7-60DCA558E21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350000" y="8382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C1F048-2763-41AA-9E29-1ED0953DC07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914400" y="38100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E7627-DF89-47C3-B0A2-6A3CE74C4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000" y="3810000"/>
            <a:ext cx="5232400" cy="281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7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2.1.soil_moisture_determination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9.emf"/><Relationship Id="rId4" Type="http://schemas.openxmlformats.org/officeDocument/2006/relationships/image" Target="../media/image4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Soil Physics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Silvio Gumiere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B6138-8B78-4D18-9FE7-88EE34689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098" y="1341972"/>
            <a:ext cx="2885978" cy="456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Water content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8D224-0BC1-4EA4-9063-4BA93A118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14" y="1413511"/>
            <a:ext cx="7791612" cy="1539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D8DAC5-0176-48EC-8707-2994ECDDC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14" y="3278781"/>
            <a:ext cx="7791612" cy="12895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A524E7-94DF-4489-978F-4D8EED698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14" y="4839181"/>
            <a:ext cx="7753602" cy="1608915"/>
          </a:xfrm>
          <a:prstGeom prst="rect">
            <a:avLst/>
          </a:prstGeom>
        </p:spPr>
      </p:pic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F8C1C388-C68B-4CA5-AD50-2A95DE35E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426" y="2063470"/>
            <a:ext cx="3534744" cy="22667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A3BEEB-6FFC-4A75-B4F1-607964E796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304" y="4562628"/>
            <a:ext cx="2743200" cy="624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2153E4-0687-4DF8-967B-3BBDD9DAF5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8777" y="5284946"/>
            <a:ext cx="1674254" cy="5763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4A367E6-8F5B-4140-AE1A-F56657F85F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3136" y="6016654"/>
            <a:ext cx="1043189" cy="43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BE00-6D4F-4BAC-9FBC-89D44DC1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water content (</a:t>
            </a:r>
            <a:r>
              <a:rPr lang="en-US" dirty="0">
                <a:hlinkClick r:id="rId2" action="ppaction://hlinkpres?slideindex=1&amp;slidetitle="/>
              </a:rPr>
              <a:t>presentation</a:t>
            </a:r>
            <a:r>
              <a:rPr lang="en-US" dirty="0"/>
              <a:t>)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386D4A7-177A-49C3-98DA-9AAEC5983E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418793"/>
              </p:ext>
            </p:extLst>
          </p:nvPr>
        </p:nvGraphicFramePr>
        <p:xfrm>
          <a:off x="2032000" y="1508234"/>
          <a:ext cx="8128000" cy="463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U.S. Solid 0.001 g Precision Balance – Digital Lab Scale 1 mg Analytical  Electronic Balance with 2 LCD Screens, 310 g x 0.001g - U.S. Solid">
            <a:extLst>
              <a:ext uri="{FF2B5EF4-FFF2-40B4-BE49-F238E27FC236}">
                <a16:creationId xmlns:a16="http://schemas.microsoft.com/office/drawing/2014/main" id="{D0C7D7DD-1525-45A3-A42B-0BA9E0EBE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3271838"/>
            <a:ext cx="2487831" cy="248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il Moisture Sensor &amp; Display Unit | Rental | TDR Technology">
            <a:extLst>
              <a:ext uri="{FF2B5EF4-FFF2-40B4-BE49-F238E27FC236}">
                <a16:creationId xmlns:a16="http://schemas.microsoft.com/office/drawing/2014/main" id="{083A62FC-D59B-46BA-A754-36FA72E95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51" y="327183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ols.Valarm.net – Retrofitting Old Serial RS-232 Sensors for the Cloud and  Android USB">
            <a:extLst>
              <a:ext uri="{FF2B5EF4-FFF2-40B4-BE49-F238E27FC236}">
                <a16:creationId xmlns:a16="http://schemas.microsoft.com/office/drawing/2014/main" id="{38609959-1F6B-464E-9E7B-24C105C86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482" y="3271838"/>
            <a:ext cx="2369274" cy="334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435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C9FD-D67A-4F63-86EC-01EBBCC7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water potential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A6F96-7779-4FC6-A418-4C1FFE6A5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35" y="1489156"/>
            <a:ext cx="9284205" cy="2184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847D92-F422-4FF6-86A3-288D73B0A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04" y="4001129"/>
            <a:ext cx="9284436" cy="2126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07DA85-6D43-4491-BE80-DF2F86DFD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048" y="1489156"/>
            <a:ext cx="2099256" cy="2005885"/>
          </a:xfrm>
          <a:prstGeom prst="rect">
            <a:avLst/>
          </a:prstGeom>
        </p:spPr>
      </p:pic>
      <p:pic>
        <p:nvPicPr>
          <p:cNvPr id="2050" name="Picture 2" descr="Tensiometer incl. Temperature Sensor | Theodor Friedrichs &amp; Co">
            <a:extLst>
              <a:ext uri="{FF2B5EF4-FFF2-40B4-BE49-F238E27FC236}">
                <a16:creationId xmlns:a16="http://schemas.microsoft.com/office/drawing/2014/main" id="{C097AC5F-6822-4E19-B9F7-06C73B0A7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288" y="3942036"/>
            <a:ext cx="162877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590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id="{55622FB5-95FA-430F-B167-8DF695A4D0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The Soil Water Characteristic - </a:t>
            </a:r>
            <a:br>
              <a:rPr lang="en-US" altLang="en-US"/>
            </a:br>
            <a:r>
              <a:rPr lang="en-US" altLang="en-US"/>
              <a:t>Introduction and Measurement </a:t>
            </a:r>
          </a:p>
        </p:txBody>
      </p:sp>
      <p:pic>
        <p:nvPicPr>
          <p:cNvPr id="457732" name="Picture 4">
            <a:extLst>
              <a:ext uri="{FF2B5EF4-FFF2-40B4-BE49-F238E27FC236}">
                <a16:creationId xmlns:a16="http://schemas.microsoft.com/office/drawing/2014/main" id="{84008E81-57BF-4644-9714-3FD047486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514600"/>
            <a:ext cx="32766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7740" name="Picture 12">
            <a:extLst>
              <a:ext uri="{FF2B5EF4-FFF2-40B4-BE49-F238E27FC236}">
                <a16:creationId xmlns:a16="http://schemas.microsoft.com/office/drawing/2014/main" id="{289C5E62-974C-4F54-BF5E-964270274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362200"/>
            <a:ext cx="4114800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52DE8B61-AE88-42E4-8BAD-2B9B46B0F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Soil Water Characteristic Curve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E0FAF19E-9E98-426C-8C3D-193E83ABE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56" name="Rectangle 4">
            <a:extLst>
              <a:ext uri="{FF2B5EF4-FFF2-40B4-BE49-F238E27FC236}">
                <a16:creationId xmlns:a16="http://schemas.microsoft.com/office/drawing/2014/main" id="{C04D7132-EA3E-4A00-AF23-A096C3CF4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57" name="Rectangle 5">
            <a:extLst>
              <a:ext uri="{FF2B5EF4-FFF2-40B4-BE49-F238E27FC236}">
                <a16:creationId xmlns:a16="http://schemas.microsoft.com/office/drawing/2014/main" id="{E079B4A7-E027-4D11-94A6-59BCC4820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58" name="Rectangle 6">
            <a:extLst>
              <a:ext uri="{FF2B5EF4-FFF2-40B4-BE49-F238E27FC236}">
                <a16:creationId xmlns:a16="http://schemas.microsoft.com/office/drawing/2014/main" id="{D42AAE4A-5CC2-4DB8-B08D-51846842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59" name="Rectangle 7">
            <a:extLst>
              <a:ext uri="{FF2B5EF4-FFF2-40B4-BE49-F238E27FC236}">
                <a16:creationId xmlns:a16="http://schemas.microsoft.com/office/drawing/2014/main" id="{4CD326C9-2E28-4B8C-A78E-45B14D486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0" name="Rectangle 8">
            <a:extLst>
              <a:ext uri="{FF2B5EF4-FFF2-40B4-BE49-F238E27FC236}">
                <a16:creationId xmlns:a16="http://schemas.microsoft.com/office/drawing/2014/main" id="{69AE8104-356B-456C-B1D7-E8CB53DA8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1" name="Rectangle 9">
            <a:extLst>
              <a:ext uri="{FF2B5EF4-FFF2-40B4-BE49-F238E27FC236}">
                <a16:creationId xmlns:a16="http://schemas.microsoft.com/office/drawing/2014/main" id="{5D2404DD-13C9-499E-BCB8-21800A054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2" name="Rectangle 10">
            <a:extLst>
              <a:ext uri="{FF2B5EF4-FFF2-40B4-BE49-F238E27FC236}">
                <a16:creationId xmlns:a16="http://schemas.microsoft.com/office/drawing/2014/main" id="{D3099725-9756-48C4-B10C-8C6117B64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3" name="Rectangle 11">
            <a:extLst>
              <a:ext uri="{FF2B5EF4-FFF2-40B4-BE49-F238E27FC236}">
                <a16:creationId xmlns:a16="http://schemas.microsoft.com/office/drawing/2014/main" id="{BC297213-3E34-46F1-AF32-8C9A83899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4" name="Rectangle 12">
            <a:extLst>
              <a:ext uri="{FF2B5EF4-FFF2-40B4-BE49-F238E27FC236}">
                <a16:creationId xmlns:a16="http://schemas.microsoft.com/office/drawing/2014/main" id="{4EF174D6-B168-4BB2-931A-5879F244C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5" name="Rectangle 13">
            <a:extLst>
              <a:ext uri="{FF2B5EF4-FFF2-40B4-BE49-F238E27FC236}">
                <a16:creationId xmlns:a16="http://schemas.microsoft.com/office/drawing/2014/main" id="{5B732350-0EA4-4236-84B1-E707512E6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8766" name="Text Box 14">
            <a:extLst>
              <a:ext uri="{FF2B5EF4-FFF2-40B4-BE49-F238E27FC236}">
                <a16:creationId xmlns:a16="http://schemas.microsoft.com/office/drawing/2014/main" id="{AC5E28EE-97B6-404F-A08E-D229D2CFB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3456"/>
            <a:ext cx="731520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marL="228600" indent="-228600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8363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92238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611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439988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971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543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115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687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Aft>
                <a:spcPct val="40000"/>
              </a:spcAft>
              <a:buClr>
                <a:srgbClr val="FF3300"/>
              </a:buClr>
              <a:buFont typeface="Arial" panose="020B0604020202020204" pitchFamily="34" charset="0"/>
              <a:buChar char="●"/>
            </a:pP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The Soil Water Characteristic (SWC) curve describes the functional relationships between soil water content (</a:t>
            </a:r>
            <a:r>
              <a:rPr lang="en-US" altLang="en-US" dirty="0">
                <a:solidFill>
                  <a:schemeClr val="accent2"/>
                </a:solidFill>
                <a:latin typeface="Symbol" panose="05050102010706020507" pitchFamily="18" charset="2"/>
              </a:rPr>
              <a:t>q</a:t>
            </a:r>
            <a:r>
              <a:rPr lang="en-US" altLang="en-US" baseline="-25000" dirty="0">
                <a:solidFill>
                  <a:schemeClr val="accent2"/>
                </a:solidFill>
                <a:latin typeface="Comic Sans MS" panose="030F0702030302020204" pitchFamily="66" charset="0"/>
              </a:rPr>
              <a:t>v</a:t>
            </a: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 or </a:t>
            </a:r>
            <a:r>
              <a:rPr lang="en-US" altLang="en-US" dirty="0" err="1">
                <a:solidFill>
                  <a:schemeClr val="accent2"/>
                </a:solidFill>
                <a:latin typeface="Symbol" panose="05050102010706020507" pitchFamily="18" charset="2"/>
              </a:rPr>
              <a:t>q</a:t>
            </a:r>
            <a:r>
              <a:rPr lang="en-US" altLang="en-US" baseline="-25000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m</a:t>
            </a: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) and matric potential under equilibrium conditions.</a:t>
            </a:r>
            <a:endParaRPr lang="en-US" altLang="en-US" sz="6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pPr eaLnBrk="0" hangingPunct="0">
              <a:spcAft>
                <a:spcPct val="40000"/>
              </a:spcAft>
              <a:buClr>
                <a:srgbClr val="FF3300"/>
              </a:buClr>
              <a:buFont typeface="Arial" panose="020B0604020202020204" pitchFamily="34" charset="0"/>
              <a:buChar char="●"/>
            </a:pP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The SWC is an important soil property related to pore space distribution (sizes, interconnectedness), which is strongly affected by texture and structure and related factors including organic matter.</a:t>
            </a:r>
          </a:p>
        </p:txBody>
      </p:sp>
      <p:pic>
        <p:nvPicPr>
          <p:cNvPr id="458769" name="Picture 17">
            <a:extLst>
              <a:ext uri="{FF2B5EF4-FFF2-40B4-BE49-F238E27FC236}">
                <a16:creationId xmlns:a16="http://schemas.microsoft.com/office/drawing/2014/main" id="{77BDE5B3-C155-49CB-9CCE-A8E9F4DDF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60883" y="3022219"/>
            <a:ext cx="4572000" cy="3387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8770" name="Text Box 18">
            <a:extLst>
              <a:ext uri="{FF2B5EF4-FFF2-40B4-BE49-F238E27FC236}">
                <a16:creationId xmlns:a16="http://schemas.microsoft.com/office/drawing/2014/main" id="{16546C3E-3AE7-4B56-93AD-190DB5849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6759" y="3479709"/>
            <a:ext cx="3225800" cy="266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marL="228600" indent="-228600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68363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92238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1611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439988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971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543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115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68788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Aft>
                <a:spcPct val="40000"/>
              </a:spcAft>
              <a:buClr>
                <a:srgbClr val="FF3300"/>
              </a:buClr>
              <a:buFont typeface="Arial" panose="020B0604020202020204" pitchFamily="34" charset="0"/>
              <a:buChar char="●"/>
            </a:pP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The SWC is a primary hydraulic property required for modeling water flow in porous materials.</a:t>
            </a:r>
            <a:endParaRPr lang="en-US" altLang="en-US" sz="6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pPr eaLnBrk="0" hangingPunct="0">
              <a:spcAft>
                <a:spcPct val="40000"/>
              </a:spcAft>
              <a:buClr>
                <a:srgbClr val="FF3300"/>
              </a:buClr>
              <a:buFont typeface="Arial" panose="020B0604020202020204" pitchFamily="34" charset="0"/>
              <a:buChar char="●"/>
            </a:pPr>
            <a:r>
              <a:rPr lang="en-US" altLang="en-US" dirty="0">
                <a:solidFill>
                  <a:schemeClr val="accent2"/>
                </a:solidFill>
                <a:latin typeface="Comic Sans MS" panose="030F0702030302020204" pitchFamily="66" charset="0"/>
              </a:rPr>
              <a:t>The SWC function is highly nonlinear and relatively difficult to obtain accurately.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>
            <a:extLst>
              <a:ext uri="{FF2B5EF4-FFF2-40B4-BE49-F238E27FC236}">
                <a16:creationId xmlns:a16="http://schemas.microsoft.com/office/drawing/2014/main" id="{565B5A15-7DA4-4EEF-8B0D-C34AA73F7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The Soil Water Characteristic Curve</a:t>
            </a:r>
          </a:p>
        </p:txBody>
      </p:sp>
      <p:sp>
        <p:nvSpPr>
          <p:cNvPr id="459779" name="Rectangle 3">
            <a:extLst>
              <a:ext uri="{FF2B5EF4-FFF2-40B4-BE49-F238E27FC236}">
                <a16:creationId xmlns:a16="http://schemas.microsoft.com/office/drawing/2014/main" id="{99EAFDF1-2F10-4E5B-B0D5-57C3353B7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0" name="Rectangle 4">
            <a:extLst>
              <a:ext uri="{FF2B5EF4-FFF2-40B4-BE49-F238E27FC236}">
                <a16:creationId xmlns:a16="http://schemas.microsoft.com/office/drawing/2014/main" id="{A5B72788-86E5-41C1-82BB-D14F3482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1" name="Rectangle 5">
            <a:extLst>
              <a:ext uri="{FF2B5EF4-FFF2-40B4-BE49-F238E27FC236}">
                <a16:creationId xmlns:a16="http://schemas.microsoft.com/office/drawing/2014/main" id="{2F9ECAFC-29F8-41EE-BE33-3CD1951F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2" name="Rectangle 6">
            <a:extLst>
              <a:ext uri="{FF2B5EF4-FFF2-40B4-BE49-F238E27FC236}">
                <a16:creationId xmlns:a16="http://schemas.microsoft.com/office/drawing/2014/main" id="{BA5C0BCD-F742-49D6-8D81-03C671C6F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3" name="Rectangle 7">
            <a:extLst>
              <a:ext uri="{FF2B5EF4-FFF2-40B4-BE49-F238E27FC236}">
                <a16:creationId xmlns:a16="http://schemas.microsoft.com/office/drawing/2014/main" id="{AAC6599D-0849-4318-B0E2-365B5DCA2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5" name="Rectangle 9">
            <a:extLst>
              <a:ext uri="{FF2B5EF4-FFF2-40B4-BE49-F238E27FC236}">
                <a16:creationId xmlns:a16="http://schemas.microsoft.com/office/drawing/2014/main" id="{D3318A47-06BA-4ECE-9B29-400C37EF2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6" name="Rectangle 10">
            <a:extLst>
              <a:ext uri="{FF2B5EF4-FFF2-40B4-BE49-F238E27FC236}">
                <a16:creationId xmlns:a16="http://schemas.microsoft.com/office/drawing/2014/main" id="{7F37EB5B-12A0-4423-9479-91FDB1FCF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7" name="Rectangle 11">
            <a:extLst>
              <a:ext uri="{FF2B5EF4-FFF2-40B4-BE49-F238E27FC236}">
                <a16:creationId xmlns:a16="http://schemas.microsoft.com/office/drawing/2014/main" id="{04EFD746-D2B4-48DE-BE2B-82220F3A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8" name="Rectangle 12">
            <a:extLst>
              <a:ext uri="{FF2B5EF4-FFF2-40B4-BE49-F238E27FC236}">
                <a16:creationId xmlns:a16="http://schemas.microsoft.com/office/drawing/2014/main" id="{0DC9347F-9151-4349-BD75-3D38F686B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89" name="Rectangle 13">
            <a:extLst>
              <a:ext uri="{FF2B5EF4-FFF2-40B4-BE49-F238E27FC236}">
                <a16:creationId xmlns:a16="http://schemas.microsoft.com/office/drawing/2014/main" id="{0688D2B3-0CBF-4145-8489-E5738BFC5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59790" name="Text Box 14">
            <a:extLst>
              <a:ext uri="{FF2B5EF4-FFF2-40B4-BE49-F238E27FC236}">
                <a16:creationId xmlns:a16="http://schemas.microsoft.com/office/drawing/2014/main" id="{2CBB57DA-6E44-4CA1-8161-BC6155DD5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470" y="1163902"/>
            <a:ext cx="8156575" cy="375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900" b="1" dirty="0"/>
              <a:t>Typical soil water characteristic curves for soils of different texture</a:t>
            </a:r>
          </a:p>
        </p:txBody>
      </p:sp>
      <p:pic>
        <p:nvPicPr>
          <p:cNvPr id="459793" name="Picture 17">
            <a:extLst>
              <a:ext uri="{FF2B5EF4-FFF2-40B4-BE49-F238E27FC236}">
                <a16:creationId xmlns:a16="http://schemas.microsoft.com/office/drawing/2014/main" id="{DCC1428D-27CF-4539-9890-82CD8CD181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7500" y="1447800"/>
            <a:ext cx="6743700" cy="49736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407F5481-2EB5-4EDD-A2A7-9E9719A37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 sz="3200"/>
              <a:t>The Soil Water Characteristic Curve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A31F3DC2-F7A5-48CB-BAF5-A77153DC6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4" name="Rectangle 4">
            <a:extLst>
              <a:ext uri="{FF2B5EF4-FFF2-40B4-BE49-F238E27FC236}">
                <a16:creationId xmlns:a16="http://schemas.microsoft.com/office/drawing/2014/main" id="{70F6F8FA-59BC-41D6-AE74-145025C9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5" name="Rectangle 5">
            <a:extLst>
              <a:ext uri="{FF2B5EF4-FFF2-40B4-BE49-F238E27FC236}">
                <a16:creationId xmlns:a16="http://schemas.microsoft.com/office/drawing/2014/main" id="{ED7C7A8C-F148-4F9D-9B87-C805138E1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6" name="Rectangle 6">
            <a:extLst>
              <a:ext uri="{FF2B5EF4-FFF2-40B4-BE49-F238E27FC236}">
                <a16:creationId xmlns:a16="http://schemas.microsoft.com/office/drawing/2014/main" id="{4FDEBF13-2B43-49FF-9D1B-F9092B40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7" name="Rectangle 7">
            <a:extLst>
              <a:ext uri="{FF2B5EF4-FFF2-40B4-BE49-F238E27FC236}">
                <a16:creationId xmlns:a16="http://schemas.microsoft.com/office/drawing/2014/main" id="{1E789D5A-AAFF-4F23-970D-590B1533C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8" name="Rectangle 8">
            <a:extLst>
              <a:ext uri="{FF2B5EF4-FFF2-40B4-BE49-F238E27FC236}">
                <a16:creationId xmlns:a16="http://schemas.microsoft.com/office/drawing/2014/main" id="{DA72D469-DCFD-4254-983D-3C1E06A7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09" name="Rectangle 9">
            <a:extLst>
              <a:ext uri="{FF2B5EF4-FFF2-40B4-BE49-F238E27FC236}">
                <a16:creationId xmlns:a16="http://schemas.microsoft.com/office/drawing/2014/main" id="{6321C920-DECC-4063-9933-FC1AD58CB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10" name="Rectangle 10">
            <a:extLst>
              <a:ext uri="{FF2B5EF4-FFF2-40B4-BE49-F238E27FC236}">
                <a16:creationId xmlns:a16="http://schemas.microsoft.com/office/drawing/2014/main" id="{34A346D5-F47B-4A96-8880-F2AE1D0CB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11" name="Rectangle 11">
            <a:extLst>
              <a:ext uri="{FF2B5EF4-FFF2-40B4-BE49-F238E27FC236}">
                <a16:creationId xmlns:a16="http://schemas.microsoft.com/office/drawing/2014/main" id="{3374D291-7E0B-4775-89AE-5B08AD979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12" name="Rectangle 12">
            <a:extLst>
              <a:ext uri="{FF2B5EF4-FFF2-40B4-BE49-F238E27FC236}">
                <a16:creationId xmlns:a16="http://schemas.microsoft.com/office/drawing/2014/main" id="{3404BED6-D798-453F-A68E-26D38A9C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13" name="Rectangle 13">
            <a:extLst>
              <a:ext uri="{FF2B5EF4-FFF2-40B4-BE49-F238E27FC236}">
                <a16:creationId xmlns:a16="http://schemas.microsoft.com/office/drawing/2014/main" id="{BC09F183-D622-41A3-A3DA-9627E7D2F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0814" name="Text Box 14">
            <a:extLst>
              <a:ext uri="{FF2B5EF4-FFF2-40B4-BE49-F238E27FC236}">
                <a16:creationId xmlns:a16="http://schemas.microsoft.com/office/drawing/2014/main" id="{B25AB17E-CD0C-4954-9E44-AAC31ABD5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504" y="1224597"/>
            <a:ext cx="4724400" cy="388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900" b="1" dirty="0"/>
              <a:t>Early conceptual models for SWC curve were based on the "bundle of cylindrical capillaries" (BCC) representation of pore space geometry (Millington and Quirk, 1961). </a:t>
            </a:r>
          </a:p>
          <a:p>
            <a:pPr eaLnBrk="0" hangingPunct="0"/>
            <a:br>
              <a:rPr lang="en-US" altLang="en-US" sz="1900" b="1" dirty="0"/>
            </a:br>
            <a:r>
              <a:rPr lang="en-US" altLang="en-US" sz="1900" b="1" dirty="0"/>
              <a:t>The BCC representation postulates that at a given matric potential a portion of interconnected cylindrical pores is completely liquid filled, whereas larger pores are completely empty.</a:t>
            </a:r>
            <a:br>
              <a:rPr lang="en-US" altLang="en-US" sz="1900" b="1" dirty="0"/>
            </a:br>
            <a:br>
              <a:rPr lang="en-US" altLang="en-US" sz="1900" b="1" dirty="0"/>
            </a:br>
            <a:endParaRPr lang="en-US" altLang="en-US" sz="1900" b="1" dirty="0"/>
          </a:p>
        </p:txBody>
      </p:sp>
      <p:pic>
        <p:nvPicPr>
          <p:cNvPr id="460815" name="Picture 15">
            <a:extLst>
              <a:ext uri="{FF2B5EF4-FFF2-40B4-BE49-F238E27FC236}">
                <a16:creationId xmlns:a16="http://schemas.microsoft.com/office/drawing/2014/main" id="{DECCCED2-DF7A-4526-9CC7-19AE0AF77AE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3800" y="1066800"/>
            <a:ext cx="2190750" cy="5257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0816" name="Picture 16">
            <a:extLst>
              <a:ext uri="{FF2B5EF4-FFF2-40B4-BE49-F238E27FC236}">
                <a16:creationId xmlns:a16="http://schemas.microsoft.com/office/drawing/2014/main" id="{D6BF5362-B774-49B1-BBFB-26A71A2CC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526" y="4519613"/>
            <a:ext cx="2895600" cy="165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17" name="Text Box 17">
            <a:extLst>
              <a:ext uri="{FF2B5EF4-FFF2-40B4-BE49-F238E27FC236}">
                <a16:creationId xmlns:a16="http://schemas.microsoft.com/office/drawing/2014/main" id="{6E5679E9-0594-4084-94D5-D3B39C5D4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1004" y="4519612"/>
            <a:ext cx="1231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>
                <a:solidFill>
                  <a:schemeClr val="accent2"/>
                </a:solidFill>
              </a:rPr>
              <a:t>Soil sample</a:t>
            </a:r>
          </a:p>
        </p:txBody>
      </p:sp>
      <p:sp>
        <p:nvSpPr>
          <p:cNvPr id="460818" name="Text Box 18">
            <a:extLst>
              <a:ext uri="{FF2B5EF4-FFF2-40B4-BE49-F238E27FC236}">
                <a16:creationId xmlns:a16="http://schemas.microsoft.com/office/drawing/2014/main" id="{70DE293A-9020-40F9-90B2-8394260FE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1" y="6172200"/>
            <a:ext cx="6572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400">
                <a:solidFill>
                  <a:schemeClr val="accent2"/>
                </a:solidFill>
              </a:rPr>
              <a:t>actual</a:t>
            </a:r>
          </a:p>
          <a:p>
            <a:pPr algn="ctr">
              <a:lnSpc>
                <a:spcPct val="90000"/>
              </a:lnSpc>
            </a:pPr>
            <a:r>
              <a:rPr lang="en-US" altLang="en-US" sz="1400">
                <a:solidFill>
                  <a:schemeClr val="accent2"/>
                </a:solidFill>
              </a:rPr>
              <a:t>pore</a:t>
            </a:r>
          </a:p>
        </p:txBody>
      </p:sp>
      <p:sp>
        <p:nvSpPr>
          <p:cNvPr id="460819" name="Text Box 19">
            <a:extLst>
              <a:ext uri="{FF2B5EF4-FFF2-40B4-BE49-F238E27FC236}">
                <a16:creationId xmlns:a16="http://schemas.microsoft.com/office/drawing/2014/main" id="{99171D02-48A4-484B-92BB-0051D40C9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3426" y="6172201"/>
            <a:ext cx="1003736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400">
                <a:solidFill>
                  <a:schemeClr val="accent2"/>
                </a:solidFill>
              </a:rPr>
              <a:t>equivalent</a:t>
            </a:r>
          </a:p>
          <a:p>
            <a:pPr algn="ctr">
              <a:lnSpc>
                <a:spcPct val="90000"/>
              </a:lnSpc>
            </a:pPr>
            <a:r>
              <a:rPr lang="en-US" altLang="en-US" sz="1400">
                <a:solidFill>
                  <a:schemeClr val="accent2"/>
                </a:solidFill>
              </a:rPr>
              <a:t>capillary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id="{DE96734E-FF31-4F5F-A644-0905B05C99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The Soil Water Characteristic Curve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0B2F0713-1FE7-4B21-8562-AE2AFD0A6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28" name="Rectangle 4">
            <a:extLst>
              <a:ext uri="{FF2B5EF4-FFF2-40B4-BE49-F238E27FC236}">
                <a16:creationId xmlns:a16="http://schemas.microsoft.com/office/drawing/2014/main" id="{B9B073D7-FEBE-451C-B9A6-802EBC068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29" name="Rectangle 5">
            <a:extLst>
              <a:ext uri="{FF2B5EF4-FFF2-40B4-BE49-F238E27FC236}">
                <a16:creationId xmlns:a16="http://schemas.microsoft.com/office/drawing/2014/main" id="{6D7F1171-55B8-4637-B067-31BA21344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0" name="Rectangle 6">
            <a:extLst>
              <a:ext uri="{FF2B5EF4-FFF2-40B4-BE49-F238E27FC236}">
                <a16:creationId xmlns:a16="http://schemas.microsoft.com/office/drawing/2014/main" id="{41A0E582-D4DE-414E-B21A-46A7CC14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1" name="Rectangle 7">
            <a:extLst>
              <a:ext uri="{FF2B5EF4-FFF2-40B4-BE49-F238E27FC236}">
                <a16:creationId xmlns:a16="http://schemas.microsoft.com/office/drawing/2014/main" id="{FED2E090-B3A6-4930-A0B8-3CB6FD426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2" name="Rectangle 8">
            <a:extLst>
              <a:ext uri="{FF2B5EF4-FFF2-40B4-BE49-F238E27FC236}">
                <a16:creationId xmlns:a16="http://schemas.microsoft.com/office/drawing/2014/main" id="{F7A08360-053D-4B26-94C7-93EA017D6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3" name="Rectangle 9">
            <a:extLst>
              <a:ext uri="{FF2B5EF4-FFF2-40B4-BE49-F238E27FC236}">
                <a16:creationId xmlns:a16="http://schemas.microsoft.com/office/drawing/2014/main" id="{919153F9-B110-4F17-B809-5C9B99B7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4" name="Rectangle 10">
            <a:extLst>
              <a:ext uri="{FF2B5EF4-FFF2-40B4-BE49-F238E27FC236}">
                <a16:creationId xmlns:a16="http://schemas.microsoft.com/office/drawing/2014/main" id="{B2DA71FB-7551-4E28-8E44-110DBD71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5" name="Rectangle 11">
            <a:extLst>
              <a:ext uri="{FF2B5EF4-FFF2-40B4-BE49-F238E27FC236}">
                <a16:creationId xmlns:a16="http://schemas.microsoft.com/office/drawing/2014/main" id="{D3734FC3-1C7E-4345-8EDE-57AD56CA1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6" name="Rectangle 12">
            <a:extLst>
              <a:ext uri="{FF2B5EF4-FFF2-40B4-BE49-F238E27FC236}">
                <a16:creationId xmlns:a16="http://schemas.microsoft.com/office/drawing/2014/main" id="{695AEFB8-9883-4878-9308-312DF4EF2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7" name="Rectangle 13">
            <a:extLst>
              <a:ext uri="{FF2B5EF4-FFF2-40B4-BE49-F238E27FC236}">
                <a16:creationId xmlns:a16="http://schemas.microsoft.com/office/drawing/2014/main" id="{452DBCAF-3A84-4BC3-B6A0-D2FDC76F9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4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1838" name="Rectangle 14">
            <a:extLst>
              <a:ext uri="{FF2B5EF4-FFF2-40B4-BE49-F238E27FC236}">
                <a16:creationId xmlns:a16="http://schemas.microsoft.com/office/drawing/2014/main" id="{BF0FA631-00CF-4D70-ACF7-29B727819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09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61839" name="Picture 15">
            <a:extLst>
              <a:ext uri="{FF2B5EF4-FFF2-40B4-BE49-F238E27FC236}">
                <a16:creationId xmlns:a16="http://schemas.microsoft.com/office/drawing/2014/main" id="{6CFFBEEA-7742-4048-87DC-029C361CB6B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1" y="2286000"/>
            <a:ext cx="4397375" cy="3227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461841" name="Object 17">
            <a:extLst>
              <a:ext uri="{FF2B5EF4-FFF2-40B4-BE49-F238E27FC236}">
                <a16:creationId xmlns:a16="http://schemas.microsoft.com/office/drawing/2014/main" id="{BAE9D97A-D9F2-4B28-BD9E-ED048AEC9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0939" y="2895600"/>
          <a:ext cx="19843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4" imgW="863280" imgH="431640" progId="Equation.3">
                  <p:embed/>
                </p:oleObj>
              </mc:Choice>
              <mc:Fallback>
                <p:oleObj name="Equation" r:id="rId4" imgW="863280" imgH="431640" progId="Equation.3">
                  <p:embed/>
                  <p:pic>
                    <p:nvPicPr>
                      <p:cNvPr id="461841" name="Object 17">
                        <a:extLst>
                          <a:ext uri="{FF2B5EF4-FFF2-40B4-BE49-F238E27FC236}">
                            <a16:creationId xmlns:a16="http://schemas.microsoft.com/office/drawing/2014/main" id="{BAE9D97A-D9F2-4B28-BD9E-ED048AEC9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9" y="2895600"/>
                        <a:ext cx="1984375" cy="992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842" name="Object 18">
            <a:extLst>
              <a:ext uri="{FF2B5EF4-FFF2-40B4-BE49-F238E27FC236}">
                <a16:creationId xmlns:a16="http://schemas.microsoft.com/office/drawing/2014/main" id="{3E4D1F23-7382-4D28-B699-A8FA02D9C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4901" y="4232276"/>
          <a:ext cx="19335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6" imgW="685800" imgH="253800" progId="Equation.3">
                  <p:embed/>
                </p:oleObj>
              </mc:Choice>
              <mc:Fallback>
                <p:oleObj name="Equation" r:id="rId6" imgW="685800" imgH="253800" progId="Equation.3">
                  <p:embed/>
                  <p:pic>
                    <p:nvPicPr>
                      <p:cNvPr id="461842" name="Object 18">
                        <a:extLst>
                          <a:ext uri="{FF2B5EF4-FFF2-40B4-BE49-F238E27FC236}">
                            <a16:creationId xmlns:a16="http://schemas.microsoft.com/office/drawing/2014/main" id="{3E4D1F23-7382-4D28-B699-A8FA02D9CE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4901" y="4232276"/>
                        <a:ext cx="1933575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46" name="Rectangle 22">
            <a:extLst>
              <a:ext uri="{FF2B5EF4-FFF2-40B4-BE49-F238E27FC236}">
                <a16:creationId xmlns:a16="http://schemas.microsoft.com/office/drawing/2014/main" id="{D17229A3-B244-4956-B2DB-A5A9B9B80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732" y="1225403"/>
            <a:ext cx="7696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/>
              <a:t>This convenient idealization of soil pore space enables a linkage between the soil pore size distribution and the SWC based on capillary rise equation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>
            <a:extLst>
              <a:ext uri="{FF2B5EF4-FFF2-40B4-BE49-F238E27FC236}">
                <a16:creationId xmlns:a16="http://schemas.microsoft.com/office/drawing/2014/main" id="{42B5AF96-BABC-4856-9C20-E5DE99B9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352256"/>
            <a:ext cx="2438400" cy="10668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3032ED86-AF05-4D17-AF7A-5ED2801F3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82564"/>
            <a:ext cx="8229600" cy="579437"/>
          </a:xfrm>
        </p:spPr>
        <p:txBody>
          <a:bodyPr/>
          <a:lstStyle/>
          <a:p>
            <a:r>
              <a:rPr lang="en-US" altLang="en-US" sz="2400"/>
              <a:t>Using SWC to determine pore size distribution</a:t>
            </a:r>
          </a:p>
        </p:txBody>
      </p:sp>
      <p:pic>
        <p:nvPicPr>
          <p:cNvPr id="497668" name="Picture 4">
            <a:extLst>
              <a:ext uri="{FF2B5EF4-FFF2-40B4-BE49-F238E27FC236}">
                <a16:creationId xmlns:a16="http://schemas.microsoft.com/office/drawing/2014/main" id="{724DD175-8A89-4926-8028-77D102C5A8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"/>
          <a:stretch>
            <a:fillRect/>
          </a:stretch>
        </p:blipFill>
        <p:spPr>
          <a:xfrm>
            <a:off x="1003739" y="1457326"/>
            <a:ext cx="4835525" cy="4370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7669" name="Text Box 5">
            <a:extLst>
              <a:ext uri="{FF2B5EF4-FFF2-40B4-BE49-F238E27FC236}">
                <a16:creationId xmlns:a16="http://schemas.microsoft.com/office/drawing/2014/main" id="{A260D2EF-5C6F-4AFC-895E-0E9E7280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738" y="1533870"/>
            <a:ext cx="4101661" cy="3162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330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160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256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352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448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020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592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164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736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AutoNum type="arabicParenR"/>
            </a:pP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total saturation water contend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q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en-US" sz="19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is divided into a certain number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 </a:t>
            </a: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of equal increments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Dq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1900" b="1" baseline="-250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where the matric potential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sz="19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corresponds to a water content of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q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lang="en-US" altLang="en-US" sz="19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sz="14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Dq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endParaRPr lang="en-US" altLang="en-US" sz="1900" b="1" baseline="-25000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AutoNum type="arabicParenR"/>
            </a:pP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 assume that all tubes with radii greater than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sz="19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have drained at matric potential</a:t>
            </a:r>
            <a:r>
              <a:rPr lang="en-US" altLang="en-US" sz="19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1900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</a:t>
            </a:r>
            <a:r>
              <a:rPr lang="en-US" altLang="en-US" sz="1900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endParaRPr lang="en-US" altLang="en-US" sz="1900" b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97670" name="Object 6">
            <a:extLst>
              <a:ext uri="{FF2B5EF4-FFF2-40B4-BE49-F238E27FC236}">
                <a16:creationId xmlns:a16="http://schemas.microsoft.com/office/drawing/2014/main" id="{2F56121A-C26E-4CA5-97B9-A8D608DC15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880622"/>
              </p:ext>
            </p:extLst>
          </p:nvPr>
        </p:nvGraphicFramePr>
        <p:xfrm>
          <a:off x="7239000" y="5468143"/>
          <a:ext cx="22860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1193800" imgH="495300" progId="Equation.3">
                  <p:embed/>
                </p:oleObj>
              </mc:Choice>
              <mc:Fallback>
                <p:oleObj name="Equation" r:id="rId5" imgW="1193800" imgH="495300" progId="Equation.3">
                  <p:embed/>
                  <p:pic>
                    <p:nvPicPr>
                      <p:cNvPr id="497670" name="Object 6">
                        <a:extLst>
                          <a:ext uri="{FF2B5EF4-FFF2-40B4-BE49-F238E27FC236}">
                            <a16:creationId xmlns:a16="http://schemas.microsoft.com/office/drawing/2014/main" id="{2F56121A-C26E-4CA5-97B9-A8D608DC1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468143"/>
                        <a:ext cx="2286000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739" name="Picture 3">
            <a:extLst>
              <a:ext uri="{FF2B5EF4-FFF2-40B4-BE49-F238E27FC236}">
                <a16:creationId xmlns:a16="http://schemas.microsoft.com/office/drawing/2014/main" id="{0390913A-C3A6-4CE0-9F6E-D062476465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"/>
          <a:stretch>
            <a:fillRect/>
          </a:stretch>
        </p:blipFill>
        <p:spPr>
          <a:xfrm>
            <a:off x="1905000" y="762000"/>
            <a:ext cx="4267200" cy="3856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00740" name="Text Box 4">
            <a:extLst>
              <a:ext uri="{FF2B5EF4-FFF2-40B4-BE49-F238E27FC236}">
                <a16:creationId xmlns:a16="http://schemas.microsoft.com/office/drawing/2014/main" id="{2900092D-9907-4816-A510-0B96FA9DD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838201"/>
            <a:ext cx="57176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330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160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256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352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448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020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592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164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736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AutoNum type="arabicParenR" startAt="3"/>
            </a:pP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number of capillaries having a radius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 unit area in each water content interval is: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altLang="en-US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</a:t>
            </a:r>
            <a:r>
              <a:rPr lang="en-US" altLang="en-US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Dq</a:t>
            </a:r>
            <a:r>
              <a:rPr lang="en-US" altLang="en-US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en-US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p</a:t>
            </a:r>
            <a:r>
              <a:rPr lang="en-US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b="1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b="1" baseline="30000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(where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anose="05050102010706020507" pitchFamily="18" charset="2"/>
              </a:rPr>
              <a:t>Dq</a:t>
            </a:r>
            <a:r>
              <a:rPr lang="en-US" altLang="en-US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is interpreted as the fraction of the water-filled cross sectional area that is reduced when all capillaries having a radius of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b="1" baseline="-25000" dirty="0" err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drain).</a:t>
            </a:r>
          </a:p>
        </p:txBody>
      </p:sp>
      <p:sp>
        <p:nvSpPr>
          <p:cNvPr id="500741" name="Rectangle 5">
            <a:extLst>
              <a:ext uri="{FF2B5EF4-FFF2-40B4-BE49-F238E27FC236}">
                <a16:creationId xmlns:a16="http://schemas.microsoft.com/office/drawing/2014/main" id="{985263C7-E625-4746-9D06-F7A172419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1pPr>
            <a:lvl2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2pPr>
            <a:lvl3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3pPr>
            <a:lvl4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4pPr>
            <a:lvl5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/>
              <a:t>Using SWC to determine pore size distribution</a:t>
            </a:r>
          </a:p>
        </p:txBody>
      </p:sp>
      <p:graphicFrame>
        <p:nvGraphicFramePr>
          <p:cNvPr id="500743" name="Object 7">
            <a:extLst>
              <a:ext uri="{FF2B5EF4-FFF2-40B4-BE49-F238E27FC236}">
                <a16:creationId xmlns:a16="http://schemas.microsoft.com/office/drawing/2014/main" id="{00EF31A5-15C4-4947-8EEF-59C07C73F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473834"/>
              </p:ext>
            </p:extLst>
          </p:nvPr>
        </p:nvGraphicFramePr>
        <p:xfrm>
          <a:off x="6684579" y="2940707"/>
          <a:ext cx="4191000" cy="351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SPW 6.0 Graph" r:id="rId5" imgW="7360920" imgH="5367240" progId="SigmaPlotGraphicObject.4">
                  <p:embed/>
                </p:oleObj>
              </mc:Choice>
              <mc:Fallback>
                <p:oleObj name="SPW 6.0 Graph" r:id="rId5" imgW="7360920" imgH="5367240" progId="SigmaPlotGraphicObject.4">
                  <p:embed/>
                  <p:pic>
                    <p:nvPicPr>
                      <p:cNvPr id="500743" name="Object 7">
                        <a:extLst>
                          <a:ext uri="{FF2B5EF4-FFF2-40B4-BE49-F238E27FC236}">
                            <a16:creationId xmlns:a16="http://schemas.microsoft.com/office/drawing/2014/main" id="{00EF31A5-15C4-4947-8EEF-59C07C73F5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813" t="14311" r="26086" b="11926"/>
                      <a:stretch>
                        <a:fillRect/>
                      </a:stretch>
                    </p:blipFill>
                    <p:spPr bwMode="auto">
                      <a:xfrm>
                        <a:off x="6684579" y="2940707"/>
                        <a:ext cx="4191000" cy="351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 type="none" w="sm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7" name="Text Box 3">
            <a:extLst>
              <a:ext uri="{FF2B5EF4-FFF2-40B4-BE49-F238E27FC236}">
                <a16:creationId xmlns:a16="http://schemas.microsoft.com/office/drawing/2014/main" id="{81DEDC72-2EA8-4283-904E-DDCCC7CEF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838200"/>
            <a:ext cx="8305800" cy="174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330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160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6256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2352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844800" indent="-495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3020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7592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2164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673600" indent="-495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Char char="•"/>
            </a:pP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The concept of Field Capacity and Wilting Point discussed in the previous section on water content have a more quantitative definition in terms of potentials and SWC. </a:t>
            </a:r>
          </a:p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Char char="•"/>
            </a:pP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Field Capacity - water content @ 1/3 bar (for sandy soils 0.1 bar)</a:t>
            </a:r>
          </a:p>
          <a:p>
            <a:pPr eaLnBrk="0" hangingPunct="0">
              <a:spcBef>
                <a:spcPct val="50000"/>
              </a:spcBef>
              <a:buClr>
                <a:srgbClr val="CC0000"/>
              </a:buClr>
              <a:buFontTx/>
              <a:buChar char="•"/>
            </a:pPr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Wilting Point – water content @ -15 bars</a:t>
            </a:r>
          </a:p>
        </p:txBody>
      </p:sp>
      <p:sp>
        <p:nvSpPr>
          <p:cNvPr id="502788" name="Rectangle 4">
            <a:extLst>
              <a:ext uri="{FF2B5EF4-FFF2-40B4-BE49-F238E27FC236}">
                <a16:creationId xmlns:a16="http://schemas.microsoft.com/office/drawing/2014/main" id="{C3B87020-DA8E-4898-9769-0D4451329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1pPr>
            <a:lvl2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2pPr>
            <a:lvl3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3pPr>
            <a:lvl4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4pPr>
            <a:lvl5pPr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336633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/>
              <a:t>SWC and Plant Available Soil Revisited</a:t>
            </a:r>
          </a:p>
        </p:txBody>
      </p:sp>
      <p:pic>
        <p:nvPicPr>
          <p:cNvPr id="502791" name="Picture 7">
            <a:extLst>
              <a:ext uri="{FF2B5EF4-FFF2-40B4-BE49-F238E27FC236}">
                <a16:creationId xmlns:a16="http://schemas.microsoft.com/office/drawing/2014/main" id="{FADC96D0-1EBE-4C1D-971F-517E2E26F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590800"/>
            <a:ext cx="4191000" cy="3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id="{CF3E7361-50C7-4B76-8AF8-8819654B9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/>
              <a:t>Measurement Methods for SWC 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0D273D8E-5916-405E-83D6-3BC679F99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2" name="Rectangle 4">
            <a:extLst>
              <a:ext uri="{FF2B5EF4-FFF2-40B4-BE49-F238E27FC236}">
                <a16:creationId xmlns:a16="http://schemas.microsoft.com/office/drawing/2014/main" id="{BE2B0170-2230-4BA5-B749-174E6D997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3" name="Rectangle 5">
            <a:extLst>
              <a:ext uri="{FF2B5EF4-FFF2-40B4-BE49-F238E27FC236}">
                <a16:creationId xmlns:a16="http://schemas.microsoft.com/office/drawing/2014/main" id="{A1298D5F-01DD-47A8-A22F-8C42E9F1D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4" name="Rectangle 6">
            <a:extLst>
              <a:ext uri="{FF2B5EF4-FFF2-40B4-BE49-F238E27FC236}">
                <a16:creationId xmlns:a16="http://schemas.microsoft.com/office/drawing/2014/main" id="{EA79A4BE-63FC-44BF-948D-8314633D2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5" name="Rectangle 7">
            <a:extLst>
              <a:ext uri="{FF2B5EF4-FFF2-40B4-BE49-F238E27FC236}">
                <a16:creationId xmlns:a16="http://schemas.microsoft.com/office/drawing/2014/main" id="{F0E278AF-1556-4409-9D1A-5C7AE564D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6" name="Rectangle 8">
            <a:extLst>
              <a:ext uri="{FF2B5EF4-FFF2-40B4-BE49-F238E27FC236}">
                <a16:creationId xmlns:a16="http://schemas.microsoft.com/office/drawing/2014/main" id="{584D6F1D-89AC-42DF-B392-4A94E7804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7" name="Rectangle 9">
            <a:extLst>
              <a:ext uri="{FF2B5EF4-FFF2-40B4-BE49-F238E27FC236}">
                <a16:creationId xmlns:a16="http://schemas.microsoft.com/office/drawing/2014/main" id="{BC7396B4-7C6C-42FE-9D4E-52C0B15C2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8" name="Rectangle 10">
            <a:extLst>
              <a:ext uri="{FF2B5EF4-FFF2-40B4-BE49-F238E27FC236}">
                <a16:creationId xmlns:a16="http://schemas.microsoft.com/office/drawing/2014/main" id="{76CF41AD-A733-4198-AA79-65D914664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59" name="Rectangle 11">
            <a:extLst>
              <a:ext uri="{FF2B5EF4-FFF2-40B4-BE49-F238E27FC236}">
                <a16:creationId xmlns:a16="http://schemas.microsoft.com/office/drawing/2014/main" id="{AE64CE3D-CCE7-4AFE-ADD0-B00EBB4F1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60" name="Rectangle 12">
            <a:extLst>
              <a:ext uri="{FF2B5EF4-FFF2-40B4-BE49-F238E27FC236}">
                <a16:creationId xmlns:a16="http://schemas.microsoft.com/office/drawing/2014/main" id="{622D3739-A7A8-43CC-A229-E3F01432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61" name="Rectangle 13">
            <a:extLst>
              <a:ext uri="{FF2B5EF4-FFF2-40B4-BE49-F238E27FC236}">
                <a16:creationId xmlns:a16="http://schemas.microsoft.com/office/drawing/2014/main" id="{1D19E2D0-CEB1-44B6-ACCF-3DD544F1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2862" name="Text Box 14">
            <a:extLst>
              <a:ext uri="{FF2B5EF4-FFF2-40B4-BE49-F238E27FC236}">
                <a16:creationId xmlns:a16="http://schemas.microsoft.com/office/drawing/2014/main" id="{6C6638C8-F331-4CD0-8B2B-73F498EB0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1143000"/>
            <a:ext cx="8156575" cy="388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marL="103188" indent="-103188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900" b="1"/>
              <a:t>The basic requirement is to find pairs of water content </a:t>
            </a:r>
            <a:r>
              <a:rPr lang="en-US" altLang="en-US" sz="1900" b="1">
                <a:latin typeface="Symbol" panose="05050102010706020507" pitchFamily="18" charset="2"/>
              </a:rPr>
              <a:t>q</a:t>
            </a:r>
            <a:r>
              <a:rPr lang="en-US" altLang="en-US" sz="1900" b="1"/>
              <a:t> and matric potential </a:t>
            </a:r>
            <a:r>
              <a:rPr lang="en-US" altLang="en-US" sz="1900" b="1">
                <a:latin typeface="Symbol" panose="05050102010706020507" pitchFamily="18" charset="2"/>
              </a:rPr>
              <a:t>y</a:t>
            </a:r>
            <a:r>
              <a:rPr lang="en-US" altLang="en-US" sz="1900" b="1" baseline="-25000"/>
              <a:t>m</a:t>
            </a:r>
            <a:r>
              <a:rPr lang="en-US" altLang="en-US" sz="1900" b="1"/>
              <a:t> over the wetness range of interest.</a:t>
            </a:r>
          </a:p>
          <a:p>
            <a:pPr eaLnBrk="0" hangingPunct="0"/>
            <a:endParaRPr lang="en-US" altLang="en-US" sz="1900" b="1"/>
          </a:p>
          <a:p>
            <a:pPr eaLnBrk="0" hangingPunct="0"/>
            <a:r>
              <a:rPr lang="en-US" altLang="en-US" sz="1900" b="1" u="sng">
                <a:solidFill>
                  <a:srgbClr val="CC0000"/>
                </a:solidFill>
              </a:rPr>
              <a:t>Experimental Difficulties:</a:t>
            </a:r>
          </a:p>
          <a:p>
            <a:pPr eaLnBrk="0" hangingPunct="0"/>
            <a:endParaRPr lang="en-US" altLang="en-US" sz="1900" b="1">
              <a:solidFill>
                <a:schemeClr val="accent2"/>
              </a:solidFill>
            </a:endParaRPr>
          </a:p>
          <a:p>
            <a:pPr eaLnBrk="0" hangingPunct="0">
              <a:buFontTx/>
              <a:buChar char="•"/>
            </a:pPr>
            <a:r>
              <a:rPr lang="en-US" altLang="en-US" sz="1900" b="1"/>
              <a:t>The limited functional range (-10 m) of tensiometers used for in-situ measurements.</a:t>
            </a:r>
          </a:p>
          <a:p>
            <a:pPr eaLnBrk="0" hangingPunct="0">
              <a:buFontTx/>
              <a:buChar char="•"/>
            </a:pPr>
            <a:endParaRPr lang="en-US" altLang="en-US" sz="1900" b="1"/>
          </a:p>
          <a:p>
            <a:pPr eaLnBrk="0" hangingPunct="0">
              <a:buFontTx/>
              <a:buChar char="•"/>
            </a:pPr>
            <a:r>
              <a:rPr lang="en-US" altLang="en-US" sz="1900" b="1"/>
              <a:t>Difficulty to obtain undisturbed samples for laboratory determination.</a:t>
            </a:r>
          </a:p>
          <a:p>
            <a:pPr eaLnBrk="0" hangingPunct="0">
              <a:buFontTx/>
              <a:buChar char="•"/>
            </a:pPr>
            <a:endParaRPr lang="en-US" altLang="en-US" sz="1900" b="1"/>
          </a:p>
          <a:p>
            <a:pPr eaLnBrk="0" hangingPunct="0">
              <a:buFontTx/>
              <a:buChar char="•"/>
            </a:pPr>
            <a:r>
              <a:rPr lang="en-US" altLang="en-US" sz="1900" b="1"/>
              <a:t>Very long equilibration times for low matric potential values associated with dry soils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D085A3DB-E0B8-4C24-9E31-6A174B5F7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79438"/>
          </a:xfrm>
        </p:spPr>
        <p:txBody>
          <a:bodyPr/>
          <a:lstStyle/>
          <a:p>
            <a:r>
              <a:rPr lang="en-US" altLang="en-US"/>
              <a:t>Tempe Cell</a:t>
            </a:r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D40FE496-5507-49C1-A0B8-B5600FDF0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0" name="Rectangle 4">
            <a:extLst>
              <a:ext uri="{FF2B5EF4-FFF2-40B4-BE49-F238E27FC236}">
                <a16:creationId xmlns:a16="http://schemas.microsoft.com/office/drawing/2014/main" id="{D6B9A73B-A140-4393-855E-CE653E697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1" name="Rectangle 5">
            <a:extLst>
              <a:ext uri="{FF2B5EF4-FFF2-40B4-BE49-F238E27FC236}">
                <a16:creationId xmlns:a16="http://schemas.microsoft.com/office/drawing/2014/main" id="{E9DC619B-4361-4CB9-90F6-597DD3A2B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2" name="Rectangle 6">
            <a:extLst>
              <a:ext uri="{FF2B5EF4-FFF2-40B4-BE49-F238E27FC236}">
                <a16:creationId xmlns:a16="http://schemas.microsoft.com/office/drawing/2014/main" id="{E1E705D3-71C3-460F-A09D-2CE1F1CDF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3" name="Rectangle 7">
            <a:extLst>
              <a:ext uri="{FF2B5EF4-FFF2-40B4-BE49-F238E27FC236}">
                <a16:creationId xmlns:a16="http://schemas.microsoft.com/office/drawing/2014/main" id="{F1715C1E-C042-472C-8BB6-F889D8005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4" name="Rectangle 8">
            <a:extLst>
              <a:ext uri="{FF2B5EF4-FFF2-40B4-BE49-F238E27FC236}">
                <a16:creationId xmlns:a16="http://schemas.microsoft.com/office/drawing/2014/main" id="{BBCBEAA7-2763-49E5-9D8D-6145DD962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5" name="Rectangle 9">
            <a:extLst>
              <a:ext uri="{FF2B5EF4-FFF2-40B4-BE49-F238E27FC236}">
                <a16:creationId xmlns:a16="http://schemas.microsoft.com/office/drawing/2014/main" id="{93278F2E-3F1D-4E1C-A94D-707B1016A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6" name="Rectangle 10">
            <a:extLst>
              <a:ext uri="{FF2B5EF4-FFF2-40B4-BE49-F238E27FC236}">
                <a16:creationId xmlns:a16="http://schemas.microsoft.com/office/drawing/2014/main" id="{9985BF41-B745-454F-B933-2918FD63C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7" name="Rectangle 11">
            <a:extLst>
              <a:ext uri="{FF2B5EF4-FFF2-40B4-BE49-F238E27FC236}">
                <a16:creationId xmlns:a16="http://schemas.microsoft.com/office/drawing/2014/main" id="{CD04B08B-7807-44F8-9F69-A2869F90A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8" name="Rectangle 12">
            <a:extLst>
              <a:ext uri="{FF2B5EF4-FFF2-40B4-BE49-F238E27FC236}">
                <a16:creationId xmlns:a16="http://schemas.microsoft.com/office/drawing/2014/main" id="{902BDF76-4754-4A85-8C7E-95A9BD4E3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4909" name="Text Box 13">
            <a:extLst>
              <a:ext uri="{FF2B5EF4-FFF2-40B4-BE49-F238E27FC236}">
                <a16:creationId xmlns:a16="http://schemas.microsoft.com/office/drawing/2014/main" id="{30FBE15E-32D3-4FFA-8076-12204AEA5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6" y="838201"/>
            <a:ext cx="8156575" cy="667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900" b="1"/>
              <a:t>The pressure flow cell (Tempe cell) is usually applied for the pressure (matric potential) range from 0 to -10 m.</a:t>
            </a:r>
          </a:p>
        </p:txBody>
      </p:sp>
      <p:sp>
        <p:nvSpPr>
          <p:cNvPr id="464910" name="Text Box 14">
            <a:extLst>
              <a:ext uri="{FF2B5EF4-FFF2-40B4-BE49-F238E27FC236}">
                <a16:creationId xmlns:a16="http://schemas.microsoft.com/office/drawing/2014/main" id="{CC27AB88-544E-41F5-8E36-06E3A583C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850" y="5715001"/>
            <a:ext cx="8159750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Close to saturation soil water retention is strongly influenced by soil structure and the natural pore size distribution.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CC0000"/>
                </a:solidFill>
              </a:rPr>
              <a:t>Therefore</a:t>
            </a:r>
            <a:br>
              <a:rPr lang="en-US" altLang="en-US" b="1">
                <a:solidFill>
                  <a:srgbClr val="CC0000"/>
                </a:solidFill>
              </a:rPr>
            </a:br>
            <a:r>
              <a:rPr lang="en-US" altLang="en-US" b="1">
                <a:solidFill>
                  <a:srgbClr val="CC0000"/>
                </a:solidFill>
              </a:rPr>
              <a:t>undisturbed core samples are preferred over repacked samples.</a:t>
            </a:r>
          </a:p>
        </p:txBody>
      </p:sp>
      <p:pic>
        <p:nvPicPr>
          <p:cNvPr id="464911" name="Picture 15">
            <a:extLst>
              <a:ext uri="{FF2B5EF4-FFF2-40B4-BE49-F238E27FC236}">
                <a16:creationId xmlns:a16="http://schemas.microsoft.com/office/drawing/2014/main" id="{FD852E0C-ADD6-424D-B9A0-6DABFFEE78D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1" y="1600200"/>
            <a:ext cx="2157413" cy="163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4912" name="Picture 16">
            <a:extLst>
              <a:ext uri="{FF2B5EF4-FFF2-40B4-BE49-F238E27FC236}">
                <a16:creationId xmlns:a16="http://schemas.microsoft.com/office/drawing/2014/main" id="{80837FC1-0942-4EBB-829D-91A79EDABDB7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1" y="3849689"/>
            <a:ext cx="2157413" cy="163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4913" name="Picture 17">
            <a:extLst>
              <a:ext uri="{FF2B5EF4-FFF2-40B4-BE49-F238E27FC236}">
                <a16:creationId xmlns:a16="http://schemas.microsoft.com/office/drawing/2014/main" id="{740A9170-1631-426D-8156-BC258785A9DD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7989" y="2633664"/>
            <a:ext cx="3311525" cy="2287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4914" name="Text Box 18">
            <a:extLst>
              <a:ext uri="{FF2B5EF4-FFF2-40B4-BE49-F238E27FC236}">
                <a16:creationId xmlns:a16="http://schemas.microsoft.com/office/drawing/2014/main" id="{E91876E1-319C-431C-9682-C62B41CA7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104" y="2062163"/>
            <a:ext cx="15808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Gas Pressure</a:t>
            </a:r>
          </a:p>
        </p:txBody>
      </p:sp>
      <p:sp>
        <p:nvSpPr>
          <p:cNvPr id="464915" name="Text Box 19">
            <a:extLst>
              <a:ext uri="{FF2B5EF4-FFF2-40B4-BE49-F238E27FC236}">
                <a16:creationId xmlns:a16="http://schemas.microsoft.com/office/drawing/2014/main" id="{7F3D2812-CAC1-45CF-9269-645CD340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0896" y="4821238"/>
            <a:ext cx="16482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Ceramic Plate</a:t>
            </a:r>
          </a:p>
        </p:txBody>
      </p:sp>
      <p:sp>
        <p:nvSpPr>
          <p:cNvPr id="464916" name="Text Box 20">
            <a:extLst>
              <a:ext uri="{FF2B5EF4-FFF2-40B4-BE49-F238E27FC236}">
                <a16:creationId xmlns:a16="http://schemas.microsoft.com/office/drawing/2014/main" id="{7D5B486E-4AD6-4E5C-899F-051807AF5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357" y="3429000"/>
            <a:ext cx="11369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VAGRounded BT" pitchFamily="34" charset="0"/>
              </a:rPr>
              <a:t>Brass Ring</a:t>
            </a:r>
          </a:p>
        </p:txBody>
      </p:sp>
      <p:sp>
        <p:nvSpPr>
          <p:cNvPr id="464917" name="Text Box 21">
            <a:extLst>
              <a:ext uri="{FF2B5EF4-FFF2-40B4-BE49-F238E27FC236}">
                <a16:creationId xmlns:a16="http://schemas.microsoft.com/office/drawing/2014/main" id="{5459A388-6FFC-4243-AB66-B7616660A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0691" y="3678238"/>
            <a:ext cx="14334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Soil Sample</a:t>
            </a:r>
          </a:p>
        </p:txBody>
      </p:sp>
      <p:sp>
        <p:nvSpPr>
          <p:cNvPr id="464918" name="Line 22">
            <a:extLst>
              <a:ext uri="{FF2B5EF4-FFF2-40B4-BE49-F238E27FC236}">
                <a16:creationId xmlns:a16="http://schemas.microsoft.com/office/drawing/2014/main" id="{35A96BB4-5F5A-48F2-9C72-E36C8F1AD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6288" y="2692400"/>
            <a:ext cx="12700" cy="3556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4919" name="Line 23">
            <a:extLst>
              <a:ext uri="{FF2B5EF4-FFF2-40B4-BE49-F238E27FC236}">
                <a16:creationId xmlns:a16="http://schemas.microsoft.com/office/drawing/2014/main" id="{28E3DD5A-B74D-4A3B-819E-8F2D112A2C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1588" y="3902075"/>
            <a:ext cx="1219200" cy="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4920" name="Line 24">
            <a:extLst>
              <a:ext uri="{FF2B5EF4-FFF2-40B4-BE49-F238E27FC236}">
                <a16:creationId xmlns:a16="http://schemas.microsoft.com/office/drawing/2014/main" id="{FD5963D2-629B-402E-B7CB-1005E022D6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6388" y="4800600"/>
            <a:ext cx="685800" cy="4572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4921" name="Line 25">
            <a:extLst>
              <a:ext uri="{FF2B5EF4-FFF2-40B4-BE49-F238E27FC236}">
                <a16:creationId xmlns:a16="http://schemas.microsoft.com/office/drawing/2014/main" id="{F34820B1-4014-48E3-98DE-517AF8A2F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588" y="3733800"/>
            <a:ext cx="533400" cy="4572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4922" name="Text Box 26">
            <a:extLst>
              <a:ext uri="{FF2B5EF4-FFF2-40B4-BE49-F238E27FC236}">
                <a16:creationId xmlns:a16="http://schemas.microsoft.com/office/drawing/2014/main" id="{2BF1BC07-903F-4984-8C7B-E2EBA0673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637" y="5033963"/>
            <a:ext cx="10583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Outflow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EE6DD211-328D-40EC-B602-2DC9FB80893B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/>
              <a:t>Pressure Plate Apparatus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4A27A3BC-1705-4C53-A7D6-63919498B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4" name="Rectangle 4">
            <a:extLst>
              <a:ext uri="{FF2B5EF4-FFF2-40B4-BE49-F238E27FC236}">
                <a16:creationId xmlns:a16="http://schemas.microsoft.com/office/drawing/2014/main" id="{9343C047-F5A4-4580-B16F-1EC1658BB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5" name="Rectangle 5">
            <a:extLst>
              <a:ext uri="{FF2B5EF4-FFF2-40B4-BE49-F238E27FC236}">
                <a16:creationId xmlns:a16="http://schemas.microsoft.com/office/drawing/2014/main" id="{65FD599B-56E2-4B29-AEFC-A9B6A6ACB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6" name="Rectangle 6">
            <a:extLst>
              <a:ext uri="{FF2B5EF4-FFF2-40B4-BE49-F238E27FC236}">
                <a16:creationId xmlns:a16="http://schemas.microsoft.com/office/drawing/2014/main" id="{48A65543-FFED-4A0B-AC99-F7C99590E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7" name="Rectangle 7">
            <a:extLst>
              <a:ext uri="{FF2B5EF4-FFF2-40B4-BE49-F238E27FC236}">
                <a16:creationId xmlns:a16="http://schemas.microsoft.com/office/drawing/2014/main" id="{6C9BF0A1-9812-4A20-978E-A6C4A5DB0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8" name="Rectangle 8">
            <a:extLst>
              <a:ext uri="{FF2B5EF4-FFF2-40B4-BE49-F238E27FC236}">
                <a16:creationId xmlns:a16="http://schemas.microsoft.com/office/drawing/2014/main" id="{E0A35BDD-2561-4A3A-87E6-43A899117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29" name="Rectangle 9">
            <a:extLst>
              <a:ext uri="{FF2B5EF4-FFF2-40B4-BE49-F238E27FC236}">
                <a16:creationId xmlns:a16="http://schemas.microsoft.com/office/drawing/2014/main" id="{173B659F-9423-4970-BCD7-E29874E2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30" name="Rectangle 10">
            <a:extLst>
              <a:ext uri="{FF2B5EF4-FFF2-40B4-BE49-F238E27FC236}">
                <a16:creationId xmlns:a16="http://schemas.microsoft.com/office/drawing/2014/main" id="{3CA99CA4-B9EF-4EBA-9567-4451747B9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31" name="Rectangle 11">
            <a:extLst>
              <a:ext uri="{FF2B5EF4-FFF2-40B4-BE49-F238E27FC236}">
                <a16:creationId xmlns:a16="http://schemas.microsoft.com/office/drawing/2014/main" id="{DC964E42-2E43-4CC2-B725-2BB299D5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32" name="Rectangle 12">
            <a:extLst>
              <a:ext uri="{FF2B5EF4-FFF2-40B4-BE49-F238E27FC236}">
                <a16:creationId xmlns:a16="http://schemas.microsoft.com/office/drawing/2014/main" id="{2F1B8F1D-22D3-426E-855A-AF8D4541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5933" name="Text Box 13">
            <a:extLst>
              <a:ext uri="{FF2B5EF4-FFF2-40B4-BE49-F238E27FC236}">
                <a16:creationId xmlns:a16="http://schemas.microsoft.com/office/drawing/2014/main" id="{D5209965-2D41-4B43-B5B4-90C58C99A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800101"/>
            <a:ext cx="8156575" cy="667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900" b="1"/>
              <a:t>The pressure plate apparatus is applied for the pressure (matric potential) range from -10 to -50 m.</a:t>
            </a:r>
          </a:p>
        </p:txBody>
      </p:sp>
      <p:pic>
        <p:nvPicPr>
          <p:cNvPr id="465934" name="Picture 14">
            <a:extLst>
              <a:ext uri="{FF2B5EF4-FFF2-40B4-BE49-F238E27FC236}">
                <a16:creationId xmlns:a16="http://schemas.microsoft.com/office/drawing/2014/main" id="{12751E46-2CFC-4B30-9748-1E0A323B8510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4200" y="1447800"/>
            <a:ext cx="3429000" cy="2571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5935" name="Picture 15">
            <a:extLst>
              <a:ext uri="{FF2B5EF4-FFF2-40B4-BE49-F238E27FC236}">
                <a16:creationId xmlns:a16="http://schemas.microsoft.com/office/drawing/2014/main" id="{B0BCBA77-E079-4D25-B658-6374DB46720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7339" y="2970213"/>
            <a:ext cx="3767137" cy="2887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5936" name="Text Box 16">
            <a:extLst>
              <a:ext uri="{FF2B5EF4-FFF2-40B4-BE49-F238E27FC236}">
                <a16:creationId xmlns:a16="http://schemas.microsoft.com/office/drawing/2014/main" id="{89D49089-C458-4DD9-95C8-03D04F090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185" y="2214564"/>
            <a:ext cx="21002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Porous Plate with </a:t>
            </a:r>
            <a:b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</a:br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Samples</a:t>
            </a:r>
          </a:p>
        </p:txBody>
      </p:sp>
      <p:sp>
        <p:nvSpPr>
          <p:cNvPr id="465937" name="Line 17">
            <a:extLst>
              <a:ext uri="{FF2B5EF4-FFF2-40B4-BE49-F238E27FC236}">
                <a16:creationId xmlns:a16="http://schemas.microsoft.com/office/drawing/2014/main" id="{F2FC2013-9D23-4496-AC61-FC99DC87A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0738" y="2984500"/>
            <a:ext cx="558800" cy="7239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5938" name="Line 18">
            <a:extLst>
              <a:ext uri="{FF2B5EF4-FFF2-40B4-BE49-F238E27FC236}">
                <a16:creationId xmlns:a16="http://schemas.microsoft.com/office/drawing/2014/main" id="{3C165536-069E-4A1E-918F-972A1388FE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2971800"/>
            <a:ext cx="1600200" cy="11430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5939" name="Text Box 19">
            <a:extLst>
              <a:ext uri="{FF2B5EF4-FFF2-40B4-BE49-F238E27FC236}">
                <a16:creationId xmlns:a16="http://schemas.microsoft.com/office/drawing/2014/main" id="{62F4590A-EA25-4273-9D46-DE6033022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445" y="6248400"/>
            <a:ext cx="1497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Porous Plate</a:t>
            </a:r>
          </a:p>
        </p:txBody>
      </p:sp>
      <p:sp>
        <p:nvSpPr>
          <p:cNvPr id="465940" name="Line 20">
            <a:extLst>
              <a:ext uri="{FF2B5EF4-FFF2-40B4-BE49-F238E27FC236}">
                <a16:creationId xmlns:a16="http://schemas.microsoft.com/office/drawing/2014/main" id="{F1F83431-F137-4E09-810B-BF329ECC49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5486400"/>
            <a:ext cx="228600" cy="7874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5941" name="Text Box 21">
            <a:extLst>
              <a:ext uri="{FF2B5EF4-FFF2-40B4-BE49-F238E27FC236}">
                <a16:creationId xmlns:a16="http://schemas.microsoft.com/office/drawing/2014/main" id="{05408CEC-D2AD-41F5-B95E-85CA012FA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7028" y="4348163"/>
            <a:ext cx="14334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solidFill>
                  <a:srgbClr val="000099"/>
                </a:solidFill>
                <a:latin typeface="Comic Sans MS" panose="030F0702030302020204" pitchFamily="66" charset="0"/>
              </a:rPr>
              <a:t>Soil Sample</a:t>
            </a:r>
          </a:p>
        </p:txBody>
      </p:sp>
      <p:sp>
        <p:nvSpPr>
          <p:cNvPr id="465942" name="Line 22">
            <a:extLst>
              <a:ext uri="{FF2B5EF4-FFF2-40B4-BE49-F238E27FC236}">
                <a16:creationId xmlns:a16="http://schemas.microsoft.com/office/drawing/2014/main" id="{5797D1FC-3AE9-4367-8C9F-A97DB7CD7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538" y="5410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5943" name="Line 23">
            <a:extLst>
              <a:ext uri="{FF2B5EF4-FFF2-40B4-BE49-F238E27FC236}">
                <a16:creationId xmlns:a16="http://schemas.microsoft.com/office/drawing/2014/main" id="{4E01F4F6-DE96-4A3D-8E6B-BB8F7598B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0538" y="55499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5944" name="Text Box 24">
            <a:extLst>
              <a:ext uri="{FF2B5EF4-FFF2-40B4-BE49-F238E27FC236}">
                <a16:creationId xmlns:a16="http://schemas.microsoft.com/office/drawing/2014/main" id="{FEB1FC20-4D3C-4C67-A8CD-116924355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1" y="5614988"/>
            <a:ext cx="13874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  <a:t>Atmospheric</a:t>
            </a:r>
            <a:b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</a:br>
            <a: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  <a:t>Pressure</a:t>
            </a:r>
          </a:p>
        </p:txBody>
      </p:sp>
      <p:sp>
        <p:nvSpPr>
          <p:cNvPr id="465945" name="Text Box 25">
            <a:extLst>
              <a:ext uri="{FF2B5EF4-FFF2-40B4-BE49-F238E27FC236}">
                <a16:creationId xmlns:a16="http://schemas.microsoft.com/office/drawing/2014/main" id="{34DEE7F7-118C-463C-8FC3-6155C1D14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488" y="4926013"/>
            <a:ext cx="1016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  <a:t>Chamber</a:t>
            </a:r>
            <a:b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</a:br>
            <a:r>
              <a:rPr lang="en-US" altLang="en-US" sz="1600">
                <a:solidFill>
                  <a:srgbClr val="000099"/>
                </a:solidFill>
                <a:latin typeface="Comic Sans MS" panose="030F0702030302020204" pitchFamily="66" charset="0"/>
              </a:rPr>
              <a:t>Pressure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>
            <a:extLst>
              <a:ext uri="{FF2B5EF4-FFF2-40B4-BE49-F238E27FC236}">
                <a16:creationId xmlns:a16="http://schemas.microsoft.com/office/drawing/2014/main" id="{9302288E-5C65-4FC8-A2FD-7DCEA9DD533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altLang="en-US"/>
              <a:t>Pressure Plate Apparatus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0819BC22-343D-4495-A05A-DAB9C5B72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48" name="Rectangle 4">
            <a:extLst>
              <a:ext uri="{FF2B5EF4-FFF2-40B4-BE49-F238E27FC236}">
                <a16:creationId xmlns:a16="http://schemas.microsoft.com/office/drawing/2014/main" id="{5EBDFDCA-5942-4502-8F20-1B821BD96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49" name="Rectangle 5">
            <a:extLst>
              <a:ext uri="{FF2B5EF4-FFF2-40B4-BE49-F238E27FC236}">
                <a16:creationId xmlns:a16="http://schemas.microsoft.com/office/drawing/2014/main" id="{1472E123-42FD-43C7-B99A-3EC701EF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0" name="Rectangle 6">
            <a:extLst>
              <a:ext uri="{FF2B5EF4-FFF2-40B4-BE49-F238E27FC236}">
                <a16:creationId xmlns:a16="http://schemas.microsoft.com/office/drawing/2014/main" id="{DF3939A4-3581-4601-823F-D4179F7B6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1" name="Rectangle 7">
            <a:extLst>
              <a:ext uri="{FF2B5EF4-FFF2-40B4-BE49-F238E27FC236}">
                <a16:creationId xmlns:a16="http://schemas.microsoft.com/office/drawing/2014/main" id="{E8BF0308-8BC5-4BE3-AC98-02BA4466C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2" name="Rectangle 8">
            <a:extLst>
              <a:ext uri="{FF2B5EF4-FFF2-40B4-BE49-F238E27FC236}">
                <a16:creationId xmlns:a16="http://schemas.microsoft.com/office/drawing/2014/main" id="{1E999D44-A63E-4EC4-8E0C-AAE486710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3" name="Rectangle 9">
            <a:extLst>
              <a:ext uri="{FF2B5EF4-FFF2-40B4-BE49-F238E27FC236}">
                <a16:creationId xmlns:a16="http://schemas.microsoft.com/office/drawing/2014/main" id="{B019FF94-6509-4352-8EE9-E16543135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4" name="Rectangle 10">
            <a:extLst>
              <a:ext uri="{FF2B5EF4-FFF2-40B4-BE49-F238E27FC236}">
                <a16:creationId xmlns:a16="http://schemas.microsoft.com/office/drawing/2014/main" id="{095BDFF3-72D3-4B12-BB5D-954B8100E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5" name="Rectangle 11">
            <a:extLst>
              <a:ext uri="{FF2B5EF4-FFF2-40B4-BE49-F238E27FC236}">
                <a16:creationId xmlns:a16="http://schemas.microsoft.com/office/drawing/2014/main" id="{E85D13E9-B55D-4ABC-AC2D-3EEE1E911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6956" name="Rectangle 12">
            <a:extLst>
              <a:ext uri="{FF2B5EF4-FFF2-40B4-BE49-F238E27FC236}">
                <a16:creationId xmlns:a16="http://schemas.microsoft.com/office/drawing/2014/main" id="{CB0B15AA-4726-4890-8BE8-9DD3722FA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66957" name="Picture 13">
            <a:extLst>
              <a:ext uri="{FF2B5EF4-FFF2-40B4-BE49-F238E27FC236}">
                <a16:creationId xmlns:a16="http://schemas.microsoft.com/office/drawing/2014/main" id="{8D29E2D4-252A-4A09-8B58-6167AE4E1E9B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2016126"/>
            <a:ext cx="3657600" cy="2779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6958" name="Picture 14">
            <a:extLst>
              <a:ext uri="{FF2B5EF4-FFF2-40B4-BE49-F238E27FC236}">
                <a16:creationId xmlns:a16="http://schemas.microsoft.com/office/drawing/2014/main" id="{BA7B530D-4197-45E7-842F-4E8C8C579049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915988"/>
            <a:ext cx="3886200" cy="5327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>
            <a:extLst>
              <a:ext uri="{FF2B5EF4-FFF2-40B4-BE49-F238E27FC236}">
                <a16:creationId xmlns:a16="http://schemas.microsoft.com/office/drawing/2014/main" id="{631AA08E-0C37-4210-B000-1E739AA3F4A6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/>
              <a:t>Hanging water column and suction table </a:t>
            </a:r>
          </a:p>
        </p:txBody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4C69E8BC-44D3-480B-BE0E-C2469A240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48" name="Rectangle 4">
            <a:extLst>
              <a:ext uri="{FF2B5EF4-FFF2-40B4-BE49-F238E27FC236}">
                <a16:creationId xmlns:a16="http://schemas.microsoft.com/office/drawing/2014/main" id="{1F23D308-B59B-44C6-9D15-9B60D4CA8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49" name="Rectangle 5">
            <a:extLst>
              <a:ext uri="{FF2B5EF4-FFF2-40B4-BE49-F238E27FC236}">
                <a16:creationId xmlns:a16="http://schemas.microsoft.com/office/drawing/2014/main" id="{9FCC0153-3474-4258-B647-0334659EE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0" name="Rectangle 6">
            <a:extLst>
              <a:ext uri="{FF2B5EF4-FFF2-40B4-BE49-F238E27FC236}">
                <a16:creationId xmlns:a16="http://schemas.microsoft.com/office/drawing/2014/main" id="{3E49F96B-B297-4AE5-89D2-A96299E4E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1" name="Rectangle 7">
            <a:extLst>
              <a:ext uri="{FF2B5EF4-FFF2-40B4-BE49-F238E27FC236}">
                <a16:creationId xmlns:a16="http://schemas.microsoft.com/office/drawing/2014/main" id="{5E7594A1-3CAA-471F-80BD-F2C2528EB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2" name="Rectangle 8">
            <a:extLst>
              <a:ext uri="{FF2B5EF4-FFF2-40B4-BE49-F238E27FC236}">
                <a16:creationId xmlns:a16="http://schemas.microsoft.com/office/drawing/2014/main" id="{34C762FB-79AD-42D5-8104-A7B7A0DEE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3" name="Rectangle 9">
            <a:extLst>
              <a:ext uri="{FF2B5EF4-FFF2-40B4-BE49-F238E27FC236}">
                <a16:creationId xmlns:a16="http://schemas.microsoft.com/office/drawing/2014/main" id="{88763021-FBA8-45CB-9DDC-FBD0036B9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4" name="Rectangle 10">
            <a:extLst>
              <a:ext uri="{FF2B5EF4-FFF2-40B4-BE49-F238E27FC236}">
                <a16:creationId xmlns:a16="http://schemas.microsoft.com/office/drawing/2014/main" id="{11D0C47A-0C29-44EE-8578-7E06EC5AD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5" name="Rectangle 11">
            <a:extLst>
              <a:ext uri="{FF2B5EF4-FFF2-40B4-BE49-F238E27FC236}">
                <a16:creationId xmlns:a16="http://schemas.microsoft.com/office/drawing/2014/main" id="{76DFEAF7-36EC-4C56-8921-3B60ED1C3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56" name="Rectangle 12">
            <a:extLst>
              <a:ext uri="{FF2B5EF4-FFF2-40B4-BE49-F238E27FC236}">
                <a16:creationId xmlns:a16="http://schemas.microsoft.com/office/drawing/2014/main" id="{16AA34FE-40F3-44D1-9B3F-11FC21A50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2561" name="Text Box 17">
            <a:extLst>
              <a:ext uri="{FF2B5EF4-FFF2-40B4-BE49-F238E27FC236}">
                <a16:creationId xmlns:a16="http://schemas.microsoft.com/office/drawing/2014/main" id="{DE34C768-EA62-44CC-A5FD-7C9CE5DF8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800101"/>
            <a:ext cx="8385175" cy="136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marL="228600" indent="-228600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spcAft>
                <a:spcPct val="20000"/>
              </a:spcAft>
              <a:buClr>
                <a:srgbClr val="CC0000"/>
              </a:buClr>
              <a:buFont typeface="Symbol" panose="05050102010706020507" pitchFamily="18" charset="2"/>
              <a:buChar char="·"/>
            </a:pPr>
            <a:r>
              <a:rPr lang="en-US" altLang="en-US" sz="1900" b="1"/>
              <a:t>Measurements at very low pressure ranges of 0 to 2 m.</a:t>
            </a:r>
          </a:p>
          <a:p>
            <a:pPr eaLnBrk="0" hangingPunct="0">
              <a:spcAft>
                <a:spcPct val="20000"/>
              </a:spcAft>
              <a:buClr>
                <a:srgbClr val="CC0000"/>
              </a:buClr>
              <a:buFont typeface="Symbol" panose="05050102010706020507" pitchFamily="18" charset="2"/>
              <a:buChar char="·"/>
            </a:pPr>
            <a:r>
              <a:rPr lang="en-US" altLang="en-US" sz="1900" b="1"/>
              <a:t>Useful for coarse soils due to precise pressure application.</a:t>
            </a:r>
          </a:p>
          <a:p>
            <a:pPr eaLnBrk="0" hangingPunct="0">
              <a:spcAft>
                <a:spcPct val="20000"/>
              </a:spcAft>
              <a:buClr>
                <a:srgbClr val="CC0000"/>
              </a:buClr>
              <a:buFont typeface="Symbol" panose="05050102010706020507" pitchFamily="18" charset="2"/>
              <a:buChar char="·"/>
            </a:pPr>
            <a:r>
              <a:rPr lang="en-US" altLang="en-US" sz="1900" b="1"/>
              <a:t>Wetting and drying cycles of the SWC (reversible flow into the sample). </a:t>
            </a:r>
          </a:p>
        </p:txBody>
      </p:sp>
      <p:pic>
        <p:nvPicPr>
          <p:cNvPr id="492562" name="Picture 18">
            <a:extLst>
              <a:ext uri="{FF2B5EF4-FFF2-40B4-BE49-F238E27FC236}">
                <a16:creationId xmlns:a16="http://schemas.microsoft.com/office/drawing/2014/main" id="{8ADF8452-AF25-4E6F-BC98-F996A769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438401"/>
            <a:ext cx="4572000" cy="357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2563" name="Picture 19">
            <a:extLst>
              <a:ext uri="{FF2B5EF4-FFF2-40B4-BE49-F238E27FC236}">
                <a16:creationId xmlns:a16="http://schemas.microsoft.com/office/drawing/2014/main" id="{38082F08-A489-4857-A083-1757C320D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6" y="2835276"/>
            <a:ext cx="3571875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2564" name="Text Box 20">
            <a:extLst>
              <a:ext uri="{FF2B5EF4-FFF2-40B4-BE49-F238E27FC236}">
                <a16:creationId xmlns:a16="http://schemas.microsoft.com/office/drawing/2014/main" id="{BD0D31B3-EDCE-4330-B472-92C5AC13D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25" y="4208463"/>
            <a:ext cx="4587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>
                <a:latin typeface="Comic Sans MS" panose="030F0702030302020204" pitchFamily="66" charset="0"/>
              </a:rPr>
              <a:t>h</a:t>
            </a:r>
            <a:endParaRPr lang="en-US" altLang="en-US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id="{3FF297F7-D1E4-4C24-9B5B-E048E4CCD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208" y="271979"/>
            <a:ext cx="6876288" cy="640080"/>
          </a:xfrm>
        </p:spPr>
        <p:txBody>
          <a:bodyPr/>
          <a:lstStyle/>
          <a:p>
            <a:r>
              <a:rPr lang="en-US" altLang="en-US" dirty="0"/>
              <a:t>Vapor Pressure-Based Methods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1059BC09-8820-4740-8FE8-AC80C7222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2" name="Rectangle 4">
            <a:extLst>
              <a:ext uri="{FF2B5EF4-FFF2-40B4-BE49-F238E27FC236}">
                <a16:creationId xmlns:a16="http://schemas.microsoft.com/office/drawing/2014/main" id="{0D44EE2F-AD27-4E93-8337-B75559A04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3" name="Rectangle 5">
            <a:extLst>
              <a:ext uri="{FF2B5EF4-FFF2-40B4-BE49-F238E27FC236}">
                <a16:creationId xmlns:a16="http://schemas.microsoft.com/office/drawing/2014/main" id="{1FBB88D9-E295-49CC-B846-D5DEEE00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4" name="Rectangle 6">
            <a:extLst>
              <a:ext uri="{FF2B5EF4-FFF2-40B4-BE49-F238E27FC236}">
                <a16:creationId xmlns:a16="http://schemas.microsoft.com/office/drawing/2014/main" id="{47B5CD7B-10C8-4A8B-B4A5-80DB7DAF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5" name="Rectangle 7">
            <a:extLst>
              <a:ext uri="{FF2B5EF4-FFF2-40B4-BE49-F238E27FC236}">
                <a16:creationId xmlns:a16="http://schemas.microsoft.com/office/drawing/2014/main" id="{543CA836-455B-4302-8DC9-1544F2C9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6" name="Rectangle 8">
            <a:extLst>
              <a:ext uri="{FF2B5EF4-FFF2-40B4-BE49-F238E27FC236}">
                <a16:creationId xmlns:a16="http://schemas.microsoft.com/office/drawing/2014/main" id="{BEF91F57-CF37-451F-8EE4-75B69110F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7" name="Rectangle 9">
            <a:extLst>
              <a:ext uri="{FF2B5EF4-FFF2-40B4-BE49-F238E27FC236}">
                <a16:creationId xmlns:a16="http://schemas.microsoft.com/office/drawing/2014/main" id="{965597DA-1E5E-4626-A417-2E37E0754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8" name="Rectangle 10">
            <a:extLst>
              <a:ext uri="{FF2B5EF4-FFF2-40B4-BE49-F238E27FC236}">
                <a16:creationId xmlns:a16="http://schemas.microsoft.com/office/drawing/2014/main" id="{A9C23CB9-079A-442E-A869-E75986725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79" name="Rectangle 11">
            <a:extLst>
              <a:ext uri="{FF2B5EF4-FFF2-40B4-BE49-F238E27FC236}">
                <a16:creationId xmlns:a16="http://schemas.microsoft.com/office/drawing/2014/main" id="{DA88D9F2-8480-40E3-8321-894227F73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80" name="Rectangle 12">
            <a:extLst>
              <a:ext uri="{FF2B5EF4-FFF2-40B4-BE49-F238E27FC236}">
                <a16:creationId xmlns:a16="http://schemas.microsoft.com/office/drawing/2014/main" id="{123D2532-0166-441C-90C0-6A92B6A7A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81" name="Rectangle 13">
            <a:extLst>
              <a:ext uri="{FF2B5EF4-FFF2-40B4-BE49-F238E27FC236}">
                <a16:creationId xmlns:a16="http://schemas.microsoft.com/office/drawing/2014/main" id="{B040A654-09A8-4D27-9DF2-6AEF0D160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7982" name="Text Box 14">
            <a:extLst>
              <a:ext uri="{FF2B5EF4-FFF2-40B4-BE49-F238E27FC236}">
                <a16:creationId xmlns:a16="http://schemas.microsoft.com/office/drawing/2014/main" id="{EE0C4500-A718-45FA-AEA3-2CBDDF57D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732" y="1211317"/>
            <a:ext cx="9369572" cy="254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 dirty="0"/>
              <a:t>A procedure inferring water potential using thermocouple psychrometers that is commonly used in newer instruments is called</a:t>
            </a:r>
            <a:r>
              <a:rPr lang="en-US" altLang="en-US" b="1" dirty="0">
                <a:solidFill>
                  <a:schemeClr val="accent2"/>
                </a:solidFill>
              </a:rPr>
              <a:t> </a:t>
            </a:r>
            <a:r>
              <a:rPr lang="en-US" altLang="en-US" b="1" dirty="0">
                <a:solidFill>
                  <a:srgbClr val="CC0000"/>
                </a:solidFill>
              </a:rPr>
              <a:t>DEWPOINT METHOD</a:t>
            </a:r>
          </a:p>
          <a:p>
            <a:pPr eaLnBrk="0" hangingPunct="0"/>
            <a:endParaRPr lang="en-US" altLang="en-US" sz="800" b="1" dirty="0">
              <a:solidFill>
                <a:srgbClr val="CC0000"/>
              </a:solidFill>
            </a:endParaRPr>
          </a:p>
          <a:p>
            <a:pPr eaLnBrk="0" hangingPunct="0"/>
            <a:r>
              <a:rPr lang="en-US" altLang="en-US" b="1" dirty="0"/>
              <a:t>In this method one surface is brought to dew point temperature and kept at exactly this temperature using a monitoring system and electronic circuitry.</a:t>
            </a:r>
          </a:p>
          <a:p>
            <a:pPr eaLnBrk="0" hangingPunct="0"/>
            <a:endParaRPr lang="en-US" altLang="en-US" sz="800" b="1" dirty="0"/>
          </a:p>
          <a:p>
            <a:pPr eaLnBrk="0" hangingPunct="0"/>
            <a:r>
              <a:rPr lang="en-US" altLang="en-US" b="1" dirty="0"/>
              <a:t>State of the art equipment (e.g., WP4 </a:t>
            </a:r>
            <a:r>
              <a:rPr lang="en-US" altLang="en-US" b="1" dirty="0" err="1"/>
              <a:t>Potentiameter</a:t>
            </a:r>
            <a:r>
              <a:rPr lang="en-US" altLang="en-US" b="1" dirty="0"/>
              <a:t>) uses chilled mirror dewpoint technique combined with a photoelectric detection system to keep the surface of a mirror at dewpoint temperature. Ambient temperature at the sample surface is measured with an infrared thermometer.  </a:t>
            </a:r>
          </a:p>
        </p:txBody>
      </p:sp>
      <p:sp>
        <p:nvSpPr>
          <p:cNvPr id="467983" name="Text Box 15">
            <a:extLst>
              <a:ext uri="{FF2B5EF4-FFF2-40B4-BE49-F238E27FC236}">
                <a16:creationId xmlns:a16="http://schemas.microsoft.com/office/drawing/2014/main" id="{57FDEB52-BDC2-494E-9040-05CF6EC5B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4576763"/>
            <a:ext cx="2786063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20738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3031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6414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986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558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0130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702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de-AT" altLang="en-US" sz="2200" b="1">
                <a:solidFill>
                  <a:schemeClr val="accent2"/>
                </a:solidFill>
                <a:latin typeface="Comic Sans MS" panose="030F0702030302020204" pitchFamily="66" charset="0"/>
              </a:rPr>
              <a:t>WP4 Potentiameter</a:t>
            </a:r>
          </a:p>
        </p:txBody>
      </p:sp>
      <p:pic>
        <p:nvPicPr>
          <p:cNvPr id="467984" name="Picture 16">
            <a:extLst>
              <a:ext uri="{FF2B5EF4-FFF2-40B4-BE49-F238E27FC236}">
                <a16:creationId xmlns:a16="http://schemas.microsoft.com/office/drawing/2014/main" id="{7132775E-4C6C-48D7-B82B-9EEB6E208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3600" y="3927476"/>
            <a:ext cx="4191000" cy="270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BFAF-FE97-45C5-BEEE-09E8687C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HYPROP</a:t>
            </a:r>
          </a:p>
        </p:txBody>
      </p:sp>
      <p:pic>
        <p:nvPicPr>
          <p:cNvPr id="4098" name="Picture 2" descr="HYPROP">
            <a:extLst>
              <a:ext uri="{FF2B5EF4-FFF2-40B4-BE49-F238E27FC236}">
                <a16:creationId xmlns:a16="http://schemas.microsoft.com/office/drawing/2014/main" id="{D76ED584-152A-47E7-9946-793EE9C4B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681" y="1402585"/>
            <a:ext cx="2588899" cy="2554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63D56C-84F4-4D05-A6B0-D7046764E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83" y="4010100"/>
            <a:ext cx="4371269" cy="2631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A9C7EE-1E71-4CA3-B3CA-84238BE11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54" y="2297891"/>
            <a:ext cx="3683332" cy="245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99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F8DDB732-5D2D-4E1B-AB70-56C862A7BE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 sz="2400"/>
              <a:t>In-situ measurement methods – Sensor Pairing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78069652-D5CC-4A00-B87D-4C2467FB8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76" name="Rectangle 4">
            <a:extLst>
              <a:ext uri="{FF2B5EF4-FFF2-40B4-BE49-F238E27FC236}">
                <a16:creationId xmlns:a16="http://schemas.microsoft.com/office/drawing/2014/main" id="{E2E063BD-EAD9-452C-BF7A-71047C7B9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77" name="Rectangle 5">
            <a:extLst>
              <a:ext uri="{FF2B5EF4-FFF2-40B4-BE49-F238E27FC236}">
                <a16:creationId xmlns:a16="http://schemas.microsoft.com/office/drawing/2014/main" id="{DDEFF2B1-0663-44E2-9DD1-BD002C176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78" name="Rectangle 6">
            <a:extLst>
              <a:ext uri="{FF2B5EF4-FFF2-40B4-BE49-F238E27FC236}">
                <a16:creationId xmlns:a16="http://schemas.microsoft.com/office/drawing/2014/main" id="{8A69D270-D82D-4936-8C22-84D4AE8D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79" name="Rectangle 7">
            <a:extLst>
              <a:ext uri="{FF2B5EF4-FFF2-40B4-BE49-F238E27FC236}">
                <a16:creationId xmlns:a16="http://schemas.microsoft.com/office/drawing/2014/main" id="{54FF28C5-A435-4970-A64D-47200C89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0" name="Rectangle 8">
            <a:extLst>
              <a:ext uri="{FF2B5EF4-FFF2-40B4-BE49-F238E27FC236}">
                <a16:creationId xmlns:a16="http://schemas.microsoft.com/office/drawing/2014/main" id="{B11995AF-32E5-450D-A6E9-D359EF9A8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1" name="Rectangle 9">
            <a:extLst>
              <a:ext uri="{FF2B5EF4-FFF2-40B4-BE49-F238E27FC236}">
                <a16:creationId xmlns:a16="http://schemas.microsoft.com/office/drawing/2014/main" id="{4AB23B6E-E709-4BA0-B51F-B3B4EFB05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2" name="Rectangle 10">
            <a:extLst>
              <a:ext uri="{FF2B5EF4-FFF2-40B4-BE49-F238E27FC236}">
                <a16:creationId xmlns:a16="http://schemas.microsoft.com/office/drawing/2014/main" id="{9DB0E282-E7C1-414A-851F-ED8648146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3" name="Rectangle 11">
            <a:extLst>
              <a:ext uri="{FF2B5EF4-FFF2-40B4-BE49-F238E27FC236}">
                <a16:creationId xmlns:a16="http://schemas.microsoft.com/office/drawing/2014/main" id="{3834A907-0B2E-4E61-891B-A83BEE9E0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4" name="Rectangle 12">
            <a:extLst>
              <a:ext uri="{FF2B5EF4-FFF2-40B4-BE49-F238E27FC236}">
                <a16:creationId xmlns:a16="http://schemas.microsoft.com/office/drawing/2014/main" id="{3D282982-34AC-4740-8A72-ECC6EB5DF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5" name="Rectangle 13">
            <a:extLst>
              <a:ext uri="{FF2B5EF4-FFF2-40B4-BE49-F238E27FC236}">
                <a16:creationId xmlns:a16="http://schemas.microsoft.com/office/drawing/2014/main" id="{FC1D1384-9117-4742-8A43-AC8007B76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63887" name="Text Box 15">
            <a:extLst>
              <a:ext uri="{FF2B5EF4-FFF2-40B4-BE49-F238E27FC236}">
                <a16:creationId xmlns:a16="http://schemas.microsoft.com/office/drawing/2014/main" id="{865244CE-C1F2-4794-9F6E-275F78E2F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600200"/>
            <a:ext cx="62484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Example - TDR Probes installed in close proximity to transducer-equipped tensiometers are commonly used for automated recording of changes of water content and matric potential with time. </a:t>
            </a:r>
          </a:p>
        </p:txBody>
      </p:sp>
      <p:pic>
        <p:nvPicPr>
          <p:cNvPr id="463888" name="Picture 16">
            <a:extLst>
              <a:ext uri="{FF2B5EF4-FFF2-40B4-BE49-F238E27FC236}">
                <a16:creationId xmlns:a16="http://schemas.microsoft.com/office/drawing/2014/main" id="{C6A21A7C-24F6-4460-9361-4115EE7B88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276601"/>
            <a:ext cx="4038600" cy="3165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3889" name="Picture 17">
            <a:extLst>
              <a:ext uri="{FF2B5EF4-FFF2-40B4-BE49-F238E27FC236}">
                <a16:creationId xmlns:a16="http://schemas.microsoft.com/office/drawing/2014/main" id="{EB7A999B-DEC4-4B75-9731-2FEBA7584B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02726" y="1646238"/>
            <a:ext cx="574675" cy="49069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63890" name="Picture 18">
            <a:extLst>
              <a:ext uri="{FF2B5EF4-FFF2-40B4-BE49-F238E27FC236}">
                <a16:creationId xmlns:a16="http://schemas.microsoft.com/office/drawing/2014/main" id="{7C056BB1-5A6D-4BC1-8844-2536115FE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367088"/>
            <a:ext cx="2286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91" name="Rectangle 19">
            <a:extLst>
              <a:ext uri="{FF2B5EF4-FFF2-40B4-BE49-F238E27FC236}">
                <a16:creationId xmlns:a16="http://schemas.microsoft.com/office/drawing/2014/main" id="{25FD6C93-E5F2-4E07-8A30-3E10D506B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838201"/>
            <a:ext cx="8077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SENSOR PAIRING: (TDR, Neutron Probe, Tensiometer, Heat Dissipation, etc)  </a:t>
            </a:r>
          </a:p>
          <a:p>
            <a:br>
              <a:rPr lang="en-US" altLang="en-US" b="1" u="sng"/>
            </a:br>
            <a:endParaRPr lang="en-US" altLang="en-US" b="1" u="sng"/>
          </a:p>
        </p:txBody>
      </p:sp>
      <p:sp>
        <p:nvSpPr>
          <p:cNvPr id="463886" name="Text Box 14">
            <a:extLst>
              <a:ext uri="{FF2B5EF4-FFF2-40B4-BE49-F238E27FC236}">
                <a16:creationId xmlns:a16="http://schemas.microsoft.com/office/drawing/2014/main" id="{ADAC7820-E42B-432D-8BDF-DB0FB87AB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800601"/>
            <a:ext cx="4267200" cy="1744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endParaRPr lang="en-US" altLang="en-US" b="1">
              <a:solidFill>
                <a:srgbClr val="CC0000"/>
              </a:solidFill>
            </a:endParaRPr>
          </a:p>
          <a:p>
            <a:pPr eaLnBrk="0" hangingPunct="0"/>
            <a:r>
              <a:rPr lang="en-US" altLang="en-US" b="1">
                <a:solidFill>
                  <a:srgbClr val="CC0000"/>
                </a:solidFill>
              </a:rPr>
              <a:t>IN-SITU MEASUREMENTS ARE CONSIDERED MOST REPRESENTATIVE.</a:t>
            </a:r>
          </a:p>
          <a:p>
            <a:pPr eaLnBrk="0" hangingPunct="0"/>
            <a:endParaRPr lang="en-US" altLang="en-US" b="1">
              <a:solidFill>
                <a:srgbClr val="CC0000"/>
              </a:solidFill>
            </a:endParaRPr>
          </a:p>
          <a:p>
            <a:pPr eaLnBrk="0" hangingPunct="0"/>
            <a:endParaRPr lang="en-US" altLang="en-US"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>
            <a:extLst>
              <a:ext uri="{FF2B5EF4-FFF2-40B4-BE49-F238E27FC236}">
                <a16:creationId xmlns:a16="http://schemas.microsoft.com/office/drawing/2014/main" id="{F9759B2D-A2F2-4160-9969-488516DA7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SWC measurement ranges</a:t>
            </a: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B113FF80-B6DF-4BBA-A311-12E3895D2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0" name="Rectangle 4">
            <a:extLst>
              <a:ext uri="{FF2B5EF4-FFF2-40B4-BE49-F238E27FC236}">
                <a16:creationId xmlns:a16="http://schemas.microsoft.com/office/drawing/2014/main" id="{27EF069D-7D54-479C-9AF8-D511536B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1" name="Rectangle 5">
            <a:extLst>
              <a:ext uri="{FF2B5EF4-FFF2-40B4-BE49-F238E27FC236}">
                <a16:creationId xmlns:a16="http://schemas.microsoft.com/office/drawing/2014/main" id="{3CFDB29D-609A-4059-BF93-9B6DD042A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2" name="Rectangle 6">
            <a:extLst>
              <a:ext uri="{FF2B5EF4-FFF2-40B4-BE49-F238E27FC236}">
                <a16:creationId xmlns:a16="http://schemas.microsoft.com/office/drawing/2014/main" id="{93141148-65EF-4FAC-BDA6-F0C933B79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3" name="Rectangle 7">
            <a:extLst>
              <a:ext uri="{FF2B5EF4-FFF2-40B4-BE49-F238E27FC236}">
                <a16:creationId xmlns:a16="http://schemas.microsoft.com/office/drawing/2014/main" id="{F0957D31-AFED-4B97-842B-5DDD601A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5" name="Rectangle 9">
            <a:extLst>
              <a:ext uri="{FF2B5EF4-FFF2-40B4-BE49-F238E27FC236}">
                <a16:creationId xmlns:a16="http://schemas.microsoft.com/office/drawing/2014/main" id="{F5F4F931-56DC-466A-8B44-B50E74032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6" name="Rectangle 10">
            <a:extLst>
              <a:ext uri="{FF2B5EF4-FFF2-40B4-BE49-F238E27FC236}">
                <a16:creationId xmlns:a16="http://schemas.microsoft.com/office/drawing/2014/main" id="{1DDDFBD6-5CB9-470C-9F0E-6CD4102A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7" name="Rectangle 11">
            <a:extLst>
              <a:ext uri="{FF2B5EF4-FFF2-40B4-BE49-F238E27FC236}">
                <a16:creationId xmlns:a16="http://schemas.microsoft.com/office/drawing/2014/main" id="{C2109FB5-F3C0-4AD3-B9AF-14C913517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8" name="Rectangle 12">
            <a:extLst>
              <a:ext uri="{FF2B5EF4-FFF2-40B4-BE49-F238E27FC236}">
                <a16:creationId xmlns:a16="http://schemas.microsoft.com/office/drawing/2014/main" id="{3C506A6C-38DE-44BE-9379-FA55FE6D3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0029" name="Rectangle 13">
            <a:extLst>
              <a:ext uri="{FF2B5EF4-FFF2-40B4-BE49-F238E27FC236}">
                <a16:creationId xmlns:a16="http://schemas.microsoft.com/office/drawing/2014/main" id="{BEB036D6-104E-4C49-B8F8-AAA3702C3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70030" name="Picture 14">
            <a:extLst>
              <a:ext uri="{FF2B5EF4-FFF2-40B4-BE49-F238E27FC236}">
                <a16:creationId xmlns:a16="http://schemas.microsoft.com/office/drawing/2014/main" id="{0C1EF89C-2B35-444E-972E-240AE2BBE0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1371600"/>
            <a:ext cx="7321550" cy="4845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>
            <a:extLst>
              <a:ext uri="{FF2B5EF4-FFF2-40B4-BE49-F238E27FC236}">
                <a16:creationId xmlns:a16="http://schemas.microsoft.com/office/drawing/2014/main" id="{411564C8-5CB6-42BF-8913-13503F685B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920750"/>
            <a:ext cx="7772400" cy="914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The Soil Water Characteristic - </a:t>
            </a:r>
            <a:br>
              <a:rPr lang="en-US" altLang="en-US"/>
            </a:br>
            <a:r>
              <a:rPr lang="en-US" altLang="en-US"/>
              <a:t> Parametric Models and Hysteresis</a:t>
            </a:r>
          </a:p>
        </p:txBody>
      </p:sp>
      <p:pic>
        <p:nvPicPr>
          <p:cNvPr id="471049" name="Picture 9">
            <a:extLst>
              <a:ext uri="{FF2B5EF4-FFF2-40B4-BE49-F238E27FC236}">
                <a16:creationId xmlns:a16="http://schemas.microsoft.com/office/drawing/2014/main" id="{E44B880B-75A5-41C1-97C3-5A7EA313C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2057400"/>
            <a:ext cx="1884363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50" name="Picture 10">
            <a:extLst>
              <a:ext uri="{FF2B5EF4-FFF2-40B4-BE49-F238E27FC236}">
                <a16:creationId xmlns:a16="http://schemas.microsoft.com/office/drawing/2014/main" id="{0AB5D351-8777-4316-AAD2-F98E7D69B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514600"/>
            <a:ext cx="4114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114" name="Picture 2">
            <a:extLst>
              <a:ext uri="{FF2B5EF4-FFF2-40B4-BE49-F238E27FC236}">
                <a16:creationId xmlns:a16="http://schemas.microsoft.com/office/drawing/2014/main" id="{A981E6E9-001D-482A-B605-C32DEC1443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86600" y="2971801"/>
            <a:ext cx="5486400" cy="1463675"/>
          </a:xfrm>
          <a:noFill/>
          <a:ln/>
        </p:spPr>
      </p:pic>
      <p:sp>
        <p:nvSpPr>
          <p:cNvPr id="474115" name="Rectangle 3">
            <a:extLst>
              <a:ext uri="{FF2B5EF4-FFF2-40B4-BE49-F238E27FC236}">
                <a16:creationId xmlns:a16="http://schemas.microsoft.com/office/drawing/2014/main" id="{7372DA96-C2BD-4241-B35B-BD86BF8AC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152400"/>
            <a:ext cx="7772400" cy="579438"/>
          </a:xfrm>
        </p:spPr>
        <p:txBody>
          <a:bodyPr/>
          <a:lstStyle/>
          <a:p>
            <a:r>
              <a:rPr lang="en-US" altLang="en-US"/>
              <a:t>Parametric SWC Models</a:t>
            </a:r>
          </a:p>
        </p:txBody>
      </p:sp>
      <p:sp>
        <p:nvSpPr>
          <p:cNvPr id="474116" name="Rectangle 4">
            <a:extLst>
              <a:ext uri="{FF2B5EF4-FFF2-40B4-BE49-F238E27FC236}">
                <a16:creationId xmlns:a16="http://schemas.microsoft.com/office/drawing/2014/main" id="{C828BABF-3310-4F47-9CF6-B0172940A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17" name="Rectangle 5">
            <a:extLst>
              <a:ext uri="{FF2B5EF4-FFF2-40B4-BE49-F238E27FC236}">
                <a16:creationId xmlns:a16="http://schemas.microsoft.com/office/drawing/2014/main" id="{9CF1CC21-1FB3-4D8D-813F-49067E7D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18" name="Rectangle 6">
            <a:extLst>
              <a:ext uri="{FF2B5EF4-FFF2-40B4-BE49-F238E27FC236}">
                <a16:creationId xmlns:a16="http://schemas.microsoft.com/office/drawing/2014/main" id="{93AFB560-DDBB-4D39-9729-0244D713B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19" name="Rectangle 7">
            <a:extLst>
              <a:ext uri="{FF2B5EF4-FFF2-40B4-BE49-F238E27FC236}">
                <a16:creationId xmlns:a16="http://schemas.microsoft.com/office/drawing/2014/main" id="{C65BCAF0-BD10-40CE-BD74-30FEA15C4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0" name="Rectangle 8">
            <a:extLst>
              <a:ext uri="{FF2B5EF4-FFF2-40B4-BE49-F238E27FC236}">
                <a16:creationId xmlns:a16="http://schemas.microsoft.com/office/drawing/2014/main" id="{7A2F9469-96B7-4B2F-B2A3-0ECB19A6D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1" name="Rectangle 9">
            <a:extLst>
              <a:ext uri="{FF2B5EF4-FFF2-40B4-BE49-F238E27FC236}">
                <a16:creationId xmlns:a16="http://schemas.microsoft.com/office/drawing/2014/main" id="{F4F103FA-01B6-489F-A4A0-F9898725A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2" name="Rectangle 10">
            <a:extLst>
              <a:ext uri="{FF2B5EF4-FFF2-40B4-BE49-F238E27FC236}">
                <a16:creationId xmlns:a16="http://schemas.microsoft.com/office/drawing/2014/main" id="{B9526758-28FE-47F8-B3CE-E87255521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3" name="Rectangle 11">
            <a:extLst>
              <a:ext uri="{FF2B5EF4-FFF2-40B4-BE49-F238E27FC236}">
                <a16:creationId xmlns:a16="http://schemas.microsoft.com/office/drawing/2014/main" id="{B0F42E79-D82E-4BDF-8DC2-F711B0402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4" name="Rectangle 12">
            <a:extLst>
              <a:ext uri="{FF2B5EF4-FFF2-40B4-BE49-F238E27FC236}">
                <a16:creationId xmlns:a16="http://schemas.microsoft.com/office/drawing/2014/main" id="{1A015220-317E-4B82-A9FC-AD834D415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5" name="Rectangle 13">
            <a:extLst>
              <a:ext uri="{FF2B5EF4-FFF2-40B4-BE49-F238E27FC236}">
                <a16:creationId xmlns:a16="http://schemas.microsoft.com/office/drawing/2014/main" id="{6849EDFA-9833-421B-A0D7-2DAAD4304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6" name="Rectangle 14">
            <a:extLst>
              <a:ext uri="{FF2B5EF4-FFF2-40B4-BE49-F238E27FC236}">
                <a16:creationId xmlns:a16="http://schemas.microsoft.com/office/drawing/2014/main" id="{A22AA7CD-92E7-48F1-94DF-1A15C285B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7" name="Text Box 15">
            <a:extLst>
              <a:ext uri="{FF2B5EF4-FFF2-40B4-BE49-F238E27FC236}">
                <a16:creationId xmlns:a16="http://schemas.microsoft.com/office/drawing/2014/main" id="{A72D61D2-0CD9-49E4-99A8-6C604C3E1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89" y="1189627"/>
            <a:ext cx="9462791" cy="2391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 dirty="0"/>
              <a:t>Measuring a SWC is laborious and time consuming. Usually there are only a few data pairs available from measurements.</a:t>
            </a:r>
          </a:p>
          <a:p>
            <a:pPr eaLnBrk="0" hangingPunct="0"/>
            <a:endParaRPr lang="en-US" altLang="en-US" sz="800" b="1" dirty="0"/>
          </a:p>
          <a:p>
            <a:pPr eaLnBrk="0" hangingPunct="0"/>
            <a:r>
              <a:rPr lang="en-US" altLang="en-US" b="1" dirty="0"/>
              <a:t>For modeling and analysis (characterization and comparison of different soils) it is beneficial to represent the SWC relationship as continues parametric function. </a:t>
            </a:r>
          </a:p>
          <a:p>
            <a:pPr eaLnBrk="0" hangingPunct="0"/>
            <a:endParaRPr lang="en-US" altLang="en-US" sz="800" b="1" dirty="0"/>
          </a:p>
          <a:p>
            <a:pPr eaLnBrk="0" hangingPunct="0"/>
            <a:r>
              <a:rPr lang="en-US" altLang="en-US" b="1" dirty="0"/>
              <a:t>Commonly used parametric models are the van </a:t>
            </a:r>
            <a:r>
              <a:rPr lang="en-US" altLang="en-US" b="1" dirty="0" err="1"/>
              <a:t>Genuchten</a:t>
            </a:r>
            <a:r>
              <a:rPr lang="en-US" altLang="en-US" b="1" dirty="0"/>
              <a:t> and Brooks &amp; Corey relationships.</a:t>
            </a:r>
          </a:p>
          <a:p>
            <a:pPr eaLnBrk="0" hangingPunct="0"/>
            <a:endParaRPr lang="en-US" altLang="en-US" sz="800" b="1" dirty="0"/>
          </a:p>
          <a:p>
            <a:pPr eaLnBrk="0" hangingPunct="0"/>
            <a:r>
              <a:rPr lang="en-US" altLang="en-US" b="1" u="sng" dirty="0">
                <a:solidFill>
                  <a:srgbClr val="CC0000"/>
                </a:solidFill>
              </a:rPr>
              <a:t>Van </a:t>
            </a:r>
            <a:r>
              <a:rPr lang="en-US" altLang="en-US" b="1" u="sng" dirty="0" err="1">
                <a:solidFill>
                  <a:srgbClr val="CC0000"/>
                </a:solidFill>
              </a:rPr>
              <a:t>Genuchten</a:t>
            </a:r>
            <a:r>
              <a:rPr lang="en-US" altLang="en-US" b="1" u="sng" dirty="0">
                <a:solidFill>
                  <a:srgbClr val="CC0000"/>
                </a:solidFill>
              </a:rPr>
              <a:t> Model (1980)</a:t>
            </a:r>
            <a:r>
              <a:rPr lang="en-US" altLang="en-US" b="1" u="sng" dirty="0"/>
              <a:t>:</a:t>
            </a:r>
          </a:p>
        </p:txBody>
      </p:sp>
      <p:sp>
        <p:nvSpPr>
          <p:cNvPr id="474128" name="Rectangle 16">
            <a:extLst>
              <a:ext uri="{FF2B5EF4-FFF2-40B4-BE49-F238E27FC236}">
                <a16:creationId xmlns:a16="http://schemas.microsoft.com/office/drawing/2014/main" id="{EAB60150-07F5-4BCB-BC62-D8AAE33C5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63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29" name="Rectangle 17">
            <a:extLst>
              <a:ext uri="{FF2B5EF4-FFF2-40B4-BE49-F238E27FC236}">
                <a16:creationId xmlns:a16="http://schemas.microsoft.com/office/drawing/2014/main" id="{6C608526-8D29-40E9-AA84-1B31A14E2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8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4130" name="Text Box 18">
            <a:extLst>
              <a:ext uri="{FF2B5EF4-FFF2-40B4-BE49-F238E27FC236}">
                <a16:creationId xmlns:a16="http://schemas.microsoft.com/office/drawing/2014/main" id="{12C3614F-44A1-49DF-A4BF-E5F7F88EE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5562601"/>
            <a:ext cx="7908925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The unknown parameters (free parameters) </a:t>
            </a:r>
            <a:r>
              <a:rPr lang="en-US" altLang="en-US" b="1">
                <a:latin typeface="Symbol" panose="05050102010706020507" pitchFamily="18" charset="2"/>
              </a:rPr>
              <a:t></a:t>
            </a:r>
            <a:r>
              <a:rPr lang="en-US" altLang="en-US" b="1"/>
              <a:t>, n, and </a:t>
            </a:r>
            <a:r>
              <a:rPr lang="en-US" altLang="en-US" b="1">
                <a:latin typeface="Symbol" panose="05050102010706020507" pitchFamily="18" charset="2"/>
              </a:rPr>
              <a:t></a:t>
            </a:r>
            <a:r>
              <a:rPr lang="en-US" altLang="en-US" b="1" baseline="-25000"/>
              <a:t>r</a:t>
            </a:r>
            <a:r>
              <a:rPr lang="en-US" altLang="en-US" b="1"/>
              <a:t> can be obtained by fitting the model to a few (at least 5-8) measured data pairs (Nonlinear regression with 0 ≤ m ≤ 1, and </a:t>
            </a:r>
            <a:r>
              <a:rPr lang="en-US" altLang="en-US" b="1">
                <a:latin typeface="Symbol" panose="05050102010706020507" pitchFamily="18" charset="2"/>
              </a:rPr>
              <a:t></a:t>
            </a:r>
            <a:r>
              <a:rPr lang="en-US" altLang="en-US" b="1" baseline="-25000"/>
              <a:t>r</a:t>
            </a:r>
            <a:r>
              <a:rPr lang="en-US" altLang="en-US" b="1"/>
              <a:t> </a:t>
            </a:r>
            <a:r>
              <a:rPr lang="en-US" altLang="en-US" b="1">
                <a:latin typeface="Symbol" panose="05050102010706020507" pitchFamily="18" charset="2"/>
              </a:rPr>
              <a:t></a:t>
            </a:r>
            <a:r>
              <a:rPr lang="en-US" altLang="en-US" b="1"/>
              <a:t> 0).</a:t>
            </a:r>
          </a:p>
        </p:txBody>
      </p:sp>
      <p:graphicFrame>
        <p:nvGraphicFramePr>
          <p:cNvPr id="474131" name="Object 19">
            <a:extLst>
              <a:ext uri="{FF2B5EF4-FFF2-40B4-BE49-F238E27FC236}">
                <a16:creationId xmlns:a16="http://schemas.microsoft.com/office/drawing/2014/main" id="{7AC20C78-D859-4F5F-861C-6BBD4B1516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038601"/>
          <a:ext cx="40386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4" imgW="2057400" imgH="609600" progId="Equation.3">
                  <p:embed/>
                </p:oleObj>
              </mc:Choice>
              <mc:Fallback>
                <p:oleObj name="Equation" r:id="rId4" imgW="2057400" imgH="609600" progId="Equation.3">
                  <p:embed/>
                  <p:pic>
                    <p:nvPicPr>
                      <p:cNvPr id="474131" name="Object 19">
                        <a:extLst>
                          <a:ext uri="{FF2B5EF4-FFF2-40B4-BE49-F238E27FC236}">
                            <a16:creationId xmlns:a16="http://schemas.microsoft.com/office/drawing/2014/main" id="{7AC20C78-D859-4F5F-861C-6BBD4B1516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038601"/>
                        <a:ext cx="403860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32" name="Object 20">
            <a:extLst>
              <a:ext uri="{FF2B5EF4-FFF2-40B4-BE49-F238E27FC236}">
                <a16:creationId xmlns:a16="http://schemas.microsoft.com/office/drawing/2014/main" id="{12F19254-F413-4802-86CC-43843B03F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4589464"/>
          <a:ext cx="12954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6" imgW="672808" imgH="431613" progId="Equation.3">
                  <p:embed/>
                </p:oleObj>
              </mc:Choice>
              <mc:Fallback>
                <p:oleObj name="Equation" r:id="rId6" imgW="672808" imgH="431613" progId="Equation.3">
                  <p:embed/>
                  <p:pic>
                    <p:nvPicPr>
                      <p:cNvPr id="474132" name="Object 20">
                        <a:extLst>
                          <a:ext uri="{FF2B5EF4-FFF2-40B4-BE49-F238E27FC236}">
                            <a16:creationId xmlns:a16="http://schemas.microsoft.com/office/drawing/2014/main" id="{12F19254-F413-4802-86CC-43843B03F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589464"/>
                        <a:ext cx="1295400" cy="82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>
            <a:extLst>
              <a:ext uri="{FF2B5EF4-FFF2-40B4-BE49-F238E27FC236}">
                <a16:creationId xmlns:a16="http://schemas.microsoft.com/office/drawing/2014/main" id="{E26392AB-4268-48E2-9CB1-5F98A60A4D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Parametric SWC Models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D0BDA306-31C3-4B6C-9E0C-17EC8C070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0" name="Rectangle 4">
            <a:extLst>
              <a:ext uri="{FF2B5EF4-FFF2-40B4-BE49-F238E27FC236}">
                <a16:creationId xmlns:a16="http://schemas.microsoft.com/office/drawing/2014/main" id="{4859DA65-1F33-4748-A8C6-B0CA5406E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1" name="Rectangle 5">
            <a:extLst>
              <a:ext uri="{FF2B5EF4-FFF2-40B4-BE49-F238E27FC236}">
                <a16:creationId xmlns:a16="http://schemas.microsoft.com/office/drawing/2014/main" id="{29AF06F1-E548-4479-847B-BE3A1AE0C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2" name="Rectangle 6">
            <a:extLst>
              <a:ext uri="{FF2B5EF4-FFF2-40B4-BE49-F238E27FC236}">
                <a16:creationId xmlns:a16="http://schemas.microsoft.com/office/drawing/2014/main" id="{384EA837-E40A-44C5-9901-12C91A9BC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3" name="Rectangle 7">
            <a:extLst>
              <a:ext uri="{FF2B5EF4-FFF2-40B4-BE49-F238E27FC236}">
                <a16:creationId xmlns:a16="http://schemas.microsoft.com/office/drawing/2014/main" id="{D5612684-E7AC-48FF-8F69-D35C44847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4" name="Rectangle 8">
            <a:extLst>
              <a:ext uri="{FF2B5EF4-FFF2-40B4-BE49-F238E27FC236}">
                <a16:creationId xmlns:a16="http://schemas.microsoft.com/office/drawing/2014/main" id="{29FF5362-5260-4FFB-9326-B28866FD7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5" name="Rectangle 9">
            <a:extLst>
              <a:ext uri="{FF2B5EF4-FFF2-40B4-BE49-F238E27FC236}">
                <a16:creationId xmlns:a16="http://schemas.microsoft.com/office/drawing/2014/main" id="{0770359C-CAC9-4EE0-90B1-91CADFDE4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6" name="Rectangle 10">
            <a:extLst>
              <a:ext uri="{FF2B5EF4-FFF2-40B4-BE49-F238E27FC236}">
                <a16:creationId xmlns:a16="http://schemas.microsoft.com/office/drawing/2014/main" id="{B5815B1B-0F57-4BF4-80C4-8DD3F5444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7" name="Rectangle 11">
            <a:extLst>
              <a:ext uri="{FF2B5EF4-FFF2-40B4-BE49-F238E27FC236}">
                <a16:creationId xmlns:a16="http://schemas.microsoft.com/office/drawing/2014/main" id="{4EC199A9-8A38-412E-AA5C-4BB15E03C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8" name="Rectangle 12">
            <a:extLst>
              <a:ext uri="{FF2B5EF4-FFF2-40B4-BE49-F238E27FC236}">
                <a16:creationId xmlns:a16="http://schemas.microsoft.com/office/drawing/2014/main" id="{B1646AC6-53E0-4607-A8DB-D2AAABB6C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49" name="Rectangle 13">
            <a:extLst>
              <a:ext uri="{FF2B5EF4-FFF2-40B4-BE49-F238E27FC236}">
                <a16:creationId xmlns:a16="http://schemas.microsoft.com/office/drawing/2014/main" id="{A22D2408-9EF8-4B09-937C-9E3D2A85B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50" name="Text Box 14">
            <a:extLst>
              <a:ext uri="{FF2B5EF4-FFF2-40B4-BE49-F238E27FC236}">
                <a16:creationId xmlns:a16="http://schemas.microsoft.com/office/drawing/2014/main" id="{5C0DBDDD-1151-46F5-A79C-529234EF2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366" y="1189736"/>
            <a:ext cx="8156575" cy="35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 u="sng" dirty="0">
                <a:solidFill>
                  <a:srgbClr val="CC0000"/>
                </a:solidFill>
              </a:rPr>
              <a:t>Brooks and Corey Model (1964):</a:t>
            </a:r>
          </a:p>
        </p:txBody>
      </p:sp>
      <p:sp>
        <p:nvSpPr>
          <p:cNvPr id="475151" name="Rectangle 15">
            <a:extLst>
              <a:ext uri="{FF2B5EF4-FFF2-40B4-BE49-F238E27FC236}">
                <a16:creationId xmlns:a16="http://schemas.microsoft.com/office/drawing/2014/main" id="{CF901E64-C290-4181-9379-B6B6EFD17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63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52" name="Rectangle 16">
            <a:extLst>
              <a:ext uri="{FF2B5EF4-FFF2-40B4-BE49-F238E27FC236}">
                <a16:creationId xmlns:a16="http://schemas.microsoft.com/office/drawing/2014/main" id="{A2328AF3-F950-45E0-B436-08DAB71A6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8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5153" name="Text Box 17">
            <a:extLst>
              <a:ext uri="{FF2B5EF4-FFF2-40B4-BE49-F238E27FC236}">
                <a16:creationId xmlns:a16="http://schemas.microsoft.com/office/drawing/2014/main" id="{B40D2EE7-5856-49A2-B34B-B61E1EAE0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4191001"/>
            <a:ext cx="8213725" cy="230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The unknown parameters (free parameters) </a:t>
            </a:r>
            <a:r>
              <a:rPr lang="en-US" altLang="en-US" b="1">
                <a:latin typeface="Symbol" panose="05050102010706020507" pitchFamily="18" charset="2"/>
              </a:rPr>
              <a:t>y</a:t>
            </a:r>
            <a:r>
              <a:rPr lang="en-US" altLang="en-US" b="1" baseline="-25000"/>
              <a:t>b</a:t>
            </a:r>
            <a:r>
              <a:rPr lang="en-US" altLang="en-US" b="1"/>
              <a:t>, </a:t>
            </a:r>
            <a:r>
              <a:rPr lang="en-US" altLang="en-US" b="1">
                <a:latin typeface="Symbol" panose="05050102010706020507" pitchFamily="18" charset="2"/>
              </a:rPr>
              <a:t>q</a:t>
            </a:r>
            <a:r>
              <a:rPr lang="en-US" altLang="en-US" baseline="-25000"/>
              <a:t>r</a:t>
            </a:r>
            <a:r>
              <a:rPr lang="en-US" altLang="en-US" b="1"/>
              <a:t>,and </a:t>
            </a:r>
            <a:r>
              <a:rPr lang="en-US" altLang="en-US" b="1">
                <a:latin typeface="Symbol" panose="05050102010706020507" pitchFamily="18" charset="2"/>
              </a:rPr>
              <a:t>l</a:t>
            </a:r>
            <a:r>
              <a:rPr lang="en-US" altLang="en-US" b="1"/>
              <a:t> can be obtained by fitting the model to measured data pairs</a:t>
            </a:r>
          </a:p>
          <a:p>
            <a:pPr eaLnBrk="0" hangingPunct="0"/>
            <a:br>
              <a:rPr lang="en-US" altLang="en-US" sz="1000" b="1"/>
            </a:br>
            <a:r>
              <a:rPr lang="en-US" altLang="en-US" b="1">
                <a:solidFill>
                  <a:srgbClr val="CC0000"/>
                </a:solidFill>
              </a:rPr>
              <a:t>In both models MATRIC POTENTIALS are expressed as positive (absolute) quantities.</a:t>
            </a:r>
          </a:p>
          <a:p>
            <a:pPr eaLnBrk="0" hangingPunct="0"/>
            <a:br>
              <a:rPr lang="en-US" altLang="en-US" sz="1000" b="1">
                <a:solidFill>
                  <a:srgbClr val="CC0000"/>
                </a:solidFill>
              </a:rPr>
            </a:br>
            <a:r>
              <a:rPr lang="en-US" altLang="en-US" b="1">
                <a:solidFill>
                  <a:srgbClr val="CC0000"/>
                </a:solidFill>
              </a:rPr>
              <a:t>There are various computer codes available (e.g., RETC) for estimation of free model parameters. A simple procedure is the application of solver tools that are part of most spreadsheet software packages.</a:t>
            </a:r>
          </a:p>
        </p:txBody>
      </p:sp>
      <p:sp>
        <p:nvSpPr>
          <p:cNvPr id="475154" name="Rectangle 18">
            <a:extLst>
              <a:ext uri="{FF2B5EF4-FFF2-40B4-BE49-F238E27FC236}">
                <a16:creationId xmlns:a16="http://schemas.microsoft.com/office/drawing/2014/main" id="{8E236ED0-8D42-4B54-B8B0-D79E5BA22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75155" name="Object 19">
            <a:extLst>
              <a:ext uri="{FF2B5EF4-FFF2-40B4-BE49-F238E27FC236}">
                <a16:creationId xmlns:a16="http://schemas.microsoft.com/office/drawing/2014/main" id="{364EE304-3A80-4BBA-A941-CFBB0A6BAB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295400"/>
          <a:ext cx="41084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3" imgW="2273040" imgH="761760" progId="Equation.3">
                  <p:embed/>
                </p:oleObj>
              </mc:Choice>
              <mc:Fallback>
                <p:oleObj name="Equation" r:id="rId3" imgW="2273040" imgH="761760" progId="Equation.3">
                  <p:embed/>
                  <p:pic>
                    <p:nvPicPr>
                      <p:cNvPr id="475155" name="Object 19">
                        <a:extLst>
                          <a:ext uri="{FF2B5EF4-FFF2-40B4-BE49-F238E27FC236}">
                            <a16:creationId xmlns:a16="http://schemas.microsoft.com/office/drawing/2014/main" id="{364EE304-3A80-4BBA-A941-CFBB0A6BAB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410845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5156" name="Picture 20">
            <a:extLst>
              <a:ext uri="{FF2B5EF4-FFF2-40B4-BE49-F238E27FC236}">
                <a16:creationId xmlns:a16="http://schemas.microsoft.com/office/drawing/2014/main" id="{66976FFF-CE90-4CC4-9D4C-36AEE2AF2E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2768600"/>
            <a:ext cx="6199188" cy="1409700"/>
          </a:xfrm>
          <a:noFill/>
          <a:ln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>
            <a:extLst>
              <a:ext uri="{FF2B5EF4-FFF2-40B4-BE49-F238E27FC236}">
                <a16:creationId xmlns:a16="http://schemas.microsoft.com/office/drawing/2014/main" id="{AA7A11CD-CA96-4105-AA3C-76457229A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8153400" cy="579438"/>
          </a:xfrm>
        </p:spPr>
        <p:txBody>
          <a:bodyPr/>
          <a:lstStyle/>
          <a:p>
            <a:r>
              <a:rPr lang="en-US" altLang="en-US" sz="2400"/>
              <a:t>Van Genuchten and Brooks &amp; Corey Models</a:t>
            </a:r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1E1040C8-6A86-4E1F-8E4E-D5C121DD2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4" name="Rectangle 4">
            <a:extLst>
              <a:ext uri="{FF2B5EF4-FFF2-40B4-BE49-F238E27FC236}">
                <a16:creationId xmlns:a16="http://schemas.microsoft.com/office/drawing/2014/main" id="{A3C779A0-15EA-4C21-9968-6F3AA473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5" name="Rectangle 5">
            <a:extLst>
              <a:ext uri="{FF2B5EF4-FFF2-40B4-BE49-F238E27FC236}">
                <a16:creationId xmlns:a16="http://schemas.microsoft.com/office/drawing/2014/main" id="{99ECE399-9F87-44D2-97B0-96101518C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6" name="Rectangle 6">
            <a:extLst>
              <a:ext uri="{FF2B5EF4-FFF2-40B4-BE49-F238E27FC236}">
                <a16:creationId xmlns:a16="http://schemas.microsoft.com/office/drawing/2014/main" id="{F71B51E2-B7EC-4D49-BDD9-8FDEDBA91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7" name="Rectangle 7">
            <a:extLst>
              <a:ext uri="{FF2B5EF4-FFF2-40B4-BE49-F238E27FC236}">
                <a16:creationId xmlns:a16="http://schemas.microsoft.com/office/drawing/2014/main" id="{B15BC383-E13B-4A77-A7E9-ADFD64477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8" name="Rectangle 8">
            <a:extLst>
              <a:ext uri="{FF2B5EF4-FFF2-40B4-BE49-F238E27FC236}">
                <a16:creationId xmlns:a16="http://schemas.microsoft.com/office/drawing/2014/main" id="{09C1788F-B386-498F-A402-656A4FE2A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69" name="Rectangle 9">
            <a:extLst>
              <a:ext uri="{FF2B5EF4-FFF2-40B4-BE49-F238E27FC236}">
                <a16:creationId xmlns:a16="http://schemas.microsoft.com/office/drawing/2014/main" id="{EE629965-A8F7-4CA0-A81A-6E326D67E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0" name="Rectangle 10">
            <a:extLst>
              <a:ext uri="{FF2B5EF4-FFF2-40B4-BE49-F238E27FC236}">
                <a16:creationId xmlns:a16="http://schemas.microsoft.com/office/drawing/2014/main" id="{860612CB-49A0-49EB-B5A6-0023CC304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1" name="Rectangle 11">
            <a:extLst>
              <a:ext uri="{FF2B5EF4-FFF2-40B4-BE49-F238E27FC236}">
                <a16:creationId xmlns:a16="http://schemas.microsoft.com/office/drawing/2014/main" id="{E9FDF449-EF24-4F81-AB94-D631D0A9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2" name="Rectangle 12">
            <a:extLst>
              <a:ext uri="{FF2B5EF4-FFF2-40B4-BE49-F238E27FC236}">
                <a16:creationId xmlns:a16="http://schemas.microsoft.com/office/drawing/2014/main" id="{AD27F216-5CE1-4E2E-9391-B86C6EA2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3" name="Rectangle 13">
            <a:extLst>
              <a:ext uri="{FF2B5EF4-FFF2-40B4-BE49-F238E27FC236}">
                <a16:creationId xmlns:a16="http://schemas.microsoft.com/office/drawing/2014/main" id="{304DA7A7-DB4C-4593-8477-E82FC9100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4" name="Rectangle 14">
            <a:extLst>
              <a:ext uri="{FF2B5EF4-FFF2-40B4-BE49-F238E27FC236}">
                <a16:creationId xmlns:a16="http://schemas.microsoft.com/office/drawing/2014/main" id="{82C4A5ED-43DB-4F3B-B790-584D95F99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63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5" name="Rectangle 15">
            <a:extLst>
              <a:ext uri="{FF2B5EF4-FFF2-40B4-BE49-F238E27FC236}">
                <a16:creationId xmlns:a16="http://schemas.microsoft.com/office/drawing/2014/main" id="{98D54CAC-4773-4998-8449-09292B271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8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6177" name="Rectangle 17">
            <a:extLst>
              <a:ext uri="{FF2B5EF4-FFF2-40B4-BE49-F238E27FC236}">
                <a16:creationId xmlns:a16="http://schemas.microsoft.com/office/drawing/2014/main" id="{C43AE210-2011-4251-B48E-5F69F1F1D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76180" name="Picture 20">
            <a:extLst>
              <a:ext uri="{FF2B5EF4-FFF2-40B4-BE49-F238E27FC236}">
                <a16:creationId xmlns:a16="http://schemas.microsoft.com/office/drawing/2014/main" id="{770D725F-77D4-490D-AEDB-0D0ECEECF5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1066801"/>
            <a:ext cx="7315200" cy="541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828DC07C-410B-4037-9EFA-09755571C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Fitting SWC models</a:t>
            </a:r>
          </a:p>
        </p:txBody>
      </p:sp>
      <p:pic>
        <p:nvPicPr>
          <p:cNvPr id="504836" name="Picture 4">
            <a:extLst>
              <a:ext uri="{FF2B5EF4-FFF2-40B4-BE49-F238E27FC236}">
                <a16:creationId xmlns:a16="http://schemas.microsoft.com/office/drawing/2014/main" id="{42D969E7-5D3F-4C5A-A800-52D7AA4C9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4" y="1621904"/>
            <a:ext cx="5729582" cy="39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CBE79D-BECF-46D3-A815-A043AAC8A7C8}"/>
              </a:ext>
            </a:extLst>
          </p:cNvPr>
          <p:cNvSpPr txBox="1"/>
          <p:nvPr/>
        </p:nvSpPr>
        <p:spPr>
          <a:xfrm>
            <a:off x="7761890" y="2942897"/>
            <a:ext cx="158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do it with:</a:t>
            </a:r>
          </a:p>
        </p:txBody>
      </p:sp>
      <p:pic>
        <p:nvPicPr>
          <p:cNvPr id="10242" name="Picture 2" descr="R (programming language) - Wikipedia">
            <a:extLst>
              <a:ext uri="{FF2B5EF4-FFF2-40B4-BE49-F238E27FC236}">
                <a16:creationId xmlns:a16="http://schemas.microsoft.com/office/drawing/2014/main" id="{A05A5A90-99AF-4928-9DCB-A84325856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231" y="3484508"/>
            <a:ext cx="242887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2BD74DE8-94A0-4C2A-B089-2FDB0C8AC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Typical “van Genuchten” Model Parameters</a:t>
            </a:r>
          </a:p>
        </p:txBody>
      </p:sp>
      <p:sp>
        <p:nvSpPr>
          <p:cNvPr id="505860" name="Rectangle 4">
            <a:extLst>
              <a:ext uri="{FF2B5EF4-FFF2-40B4-BE49-F238E27FC236}">
                <a16:creationId xmlns:a16="http://schemas.microsoft.com/office/drawing/2014/main" id="{AC6884E5-098A-4963-9093-C28D57797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86393"/>
            <a:ext cx="7620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1400" b="1">
                <a:cs typeface="Times New Roman" panose="02020603050405020304" pitchFamily="18" charset="0"/>
              </a:rPr>
              <a:t>Table1:</a:t>
            </a:r>
            <a:r>
              <a:rPr lang="en-US" altLang="en-US" sz="1400">
                <a:cs typeface="Times New Roman" panose="02020603050405020304" pitchFamily="18" charset="0"/>
              </a:rPr>
              <a:t> Typical van Genuchten model parameters (</a:t>
            </a:r>
            <a:r>
              <a:rPr lang="en-US" altLang="en-US" sz="140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en-US" altLang="en-US" sz="1400">
                <a:cs typeface="Times New Roman" panose="02020603050405020304" pitchFamily="18" charset="0"/>
              </a:rPr>
              <a:t>, n) including residual (</a:t>
            </a:r>
            <a:r>
              <a:rPr lang="en-US" altLang="en-US" sz="140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US" altLang="en-US" sz="1400" baseline="-30000">
                <a:cs typeface="Times New Roman" panose="02020603050405020304" pitchFamily="18" charset="0"/>
              </a:rPr>
              <a:t>r</a:t>
            </a:r>
            <a:r>
              <a:rPr lang="en-US" altLang="en-US" sz="1400">
                <a:cs typeface="Times New Roman" panose="02020603050405020304" pitchFamily="18" charset="0"/>
              </a:rPr>
              <a:t>) and saturated (</a:t>
            </a:r>
            <a:r>
              <a:rPr lang="en-US" altLang="en-US" sz="140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r>
              <a:rPr lang="en-US" altLang="en-US" sz="1400" baseline="-30000">
                <a:cs typeface="Times New Roman" panose="02020603050405020304" pitchFamily="18" charset="0"/>
              </a:rPr>
              <a:t>s</a:t>
            </a:r>
            <a:r>
              <a:rPr lang="en-US" altLang="en-US" sz="1400">
                <a:cs typeface="Times New Roman" panose="02020603050405020304" pitchFamily="18" charset="0"/>
              </a:rPr>
              <a:t>) water contents compiled from the UNSODA database (Leij et al., 1996).  N indicates the number of soils or samples of a given textural class from which the mean values are compiled.</a:t>
            </a:r>
            <a:endParaRPr lang="en-US" altLang="en-US" sz="1400"/>
          </a:p>
        </p:txBody>
      </p:sp>
      <p:graphicFrame>
        <p:nvGraphicFramePr>
          <p:cNvPr id="506338" name="Group 482">
            <a:extLst>
              <a:ext uri="{FF2B5EF4-FFF2-40B4-BE49-F238E27FC236}">
                <a16:creationId xmlns:a16="http://schemas.microsoft.com/office/drawing/2014/main" id="{8ECAD5F8-9D62-42B4-9F56-DFE7F6237153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905000"/>
          <a:ext cx="7543800" cy="4232276"/>
        </p:xfrm>
        <a:graphic>
          <a:graphicData uri="http://schemas.openxmlformats.org/drawingml/2006/table">
            <a:tbl>
              <a:tblPr/>
              <a:tblGrid>
                <a:gridCol w="1768475">
                  <a:extLst>
                    <a:ext uri="{9D8B030D-6E8A-4147-A177-3AD203B41FA5}">
                      <a16:colId xmlns:a16="http://schemas.microsoft.com/office/drawing/2014/main" val="36538075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1526158699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88424852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653106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504382317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8063996"/>
                    </a:ext>
                  </a:extLst>
                </a:gridCol>
              </a:tblGrid>
              <a:tr h="566738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Textural Class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kumimoji="0" lang="en-US" alt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/cm</a:t>
                      </a:r>
                      <a:r>
                        <a:rPr kumimoji="0" lang="en-US" alt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en-US" sz="1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[cm</a:t>
                      </a:r>
                      <a:r>
                        <a:rPr kumimoji="0" lang="en-US" alt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/cm</a:t>
                      </a:r>
                      <a:r>
                        <a:rPr kumimoji="0" lang="en-US" altLang="en-US" sz="1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[1/cm]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726772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Sand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126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0.058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665694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Loamy Sand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0.074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2.39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79557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Sandy 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139824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1.31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858620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Silt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0.48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0.006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559484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Silt 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0.012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1.39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481308"/>
                  </a:ext>
                </a:extLst>
              </a:tr>
              <a:tr h="331788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Sandy Clay 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0.086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153822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Clay 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0.030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1.37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846783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Silty Clay Loam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0.098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1.41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876600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Silty Clay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0.163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0.47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0.023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1.39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947137"/>
                  </a:ext>
                </a:extLst>
              </a:tr>
              <a:tr h="333375"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Clay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0.102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0.021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Aft>
                          <a:spcPct val="80000"/>
                        </a:spcAft>
                        <a:buClr>
                          <a:srgbClr val="FF3300"/>
                        </a:buClr>
                        <a:buFont typeface="Symbol" panose="05050102010706020507" pitchFamily="18" charset="2"/>
                        <a:tabLst>
                          <a:tab pos="4114800" algn="r"/>
                        </a:tabLst>
                        <a:defRPr>
                          <a:solidFill>
                            <a:schemeClr val="accent2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80000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114800" algn="r"/>
                        </a:tabLst>
                        <a:defRPr sz="1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114800" algn="r"/>
                        </a:tabLst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  <a:endParaRPr kumimoji="0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70939"/>
                  </a:ext>
                </a:extLst>
              </a:tr>
            </a:tbl>
          </a:graphicData>
        </a:graphic>
      </p:graphicFrame>
      <p:sp>
        <p:nvSpPr>
          <p:cNvPr id="506335" name="Rectangle 479">
            <a:extLst>
              <a:ext uri="{FF2B5EF4-FFF2-40B4-BE49-F238E27FC236}">
                <a16:creationId xmlns:a16="http://schemas.microsoft.com/office/drawing/2014/main" id="{2B1543DC-F10F-46D9-AC9B-72C319D5D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54388" y="4909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80975" algn="r"/>
                <a:tab pos="41148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>
            <a:extLst>
              <a:ext uri="{FF2B5EF4-FFF2-40B4-BE49-F238E27FC236}">
                <a16:creationId xmlns:a16="http://schemas.microsoft.com/office/drawing/2014/main" id="{9CCFD82F-3A37-42C7-A23B-9302CF9B6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 sz="2400"/>
              <a:t>Databases for Soil Hydraulic Properties</a:t>
            </a:r>
          </a:p>
        </p:txBody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80617F07-C7A0-4415-84A7-9F5D1821A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4" name="Rectangle 4">
            <a:extLst>
              <a:ext uri="{FF2B5EF4-FFF2-40B4-BE49-F238E27FC236}">
                <a16:creationId xmlns:a16="http://schemas.microsoft.com/office/drawing/2014/main" id="{70217D72-B895-4E21-B9F7-794DA8BED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5" name="Rectangle 5">
            <a:extLst>
              <a:ext uri="{FF2B5EF4-FFF2-40B4-BE49-F238E27FC236}">
                <a16:creationId xmlns:a16="http://schemas.microsoft.com/office/drawing/2014/main" id="{F79EBF4D-E9B5-4334-BF1B-B766CFD5D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6" name="Rectangle 6">
            <a:extLst>
              <a:ext uri="{FF2B5EF4-FFF2-40B4-BE49-F238E27FC236}">
                <a16:creationId xmlns:a16="http://schemas.microsoft.com/office/drawing/2014/main" id="{2F8A3FD6-4E8B-4A38-A841-3946C8B9C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7" name="Rectangle 7">
            <a:extLst>
              <a:ext uri="{FF2B5EF4-FFF2-40B4-BE49-F238E27FC236}">
                <a16:creationId xmlns:a16="http://schemas.microsoft.com/office/drawing/2014/main" id="{E3E3DD5F-4DCC-4398-AD77-167CDD3EB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8" name="Rectangle 8">
            <a:extLst>
              <a:ext uri="{FF2B5EF4-FFF2-40B4-BE49-F238E27FC236}">
                <a16:creationId xmlns:a16="http://schemas.microsoft.com/office/drawing/2014/main" id="{3648D554-FD1D-4D37-8B74-D81D1D92E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29" name="Rectangle 9">
            <a:extLst>
              <a:ext uri="{FF2B5EF4-FFF2-40B4-BE49-F238E27FC236}">
                <a16:creationId xmlns:a16="http://schemas.microsoft.com/office/drawing/2014/main" id="{AFDB20C2-DC3C-4025-B2B2-6C9DF9820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0" name="Rectangle 10">
            <a:extLst>
              <a:ext uri="{FF2B5EF4-FFF2-40B4-BE49-F238E27FC236}">
                <a16:creationId xmlns:a16="http://schemas.microsoft.com/office/drawing/2014/main" id="{DAEC739B-76E6-4F23-B408-3010663C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1" name="Rectangle 11">
            <a:extLst>
              <a:ext uri="{FF2B5EF4-FFF2-40B4-BE49-F238E27FC236}">
                <a16:creationId xmlns:a16="http://schemas.microsoft.com/office/drawing/2014/main" id="{5634CCEF-5702-4472-BD0B-09FC5EF7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2" name="Rectangle 12">
            <a:extLst>
              <a:ext uri="{FF2B5EF4-FFF2-40B4-BE49-F238E27FC236}">
                <a16:creationId xmlns:a16="http://schemas.microsoft.com/office/drawing/2014/main" id="{6FA2A7C8-2F39-4623-B4CD-2C65302D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3" name="Rectangle 13">
            <a:extLst>
              <a:ext uri="{FF2B5EF4-FFF2-40B4-BE49-F238E27FC236}">
                <a16:creationId xmlns:a16="http://schemas.microsoft.com/office/drawing/2014/main" id="{AA41DE6A-3B46-42EA-A550-A78CEB5B9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4" name="Rectangle 14">
            <a:extLst>
              <a:ext uri="{FF2B5EF4-FFF2-40B4-BE49-F238E27FC236}">
                <a16:creationId xmlns:a16="http://schemas.microsoft.com/office/drawing/2014/main" id="{2E312E0B-975A-488E-9B19-8BB6CD1A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63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5" name="Rectangle 15">
            <a:extLst>
              <a:ext uri="{FF2B5EF4-FFF2-40B4-BE49-F238E27FC236}">
                <a16:creationId xmlns:a16="http://schemas.microsoft.com/office/drawing/2014/main" id="{433028C0-F402-4051-A774-581CB7F4E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8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1536" name="Text Box 16">
            <a:extLst>
              <a:ext uri="{FF2B5EF4-FFF2-40B4-BE49-F238E27FC236}">
                <a16:creationId xmlns:a16="http://schemas.microsoft.com/office/drawing/2014/main" id="{1324F088-36DD-45E1-AD98-D96E3B11C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1" y="1752601"/>
            <a:ext cx="3032125" cy="295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Databases for hydraulic soil properties have been compiled by several agencies. </a:t>
            </a:r>
          </a:p>
          <a:p>
            <a:pPr eaLnBrk="0" hangingPunct="0"/>
            <a:endParaRPr lang="en-US" altLang="en-US" sz="800" b="1"/>
          </a:p>
          <a:p>
            <a:pPr eaLnBrk="0" hangingPunct="0"/>
            <a:r>
              <a:rPr lang="en-US" altLang="en-US" b="1"/>
              <a:t>These data are good estimates for various soil textural classes and may be used as initial guesses for optimization of measured data.</a:t>
            </a:r>
          </a:p>
        </p:txBody>
      </p:sp>
      <p:sp>
        <p:nvSpPr>
          <p:cNvPr id="491537" name="Rectangle 17">
            <a:extLst>
              <a:ext uri="{FF2B5EF4-FFF2-40B4-BE49-F238E27FC236}">
                <a16:creationId xmlns:a16="http://schemas.microsoft.com/office/drawing/2014/main" id="{8C8FFB92-2971-4693-A604-BDCD26A43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91538" name="Picture 18">
            <a:extLst>
              <a:ext uri="{FF2B5EF4-FFF2-40B4-BE49-F238E27FC236}">
                <a16:creationId xmlns:a16="http://schemas.microsoft.com/office/drawing/2014/main" id="{0D8E5A14-B2DC-4210-88AB-F558F417D6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6950" y="609600"/>
            <a:ext cx="4972050" cy="6305550"/>
          </a:xfrm>
          <a:noFill/>
          <a:ln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FD998445-9652-40A4-A0BE-4E36D06EA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Databases for Soil Hydraulic Properties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0B5DE6D2-9C4A-4603-82A8-29C2CF22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88" name="Rectangle 4">
            <a:extLst>
              <a:ext uri="{FF2B5EF4-FFF2-40B4-BE49-F238E27FC236}">
                <a16:creationId xmlns:a16="http://schemas.microsoft.com/office/drawing/2014/main" id="{C4389356-FD8C-4A8A-A699-0FAF2C659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89" name="Rectangle 5">
            <a:extLst>
              <a:ext uri="{FF2B5EF4-FFF2-40B4-BE49-F238E27FC236}">
                <a16:creationId xmlns:a16="http://schemas.microsoft.com/office/drawing/2014/main" id="{85B89C31-6041-4183-83FA-E164640C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0" name="Rectangle 6">
            <a:extLst>
              <a:ext uri="{FF2B5EF4-FFF2-40B4-BE49-F238E27FC236}">
                <a16:creationId xmlns:a16="http://schemas.microsoft.com/office/drawing/2014/main" id="{4DFC68B2-A068-40DC-890B-980CBF19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1" name="Rectangle 7">
            <a:extLst>
              <a:ext uri="{FF2B5EF4-FFF2-40B4-BE49-F238E27FC236}">
                <a16:creationId xmlns:a16="http://schemas.microsoft.com/office/drawing/2014/main" id="{885D7C55-6A1D-46FB-B200-3702D6FAB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2" name="Rectangle 8">
            <a:extLst>
              <a:ext uri="{FF2B5EF4-FFF2-40B4-BE49-F238E27FC236}">
                <a16:creationId xmlns:a16="http://schemas.microsoft.com/office/drawing/2014/main" id="{C62403C8-6BA7-491F-8267-0C62A219B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3" name="Rectangle 9">
            <a:extLst>
              <a:ext uri="{FF2B5EF4-FFF2-40B4-BE49-F238E27FC236}">
                <a16:creationId xmlns:a16="http://schemas.microsoft.com/office/drawing/2014/main" id="{BB4EE470-E006-4C65-B03F-9CAA103E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4" name="Rectangle 10">
            <a:extLst>
              <a:ext uri="{FF2B5EF4-FFF2-40B4-BE49-F238E27FC236}">
                <a16:creationId xmlns:a16="http://schemas.microsoft.com/office/drawing/2014/main" id="{8025F7AF-A525-4FD5-B545-512D45C07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5" name="Rectangle 11">
            <a:extLst>
              <a:ext uri="{FF2B5EF4-FFF2-40B4-BE49-F238E27FC236}">
                <a16:creationId xmlns:a16="http://schemas.microsoft.com/office/drawing/2014/main" id="{9B391865-8B2B-42A2-8CAF-6B01B48CF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6" name="Rectangle 12">
            <a:extLst>
              <a:ext uri="{FF2B5EF4-FFF2-40B4-BE49-F238E27FC236}">
                <a16:creationId xmlns:a16="http://schemas.microsoft.com/office/drawing/2014/main" id="{72CF7A37-ACAB-435E-A73D-B7D78E4A4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7" name="Rectangle 13">
            <a:extLst>
              <a:ext uri="{FF2B5EF4-FFF2-40B4-BE49-F238E27FC236}">
                <a16:creationId xmlns:a16="http://schemas.microsoft.com/office/drawing/2014/main" id="{8D8BF126-BE03-437F-B7CD-4151BC03B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8" name="Rectangle 14">
            <a:extLst>
              <a:ext uri="{FF2B5EF4-FFF2-40B4-BE49-F238E27FC236}">
                <a16:creationId xmlns:a16="http://schemas.microsoft.com/office/drawing/2014/main" id="{DF04AA1C-DA3D-4EF1-BD04-B696ECE0F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363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7199" name="Rectangle 15">
            <a:extLst>
              <a:ext uri="{FF2B5EF4-FFF2-40B4-BE49-F238E27FC236}">
                <a16:creationId xmlns:a16="http://schemas.microsoft.com/office/drawing/2014/main" id="{11127BFF-B165-472C-9197-1F201E1EB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0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77200" name="Picture 16">
            <a:extLst>
              <a:ext uri="{FF2B5EF4-FFF2-40B4-BE49-F238E27FC236}">
                <a16:creationId xmlns:a16="http://schemas.microsoft.com/office/drawing/2014/main" id="{CBEB885F-6B45-4BE9-9772-475125EDFA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966914"/>
            <a:ext cx="4038600" cy="4052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7201" name="Picture 17">
            <a:extLst>
              <a:ext uri="{FF2B5EF4-FFF2-40B4-BE49-F238E27FC236}">
                <a16:creationId xmlns:a16="http://schemas.microsoft.com/office/drawing/2014/main" id="{CB406D15-9C6C-4B64-B935-C1E592A92C4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3201" y="1890713"/>
            <a:ext cx="3705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77202" name="Text Box 18">
            <a:extLst>
              <a:ext uri="{FF2B5EF4-FFF2-40B4-BE49-F238E27FC236}">
                <a16:creationId xmlns:a16="http://schemas.microsoft.com/office/drawing/2014/main" id="{C0600F4A-EAA7-4F83-9625-0494241D6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914401"/>
            <a:ext cx="81565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Graphical representation of various SWC curves contained in the UNSODA and NRCS databases.</a:t>
            </a:r>
            <a:endParaRPr lang="en-US" altLang="en-US" sz="8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9DA96016-1179-4892-ACE1-D48CF5AB5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/>
              <a:t>Hysteretic behavior of SWC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C3FB0F33-FA52-4DE6-9C2E-544392B28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68" name="Rectangle 4">
            <a:extLst>
              <a:ext uri="{FF2B5EF4-FFF2-40B4-BE49-F238E27FC236}">
                <a16:creationId xmlns:a16="http://schemas.microsoft.com/office/drawing/2014/main" id="{3F9DC74D-D61B-4760-8A24-07C9ECB9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69" name="Rectangle 5">
            <a:extLst>
              <a:ext uri="{FF2B5EF4-FFF2-40B4-BE49-F238E27FC236}">
                <a16:creationId xmlns:a16="http://schemas.microsoft.com/office/drawing/2014/main" id="{9113942D-19A2-478A-8FCE-AF5AE73AA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0" name="Rectangle 6">
            <a:extLst>
              <a:ext uri="{FF2B5EF4-FFF2-40B4-BE49-F238E27FC236}">
                <a16:creationId xmlns:a16="http://schemas.microsoft.com/office/drawing/2014/main" id="{A4BF9739-03EB-4816-BC50-1E530A1C1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1" name="Rectangle 7">
            <a:extLst>
              <a:ext uri="{FF2B5EF4-FFF2-40B4-BE49-F238E27FC236}">
                <a16:creationId xmlns:a16="http://schemas.microsoft.com/office/drawing/2014/main" id="{3C98F56A-D687-4B9E-B38D-526D88828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2" name="Rectangle 8">
            <a:extLst>
              <a:ext uri="{FF2B5EF4-FFF2-40B4-BE49-F238E27FC236}">
                <a16:creationId xmlns:a16="http://schemas.microsoft.com/office/drawing/2014/main" id="{B24C24AE-3646-43D2-BA85-DA04B2218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3" name="Rectangle 9">
            <a:extLst>
              <a:ext uri="{FF2B5EF4-FFF2-40B4-BE49-F238E27FC236}">
                <a16:creationId xmlns:a16="http://schemas.microsoft.com/office/drawing/2014/main" id="{DECE6D2F-18F2-4567-ADF6-C9FF0DCE4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4" name="Rectangle 10">
            <a:extLst>
              <a:ext uri="{FF2B5EF4-FFF2-40B4-BE49-F238E27FC236}">
                <a16:creationId xmlns:a16="http://schemas.microsoft.com/office/drawing/2014/main" id="{8CC3EB5B-30A3-4513-94F9-055DA7AC9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5" name="Rectangle 11">
            <a:extLst>
              <a:ext uri="{FF2B5EF4-FFF2-40B4-BE49-F238E27FC236}">
                <a16:creationId xmlns:a16="http://schemas.microsoft.com/office/drawing/2014/main" id="{35EB5794-0E77-473F-8189-686ADC1AC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6" name="Rectangle 12">
            <a:extLst>
              <a:ext uri="{FF2B5EF4-FFF2-40B4-BE49-F238E27FC236}">
                <a16:creationId xmlns:a16="http://schemas.microsoft.com/office/drawing/2014/main" id="{097F2C6A-CF51-476D-9F17-1BA7A8AD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7" name="Rectangle 13">
            <a:extLst>
              <a:ext uri="{FF2B5EF4-FFF2-40B4-BE49-F238E27FC236}">
                <a16:creationId xmlns:a16="http://schemas.microsoft.com/office/drawing/2014/main" id="{E51EDC21-7ED2-462D-8BFD-7AF41CFC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2078" name="Text Box 14">
            <a:extLst>
              <a:ext uri="{FF2B5EF4-FFF2-40B4-BE49-F238E27FC236}">
                <a16:creationId xmlns:a16="http://schemas.microsoft.com/office/drawing/2014/main" id="{8E086647-0F84-42BB-94F8-F71D207C1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838200"/>
            <a:ext cx="8382000" cy="160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>
                <a:solidFill>
                  <a:srgbClr val="CC0000"/>
                </a:solidFill>
              </a:rPr>
              <a:t>Soil Water Content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and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CC0000"/>
                </a:solidFill>
              </a:rPr>
              <a:t>Matric Potential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are not uniquely related and depend on the path of saturation or desaturation.</a:t>
            </a:r>
          </a:p>
          <a:p>
            <a:pPr eaLnBrk="0" hangingPunct="0"/>
            <a:endParaRPr lang="en-US" altLang="en-US" sz="1000" b="1">
              <a:solidFill>
                <a:schemeClr val="accent2"/>
              </a:solidFill>
            </a:endParaRPr>
          </a:p>
          <a:p>
            <a:pPr eaLnBrk="0" hangingPunct="0"/>
            <a:r>
              <a:rPr lang="en-US" altLang="en-US" b="1"/>
              <a:t>SWC can be either obtained by desaturation of an initially saturated sample by applying suction or pressure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CC0000"/>
                </a:solidFill>
              </a:rPr>
              <a:t>(DRYING CURVE)</a:t>
            </a:r>
            <a:r>
              <a:rPr lang="en-US" altLang="en-US" b="1"/>
              <a:t>, or by gradually wetting of an initially oven-dry sample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CC0000"/>
                </a:solidFill>
              </a:rPr>
              <a:t>(WETTING CURVE)</a:t>
            </a:r>
            <a:r>
              <a:rPr lang="en-US" altLang="en-US" b="1">
                <a:solidFill>
                  <a:schemeClr val="accent2"/>
                </a:solidFill>
              </a:rPr>
              <a:t>. </a:t>
            </a:r>
          </a:p>
        </p:txBody>
      </p:sp>
      <p:sp>
        <p:nvSpPr>
          <p:cNvPr id="472079" name="Text Box 15">
            <a:extLst>
              <a:ext uri="{FF2B5EF4-FFF2-40B4-BE49-F238E27FC236}">
                <a16:creationId xmlns:a16="http://schemas.microsoft.com/office/drawing/2014/main" id="{AFD16245-C6F3-4389-8DD5-F7C0FEFCC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14601"/>
            <a:ext cx="3581400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The two procedures often produce different SWC curves -  the water content of the drying branch is typically higher than water content of a wetting curve at the same potential.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</a:p>
          <a:p>
            <a:pPr eaLnBrk="0" hangingPunct="0"/>
            <a:endParaRPr lang="en-US" altLang="en-US" b="1">
              <a:solidFill>
                <a:schemeClr val="accent2"/>
              </a:solidFill>
            </a:endParaRPr>
          </a:p>
          <a:p>
            <a:pPr eaLnBrk="0" hangingPunct="0"/>
            <a:r>
              <a:rPr lang="en-US" altLang="en-US" b="1"/>
              <a:t>This phenomenon is known as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CC0000"/>
                </a:solidFill>
              </a:rPr>
              <a:t>HYSTERESIS</a:t>
            </a:r>
          </a:p>
          <a:p>
            <a:pPr eaLnBrk="0" hangingPunct="0"/>
            <a:r>
              <a:rPr lang="en-US" altLang="en-US" b="1">
                <a:solidFill>
                  <a:schemeClr val="accent2"/>
                </a:solidFill>
              </a:rPr>
              <a:t> </a:t>
            </a:r>
          </a:p>
        </p:txBody>
      </p:sp>
      <p:pic>
        <p:nvPicPr>
          <p:cNvPr id="472084" name="Picture 20">
            <a:extLst>
              <a:ext uri="{FF2B5EF4-FFF2-40B4-BE49-F238E27FC236}">
                <a16:creationId xmlns:a16="http://schemas.microsoft.com/office/drawing/2014/main" id="{191B1DE5-9AA0-4C7E-8548-80F94C116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590800"/>
            <a:ext cx="351313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6F09A4C3-05AD-480F-9E13-D3189ED85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Hysteresis in SWC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A75B0CFB-E383-4C24-8B1B-C32F40765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2" name="Rectangle 4">
            <a:extLst>
              <a:ext uri="{FF2B5EF4-FFF2-40B4-BE49-F238E27FC236}">
                <a16:creationId xmlns:a16="http://schemas.microsoft.com/office/drawing/2014/main" id="{80C1AE75-7ACB-4C76-A278-EE4FB757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3" name="Rectangle 5">
            <a:extLst>
              <a:ext uri="{FF2B5EF4-FFF2-40B4-BE49-F238E27FC236}">
                <a16:creationId xmlns:a16="http://schemas.microsoft.com/office/drawing/2014/main" id="{B7763762-1F11-4F2D-BDE3-22F1E82E2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4" name="Rectangle 6">
            <a:extLst>
              <a:ext uri="{FF2B5EF4-FFF2-40B4-BE49-F238E27FC236}">
                <a16:creationId xmlns:a16="http://schemas.microsoft.com/office/drawing/2014/main" id="{D04E1BFA-13CF-43AB-A0D5-1B818E461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5" name="Rectangle 7">
            <a:extLst>
              <a:ext uri="{FF2B5EF4-FFF2-40B4-BE49-F238E27FC236}">
                <a16:creationId xmlns:a16="http://schemas.microsoft.com/office/drawing/2014/main" id="{BF48FEA5-DE0C-48B8-9D54-A3E67DA8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6" name="Rectangle 8">
            <a:extLst>
              <a:ext uri="{FF2B5EF4-FFF2-40B4-BE49-F238E27FC236}">
                <a16:creationId xmlns:a16="http://schemas.microsoft.com/office/drawing/2014/main" id="{A78997BC-FA36-44E0-8965-FE5606F5F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7" name="Rectangle 9">
            <a:extLst>
              <a:ext uri="{FF2B5EF4-FFF2-40B4-BE49-F238E27FC236}">
                <a16:creationId xmlns:a16="http://schemas.microsoft.com/office/drawing/2014/main" id="{C2582412-80C7-4728-B31E-5F00C5A24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8" name="Rectangle 10">
            <a:extLst>
              <a:ext uri="{FF2B5EF4-FFF2-40B4-BE49-F238E27FC236}">
                <a16:creationId xmlns:a16="http://schemas.microsoft.com/office/drawing/2014/main" id="{0EB3612B-18B0-425F-906D-7458DA21B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099" name="Rectangle 11">
            <a:extLst>
              <a:ext uri="{FF2B5EF4-FFF2-40B4-BE49-F238E27FC236}">
                <a16:creationId xmlns:a16="http://schemas.microsoft.com/office/drawing/2014/main" id="{0C67755E-CDC4-4A03-BB26-1285F0B68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100" name="Rectangle 12">
            <a:extLst>
              <a:ext uri="{FF2B5EF4-FFF2-40B4-BE49-F238E27FC236}">
                <a16:creationId xmlns:a16="http://schemas.microsoft.com/office/drawing/2014/main" id="{249BCA26-29B8-4B5B-B921-35A3167F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101" name="Rectangle 13">
            <a:extLst>
              <a:ext uri="{FF2B5EF4-FFF2-40B4-BE49-F238E27FC236}">
                <a16:creationId xmlns:a16="http://schemas.microsoft.com/office/drawing/2014/main" id="{DF76D38A-F590-4E6F-BC31-92220B559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73102" name="Text Box 14">
            <a:extLst>
              <a:ext uri="{FF2B5EF4-FFF2-40B4-BE49-F238E27FC236}">
                <a16:creationId xmlns:a16="http://schemas.microsoft.com/office/drawing/2014/main" id="{009C1AB4-B597-41A9-8AC2-846AB0E6A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6" y="914401"/>
            <a:ext cx="8385175" cy="298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The Hysteresis in the SWC relationship depends on several micro- and meso-scale phenomenon:</a:t>
            </a:r>
            <a:r>
              <a:rPr lang="en-US" altLang="en-US" b="1">
                <a:solidFill>
                  <a:srgbClr val="FF0066"/>
                </a:solidFill>
              </a:rPr>
              <a:t> </a:t>
            </a:r>
          </a:p>
          <a:p>
            <a:pPr eaLnBrk="0" hangingPunct="0"/>
            <a:endParaRPr lang="en-US" altLang="en-US" sz="600" b="1">
              <a:solidFill>
                <a:srgbClr val="FF0066"/>
              </a:solidFill>
            </a:endParaRPr>
          </a:p>
          <a:p>
            <a:pPr eaLnBrk="0" hangingPunct="0"/>
            <a:r>
              <a:rPr lang="en-US" altLang="en-US" b="1">
                <a:solidFill>
                  <a:srgbClr val="CC0000"/>
                </a:solidFill>
              </a:rPr>
              <a:t>“INK BOTTLE” EFFECT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resulting from non-uniformity in shape and size of interconnected pores:</a:t>
            </a:r>
          </a:p>
          <a:p>
            <a:pPr eaLnBrk="0" hangingPunct="0"/>
            <a:endParaRPr lang="en-US" altLang="en-US" sz="600" b="1"/>
          </a:p>
          <a:p>
            <a:pPr eaLnBrk="0" hangingPunct="0"/>
            <a:r>
              <a:rPr lang="en-US" altLang="en-US" b="1"/>
              <a:t>Drainage is governed by the smaller pore radius, whereas wetting is governed by the larger radius. (Large pores drain first but fill up last)</a:t>
            </a:r>
            <a:br>
              <a:rPr lang="en-US" altLang="en-US" b="1">
                <a:solidFill>
                  <a:schemeClr val="accent2"/>
                </a:solidFill>
              </a:rPr>
            </a:br>
            <a:br>
              <a:rPr lang="en-US" altLang="en-US" sz="600" b="1">
                <a:solidFill>
                  <a:schemeClr val="accent2"/>
                </a:solidFill>
              </a:rPr>
            </a:br>
            <a:r>
              <a:rPr lang="en-US" altLang="en-US" b="1"/>
              <a:t>Different </a:t>
            </a:r>
            <a:r>
              <a:rPr lang="en-US" altLang="en-US" b="1">
                <a:solidFill>
                  <a:srgbClr val="CC0000"/>
                </a:solidFill>
              </a:rPr>
              <a:t>LIQUID-SOLID CONTACT ANGLES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for advancing and receding liquid. </a:t>
            </a:r>
            <a:r>
              <a:rPr lang="en-US" altLang="en-US" b="1">
                <a:solidFill>
                  <a:srgbClr val="CC0000"/>
                </a:solidFill>
              </a:rPr>
              <a:t>ENTRAPPED AIR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in newly wetted soil</a:t>
            </a:r>
            <a:br>
              <a:rPr lang="en-US" altLang="en-US" b="1">
                <a:solidFill>
                  <a:schemeClr val="accent2"/>
                </a:solidFill>
              </a:rPr>
            </a:br>
            <a:br>
              <a:rPr lang="en-US" altLang="en-US" sz="1000" b="1">
                <a:solidFill>
                  <a:schemeClr val="accent2"/>
                </a:solidFill>
              </a:rPr>
            </a:br>
            <a:r>
              <a:rPr lang="en-US" altLang="en-US" b="1">
                <a:solidFill>
                  <a:srgbClr val="CC0000"/>
                </a:solidFill>
              </a:rPr>
              <a:t>SWELLING AND SHRINKING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/>
              <a:t>of soil under wetting and drying</a:t>
            </a:r>
            <a:r>
              <a:rPr lang="en-US" altLang="en-US" b="1">
                <a:solidFill>
                  <a:schemeClr val="accent2"/>
                </a:solidFill>
              </a:rPr>
              <a:t>  </a:t>
            </a:r>
          </a:p>
        </p:txBody>
      </p:sp>
      <p:sp>
        <p:nvSpPr>
          <p:cNvPr id="473103" name="Text Box 15">
            <a:extLst>
              <a:ext uri="{FF2B5EF4-FFF2-40B4-BE49-F238E27FC236}">
                <a16:creationId xmlns:a16="http://schemas.microsoft.com/office/drawing/2014/main" id="{F6D04A35-6FF7-415E-B5B7-D218FE7A5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226176"/>
            <a:ext cx="8077200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1600" b="1"/>
              <a:t>The role of individual factors remains unclear and is subject of ongoing research.</a:t>
            </a:r>
          </a:p>
        </p:txBody>
      </p:sp>
      <p:pic>
        <p:nvPicPr>
          <p:cNvPr id="473104" name="Picture 16">
            <a:extLst>
              <a:ext uri="{FF2B5EF4-FFF2-40B4-BE49-F238E27FC236}">
                <a16:creationId xmlns:a16="http://schemas.microsoft.com/office/drawing/2014/main" id="{D5E08606-0E8E-4725-8000-C784885F58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2526" y="3752850"/>
            <a:ext cx="4918075" cy="2571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>
            <a:extLst>
              <a:ext uri="{FF2B5EF4-FFF2-40B4-BE49-F238E27FC236}">
                <a16:creationId xmlns:a16="http://schemas.microsoft.com/office/drawing/2014/main" id="{980F0162-4F9B-4BB9-B068-F0D0CFAEB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7772400" cy="579438"/>
          </a:xfrm>
        </p:spPr>
        <p:txBody>
          <a:bodyPr/>
          <a:lstStyle/>
          <a:p>
            <a:r>
              <a:rPr lang="en-US" altLang="en-US"/>
              <a:t>Hysteresis in SWC – meso-scale</a:t>
            </a:r>
          </a:p>
        </p:txBody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101D1C87-E600-48C4-8FD8-2D2AC08D3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596" name="Rectangle 4">
            <a:extLst>
              <a:ext uri="{FF2B5EF4-FFF2-40B4-BE49-F238E27FC236}">
                <a16:creationId xmlns:a16="http://schemas.microsoft.com/office/drawing/2014/main" id="{A7BAB7DB-8486-4B44-9513-DF61FAE5B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597" name="Rectangle 5">
            <a:extLst>
              <a:ext uri="{FF2B5EF4-FFF2-40B4-BE49-F238E27FC236}">
                <a16:creationId xmlns:a16="http://schemas.microsoft.com/office/drawing/2014/main" id="{FE96074A-BD2A-4E79-B40A-AC1C864C0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598" name="Rectangle 6">
            <a:extLst>
              <a:ext uri="{FF2B5EF4-FFF2-40B4-BE49-F238E27FC236}">
                <a16:creationId xmlns:a16="http://schemas.microsoft.com/office/drawing/2014/main" id="{A92CA61D-258E-49B6-8E6C-4362B666F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599" name="Rectangle 7">
            <a:extLst>
              <a:ext uri="{FF2B5EF4-FFF2-40B4-BE49-F238E27FC236}">
                <a16:creationId xmlns:a16="http://schemas.microsoft.com/office/drawing/2014/main" id="{297EAD63-EAD8-44AF-8824-4662C1A61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0" name="Rectangle 8">
            <a:extLst>
              <a:ext uri="{FF2B5EF4-FFF2-40B4-BE49-F238E27FC236}">
                <a16:creationId xmlns:a16="http://schemas.microsoft.com/office/drawing/2014/main" id="{80F0C4A4-CEDA-4F31-97C3-A7B03F44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9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1" name="Rectangle 9">
            <a:extLst>
              <a:ext uri="{FF2B5EF4-FFF2-40B4-BE49-F238E27FC236}">
                <a16:creationId xmlns:a16="http://schemas.microsoft.com/office/drawing/2014/main" id="{2A17E448-DC64-4C8E-98E2-E7F47440E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2" name="Rectangle 10">
            <a:extLst>
              <a:ext uri="{FF2B5EF4-FFF2-40B4-BE49-F238E27FC236}">
                <a16:creationId xmlns:a16="http://schemas.microsoft.com/office/drawing/2014/main" id="{31D79CE7-180A-4365-A380-A218E6165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3" name="Rectangle 11">
            <a:extLst>
              <a:ext uri="{FF2B5EF4-FFF2-40B4-BE49-F238E27FC236}">
                <a16:creationId xmlns:a16="http://schemas.microsoft.com/office/drawing/2014/main" id="{A9D9BDA8-8CD7-4652-BE93-3F6095E4D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4" name="Rectangle 12">
            <a:extLst>
              <a:ext uri="{FF2B5EF4-FFF2-40B4-BE49-F238E27FC236}">
                <a16:creationId xmlns:a16="http://schemas.microsoft.com/office/drawing/2014/main" id="{458D5185-4BA6-4534-8C82-C8BD04F9F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665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5" name="Rectangle 13">
            <a:extLst>
              <a:ext uri="{FF2B5EF4-FFF2-40B4-BE49-F238E27FC236}">
                <a16:creationId xmlns:a16="http://schemas.microsoft.com/office/drawing/2014/main" id="{9F088906-BC9B-4CD6-BA3A-E983130C5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792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7" name="Text Box 15">
            <a:extLst>
              <a:ext uri="{FF2B5EF4-FFF2-40B4-BE49-F238E27FC236}">
                <a16:creationId xmlns:a16="http://schemas.microsoft.com/office/drawing/2014/main" id="{07D78F3E-422A-4CEC-8D68-2578FE429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80010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058" tIns="41029" rIns="82058" bIns="41029">
            <a:spAutoFit/>
          </a:bodyPr>
          <a:lstStyle>
            <a:lvl1pPr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0738" indent="-411163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33500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46263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59025" indent="-409575" defTabSz="8207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162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734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306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87825" indent="-409575" defTabSz="8207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b="1"/>
              <a:t>Meso-scale manifestation of hysteresis through Lattice Boltzmann simulation of liquid configuration in complex pore spaces.</a:t>
            </a:r>
          </a:p>
          <a:p>
            <a:pPr eaLnBrk="0" hangingPunct="0"/>
            <a:endParaRPr lang="en-US" altLang="en-US" b="1"/>
          </a:p>
          <a:p>
            <a:pPr eaLnBrk="0" hangingPunct="0"/>
            <a:r>
              <a:rPr lang="en-US" altLang="en-US" b="1"/>
              <a:t>Entrapment of liquid in pore clusters </a:t>
            </a:r>
            <a:endParaRPr lang="en-US" altLang="en-US" b="1">
              <a:solidFill>
                <a:schemeClr val="accent2"/>
              </a:solidFill>
            </a:endParaRPr>
          </a:p>
        </p:txBody>
      </p:sp>
      <p:pic>
        <p:nvPicPr>
          <p:cNvPr id="494611" name="Picture 19">
            <a:extLst>
              <a:ext uri="{FF2B5EF4-FFF2-40B4-BE49-F238E27FC236}">
                <a16:creationId xmlns:a16="http://schemas.microsoft.com/office/drawing/2014/main" id="{F7A486F2-21B9-49FA-9D07-24E5178D7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2667001"/>
            <a:ext cx="5553075" cy="394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_fixed.potx" id="{9A9BE078-57A7-48B2-9D33-8EFC365D262A}" vid="{66905093-CF97-471D-A25F-2AFDA55216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{7557D8E0-19A5-45BD-AB43-B4FF5D63F0EB}tf10001108_win32</Template>
  <TotalTime>2919</TotalTime>
  <Words>1466</Words>
  <Application>Microsoft Office PowerPoint</Application>
  <PresentationFormat>Widescreen</PresentationFormat>
  <Paragraphs>206</Paragraphs>
  <Slides>32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Comic Sans MS</vt:lpstr>
      <vt:lpstr>Segoe UI</vt:lpstr>
      <vt:lpstr>Segoe UI Light</vt:lpstr>
      <vt:lpstr>Symbol</vt:lpstr>
      <vt:lpstr>Times New Roman</vt:lpstr>
      <vt:lpstr>VAGRounded BT</vt:lpstr>
      <vt:lpstr>WelcomeDoc</vt:lpstr>
      <vt:lpstr>Equation</vt:lpstr>
      <vt:lpstr>SPW 6.0 Graph</vt:lpstr>
      <vt:lpstr>Soil Physics </vt:lpstr>
      <vt:lpstr>Water content </vt:lpstr>
      <vt:lpstr>Measuring water content (presentation) </vt:lpstr>
      <vt:lpstr>Soil water potential</vt:lpstr>
      <vt:lpstr>The Soil Water Characteristic -  Introduction and Measurement </vt:lpstr>
      <vt:lpstr>The Soil Water Characteristic Curve</vt:lpstr>
      <vt:lpstr>The Soil Water Characteristic Curve</vt:lpstr>
      <vt:lpstr>The Soil Water Characteristic Curve</vt:lpstr>
      <vt:lpstr>The Soil Water Characteristic Curve</vt:lpstr>
      <vt:lpstr>Using SWC to determine pore size distribution</vt:lpstr>
      <vt:lpstr>PowerPoint Presentation</vt:lpstr>
      <vt:lpstr>PowerPoint Presentation</vt:lpstr>
      <vt:lpstr>Measurement Methods for SWC </vt:lpstr>
      <vt:lpstr>Tempe Cell</vt:lpstr>
      <vt:lpstr>Pressure Plate Apparatus</vt:lpstr>
      <vt:lpstr>Pressure Plate Apparatus</vt:lpstr>
      <vt:lpstr>Hanging water column and suction table </vt:lpstr>
      <vt:lpstr>Vapor Pressure-Based Methods</vt:lpstr>
      <vt:lpstr>HYPROP</vt:lpstr>
      <vt:lpstr>In-situ measurement methods – Sensor Pairing</vt:lpstr>
      <vt:lpstr>SWC measurement ranges</vt:lpstr>
      <vt:lpstr>The Soil Water Characteristic -   Parametric Models and Hysteresis</vt:lpstr>
      <vt:lpstr>Parametric SWC Models</vt:lpstr>
      <vt:lpstr>Parametric SWC Models</vt:lpstr>
      <vt:lpstr>Van Genuchten and Brooks &amp; Corey Models</vt:lpstr>
      <vt:lpstr>Fitting SWC models</vt:lpstr>
      <vt:lpstr>Typical “van Genuchten” Model Parameters</vt:lpstr>
      <vt:lpstr>Databases for Soil Hydraulic Properties</vt:lpstr>
      <vt:lpstr>Databases for Soil Hydraulic Properties</vt:lpstr>
      <vt:lpstr>Hysteretic behavior of SWC</vt:lpstr>
      <vt:lpstr>Hysteresis in SWC</vt:lpstr>
      <vt:lpstr>Hysteresis in SWC – meso-scale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Physics </dc:title>
  <dc:creator>Silvio José Gumiere</dc:creator>
  <cp:keywords/>
  <cp:lastModifiedBy>Silvio José Gumiere</cp:lastModifiedBy>
  <cp:revision>6</cp:revision>
  <dcterms:created xsi:type="dcterms:W3CDTF">2021-11-26T10:04:39Z</dcterms:created>
  <dcterms:modified xsi:type="dcterms:W3CDTF">2021-12-14T11:01:50Z</dcterms:modified>
  <cp:version/>
</cp:coreProperties>
</file>